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 id="2147483691" r:id="rId2"/>
    <p:sldMasterId id="2147483692" r:id="rId3"/>
  </p:sldMasterIdLst>
  <p:notesMasterIdLst>
    <p:notesMasterId r:id="rId41"/>
  </p:notesMasterIdLst>
  <p:handoutMasterIdLst>
    <p:handoutMasterId r:id="rId42"/>
  </p:handoutMasterIdLst>
  <p:sldIdLst>
    <p:sldId id="290" r:id="rId4"/>
    <p:sldId id="4194" r:id="rId5"/>
    <p:sldId id="4193" r:id="rId6"/>
    <p:sldId id="4195" r:id="rId7"/>
    <p:sldId id="4106" r:id="rId8"/>
    <p:sldId id="4175" r:id="rId9"/>
    <p:sldId id="4128" r:id="rId10"/>
    <p:sldId id="4127" r:id="rId11"/>
    <p:sldId id="4168" r:id="rId12"/>
    <p:sldId id="4169" r:id="rId13"/>
    <p:sldId id="4125" r:id="rId14"/>
    <p:sldId id="4118" r:id="rId15"/>
    <p:sldId id="4082" r:id="rId16"/>
    <p:sldId id="4176" r:id="rId17"/>
    <p:sldId id="4133" r:id="rId18"/>
    <p:sldId id="4129" r:id="rId19"/>
    <p:sldId id="4130" r:id="rId20"/>
    <p:sldId id="4137" r:id="rId21"/>
    <p:sldId id="4167" r:id="rId22"/>
    <p:sldId id="4177" r:id="rId23"/>
    <p:sldId id="4112" r:id="rId24"/>
    <p:sldId id="4122" r:id="rId25"/>
    <p:sldId id="4178" r:id="rId26"/>
    <p:sldId id="4179" r:id="rId27"/>
    <p:sldId id="4139" r:id="rId28"/>
    <p:sldId id="4170" r:id="rId29"/>
    <p:sldId id="4180" r:id="rId30"/>
    <p:sldId id="4181" r:id="rId31"/>
    <p:sldId id="4171" r:id="rId32"/>
    <p:sldId id="4182" r:id="rId33"/>
    <p:sldId id="4162" r:id="rId34"/>
    <p:sldId id="4163" r:id="rId35"/>
    <p:sldId id="4146" r:id="rId36"/>
    <p:sldId id="3310" r:id="rId37"/>
    <p:sldId id="4155" r:id="rId38"/>
    <p:sldId id="4140" r:id="rId39"/>
    <p:sldId id="4123" r:id="rId40"/>
  </p:sldIdLst>
  <p:sldSz cx="12801600" cy="7772400"/>
  <p:notesSz cx="6858000" cy="9144000"/>
  <p:defaultTextStyle>
    <a:defPPr>
      <a:defRPr lang="en-US"/>
    </a:defPPr>
    <a:lvl1pPr marL="0" algn="l" defTabSz="987552" rtl="0" eaLnBrk="1" latinLnBrk="0" hangingPunct="1">
      <a:defRPr sz="1944" kern="1200">
        <a:solidFill>
          <a:schemeClr val="tx1"/>
        </a:solidFill>
        <a:latin typeface="+mn-lt"/>
        <a:ea typeface="+mn-ea"/>
        <a:cs typeface="+mn-cs"/>
      </a:defRPr>
    </a:lvl1pPr>
    <a:lvl2pPr marL="493776" algn="l" defTabSz="987552" rtl="0" eaLnBrk="1" latinLnBrk="0" hangingPunct="1">
      <a:defRPr sz="1944" kern="1200">
        <a:solidFill>
          <a:schemeClr val="tx1"/>
        </a:solidFill>
        <a:latin typeface="+mn-lt"/>
        <a:ea typeface="+mn-ea"/>
        <a:cs typeface="+mn-cs"/>
      </a:defRPr>
    </a:lvl2pPr>
    <a:lvl3pPr marL="987552" algn="l" defTabSz="987552" rtl="0" eaLnBrk="1" latinLnBrk="0" hangingPunct="1">
      <a:defRPr sz="1944" kern="1200">
        <a:solidFill>
          <a:schemeClr val="tx1"/>
        </a:solidFill>
        <a:latin typeface="+mn-lt"/>
        <a:ea typeface="+mn-ea"/>
        <a:cs typeface="+mn-cs"/>
      </a:defRPr>
    </a:lvl3pPr>
    <a:lvl4pPr marL="1481328" algn="l" defTabSz="987552" rtl="0" eaLnBrk="1" latinLnBrk="0" hangingPunct="1">
      <a:defRPr sz="1944" kern="1200">
        <a:solidFill>
          <a:schemeClr val="tx1"/>
        </a:solidFill>
        <a:latin typeface="+mn-lt"/>
        <a:ea typeface="+mn-ea"/>
        <a:cs typeface="+mn-cs"/>
      </a:defRPr>
    </a:lvl4pPr>
    <a:lvl5pPr marL="1975104" algn="l" defTabSz="987552" rtl="0" eaLnBrk="1" latinLnBrk="0" hangingPunct="1">
      <a:defRPr sz="1944" kern="1200">
        <a:solidFill>
          <a:schemeClr val="tx1"/>
        </a:solidFill>
        <a:latin typeface="+mn-lt"/>
        <a:ea typeface="+mn-ea"/>
        <a:cs typeface="+mn-cs"/>
      </a:defRPr>
    </a:lvl5pPr>
    <a:lvl6pPr marL="2468880" algn="l" defTabSz="987552" rtl="0" eaLnBrk="1" latinLnBrk="0" hangingPunct="1">
      <a:defRPr sz="1944" kern="1200">
        <a:solidFill>
          <a:schemeClr val="tx1"/>
        </a:solidFill>
        <a:latin typeface="+mn-lt"/>
        <a:ea typeface="+mn-ea"/>
        <a:cs typeface="+mn-cs"/>
      </a:defRPr>
    </a:lvl6pPr>
    <a:lvl7pPr marL="2962656" algn="l" defTabSz="987552" rtl="0" eaLnBrk="1" latinLnBrk="0" hangingPunct="1">
      <a:defRPr sz="1944" kern="1200">
        <a:solidFill>
          <a:schemeClr val="tx1"/>
        </a:solidFill>
        <a:latin typeface="+mn-lt"/>
        <a:ea typeface="+mn-ea"/>
        <a:cs typeface="+mn-cs"/>
      </a:defRPr>
    </a:lvl7pPr>
    <a:lvl8pPr marL="3456432" algn="l" defTabSz="987552" rtl="0" eaLnBrk="1" latinLnBrk="0" hangingPunct="1">
      <a:defRPr sz="1944" kern="1200">
        <a:solidFill>
          <a:schemeClr val="tx1"/>
        </a:solidFill>
        <a:latin typeface="+mn-lt"/>
        <a:ea typeface="+mn-ea"/>
        <a:cs typeface="+mn-cs"/>
      </a:defRPr>
    </a:lvl8pPr>
    <a:lvl9pPr marL="3950208" algn="l" defTabSz="987552" rtl="0" eaLnBrk="1" latinLnBrk="0" hangingPunct="1">
      <a:defRPr sz="1944"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rennfleck, Brett A" initials="BBA" lastIdx="6" clrIdx="0">
    <p:extLst>
      <p:ext uri="{19B8F6BF-5375-455C-9EA6-DF929625EA0E}">
        <p15:presenceInfo xmlns:p15="http://schemas.microsoft.com/office/powerpoint/2012/main" userId="S-1-5-21-28854893-1118314593-798045042-45997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2E2"/>
    <a:srgbClr val="003963"/>
    <a:srgbClr val="FFFFFF"/>
    <a:srgbClr val="18AF60"/>
    <a:srgbClr val="82C9A7"/>
    <a:srgbClr val="9ECBE8"/>
    <a:srgbClr val="B1E2FF"/>
    <a:srgbClr val="FF9600"/>
    <a:srgbClr val="ADD7C1"/>
    <a:srgbClr val="B8E4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266" autoAdjust="0"/>
    <p:restoredTop sz="91741" autoAdjust="0"/>
  </p:normalViewPr>
  <p:slideViewPr>
    <p:cSldViewPr snapToGrid="0" snapToObjects="1">
      <p:cViewPr varScale="1">
        <p:scale>
          <a:sx n="125" d="100"/>
          <a:sy n="125" d="100"/>
        </p:scale>
        <p:origin x="1000" y="168"/>
      </p:cViewPr>
      <p:guideLst/>
    </p:cSldViewPr>
  </p:slideViewPr>
  <p:notesTextViewPr>
    <p:cViewPr>
      <p:scale>
        <a:sx n="80" d="100"/>
        <a:sy n="80" d="100"/>
      </p:scale>
      <p:origin x="0" y="0"/>
    </p:cViewPr>
  </p:notesTextViewPr>
  <p:sorterViewPr>
    <p:cViewPr>
      <p:scale>
        <a:sx n="66" d="100"/>
        <a:sy n="66" d="100"/>
      </p:scale>
      <p:origin x="0" y="0"/>
    </p:cViewPr>
  </p:sorterViewPr>
  <p:notesViewPr>
    <p:cSldViewPr snapToGrid="0" snapToObjects="1">
      <p:cViewPr varScale="1">
        <p:scale>
          <a:sx n="82" d="100"/>
          <a:sy n="82" d="100"/>
        </p:scale>
        <p:origin x="3954"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commentAuthors" Target="commentAuthor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F234AD3-1CFA-464D-96AF-927D34384A9A}" type="datetimeFigureOut">
              <a:rPr lang="en-US" smtClean="0"/>
              <a:t>6/15/21</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4155C96-ED6A-435A-AC24-B840F45C68C9}" type="slidenum">
              <a:rPr lang="en-US" smtClean="0"/>
              <a:t>‹#›</a:t>
            </a:fld>
            <a:endParaRPr lang="en-US" dirty="0"/>
          </a:p>
        </p:txBody>
      </p:sp>
    </p:spTree>
    <p:extLst>
      <p:ext uri="{BB962C8B-B14F-4D97-AF65-F5344CB8AC3E}">
        <p14:creationId xmlns:p14="http://schemas.microsoft.com/office/powerpoint/2010/main" val="2928701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450EFB-32E5-4657-A50A-4B493F431F9F}" type="datetimeFigureOut">
              <a:rPr lang="en-US" smtClean="0"/>
              <a:t>6/15/21</a:t>
            </a:fld>
            <a:endParaRPr lang="en-US" dirty="0"/>
          </a:p>
        </p:txBody>
      </p:sp>
      <p:sp>
        <p:nvSpPr>
          <p:cNvPr id="4" name="Slide Image Placeholder 3"/>
          <p:cNvSpPr>
            <a:spLocks noGrp="1" noRot="1" noChangeAspect="1"/>
          </p:cNvSpPr>
          <p:nvPr>
            <p:ph type="sldImg" idx="2"/>
          </p:nvPr>
        </p:nvSpPr>
        <p:spPr>
          <a:xfrm>
            <a:off x="887413" y="1143000"/>
            <a:ext cx="508317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A7E464-FA5A-45EC-B1D2-264C3428DEAE}" type="slidenum">
              <a:rPr lang="en-US" smtClean="0"/>
              <a:t>‹#›</a:t>
            </a:fld>
            <a:endParaRPr lang="en-US" dirty="0"/>
          </a:p>
        </p:txBody>
      </p:sp>
    </p:spTree>
    <p:extLst>
      <p:ext uri="{BB962C8B-B14F-4D97-AF65-F5344CB8AC3E}">
        <p14:creationId xmlns:p14="http://schemas.microsoft.com/office/powerpoint/2010/main" val="248103184"/>
      </p:ext>
    </p:extLst>
  </p:cSld>
  <p:clrMap bg1="lt1" tx1="dk1" bg2="lt2" tx2="dk2" accent1="accent1" accent2="accent2" accent3="accent3" accent4="accent4" accent5="accent5" accent6="accent6" hlink="hlink" folHlink="folHlink"/>
  <p:notesStyle>
    <a:lvl1pPr marL="0" algn="l" defTabSz="987552" rtl="0" eaLnBrk="1" latinLnBrk="0" hangingPunct="1">
      <a:defRPr sz="1296" kern="1200">
        <a:solidFill>
          <a:schemeClr val="tx1"/>
        </a:solidFill>
        <a:latin typeface="+mn-lt"/>
        <a:ea typeface="+mn-ea"/>
        <a:cs typeface="+mn-cs"/>
      </a:defRPr>
    </a:lvl1pPr>
    <a:lvl2pPr marL="493776" algn="l" defTabSz="987552" rtl="0" eaLnBrk="1" latinLnBrk="0" hangingPunct="1">
      <a:defRPr sz="1296" kern="1200">
        <a:solidFill>
          <a:schemeClr val="tx1"/>
        </a:solidFill>
        <a:latin typeface="+mn-lt"/>
        <a:ea typeface="+mn-ea"/>
        <a:cs typeface="+mn-cs"/>
      </a:defRPr>
    </a:lvl2pPr>
    <a:lvl3pPr marL="987552" algn="l" defTabSz="987552" rtl="0" eaLnBrk="1" latinLnBrk="0" hangingPunct="1">
      <a:defRPr sz="1296" kern="1200">
        <a:solidFill>
          <a:schemeClr val="tx1"/>
        </a:solidFill>
        <a:latin typeface="+mn-lt"/>
        <a:ea typeface="+mn-ea"/>
        <a:cs typeface="+mn-cs"/>
      </a:defRPr>
    </a:lvl3pPr>
    <a:lvl4pPr marL="1481328" algn="l" defTabSz="987552" rtl="0" eaLnBrk="1" latinLnBrk="0" hangingPunct="1">
      <a:defRPr sz="1296" kern="1200">
        <a:solidFill>
          <a:schemeClr val="tx1"/>
        </a:solidFill>
        <a:latin typeface="+mn-lt"/>
        <a:ea typeface="+mn-ea"/>
        <a:cs typeface="+mn-cs"/>
      </a:defRPr>
    </a:lvl4pPr>
    <a:lvl5pPr marL="1975104" algn="l" defTabSz="987552" rtl="0" eaLnBrk="1" latinLnBrk="0" hangingPunct="1">
      <a:defRPr sz="1296" kern="1200">
        <a:solidFill>
          <a:schemeClr val="tx1"/>
        </a:solidFill>
        <a:latin typeface="+mn-lt"/>
        <a:ea typeface="+mn-ea"/>
        <a:cs typeface="+mn-cs"/>
      </a:defRPr>
    </a:lvl5pPr>
    <a:lvl6pPr marL="2468880" algn="l" defTabSz="987552" rtl="0" eaLnBrk="1" latinLnBrk="0" hangingPunct="1">
      <a:defRPr sz="1296" kern="1200">
        <a:solidFill>
          <a:schemeClr val="tx1"/>
        </a:solidFill>
        <a:latin typeface="+mn-lt"/>
        <a:ea typeface="+mn-ea"/>
        <a:cs typeface="+mn-cs"/>
      </a:defRPr>
    </a:lvl6pPr>
    <a:lvl7pPr marL="2962656" algn="l" defTabSz="987552" rtl="0" eaLnBrk="1" latinLnBrk="0" hangingPunct="1">
      <a:defRPr sz="1296" kern="1200">
        <a:solidFill>
          <a:schemeClr val="tx1"/>
        </a:solidFill>
        <a:latin typeface="+mn-lt"/>
        <a:ea typeface="+mn-ea"/>
        <a:cs typeface="+mn-cs"/>
      </a:defRPr>
    </a:lvl7pPr>
    <a:lvl8pPr marL="3456432" algn="l" defTabSz="987552" rtl="0" eaLnBrk="1" latinLnBrk="0" hangingPunct="1">
      <a:defRPr sz="1296" kern="1200">
        <a:solidFill>
          <a:schemeClr val="tx1"/>
        </a:solidFill>
        <a:latin typeface="+mn-lt"/>
        <a:ea typeface="+mn-ea"/>
        <a:cs typeface="+mn-cs"/>
      </a:defRPr>
    </a:lvl8pPr>
    <a:lvl9pPr marL="3950208" algn="l" defTabSz="987552" rtl="0" eaLnBrk="1" latinLnBrk="0" hangingPunct="1">
      <a:defRPr sz="129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modernhealthcare.com/article/20181128/NEWS/181129932/mental-health-coverage-limits-in-self-insured-plans-hang-on-judge-s-ruling" TargetMode="External"/><Relationship Id="rId2" Type="http://schemas.openxmlformats.org/officeDocument/2006/relationships/slide" Target="../slides/slide21.xml"/><Relationship Id="rId1" Type="http://schemas.openxmlformats.org/officeDocument/2006/relationships/notesMaster" Target="../notesMasters/notesMaster1.xml"/><Relationship Id="rId5" Type="http://schemas.openxmlformats.org/officeDocument/2006/relationships/hyperlink" Target="https://www.ajmc.com/journals/issue/2019/2019-vol25-n12/cost-burden-of-hepatitis-c-virus-treatment-in-commercially-insured-patients" TargetMode="External"/><Relationship Id="rId4" Type="http://schemas.openxmlformats.org/officeDocument/2006/relationships/hyperlink" Target="https://www.modernhealthcare.com/law-regulation/united-loses-court-behavioral-health-coverage-rules#main-content"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hbr.org/2019/10/research-people-want-their-employers-to-talk-about-mental-health"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globalhealth.harvard.edu/mental-health-covid-19"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modernhealthcare.com/article/20181128/NEWS/181129932/mental-health-coverage-limits-in-self-insured-plans-hang-on-judge-s-ruling" TargetMode="External"/><Relationship Id="rId2" Type="http://schemas.openxmlformats.org/officeDocument/2006/relationships/slide" Target="../slides/slide27.xml"/><Relationship Id="rId1" Type="http://schemas.openxmlformats.org/officeDocument/2006/relationships/notesMaster" Target="../notesMasters/notesMaster1.xml"/><Relationship Id="rId5" Type="http://schemas.openxmlformats.org/officeDocument/2006/relationships/hyperlink" Target="https://www.ajmc.com/journals/issue/2019/2019-vol25-n12/cost-burden-of-hepatitis-c-virus-treatment-in-commercially-insured-patients" TargetMode="External"/><Relationship Id="rId4" Type="http://schemas.openxmlformats.org/officeDocument/2006/relationships/hyperlink" Target="https://www.modernhealthcare.com/law-regulation/united-loses-court-behavioral-health-coverage-rules#main-content" TargetMode="Externa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globalhealth.harvard.edu/mental-health-covid-19"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globalhealth.harvard.edu/mental-health-covid-19"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hbr.org/2019/10/research-people-want-their-employers-to-talk-about-mental-health"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www.hhs.gov/hipaa/for-professionals/special-topics/mental-health/index.html" TargetMode="External"/><Relationship Id="rId2" Type="http://schemas.openxmlformats.org/officeDocument/2006/relationships/slide" Target="../slides/slide32.xml"/><Relationship Id="rId1" Type="http://schemas.openxmlformats.org/officeDocument/2006/relationships/notesMaster" Target="../notesMasters/notesMaster1.xml"/><Relationship Id="rId4" Type="http://schemas.openxmlformats.org/officeDocument/2006/relationships/hyperlink" Target="https://www.hhs.gov/sites/default/files/hipaa-privacy-rule-and-sharing-info-related-to-mental-health.pdf" TargetMode="Externa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B26A8A-BAF7-41AA-AA32-9E97A61F8DC2}" type="slidenum">
              <a:rPr lang="en-US" smtClean="0"/>
              <a:t>1</a:t>
            </a:fld>
            <a:endParaRPr lang="en-US" dirty="0"/>
          </a:p>
        </p:txBody>
      </p:sp>
    </p:spTree>
    <p:extLst>
      <p:ext uri="{BB962C8B-B14F-4D97-AF65-F5344CB8AC3E}">
        <p14:creationId xmlns:p14="http://schemas.microsoft.com/office/powerpoint/2010/main" val="25249594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B26A8A-BAF7-41AA-AA32-9E97A61F8DC2}" type="slidenum">
              <a:rPr lang="en-US" smtClean="0"/>
              <a:t>3</a:t>
            </a:fld>
            <a:endParaRPr lang="en-US" dirty="0"/>
          </a:p>
        </p:txBody>
      </p:sp>
    </p:spTree>
    <p:extLst>
      <p:ext uri="{BB962C8B-B14F-4D97-AF65-F5344CB8AC3E}">
        <p14:creationId xmlns:p14="http://schemas.microsoft.com/office/powerpoint/2010/main" val="3365864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6</a:t>
            </a:fld>
            <a:endParaRPr lang="en-US" dirty="0"/>
          </a:p>
        </p:txBody>
      </p:sp>
    </p:spTree>
    <p:extLst>
      <p:ext uri="{BB962C8B-B14F-4D97-AF65-F5344CB8AC3E}">
        <p14:creationId xmlns:p14="http://schemas.microsoft.com/office/powerpoint/2010/main" val="6035153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7</a:t>
            </a:fld>
            <a:endParaRPr lang="en-US" dirty="0"/>
          </a:p>
        </p:txBody>
      </p:sp>
    </p:spTree>
    <p:extLst>
      <p:ext uri="{BB962C8B-B14F-4D97-AF65-F5344CB8AC3E}">
        <p14:creationId xmlns:p14="http://schemas.microsoft.com/office/powerpoint/2010/main" val="1553056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8</a:t>
            </a:fld>
            <a:endParaRPr lang="en-US" dirty="0"/>
          </a:p>
        </p:txBody>
      </p:sp>
    </p:spTree>
    <p:extLst>
      <p:ext uri="{BB962C8B-B14F-4D97-AF65-F5344CB8AC3E}">
        <p14:creationId xmlns:p14="http://schemas.microsoft.com/office/powerpoint/2010/main" val="16355480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9</a:t>
            </a:fld>
            <a:endParaRPr lang="en-US" dirty="0"/>
          </a:p>
        </p:txBody>
      </p:sp>
    </p:spTree>
    <p:extLst>
      <p:ext uri="{BB962C8B-B14F-4D97-AF65-F5344CB8AC3E}">
        <p14:creationId xmlns:p14="http://schemas.microsoft.com/office/powerpoint/2010/main" val="1417281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10</a:t>
            </a:fld>
            <a:endParaRPr lang="en-US" dirty="0"/>
          </a:p>
        </p:txBody>
      </p:sp>
    </p:spTree>
    <p:extLst>
      <p:ext uri="{BB962C8B-B14F-4D97-AF65-F5344CB8AC3E}">
        <p14:creationId xmlns:p14="http://schemas.microsoft.com/office/powerpoint/2010/main" val="17787238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11</a:t>
            </a:fld>
            <a:endParaRPr lang="en-US" dirty="0"/>
          </a:p>
        </p:txBody>
      </p:sp>
    </p:spTree>
    <p:extLst>
      <p:ext uri="{BB962C8B-B14F-4D97-AF65-F5344CB8AC3E}">
        <p14:creationId xmlns:p14="http://schemas.microsoft.com/office/powerpoint/2010/main" val="4105556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spcAft>
                <a:spcPts val="600"/>
              </a:spcAft>
              <a:buFont typeface="Arial" panose="020B0604020202020204" pitchFamily="34" charset="0"/>
              <a:buChar char="•"/>
            </a:pPr>
            <a:r>
              <a:rPr lang="en-US" sz="1400" dirty="0">
                <a:solidFill>
                  <a:srgbClr val="003963"/>
                </a:solidFill>
              </a:rPr>
              <a:t>Addressing unmet need, escalating prevalence, and costs through prevention</a:t>
            </a:r>
          </a:p>
          <a:p>
            <a:pPr marL="285750" indent="-285750">
              <a:spcAft>
                <a:spcPts val="600"/>
              </a:spcAft>
              <a:buFont typeface="Arial" panose="020B0604020202020204" pitchFamily="34" charset="0"/>
              <a:buChar char="•"/>
            </a:pPr>
            <a:r>
              <a:rPr lang="en-US" sz="1400" dirty="0">
                <a:solidFill>
                  <a:srgbClr val="003963"/>
                </a:solidFill>
              </a:rPr>
              <a:t>Identifying risk early and intervening at opportune times, in accordance with member preference</a:t>
            </a:r>
          </a:p>
          <a:p>
            <a:pPr marL="285750" indent="-285750">
              <a:spcAft>
                <a:spcPts val="600"/>
              </a:spcAft>
              <a:buFont typeface="Arial" panose="020B0604020202020204" pitchFamily="34" charset="0"/>
              <a:buChar char="•"/>
            </a:pPr>
            <a:r>
              <a:rPr lang="en-US" sz="1400" dirty="0">
                <a:solidFill>
                  <a:srgbClr val="003963"/>
                </a:solidFill>
              </a:rPr>
              <a:t>Aligning  and referring to appropriate care</a:t>
            </a:r>
          </a:p>
          <a:p>
            <a:pPr marL="285750" indent="-285750">
              <a:spcAft>
                <a:spcPts val="600"/>
              </a:spcAft>
              <a:buFont typeface="Arial" panose="020B0604020202020204" pitchFamily="34" charset="0"/>
              <a:buChar char="•"/>
            </a:pPr>
            <a:r>
              <a:rPr lang="en-US" sz="1400" dirty="0">
                <a:solidFill>
                  <a:srgbClr val="003963"/>
                </a:solidFill>
              </a:rPr>
              <a:t>Optimizing health outcomes versus sound care investments </a:t>
            </a:r>
          </a:p>
          <a:p>
            <a:pPr marL="285750" indent="-285750">
              <a:spcAft>
                <a:spcPts val="600"/>
              </a:spcAft>
              <a:buFont typeface="Arial" panose="020B0604020202020204" pitchFamily="34" charset="0"/>
              <a:buChar char="•"/>
            </a:pPr>
            <a:r>
              <a:rPr lang="en-US" sz="1400" dirty="0">
                <a:solidFill>
                  <a:srgbClr val="003963"/>
                </a:solidFill>
              </a:rPr>
              <a:t>Defining a model that expands BH support for the early and preventive spectrum of acuity</a:t>
            </a:r>
          </a:p>
          <a:p>
            <a:pPr marL="285750" indent="-285750">
              <a:spcAft>
                <a:spcPts val="600"/>
              </a:spcAft>
              <a:buFont typeface="Arial" panose="020B0604020202020204" pitchFamily="34" charset="0"/>
              <a:buChar char="•"/>
            </a:pPr>
            <a:r>
              <a:rPr lang="en-US" sz="1400" dirty="0">
                <a:solidFill>
                  <a:srgbClr val="003963"/>
                </a:solidFill>
              </a:rPr>
              <a:t>Exploring new channels of BH innovation and outreach, including digital solutions, telemedicine, peer-to-peer connections, coaching, and community resources in compliment to traditional therapy.</a:t>
            </a:r>
          </a:p>
          <a:p>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15</a:t>
            </a:fld>
            <a:endParaRPr lang="en-US" dirty="0"/>
          </a:p>
        </p:txBody>
      </p:sp>
    </p:spTree>
    <p:extLst>
      <p:ext uri="{BB962C8B-B14F-4D97-AF65-F5344CB8AC3E}">
        <p14:creationId xmlns:p14="http://schemas.microsoft.com/office/powerpoint/2010/main" val="1691184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spcAft>
                <a:spcPts val="600"/>
              </a:spcAft>
              <a:buFont typeface="Arial" panose="020B0604020202020204" pitchFamily="34" charset="0"/>
              <a:buChar char="•"/>
            </a:pPr>
            <a:r>
              <a:rPr lang="en-US" sz="1400" dirty="0">
                <a:solidFill>
                  <a:srgbClr val="003963"/>
                </a:solidFill>
              </a:rPr>
              <a:t>Activating care models that add BH capacity while managing costs</a:t>
            </a:r>
          </a:p>
          <a:p>
            <a:pPr marL="285750" indent="-285750">
              <a:spcAft>
                <a:spcPts val="600"/>
              </a:spcAft>
              <a:buFont typeface="Arial" panose="020B0604020202020204" pitchFamily="34" charset="0"/>
              <a:buChar char="•"/>
            </a:pPr>
            <a:r>
              <a:rPr lang="en-US" sz="1400" dirty="0">
                <a:solidFill>
                  <a:srgbClr val="003963"/>
                </a:solidFill>
              </a:rPr>
              <a:t>Enabling all clinicians (and potentially non-clinical staff) to confidently and meaningfully engage with patients about their holistic behavioral and physical health needs without adding additional administrative burden. </a:t>
            </a:r>
          </a:p>
          <a:p>
            <a:pPr marL="285750" indent="-285750">
              <a:spcAft>
                <a:spcPts val="600"/>
              </a:spcAft>
              <a:buFont typeface="Arial" panose="020B0604020202020204" pitchFamily="34" charset="0"/>
              <a:buChar char="•"/>
            </a:pPr>
            <a:r>
              <a:rPr lang="en-US" sz="1400" dirty="0">
                <a:solidFill>
                  <a:srgbClr val="003963"/>
                </a:solidFill>
              </a:rPr>
              <a:t>Reducing and removing clinical bias and encouraging BH discussions as a clinical priority</a:t>
            </a:r>
          </a:p>
          <a:p>
            <a:pPr marL="285750" indent="-285750">
              <a:spcAft>
                <a:spcPts val="600"/>
              </a:spcAft>
              <a:buFont typeface="Arial" panose="020B0604020202020204" pitchFamily="34" charset="0"/>
              <a:buChar char="•"/>
            </a:pPr>
            <a:r>
              <a:rPr lang="en-US" sz="1400" dirty="0">
                <a:solidFill>
                  <a:srgbClr val="003963"/>
                </a:solidFill>
              </a:rPr>
              <a:t>Developing scoring models to enhance referral capabilities to psychotherapists, rotating BHC, and other BH providers</a:t>
            </a:r>
          </a:p>
          <a:p>
            <a:pPr marL="285750" indent="-285750">
              <a:spcAft>
                <a:spcPts val="600"/>
              </a:spcAft>
              <a:buFont typeface="Arial" panose="020B0604020202020204" pitchFamily="34" charset="0"/>
              <a:buChar char="•"/>
            </a:pPr>
            <a:r>
              <a:rPr lang="en-US" sz="1400" dirty="0">
                <a:solidFill>
                  <a:srgbClr val="003963"/>
                </a:solidFill>
              </a:rPr>
              <a:t>Creating armies of BH advocates that are better equipped to identify, treat, refer, and drive greater performance and patient outcomes.</a:t>
            </a:r>
            <a:endParaRPr lang="en-US" sz="1600" dirty="0">
              <a:solidFill>
                <a:srgbClr val="003963"/>
              </a:solidFill>
            </a:endParaRPr>
          </a:p>
        </p:txBody>
      </p:sp>
      <p:sp>
        <p:nvSpPr>
          <p:cNvPr id="4" name="Slide Number Placeholder 3"/>
          <p:cNvSpPr>
            <a:spLocks noGrp="1"/>
          </p:cNvSpPr>
          <p:nvPr>
            <p:ph type="sldNum" sz="quarter" idx="5"/>
          </p:nvPr>
        </p:nvSpPr>
        <p:spPr/>
        <p:txBody>
          <a:bodyPr/>
          <a:lstStyle/>
          <a:p>
            <a:fld id="{38A7E464-FA5A-45EC-B1D2-264C3428DEAE}" type="slidenum">
              <a:rPr lang="en-US" smtClean="0"/>
              <a:t>16</a:t>
            </a:fld>
            <a:endParaRPr lang="en-US" dirty="0"/>
          </a:p>
        </p:txBody>
      </p:sp>
    </p:spTree>
    <p:extLst>
      <p:ext uri="{BB962C8B-B14F-4D97-AF65-F5344CB8AC3E}">
        <p14:creationId xmlns:p14="http://schemas.microsoft.com/office/powerpoint/2010/main" val="28227944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spcBef>
                <a:spcPts val="300"/>
              </a:spcBef>
              <a:spcAft>
                <a:spcPts val="300"/>
              </a:spcAft>
              <a:buFont typeface="Arial" panose="020B0604020202020204" pitchFamily="34" charset="0"/>
              <a:buChar char="•"/>
            </a:pPr>
            <a:r>
              <a:rPr lang="en-US" sz="1400" dirty="0">
                <a:solidFill>
                  <a:srgbClr val="003963"/>
                </a:solidFill>
              </a:rPr>
              <a:t>Leveraging community resources as an extension of care delivery in order to deliver care during daily life and in a cost effective way </a:t>
            </a:r>
          </a:p>
          <a:p>
            <a:pPr marL="285750" indent="-285750">
              <a:spcBef>
                <a:spcPts val="300"/>
              </a:spcBef>
              <a:spcAft>
                <a:spcPts val="300"/>
              </a:spcAft>
              <a:buFont typeface="Arial" panose="020B0604020202020204" pitchFamily="34" charset="0"/>
              <a:buChar char="•"/>
            </a:pPr>
            <a:r>
              <a:rPr lang="en-US" sz="1400" dirty="0">
                <a:solidFill>
                  <a:srgbClr val="003963"/>
                </a:solidFill>
              </a:rPr>
              <a:t>Cultivate a system of employers, families, community organizations and other social networks to serve in coordinated support of BH care, particularly in communities that are most at-risk</a:t>
            </a:r>
            <a:endParaRPr lang="en-US" sz="1600" dirty="0">
              <a:solidFill>
                <a:srgbClr val="003963"/>
              </a:solidFill>
            </a:endParaRPr>
          </a:p>
          <a:p>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17</a:t>
            </a:fld>
            <a:endParaRPr lang="en-US" dirty="0"/>
          </a:p>
        </p:txBody>
      </p:sp>
    </p:spTree>
    <p:extLst>
      <p:ext uri="{BB962C8B-B14F-4D97-AF65-F5344CB8AC3E}">
        <p14:creationId xmlns:p14="http://schemas.microsoft.com/office/powerpoint/2010/main" val="20877800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spcAft>
                <a:spcPts val="600"/>
              </a:spcAft>
              <a:buFont typeface="Arial" panose="020B0604020202020204" pitchFamily="34" charset="0"/>
              <a:buChar char="•"/>
            </a:pPr>
            <a:r>
              <a:rPr lang="en-US" sz="1400" dirty="0">
                <a:solidFill>
                  <a:srgbClr val="003963"/>
                </a:solidFill>
              </a:rPr>
              <a:t>Reframing innate biases that hamper behavioral health development due to preference for short term returns and known healthcare outcomes </a:t>
            </a:r>
          </a:p>
          <a:p>
            <a:pPr marL="285750" indent="-285750">
              <a:spcAft>
                <a:spcPts val="600"/>
              </a:spcAft>
              <a:buFont typeface="Arial" panose="020B0604020202020204" pitchFamily="34" charset="0"/>
              <a:buChar char="•"/>
            </a:pPr>
            <a:r>
              <a:rPr lang="en-US" sz="1400" dirty="0">
                <a:solidFill>
                  <a:srgbClr val="003963"/>
                </a:solidFill>
              </a:rPr>
              <a:t>Assessing behavioral health’s cause-and-effect relationship with chronic and/or comorbid conditions that receive significant funding </a:t>
            </a:r>
          </a:p>
          <a:p>
            <a:pPr marL="285750" indent="-285750">
              <a:spcAft>
                <a:spcPts val="600"/>
              </a:spcAft>
              <a:buFont typeface="Arial" panose="020B0604020202020204" pitchFamily="34" charset="0"/>
              <a:buChar char="•"/>
            </a:pPr>
            <a:r>
              <a:rPr lang="en-US" sz="1400" dirty="0">
                <a:solidFill>
                  <a:srgbClr val="003963"/>
                </a:solidFill>
              </a:rPr>
              <a:t>Capitalizing on long-term analysis and partnerships with members</a:t>
            </a:r>
          </a:p>
          <a:p>
            <a:pPr marL="285750" indent="-285750">
              <a:spcAft>
                <a:spcPts val="600"/>
              </a:spcAft>
              <a:buFont typeface="Arial" panose="020B0604020202020204" pitchFamily="34" charset="0"/>
              <a:buChar char="•"/>
            </a:pPr>
            <a:r>
              <a:rPr lang="en-US" sz="1400" dirty="0">
                <a:solidFill>
                  <a:srgbClr val="003963"/>
                </a:solidFill>
              </a:rPr>
              <a:t>Considering behavioral health models that require partnership with the health plan and services (including by members), as if in a retail behavioral health model</a:t>
            </a:r>
            <a:endParaRPr lang="en-US" sz="1600" dirty="0">
              <a:solidFill>
                <a:srgbClr val="003963"/>
              </a:solidFill>
            </a:endParaRPr>
          </a:p>
        </p:txBody>
      </p:sp>
      <p:sp>
        <p:nvSpPr>
          <p:cNvPr id="4" name="Slide Number Placeholder 3"/>
          <p:cNvSpPr>
            <a:spLocks noGrp="1"/>
          </p:cNvSpPr>
          <p:nvPr>
            <p:ph type="sldNum" sz="quarter" idx="5"/>
          </p:nvPr>
        </p:nvSpPr>
        <p:spPr/>
        <p:txBody>
          <a:bodyPr/>
          <a:lstStyle/>
          <a:p>
            <a:fld id="{38A7E464-FA5A-45EC-B1D2-264C3428DEAE}" type="slidenum">
              <a:rPr lang="en-US" smtClean="0"/>
              <a:t>18</a:t>
            </a:fld>
            <a:endParaRPr lang="en-US" dirty="0"/>
          </a:p>
        </p:txBody>
      </p:sp>
    </p:spTree>
    <p:extLst>
      <p:ext uri="{BB962C8B-B14F-4D97-AF65-F5344CB8AC3E}">
        <p14:creationId xmlns:p14="http://schemas.microsoft.com/office/powerpoint/2010/main" val="3825121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19</a:t>
            </a:fld>
            <a:endParaRPr lang="en-US" dirty="0"/>
          </a:p>
        </p:txBody>
      </p:sp>
    </p:spTree>
    <p:extLst>
      <p:ext uri="{BB962C8B-B14F-4D97-AF65-F5344CB8AC3E}">
        <p14:creationId xmlns:p14="http://schemas.microsoft.com/office/powerpoint/2010/main" val="18403236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err="1">
                <a:hlinkClick r:id="rId3"/>
              </a:rPr>
              <a:t>htt</a:t>
            </a:r>
            <a:endParaRPr lang="en-US" dirty="0">
              <a:hlinkClick r:id="rId3"/>
            </a:endParaRPr>
          </a:p>
          <a:p>
            <a:r>
              <a:rPr lang="en-US" dirty="0">
                <a:hlinkClick r:id="rId3"/>
              </a:rPr>
              <a:t>ps://www.modernhealthcare.com/article/20181128/NEWS/181129932/mental-health-coverage-limits-in-self-insured-plans-hang-on-judge-s-ruling</a:t>
            </a:r>
            <a:endParaRPr lang="en-US" dirty="0"/>
          </a:p>
          <a:p>
            <a:r>
              <a:rPr lang="en-US" dirty="0">
                <a:hlinkClick r:id="rId4"/>
              </a:rPr>
              <a:t>https://www.modernhealthcare.com/law-regulation/united-loses-court-behavioral-health-coverage-rules#main-content</a:t>
            </a:r>
            <a:endParaRPr lang="en-US" dirty="0"/>
          </a:p>
          <a:p>
            <a:endParaRPr lang="en-US" dirty="0"/>
          </a:p>
          <a:p>
            <a:r>
              <a:rPr lang="en-US" dirty="0">
                <a:hlinkClick r:id="rId5"/>
              </a:rPr>
              <a:t>https://www.ajmc.com/journals/issue/2019/2019-vol25-n12/cost-burden-of-hepatitis-c-virus-treatment-in-commercially-insured-patients</a:t>
            </a:r>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21</a:t>
            </a:fld>
            <a:endParaRPr lang="en-US" dirty="0"/>
          </a:p>
        </p:txBody>
      </p:sp>
    </p:spTree>
    <p:extLst>
      <p:ext uri="{BB962C8B-B14F-4D97-AF65-F5344CB8AC3E}">
        <p14:creationId xmlns:p14="http://schemas.microsoft.com/office/powerpoint/2010/main" val="39589514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22</a:t>
            </a:fld>
            <a:endParaRPr lang="en-US" dirty="0"/>
          </a:p>
        </p:txBody>
      </p:sp>
    </p:spTree>
    <p:extLst>
      <p:ext uri="{BB962C8B-B14F-4D97-AF65-F5344CB8AC3E}">
        <p14:creationId xmlns:p14="http://schemas.microsoft.com/office/powerpoint/2010/main" val="39114504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https://hbr.org/2019/10/research-people-want-their-employers-to-talk-about-mental-health</a:t>
            </a:r>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23</a:t>
            </a:fld>
            <a:endParaRPr lang="en-US" dirty="0"/>
          </a:p>
        </p:txBody>
      </p:sp>
    </p:spTree>
    <p:extLst>
      <p:ext uri="{BB962C8B-B14F-4D97-AF65-F5344CB8AC3E}">
        <p14:creationId xmlns:p14="http://schemas.microsoft.com/office/powerpoint/2010/main" val="11472120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https://globalhealth.harvard.edu/mental-health-covid-19</a:t>
            </a:r>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25</a:t>
            </a:fld>
            <a:endParaRPr lang="en-US" dirty="0"/>
          </a:p>
        </p:txBody>
      </p:sp>
    </p:spTree>
    <p:extLst>
      <p:ext uri="{BB962C8B-B14F-4D97-AF65-F5344CB8AC3E}">
        <p14:creationId xmlns:p14="http://schemas.microsoft.com/office/powerpoint/2010/main" val="5256418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26</a:t>
            </a:fld>
            <a:endParaRPr lang="en-US" dirty="0"/>
          </a:p>
        </p:txBody>
      </p:sp>
    </p:spTree>
    <p:extLst>
      <p:ext uri="{BB962C8B-B14F-4D97-AF65-F5344CB8AC3E}">
        <p14:creationId xmlns:p14="http://schemas.microsoft.com/office/powerpoint/2010/main" val="16181543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err="1">
                <a:hlinkClick r:id="rId3"/>
              </a:rPr>
              <a:t>htt</a:t>
            </a:r>
            <a:endParaRPr lang="en-US" dirty="0">
              <a:hlinkClick r:id="" action="ppaction://noaction"/>
            </a:endParaRPr>
          </a:p>
          <a:p>
            <a:r>
              <a:rPr lang="en-US" dirty="0">
                <a:hlinkClick r:id="" action="ppaction://noaction"/>
              </a:rPr>
              <a:t>ps://www.modernhealthcare.com/article/20181128/NEWS/181129932/mental-health-coverage-limits-in-self-insured-plans-hang-on-judge-s-ruling</a:t>
            </a:r>
            <a:endParaRPr lang="en-US" dirty="0"/>
          </a:p>
          <a:p>
            <a:r>
              <a:rPr lang="en-US" dirty="0">
                <a:hlinkClick r:id="rId4"/>
              </a:rPr>
              <a:t>https://www.modernhealthcare.com/law-regulation/united-loses-court-behavioral-health-coverage-rules#main-content</a:t>
            </a:r>
            <a:endParaRPr lang="en-US" dirty="0"/>
          </a:p>
          <a:p>
            <a:endParaRPr lang="en-US" dirty="0"/>
          </a:p>
          <a:p>
            <a:r>
              <a:rPr lang="en-US" dirty="0">
                <a:hlinkClick r:id="rId5"/>
              </a:rPr>
              <a:t>https://www.ajmc.com/journals/issue/2019/2019-vol25-n12/cost-burden-of-hepatitis-c-virus-treatment-in-commercially-insured-patients</a:t>
            </a:r>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27</a:t>
            </a:fld>
            <a:endParaRPr lang="en-US" dirty="0"/>
          </a:p>
        </p:txBody>
      </p:sp>
    </p:spTree>
    <p:extLst>
      <p:ext uri="{BB962C8B-B14F-4D97-AF65-F5344CB8AC3E}">
        <p14:creationId xmlns:p14="http://schemas.microsoft.com/office/powerpoint/2010/main" val="23843377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https://globalhealth.harvard.edu/mental-health-covid-19</a:t>
            </a:r>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28</a:t>
            </a:fld>
            <a:endParaRPr lang="en-US" dirty="0"/>
          </a:p>
        </p:txBody>
      </p:sp>
    </p:spTree>
    <p:extLst>
      <p:ext uri="{BB962C8B-B14F-4D97-AF65-F5344CB8AC3E}">
        <p14:creationId xmlns:p14="http://schemas.microsoft.com/office/powerpoint/2010/main" val="32400880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https://globalhealth.harvard.edu/mental-health-covid-19</a:t>
            </a:r>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29</a:t>
            </a:fld>
            <a:endParaRPr lang="en-US" dirty="0"/>
          </a:p>
        </p:txBody>
      </p:sp>
    </p:spTree>
    <p:extLst>
      <p:ext uri="{BB962C8B-B14F-4D97-AF65-F5344CB8AC3E}">
        <p14:creationId xmlns:p14="http://schemas.microsoft.com/office/powerpoint/2010/main" val="7741925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https://hbr.org/2019/10/research-people-want-their-employers-to-talk-about-mental-health</a:t>
            </a:r>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30</a:t>
            </a:fld>
            <a:endParaRPr lang="en-US" dirty="0"/>
          </a:p>
        </p:txBody>
      </p:sp>
    </p:spTree>
    <p:extLst>
      <p:ext uri="{BB962C8B-B14F-4D97-AF65-F5344CB8AC3E}">
        <p14:creationId xmlns:p14="http://schemas.microsoft.com/office/powerpoint/2010/main" val="32103213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https://www.hhs.gov/hipaa/for-professionals/special-topics/mental-health/index.html</a:t>
            </a:r>
            <a:endParaRPr lang="en-US" dirty="0">
              <a:hlinkClick r:id="rId4"/>
            </a:endParaRPr>
          </a:p>
          <a:p>
            <a:r>
              <a:rPr lang="en-US" dirty="0">
                <a:hlinkClick r:id="rId4"/>
              </a:rPr>
              <a:t>https://www.hhs.gov/sites/default/files//hipaa-privacy-rule-and-sharing-info-related-to-mental-health.pdf</a:t>
            </a:r>
            <a:endParaRPr lang="en-US" dirty="0"/>
          </a:p>
          <a:p>
            <a:endParaRPr lang="en-US" dirty="0"/>
          </a:p>
        </p:txBody>
      </p:sp>
      <p:sp>
        <p:nvSpPr>
          <p:cNvPr id="4" name="Slide Number Placeholder 3"/>
          <p:cNvSpPr>
            <a:spLocks noGrp="1"/>
          </p:cNvSpPr>
          <p:nvPr>
            <p:ph type="sldNum" sz="quarter" idx="5"/>
          </p:nvPr>
        </p:nvSpPr>
        <p:spPr/>
        <p:txBody>
          <a:bodyPr/>
          <a:lstStyle/>
          <a:p>
            <a:fld id="{38A7E464-FA5A-45EC-B1D2-264C3428DEAE}" type="slidenum">
              <a:rPr lang="en-US" smtClean="0"/>
              <a:t>32</a:t>
            </a:fld>
            <a:endParaRPr lang="en-US" dirty="0"/>
          </a:p>
        </p:txBody>
      </p:sp>
    </p:spTree>
    <p:extLst>
      <p:ext uri="{BB962C8B-B14F-4D97-AF65-F5344CB8AC3E}">
        <p14:creationId xmlns:p14="http://schemas.microsoft.com/office/powerpoint/2010/main" val="6804724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A7E464-FA5A-45EC-B1D2-264C3428DEAE}" type="slidenum">
              <a:rPr lang="en-US" smtClean="0"/>
              <a:t>34</a:t>
            </a:fld>
            <a:endParaRPr lang="en-US" dirty="0"/>
          </a:p>
        </p:txBody>
      </p:sp>
    </p:spTree>
    <p:extLst>
      <p:ext uri="{BB962C8B-B14F-4D97-AF65-F5344CB8AC3E}">
        <p14:creationId xmlns:p14="http://schemas.microsoft.com/office/powerpoint/2010/main" val="24849459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3141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8798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422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877565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Rectangle 2"/>
          <p:cNvSpPr/>
          <p:nvPr userDrawn="1"/>
        </p:nvSpPr>
        <p:spPr>
          <a:xfrm>
            <a:off x="228599" y="1282148"/>
            <a:ext cx="4885804" cy="5706094"/>
          </a:xfrm>
          <a:prstGeom prst="rect">
            <a:avLst/>
          </a:prstGeom>
          <a:solidFill>
            <a:schemeClr val="tx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userDrawn="1"/>
        </p:nvSpPr>
        <p:spPr>
          <a:xfrm>
            <a:off x="228599" y="228599"/>
            <a:ext cx="5891646" cy="923330"/>
          </a:xfrm>
          <a:prstGeom prst="rect">
            <a:avLst/>
          </a:prstGeom>
        </p:spPr>
        <p:txBody>
          <a:bodyPr wrap="square" anchor="t">
            <a:spAutoFit/>
          </a:bodyPr>
          <a:lstStyle/>
          <a:p>
            <a:r>
              <a:rPr lang="en-US" sz="1800" b="1" dirty="0">
                <a:solidFill>
                  <a:srgbClr val="003963"/>
                </a:solidFill>
              </a:rPr>
              <a:t>Scope of Work:</a:t>
            </a:r>
            <a:br>
              <a:rPr lang="en-US" sz="1800" b="0" baseline="0" dirty="0">
                <a:solidFill>
                  <a:srgbClr val="00A2E2"/>
                </a:solidFill>
              </a:rPr>
            </a:br>
            <a:r>
              <a:rPr lang="en-US" sz="3600" b="1" dirty="0">
                <a:solidFill>
                  <a:schemeClr val="accent2"/>
                </a:solidFill>
              </a:rPr>
              <a:t>Guidelines</a:t>
            </a:r>
          </a:p>
        </p:txBody>
      </p:sp>
      <p:sp>
        <p:nvSpPr>
          <p:cNvPr id="5" name="Rectangle 4"/>
          <p:cNvSpPr/>
          <p:nvPr userDrawn="1"/>
        </p:nvSpPr>
        <p:spPr>
          <a:xfrm>
            <a:off x="228599" y="1295112"/>
            <a:ext cx="4885804" cy="5632311"/>
          </a:xfrm>
          <a:prstGeom prst="rect">
            <a:avLst/>
          </a:prstGeom>
          <a:solidFill>
            <a:schemeClr val="bg1">
              <a:lumMod val="95000"/>
            </a:schemeClr>
          </a:solidFill>
        </p:spPr>
        <p:txBody>
          <a:bodyPr wrap="square" anchor="t">
            <a:spAutoFit/>
          </a:bodyPr>
          <a:lstStyle/>
          <a:p>
            <a:pPr marL="0" indent="-228600">
              <a:lnSpc>
                <a:spcPct val="125000"/>
              </a:lnSpc>
            </a:pPr>
            <a:r>
              <a:rPr lang="en-US" sz="1800" b="0" dirty="0">
                <a:solidFill>
                  <a:srgbClr val="003963"/>
                </a:solidFill>
              </a:rPr>
              <a:t>This SOW</a:t>
            </a:r>
            <a:r>
              <a:rPr lang="en-US" sz="1800" b="0" baseline="0" dirty="0">
                <a:solidFill>
                  <a:srgbClr val="003963"/>
                </a:solidFill>
              </a:rPr>
              <a:t> is meant to be a </a:t>
            </a:r>
            <a:r>
              <a:rPr lang="en-US" sz="1800" b="0" dirty="0">
                <a:solidFill>
                  <a:srgbClr val="003963"/>
                </a:solidFill>
              </a:rPr>
              <a:t>high</a:t>
            </a:r>
            <a:r>
              <a:rPr lang="en-US" sz="1800" b="0" baseline="0" dirty="0">
                <a:solidFill>
                  <a:srgbClr val="003963"/>
                </a:solidFill>
              </a:rPr>
              <a:t> level document meant to set expectations at the outset of a project. </a:t>
            </a:r>
            <a:r>
              <a:rPr lang="en-US" sz="1800" b="0" u="sng" baseline="0" dirty="0">
                <a:solidFill>
                  <a:srgbClr val="003963"/>
                </a:solidFill>
              </a:rPr>
              <a:t>Please read this page all the way through before creating your SOW.</a:t>
            </a:r>
          </a:p>
          <a:p>
            <a:pPr marL="0" indent="-228600">
              <a:lnSpc>
                <a:spcPct val="125000"/>
              </a:lnSpc>
            </a:pPr>
            <a:endParaRPr lang="en-US" sz="1800" b="0" baseline="0" dirty="0">
              <a:solidFill>
                <a:srgbClr val="003963"/>
              </a:solidFill>
            </a:endParaRPr>
          </a:p>
          <a:p>
            <a:pPr marL="0" indent="-228600">
              <a:lnSpc>
                <a:spcPct val="125000"/>
              </a:lnSpc>
            </a:pPr>
            <a:r>
              <a:rPr lang="en-US" sz="1800" b="1" dirty="0">
                <a:solidFill>
                  <a:schemeClr val="accent1"/>
                </a:solidFill>
              </a:rPr>
              <a:t>These</a:t>
            </a:r>
            <a:r>
              <a:rPr lang="en-US" sz="1800" b="1" baseline="0" dirty="0">
                <a:solidFill>
                  <a:schemeClr val="accent1"/>
                </a:solidFill>
              </a:rPr>
              <a:t> guidelines are intended to make sure the documents we create look consistent across teams and projects. They are not meant to be restrictive but </a:t>
            </a:r>
            <a:br>
              <a:rPr lang="en-US" sz="1800" b="1" baseline="0" dirty="0">
                <a:solidFill>
                  <a:schemeClr val="accent1"/>
                </a:solidFill>
              </a:rPr>
            </a:br>
            <a:r>
              <a:rPr lang="en-US" sz="1800" b="1" baseline="0" dirty="0">
                <a:solidFill>
                  <a:schemeClr val="accent1"/>
                </a:solidFill>
              </a:rPr>
              <a:t>to assist and streamline the creation of documents. A little extra care goes a long way toward achieving a unified voice for our office.</a:t>
            </a:r>
          </a:p>
          <a:p>
            <a:pPr marL="0" indent="-228600">
              <a:lnSpc>
                <a:spcPct val="125000"/>
              </a:lnSpc>
            </a:pPr>
            <a:endParaRPr lang="en-US" sz="1800" b="1" baseline="0" dirty="0">
              <a:solidFill>
                <a:schemeClr val="accent1"/>
              </a:solidFill>
            </a:endParaRPr>
          </a:p>
          <a:p>
            <a:pPr marL="0" indent="-228600">
              <a:lnSpc>
                <a:spcPct val="125000"/>
              </a:lnSpc>
            </a:pPr>
            <a:r>
              <a:rPr lang="en-US" sz="1800" b="0" baseline="0" dirty="0">
                <a:solidFill>
                  <a:schemeClr val="accent1"/>
                </a:solidFill>
              </a:rPr>
              <a:t>P.S. make sure to delete this page before </a:t>
            </a:r>
            <a:br>
              <a:rPr lang="en-US" sz="1800" b="0" baseline="0" dirty="0">
                <a:solidFill>
                  <a:schemeClr val="accent1"/>
                </a:solidFill>
              </a:rPr>
            </a:br>
            <a:r>
              <a:rPr lang="en-US" sz="1800" b="0" baseline="0" dirty="0">
                <a:solidFill>
                  <a:schemeClr val="accent1"/>
                </a:solidFill>
              </a:rPr>
              <a:t>sending to the client!</a:t>
            </a:r>
            <a:endParaRPr lang="en-US" sz="1800" b="0" dirty="0">
              <a:solidFill>
                <a:schemeClr val="accent1"/>
              </a:solidFill>
            </a:endParaRPr>
          </a:p>
        </p:txBody>
      </p:sp>
      <p:sp>
        <p:nvSpPr>
          <p:cNvPr id="6" name="Rectangle 5"/>
          <p:cNvSpPr/>
          <p:nvPr userDrawn="1"/>
        </p:nvSpPr>
        <p:spPr>
          <a:xfrm>
            <a:off x="6246459" y="487018"/>
            <a:ext cx="5511015" cy="6940361"/>
          </a:xfrm>
          <a:prstGeom prst="rect">
            <a:avLst/>
          </a:prstGeom>
        </p:spPr>
        <p:txBody>
          <a:bodyPr wrap="square" anchor="t">
            <a:spAutoFit/>
          </a:bodyPr>
          <a:lstStyle/>
          <a:p>
            <a:pPr marL="228600" marR="0" lvl="0" indent="-228600" algn="l" defTabSz="987552" rtl="0" eaLnBrk="1" fontAlgn="auto" latinLnBrk="0" hangingPunct="1">
              <a:lnSpc>
                <a:spcPct val="125000"/>
              </a:lnSpc>
              <a:spcBef>
                <a:spcPts val="0"/>
              </a:spcBef>
              <a:spcAft>
                <a:spcPts val="0"/>
              </a:spcAft>
              <a:buClrTx/>
              <a:buSzTx/>
              <a:buFont typeface="Arial" panose="020B0604020202020204" pitchFamily="34" charset="0"/>
              <a:buChar char="•"/>
              <a:tabLst/>
              <a:defRPr/>
            </a:pPr>
            <a:r>
              <a:rPr lang="en-US" sz="1200" b="1" dirty="0">
                <a:solidFill>
                  <a:prstClr val="black"/>
                </a:solidFill>
              </a:rPr>
              <a:t>first thing, save this as</a:t>
            </a:r>
            <a:r>
              <a:rPr lang="en-US" sz="1200" b="1" baseline="0" dirty="0">
                <a:solidFill>
                  <a:prstClr val="black"/>
                </a:solidFill>
              </a:rPr>
              <a:t> a file with a new name in your project folder, </a:t>
            </a:r>
            <a:br>
              <a:rPr lang="en-US" sz="1200" b="1" baseline="0" dirty="0">
                <a:solidFill>
                  <a:prstClr val="black"/>
                </a:solidFill>
              </a:rPr>
            </a:br>
            <a:r>
              <a:rPr lang="en-US" sz="1200" b="1" baseline="0" dirty="0">
                <a:solidFill>
                  <a:prstClr val="black"/>
                </a:solidFill>
              </a:rPr>
              <a:t>please don’t overwrite the template</a:t>
            </a:r>
          </a:p>
          <a:p>
            <a:pPr marL="228600" marR="0" lvl="0" indent="-228600" algn="l" defTabSz="987552" rtl="0" eaLnBrk="1" fontAlgn="auto" latinLnBrk="0" hangingPunct="1">
              <a:lnSpc>
                <a:spcPct val="125000"/>
              </a:lnSpc>
              <a:spcBef>
                <a:spcPts val="0"/>
              </a:spcBef>
              <a:spcAft>
                <a:spcPts val="0"/>
              </a:spcAft>
              <a:buClrTx/>
              <a:buSzTx/>
              <a:buFont typeface="Arial" panose="020B0604020202020204" pitchFamily="34" charset="0"/>
              <a:buChar char="•"/>
              <a:tabLst/>
              <a:defRPr/>
            </a:pPr>
            <a:endParaRPr lang="en-US" sz="1200" baseline="0" dirty="0">
              <a:solidFill>
                <a:prstClr val="black"/>
              </a:solidFill>
            </a:endParaRPr>
          </a:p>
          <a:p>
            <a:pPr marL="228600" lvl="0" indent="-228600">
              <a:lnSpc>
                <a:spcPct val="125000"/>
              </a:lnSpc>
              <a:buFont typeface="Arial" panose="020B0604020202020204" pitchFamily="34" charset="0"/>
              <a:buChar char="•"/>
            </a:pPr>
            <a:r>
              <a:rPr lang="en-US" sz="1200" baseline="0" dirty="0">
                <a:solidFill>
                  <a:prstClr val="black"/>
                </a:solidFill>
              </a:rPr>
              <a:t>use only the colors in the top row of the color browser</a:t>
            </a:r>
          </a:p>
          <a:p>
            <a:pPr marL="228600" marR="0" lvl="0" indent="-228600" algn="l" defTabSz="987552" rtl="0" eaLnBrk="1" fontAlgn="auto" latinLnBrk="0" hangingPunct="1">
              <a:lnSpc>
                <a:spcPct val="125000"/>
              </a:lnSpc>
              <a:spcBef>
                <a:spcPts val="0"/>
              </a:spcBef>
              <a:spcAft>
                <a:spcPts val="0"/>
              </a:spcAft>
              <a:buClrTx/>
              <a:buSzTx/>
              <a:buFont typeface="Arial" panose="020B0604020202020204" pitchFamily="34" charset="0"/>
              <a:buChar char="•"/>
              <a:tabLst/>
              <a:defRPr/>
            </a:pPr>
            <a:r>
              <a:rPr lang="en-US" sz="1200" baseline="0" dirty="0">
                <a:solidFill>
                  <a:prstClr val="black"/>
                </a:solidFill>
              </a:rPr>
              <a:t>this document contains 2 pages; an overview and a timeline</a:t>
            </a:r>
          </a:p>
          <a:p>
            <a:pPr marL="228600" marR="0" lvl="0" indent="-228600" algn="l" defTabSz="987552" rtl="0" eaLnBrk="1" fontAlgn="auto" latinLnBrk="0" hangingPunct="1">
              <a:lnSpc>
                <a:spcPct val="125000"/>
              </a:lnSpc>
              <a:spcBef>
                <a:spcPts val="0"/>
              </a:spcBef>
              <a:spcAft>
                <a:spcPts val="0"/>
              </a:spcAft>
              <a:buClrTx/>
              <a:buSzTx/>
              <a:buFont typeface="Arial" panose="020B0604020202020204" pitchFamily="34" charset="0"/>
              <a:buChar char="•"/>
              <a:tabLst/>
              <a:defRPr/>
            </a:pPr>
            <a:r>
              <a:rPr lang="en-US" sz="1200" baseline="0" dirty="0">
                <a:solidFill>
                  <a:prstClr val="black"/>
                </a:solidFill>
              </a:rPr>
              <a:t>change the project title at the top and the date in the footer </a:t>
            </a:r>
            <a:br>
              <a:rPr lang="en-US" sz="1200" baseline="0" dirty="0">
                <a:solidFill>
                  <a:prstClr val="black"/>
                </a:solidFill>
              </a:rPr>
            </a:br>
            <a:r>
              <a:rPr lang="en-US" sz="1200" baseline="0" dirty="0">
                <a:solidFill>
                  <a:prstClr val="black"/>
                </a:solidFill>
              </a:rPr>
              <a:t>on both pages</a:t>
            </a:r>
          </a:p>
          <a:p>
            <a:pPr marL="228600" marR="0" lvl="0" indent="-228600" algn="l" defTabSz="987552" rtl="0" eaLnBrk="1" fontAlgn="auto" latinLnBrk="0" hangingPunct="1">
              <a:lnSpc>
                <a:spcPct val="125000"/>
              </a:lnSpc>
              <a:spcBef>
                <a:spcPts val="0"/>
              </a:spcBef>
              <a:spcAft>
                <a:spcPts val="0"/>
              </a:spcAft>
              <a:buClrTx/>
              <a:buSzTx/>
              <a:buFont typeface="Arial" panose="020B0604020202020204" pitchFamily="34" charset="0"/>
              <a:buChar char="•"/>
              <a:tabLst/>
              <a:defRPr/>
            </a:pPr>
            <a:r>
              <a:rPr lang="en-US" sz="1200" baseline="0" dirty="0">
                <a:solidFill>
                  <a:prstClr val="black"/>
                </a:solidFill>
              </a:rPr>
              <a:t>Page1: feel free to change the format of the sections and use </a:t>
            </a:r>
            <a:br>
              <a:rPr lang="en-US" sz="1200" baseline="0" dirty="0">
                <a:solidFill>
                  <a:prstClr val="black"/>
                </a:solidFill>
              </a:rPr>
            </a:br>
            <a:r>
              <a:rPr lang="en-US" sz="1200" baseline="0" dirty="0">
                <a:solidFill>
                  <a:prstClr val="black"/>
                </a:solidFill>
              </a:rPr>
              <a:t>paragraphs, bullets, or lists to suit your needs</a:t>
            </a:r>
          </a:p>
          <a:p>
            <a:pPr marL="228600" lvl="0" indent="-228600">
              <a:lnSpc>
                <a:spcPct val="125000"/>
              </a:lnSpc>
              <a:buFont typeface="Arial" panose="020B0604020202020204" pitchFamily="34" charset="0"/>
              <a:buChar char="•"/>
            </a:pPr>
            <a:r>
              <a:rPr lang="en-US" sz="1200" baseline="0" dirty="0">
                <a:solidFill>
                  <a:prstClr val="black"/>
                </a:solidFill>
              </a:rPr>
              <a:t>Page 2: there are multiple timeline pages to chose from, </a:t>
            </a:r>
            <a:br>
              <a:rPr lang="en-US" sz="1200" baseline="0" dirty="0">
                <a:solidFill>
                  <a:prstClr val="black"/>
                </a:solidFill>
              </a:rPr>
            </a:br>
            <a:r>
              <a:rPr lang="en-US" sz="1200" baseline="0" dirty="0">
                <a:solidFill>
                  <a:prstClr val="black"/>
                </a:solidFill>
              </a:rPr>
              <a:t>pick one that fits your project and delete the rest</a:t>
            </a:r>
          </a:p>
          <a:p>
            <a:pPr marL="722376" lvl="1" indent="-228600">
              <a:lnSpc>
                <a:spcPct val="125000"/>
              </a:lnSpc>
              <a:buFont typeface="Arial" panose="020B0604020202020204" pitchFamily="34" charset="0"/>
              <a:buChar char="•"/>
            </a:pPr>
            <a:r>
              <a:rPr lang="en-US" sz="1200" baseline="0" dirty="0">
                <a:solidFill>
                  <a:prstClr val="black"/>
                </a:solidFill>
              </a:rPr>
              <a:t>change the number of activities and phases listed </a:t>
            </a:r>
            <a:br>
              <a:rPr lang="en-US" sz="1200" baseline="0" dirty="0">
                <a:solidFill>
                  <a:prstClr val="black"/>
                </a:solidFill>
              </a:rPr>
            </a:br>
            <a:r>
              <a:rPr lang="en-US" sz="1200" baseline="0" dirty="0">
                <a:solidFill>
                  <a:prstClr val="black"/>
                </a:solidFill>
              </a:rPr>
              <a:t>on the right as necessary</a:t>
            </a:r>
          </a:p>
          <a:p>
            <a:pPr marL="722376" lvl="1" indent="-228600">
              <a:lnSpc>
                <a:spcPct val="125000"/>
              </a:lnSpc>
              <a:buFont typeface="Arial" panose="020B0604020202020204" pitchFamily="34" charset="0"/>
              <a:buChar char="•"/>
            </a:pPr>
            <a:r>
              <a:rPr lang="en-US" sz="1200" baseline="0" dirty="0">
                <a:solidFill>
                  <a:prstClr val="black"/>
                </a:solidFill>
              </a:rPr>
              <a:t>delete excess rows from the table</a:t>
            </a:r>
          </a:p>
          <a:p>
            <a:pPr marL="722376" lvl="1" indent="-228600">
              <a:lnSpc>
                <a:spcPct val="125000"/>
              </a:lnSpc>
              <a:buFont typeface="Arial" panose="020B0604020202020204" pitchFamily="34" charset="0"/>
              <a:buChar char="•"/>
            </a:pPr>
            <a:r>
              <a:rPr lang="en-US" sz="1200" baseline="0" dirty="0">
                <a:solidFill>
                  <a:prstClr val="black"/>
                </a:solidFill>
              </a:rPr>
              <a:t>gray-out holidays and potential delays</a:t>
            </a:r>
          </a:p>
          <a:p>
            <a:pPr marL="228600" lvl="0" indent="-228600">
              <a:lnSpc>
                <a:spcPct val="125000"/>
              </a:lnSpc>
              <a:buFont typeface="Arial" panose="020B0604020202020204" pitchFamily="34" charset="0"/>
              <a:buChar char="•"/>
            </a:pPr>
            <a:r>
              <a:rPr lang="en-US" sz="1200" b="1" baseline="0" dirty="0">
                <a:solidFill>
                  <a:prstClr val="black"/>
                </a:solidFill>
              </a:rPr>
              <a:t>do not </a:t>
            </a:r>
            <a:r>
              <a:rPr lang="en-US" sz="1200" baseline="0" dirty="0">
                <a:solidFill>
                  <a:prstClr val="black"/>
                </a:solidFill>
              </a:rPr>
              <a:t>change the font, format or size of the text</a:t>
            </a:r>
          </a:p>
          <a:p>
            <a:pPr marL="228600" lvl="0" indent="-228600">
              <a:lnSpc>
                <a:spcPct val="125000"/>
              </a:lnSpc>
              <a:buFont typeface="Arial" panose="020B0604020202020204" pitchFamily="34" charset="0"/>
              <a:buChar char="•"/>
            </a:pPr>
            <a:r>
              <a:rPr lang="en-US" sz="1200" b="1" baseline="0" dirty="0">
                <a:solidFill>
                  <a:prstClr val="black"/>
                </a:solidFill>
              </a:rPr>
              <a:t>do not </a:t>
            </a:r>
            <a:r>
              <a:rPr lang="en-US" sz="1200" baseline="0" dirty="0">
                <a:solidFill>
                  <a:prstClr val="black"/>
                </a:solidFill>
              </a:rPr>
              <a:t>resize or move the text boxes</a:t>
            </a:r>
          </a:p>
          <a:p>
            <a:pPr marL="228600" lvl="0" indent="-228600">
              <a:lnSpc>
                <a:spcPct val="125000"/>
              </a:lnSpc>
              <a:buFont typeface="Arial" panose="020B0604020202020204" pitchFamily="34" charset="0"/>
              <a:buChar char="•"/>
            </a:pPr>
            <a:r>
              <a:rPr lang="en-US" sz="1200" b="1" baseline="0" dirty="0">
                <a:solidFill>
                  <a:prstClr val="black"/>
                </a:solidFill>
              </a:rPr>
              <a:t>do not </a:t>
            </a:r>
            <a:r>
              <a:rPr lang="en-US" sz="1200" baseline="0" dirty="0">
                <a:solidFill>
                  <a:prstClr val="black"/>
                </a:solidFill>
              </a:rPr>
              <a:t>forget to delete extra pages (including this one)</a:t>
            </a:r>
          </a:p>
          <a:p>
            <a:pPr marL="493776" lvl="1" indent="0">
              <a:lnSpc>
                <a:spcPct val="125000"/>
              </a:lnSpc>
              <a:buFont typeface="Arial" panose="020B0604020202020204" pitchFamily="34" charset="0"/>
              <a:buNone/>
            </a:pPr>
            <a:endParaRPr lang="en-US" sz="1200" baseline="0" dirty="0">
              <a:solidFill>
                <a:prstClr val="black"/>
              </a:solidFill>
            </a:endParaRPr>
          </a:p>
          <a:p>
            <a:pPr marL="493776" lvl="1" indent="0">
              <a:lnSpc>
                <a:spcPct val="125000"/>
              </a:lnSpc>
              <a:buFont typeface="Arial" panose="020B0604020202020204" pitchFamily="34" charset="0"/>
              <a:buNone/>
            </a:pPr>
            <a:endParaRPr lang="en-US" sz="1200" baseline="0" dirty="0">
              <a:solidFill>
                <a:prstClr val="black"/>
              </a:solidFill>
            </a:endParaRPr>
          </a:p>
          <a:p>
            <a:pPr marL="493776" lvl="1" indent="0">
              <a:lnSpc>
                <a:spcPct val="125000"/>
              </a:lnSpc>
              <a:buFont typeface="Arial" panose="020B0604020202020204" pitchFamily="34" charset="0"/>
              <a:buNone/>
            </a:pPr>
            <a:endParaRPr lang="en-US" sz="1200" baseline="0" dirty="0">
              <a:solidFill>
                <a:prstClr val="black"/>
              </a:solidFill>
            </a:endParaRPr>
          </a:p>
          <a:p>
            <a:pPr marL="0" lvl="0" indent="0">
              <a:lnSpc>
                <a:spcPct val="125000"/>
              </a:lnSpc>
              <a:buFont typeface="Arial" panose="020B0604020202020204" pitchFamily="34" charset="0"/>
              <a:buNone/>
            </a:pPr>
            <a:r>
              <a:rPr lang="en-US" sz="1200" b="1" baseline="0" dirty="0">
                <a:solidFill>
                  <a:prstClr val="black"/>
                </a:solidFill>
              </a:rPr>
              <a:t>Definitions</a:t>
            </a:r>
          </a:p>
          <a:p>
            <a:pPr marL="493776" lvl="1" indent="0">
              <a:lnSpc>
                <a:spcPct val="125000"/>
              </a:lnSpc>
              <a:spcAft>
                <a:spcPts val="600"/>
              </a:spcAft>
              <a:buFont typeface="Arial" panose="020B0604020202020204" pitchFamily="34" charset="0"/>
              <a:buNone/>
            </a:pPr>
            <a:r>
              <a:rPr lang="en-US" sz="1200" u="sng" baseline="0" dirty="0">
                <a:solidFill>
                  <a:prstClr val="black"/>
                </a:solidFill>
              </a:rPr>
              <a:t>Ongoing Work</a:t>
            </a:r>
            <a:r>
              <a:rPr lang="en-US" sz="1200" baseline="0" dirty="0">
                <a:solidFill>
                  <a:prstClr val="black"/>
                </a:solidFill>
              </a:rPr>
              <a:t>: Period of time in which project activities are active but not yet ready for completion or transition.</a:t>
            </a:r>
          </a:p>
          <a:p>
            <a:pPr marL="493776" lvl="1" indent="0">
              <a:lnSpc>
                <a:spcPct val="125000"/>
              </a:lnSpc>
              <a:spcAft>
                <a:spcPts val="600"/>
              </a:spcAft>
              <a:buFont typeface="Arial" panose="020B0604020202020204" pitchFamily="34" charset="0"/>
              <a:buNone/>
            </a:pPr>
            <a:r>
              <a:rPr lang="en-US" sz="1200" u="sng" baseline="0" dirty="0">
                <a:solidFill>
                  <a:prstClr val="black"/>
                </a:solidFill>
              </a:rPr>
              <a:t>Milestone</a:t>
            </a:r>
            <a:r>
              <a:rPr lang="en-US" sz="1200" baseline="0" dirty="0">
                <a:solidFill>
                  <a:prstClr val="black"/>
                </a:solidFill>
              </a:rPr>
              <a:t>: Time at which project activities are expected to be completed or transition to another phase/activity.</a:t>
            </a:r>
          </a:p>
          <a:p>
            <a:pPr marL="493776" lvl="1" indent="0">
              <a:lnSpc>
                <a:spcPct val="125000"/>
              </a:lnSpc>
              <a:spcAft>
                <a:spcPts val="600"/>
              </a:spcAft>
              <a:buFont typeface="Arial" panose="020B0604020202020204" pitchFamily="34" charset="0"/>
              <a:buNone/>
            </a:pPr>
            <a:r>
              <a:rPr lang="en-US" sz="1200" u="sng" baseline="0" dirty="0">
                <a:solidFill>
                  <a:prstClr val="black"/>
                </a:solidFill>
              </a:rPr>
              <a:t>Deliverable</a:t>
            </a:r>
            <a:r>
              <a:rPr lang="en-US" sz="1200" baseline="0" dirty="0">
                <a:solidFill>
                  <a:prstClr val="black"/>
                </a:solidFill>
              </a:rPr>
              <a:t>: Any formal meeting or provided material/product for project stakeholder(s), such as update meetings, presentations, products, etc.</a:t>
            </a:r>
          </a:p>
        </p:txBody>
      </p:sp>
      <p:cxnSp>
        <p:nvCxnSpPr>
          <p:cNvPr id="9" name="Straight Connector 8"/>
          <p:cNvCxnSpPr/>
          <p:nvPr userDrawn="1"/>
        </p:nvCxnSpPr>
        <p:spPr>
          <a:xfrm>
            <a:off x="5929929" y="228600"/>
            <a:ext cx="0" cy="731520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238874" y="7289914"/>
            <a:ext cx="3396137" cy="246221"/>
          </a:xfrm>
          <a:prstGeom prst="rect">
            <a:avLst/>
          </a:prstGeom>
          <a:noFill/>
        </p:spPr>
        <p:txBody>
          <a:bodyPr wrap="square" rtlCol="0">
            <a:spAutoFit/>
          </a:bodyPr>
          <a:lstStyle/>
          <a:p>
            <a:pPr algn="l"/>
            <a:r>
              <a:rPr lang="en-US" sz="1000" dirty="0">
                <a:solidFill>
                  <a:schemeClr val="bg2">
                    <a:lumMod val="50000"/>
                  </a:schemeClr>
                </a:solidFill>
              </a:rPr>
              <a:t>prepared by the </a:t>
            </a:r>
            <a:r>
              <a:rPr lang="en-US" sz="1000" b="1" dirty="0">
                <a:solidFill>
                  <a:schemeClr val="bg2">
                    <a:lumMod val="50000"/>
                  </a:schemeClr>
                </a:solidFill>
              </a:rPr>
              <a:t>Innovation</a:t>
            </a:r>
            <a:r>
              <a:rPr lang="en-US" sz="1000" b="1" baseline="0" dirty="0">
                <a:solidFill>
                  <a:schemeClr val="bg2">
                    <a:lumMod val="50000"/>
                  </a:schemeClr>
                </a:solidFill>
              </a:rPr>
              <a:t> &amp; Transformation Office</a:t>
            </a:r>
            <a:endParaRPr lang="en-US" sz="1000" b="1" dirty="0">
              <a:solidFill>
                <a:schemeClr val="bg2">
                  <a:lumMod val="50000"/>
                </a:schemeClr>
              </a:solidFill>
            </a:endParaRPr>
          </a:p>
        </p:txBody>
      </p:sp>
      <p:sp>
        <p:nvSpPr>
          <p:cNvPr id="8" name="TextBox 7"/>
          <p:cNvSpPr txBox="1"/>
          <p:nvPr userDrawn="1"/>
        </p:nvSpPr>
        <p:spPr>
          <a:xfrm>
            <a:off x="6372672" y="5624576"/>
            <a:ext cx="292561" cy="276999"/>
          </a:xfrm>
          <a:prstGeom prst="rect">
            <a:avLst/>
          </a:prstGeom>
          <a:solidFill>
            <a:schemeClr val="accent2">
              <a:lumMod val="40000"/>
              <a:lumOff val="60000"/>
            </a:schemeClr>
          </a:solidFill>
        </p:spPr>
        <p:txBody>
          <a:bodyPr wrap="square" rtlCol="0">
            <a:spAutoFit/>
          </a:bodyPr>
          <a:lstStyle/>
          <a:p>
            <a:pPr algn="ctr">
              <a:spcAft>
                <a:spcPts val="600"/>
              </a:spcAft>
            </a:pPr>
            <a:endParaRPr lang="en-US" sz="1200" b="0" dirty="0">
              <a:solidFill>
                <a:schemeClr val="tx1"/>
              </a:solidFill>
              <a:latin typeface="Arial" panose="020B0604020202020204" pitchFamily="34" charset="0"/>
              <a:cs typeface="Arial" panose="020B0604020202020204" pitchFamily="34" charset="0"/>
            </a:endParaRPr>
          </a:p>
        </p:txBody>
      </p:sp>
      <p:sp>
        <p:nvSpPr>
          <p:cNvPr id="10" name="TextBox 9"/>
          <p:cNvSpPr txBox="1"/>
          <p:nvPr userDrawn="1"/>
        </p:nvSpPr>
        <p:spPr>
          <a:xfrm>
            <a:off x="6372672" y="6167909"/>
            <a:ext cx="292561" cy="276999"/>
          </a:xfrm>
          <a:prstGeom prst="rect">
            <a:avLst/>
          </a:prstGeom>
          <a:solidFill>
            <a:schemeClr val="accent2"/>
          </a:solidFill>
        </p:spPr>
        <p:txBody>
          <a:bodyPr wrap="square" rtlCol="0">
            <a:spAutoFit/>
          </a:bodyPr>
          <a:lstStyle/>
          <a:p>
            <a:pPr algn="ctr">
              <a:spcAft>
                <a:spcPts val="600"/>
              </a:spcAft>
            </a:pPr>
            <a:endParaRPr lang="en-US" sz="1200" b="0" dirty="0">
              <a:solidFill>
                <a:schemeClr val="tx1"/>
              </a:solidFill>
              <a:latin typeface="Arial" panose="020B0604020202020204" pitchFamily="34" charset="0"/>
              <a:cs typeface="Arial" panose="020B0604020202020204" pitchFamily="34" charset="0"/>
            </a:endParaRPr>
          </a:p>
        </p:txBody>
      </p:sp>
      <p:sp>
        <p:nvSpPr>
          <p:cNvPr id="12" name="TextBox 11"/>
          <p:cNvSpPr txBox="1"/>
          <p:nvPr userDrawn="1"/>
        </p:nvSpPr>
        <p:spPr>
          <a:xfrm>
            <a:off x="6372672" y="6711243"/>
            <a:ext cx="292561" cy="276999"/>
          </a:xfrm>
          <a:prstGeom prst="rect">
            <a:avLst/>
          </a:prstGeom>
          <a:solidFill>
            <a:srgbClr val="003963"/>
          </a:solidFill>
        </p:spPr>
        <p:txBody>
          <a:bodyPr wrap="square" rtlCol="0">
            <a:spAutoFit/>
          </a:bodyPr>
          <a:lstStyle/>
          <a:p>
            <a:pPr algn="ctr">
              <a:spcAft>
                <a:spcPts val="600"/>
              </a:spcAft>
            </a:pPr>
            <a:endParaRPr lang="en-US" sz="1200" b="0" dirty="0">
              <a:solidFill>
                <a:schemeClr val="tx1"/>
              </a:solidFill>
              <a:latin typeface="Arial" panose="020B0604020202020204" pitchFamily="34" charset="0"/>
              <a:cs typeface="Arial" panose="020B0604020202020204" pitchFamily="34" charset="0"/>
            </a:endParaRPr>
          </a:p>
        </p:txBody>
      </p:sp>
      <p:cxnSp>
        <p:nvCxnSpPr>
          <p:cNvPr id="13" name="Straight Connector 12"/>
          <p:cNvCxnSpPr/>
          <p:nvPr userDrawn="1"/>
        </p:nvCxnSpPr>
        <p:spPr>
          <a:xfrm flipH="1">
            <a:off x="6246459" y="5160618"/>
            <a:ext cx="6326541"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8091294"/>
      </p:ext>
    </p:extLst>
  </p:cSld>
  <p:clrMap bg1="lt1" tx1="dk1" bg2="lt2" tx2="dk2" accent1="accent1" accent2="accent2" accent3="accent3" accent4="accent4" accent5="accent5" accent6="accent6" hlink="hlink" folHlink="folHlink"/>
  <p:sldLayoutIdLst>
    <p:sldLayoutId id="2147483679" r:id="rId1"/>
  </p:sldLayoutIdLst>
  <p:hf sldNum="0" hdr="0" dt="0"/>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26B43"/>
          </p15:clr>
        </p15:guide>
        <p15:guide id="2" pos="144">
          <p15:clr>
            <a:srgbClr val="F26B43"/>
          </p15:clr>
        </p15:guide>
        <p15:guide id="3" pos="7920">
          <p15:clr>
            <a:srgbClr val="F26B43"/>
          </p15:clr>
        </p15:guide>
        <p15:guide id="4" orient="horz" pos="475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TextBox 15"/>
          <p:cNvSpPr txBox="1"/>
          <p:nvPr userDrawn="1"/>
        </p:nvSpPr>
        <p:spPr>
          <a:xfrm>
            <a:off x="12276177" y="7293098"/>
            <a:ext cx="296823" cy="246221"/>
          </a:xfrm>
          <a:prstGeom prst="rect">
            <a:avLst/>
          </a:prstGeom>
          <a:noFill/>
        </p:spPr>
        <p:txBody>
          <a:bodyPr wrap="square" rtlCol="0">
            <a:spAutoFit/>
          </a:bodyPr>
          <a:lstStyle/>
          <a:p>
            <a:pPr algn="ctr"/>
            <a:r>
              <a:rPr lang="en-US" sz="1000" dirty="0">
                <a:solidFill>
                  <a:schemeClr val="bg2">
                    <a:lumMod val="50000"/>
                  </a:schemeClr>
                </a:solidFill>
              </a:rPr>
              <a:t>1</a:t>
            </a:r>
          </a:p>
        </p:txBody>
      </p:sp>
      <p:sp>
        <p:nvSpPr>
          <p:cNvPr id="17" name="TextBox 16"/>
          <p:cNvSpPr txBox="1"/>
          <p:nvPr userDrawn="1"/>
        </p:nvSpPr>
        <p:spPr>
          <a:xfrm>
            <a:off x="238874" y="7289914"/>
            <a:ext cx="3396137" cy="246221"/>
          </a:xfrm>
          <a:prstGeom prst="rect">
            <a:avLst/>
          </a:prstGeom>
          <a:noFill/>
        </p:spPr>
        <p:txBody>
          <a:bodyPr wrap="square" rtlCol="0">
            <a:spAutoFit/>
          </a:bodyPr>
          <a:lstStyle/>
          <a:p>
            <a:pPr algn="l"/>
            <a:r>
              <a:rPr lang="en-US" sz="1000" dirty="0">
                <a:solidFill>
                  <a:schemeClr val="bg2">
                    <a:lumMod val="50000"/>
                  </a:schemeClr>
                </a:solidFill>
              </a:rPr>
              <a:t>prepared by the </a:t>
            </a:r>
            <a:r>
              <a:rPr lang="en-US" sz="1000" b="1" dirty="0">
                <a:solidFill>
                  <a:schemeClr val="bg2">
                    <a:lumMod val="50000"/>
                  </a:schemeClr>
                </a:solidFill>
              </a:rPr>
              <a:t>Strategy &amp; Transformation Office</a:t>
            </a:r>
          </a:p>
        </p:txBody>
      </p:sp>
      <p:sp>
        <p:nvSpPr>
          <p:cNvPr id="8" name="Rectangle 7">
            <a:extLst>
              <a:ext uri="{FF2B5EF4-FFF2-40B4-BE49-F238E27FC236}">
                <a16:creationId xmlns:a16="http://schemas.microsoft.com/office/drawing/2014/main" id="{1412D438-7B50-FD41-9FA0-CCE70AE1BB75}"/>
              </a:ext>
            </a:extLst>
          </p:cNvPr>
          <p:cNvSpPr/>
          <p:nvPr userDrawn="1"/>
        </p:nvSpPr>
        <p:spPr>
          <a:xfrm>
            <a:off x="228599" y="228599"/>
            <a:ext cx="2673585" cy="307777"/>
          </a:xfrm>
          <a:prstGeom prst="rect">
            <a:avLst/>
          </a:prstGeom>
        </p:spPr>
        <p:txBody>
          <a:bodyPr wrap="square" anchor="t">
            <a:spAutoFit/>
          </a:bodyPr>
          <a:lstStyle/>
          <a:p>
            <a:r>
              <a:rPr lang="en-US" sz="1400" b="1" dirty="0">
                <a:solidFill>
                  <a:srgbClr val="003963"/>
                </a:solidFill>
              </a:rPr>
              <a:t>Transformational Innovation</a:t>
            </a:r>
            <a:r>
              <a:rPr lang="en-US" sz="1400" b="1" baseline="0" dirty="0">
                <a:solidFill>
                  <a:srgbClr val="003963"/>
                </a:solidFill>
              </a:rPr>
              <a:t> </a:t>
            </a:r>
            <a:endParaRPr lang="en-US" sz="1400" b="1" dirty="0">
              <a:solidFill>
                <a:schemeClr val="accent2"/>
              </a:solidFill>
            </a:endParaRPr>
          </a:p>
        </p:txBody>
      </p:sp>
    </p:spTree>
    <p:extLst>
      <p:ext uri="{BB962C8B-B14F-4D97-AF65-F5344CB8AC3E}">
        <p14:creationId xmlns:p14="http://schemas.microsoft.com/office/powerpoint/2010/main" val="319068342"/>
      </p:ext>
    </p:extLst>
  </p:cSld>
  <p:clrMap bg1="lt1" tx1="dk1" bg2="lt2" tx2="dk2" accent1="accent1" accent2="accent2" accent3="accent3" accent4="accent4" accent5="accent5" accent6="accent6" hlink="hlink" folHlink="folHlink"/>
  <p:sldLayoutIdLst>
    <p:sldLayoutId id="2147483681" r:id="rId1"/>
    <p:sldLayoutId id="2147483693" r:id="rId2"/>
  </p:sldLayoutIdLst>
  <p:hf sldNum="0" hdr="0" dt="0"/>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26B43"/>
          </p15:clr>
        </p15:guide>
        <p15:guide id="2" orient="horz" pos="4752">
          <p15:clr>
            <a:srgbClr val="F26B43"/>
          </p15:clr>
        </p15:guide>
        <p15:guide id="3" pos="7920">
          <p15:clr>
            <a:srgbClr val="F26B43"/>
          </p15:clr>
        </p15:guide>
        <p15:guide id="4" pos="14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p:cNvCxnSpPr/>
          <p:nvPr userDrawn="1"/>
        </p:nvCxnSpPr>
        <p:spPr>
          <a:xfrm>
            <a:off x="3196718" y="228600"/>
            <a:ext cx="0" cy="6705578"/>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userDrawn="1"/>
        </p:nvSpPr>
        <p:spPr>
          <a:xfrm>
            <a:off x="12276177" y="7293098"/>
            <a:ext cx="296823" cy="246221"/>
          </a:xfrm>
          <a:prstGeom prst="rect">
            <a:avLst/>
          </a:prstGeom>
          <a:noFill/>
        </p:spPr>
        <p:txBody>
          <a:bodyPr wrap="square" rtlCol="0">
            <a:spAutoFit/>
          </a:bodyPr>
          <a:lstStyle/>
          <a:p>
            <a:pPr algn="ctr"/>
            <a:r>
              <a:rPr lang="en-US" sz="1000" dirty="0">
                <a:solidFill>
                  <a:schemeClr val="bg2">
                    <a:lumMod val="50000"/>
                  </a:schemeClr>
                </a:solidFill>
              </a:rPr>
              <a:t>1</a:t>
            </a:r>
          </a:p>
        </p:txBody>
      </p:sp>
      <p:sp>
        <p:nvSpPr>
          <p:cNvPr id="17" name="TextBox 16"/>
          <p:cNvSpPr txBox="1"/>
          <p:nvPr userDrawn="1"/>
        </p:nvSpPr>
        <p:spPr>
          <a:xfrm>
            <a:off x="238874" y="7289914"/>
            <a:ext cx="3396137" cy="246221"/>
          </a:xfrm>
          <a:prstGeom prst="rect">
            <a:avLst/>
          </a:prstGeom>
          <a:noFill/>
        </p:spPr>
        <p:txBody>
          <a:bodyPr wrap="square" rtlCol="0">
            <a:spAutoFit/>
          </a:bodyPr>
          <a:lstStyle/>
          <a:p>
            <a:pPr algn="l"/>
            <a:r>
              <a:rPr lang="en-US" sz="1000" dirty="0">
                <a:solidFill>
                  <a:schemeClr val="bg2">
                    <a:lumMod val="50000"/>
                  </a:schemeClr>
                </a:solidFill>
              </a:rPr>
              <a:t>prepared by the </a:t>
            </a:r>
            <a:r>
              <a:rPr lang="en-US" sz="1000" b="1" dirty="0">
                <a:solidFill>
                  <a:schemeClr val="bg2">
                    <a:lumMod val="50000"/>
                  </a:schemeClr>
                </a:solidFill>
              </a:rPr>
              <a:t>Innovation</a:t>
            </a:r>
            <a:r>
              <a:rPr lang="en-US" sz="1000" b="1" baseline="0" dirty="0">
                <a:solidFill>
                  <a:schemeClr val="bg2">
                    <a:lumMod val="50000"/>
                  </a:schemeClr>
                </a:solidFill>
              </a:rPr>
              <a:t> &amp; Transformation Office</a:t>
            </a:r>
            <a:r>
              <a:rPr lang="en-US" sz="1000" dirty="0">
                <a:solidFill>
                  <a:schemeClr val="bg2">
                    <a:lumMod val="50000"/>
                  </a:schemeClr>
                </a:solidFill>
              </a:rPr>
              <a:t>_</a:t>
            </a:r>
            <a:endParaRPr lang="en-US" sz="1000" b="1" dirty="0">
              <a:solidFill>
                <a:schemeClr val="bg2">
                  <a:lumMod val="50000"/>
                </a:schemeClr>
              </a:solidFill>
            </a:endParaRPr>
          </a:p>
        </p:txBody>
      </p:sp>
      <p:cxnSp>
        <p:nvCxnSpPr>
          <p:cNvPr id="8" name="Straight Connector 7">
            <a:extLst>
              <a:ext uri="{FF2B5EF4-FFF2-40B4-BE49-F238E27FC236}">
                <a16:creationId xmlns:a16="http://schemas.microsoft.com/office/drawing/2014/main" id="{933E3365-9768-EF44-A718-4188E82B86D9}"/>
              </a:ext>
            </a:extLst>
          </p:cNvPr>
          <p:cNvCxnSpPr/>
          <p:nvPr userDrawn="1"/>
        </p:nvCxnSpPr>
        <p:spPr>
          <a:xfrm>
            <a:off x="8001694" y="228600"/>
            <a:ext cx="0" cy="6696583"/>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41E31789-247D-B945-B480-B3926E2B4F76}"/>
              </a:ext>
            </a:extLst>
          </p:cNvPr>
          <p:cNvSpPr/>
          <p:nvPr userDrawn="1"/>
        </p:nvSpPr>
        <p:spPr>
          <a:xfrm>
            <a:off x="228599" y="228599"/>
            <a:ext cx="2673585" cy="307777"/>
          </a:xfrm>
          <a:prstGeom prst="rect">
            <a:avLst/>
          </a:prstGeom>
        </p:spPr>
        <p:txBody>
          <a:bodyPr wrap="square" anchor="t">
            <a:spAutoFit/>
          </a:bodyPr>
          <a:lstStyle/>
          <a:p>
            <a:r>
              <a:rPr lang="en-US" sz="1400" b="1" dirty="0">
                <a:solidFill>
                  <a:srgbClr val="003963"/>
                </a:solidFill>
              </a:rPr>
              <a:t>Transformational Innovation</a:t>
            </a:r>
            <a:r>
              <a:rPr lang="en-US" sz="1400" b="1" baseline="0" dirty="0">
                <a:solidFill>
                  <a:srgbClr val="003963"/>
                </a:solidFill>
              </a:rPr>
              <a:t> </a:t>
            </a:r>
            <a:endParaRPr lang="en-US" sz="1400" b="1" dirty="0">
              <a:solidFill>
                <a:schemeClr val="accent2"/>
              </a:solidFill>
            </a:endParaRPr>
          </a:p>
        </p:txBody>
      </p:sp>
    </p:spTree>
    <p:extLst>
      <p:ext uri="{BB962C8B-B14F-4D97-AF65-F5344CB8AC3E}">
        <p14:creationId xmlns:p14="http://schemas.microsoft.com/office/powerpoint/2010/main" val="3011357734"/>
      </p:ext>
    </p:extLst>
  </p:cSld>
  <p:clrMap bg1="lt1" tx1="dk1" bg2="lt2" tx2="dk2" accent1="accent1" accent2="accent2" accent3="accent3" accent4="accent4" accent5="accent5" accent6="accent6" hlink="hlink" folHlink="folHlink"/>
  <p:sldLayoutIdLst>
    <p:sldLayoutId id="2147483683" r:id="rId1"/>
  </p:sldLayoutIdLst>
  <p:hf sldNum="0" hdr="0" dt="0"/>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F26B43"/>
          </p15:clr>
        </p15:guide>
        <p15:guide id="2" orient="horz" pos="4752">
          <p15:clr>
            <a:srgbClr val="F26B43"/>
          </p15:clr>
        </p15:guide>
        <p15:guide id="3" pos="7920">
          <p15:clr>
            <a:srgbClr val="F26B43"/>
          </p15:clr>
        </p15:guide>
        <p15:guide id="4" pos="14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8B659CF-59E6-CD4F-AE03-B0188FE260DC}"/>
              </a:ext>
            </a:extLst>
          </p:cNvPr>
          <p:cNvGrpSpPr/>
          <p:nvPr/>
        </p:nvGrpSpPr>
        <p:grpSpPr>
          <a:xfrm>
            <a:off x="1014797" y="4173107"/>
            <a:ext cx="11178242" cy="1454894"/>
            <a:chOff x="587336" y="2095875"/>
            <a:chExt cx="13746237" cy="1570363"/>
          </a:xfrm>
        </p:grpSpPr>
        <p:sp>
          <p:nvSpPr>
            <p:cNvPr id="67" name="TextBox 66">
              <a:extLst>
                <a:ext uri="{FF2B5EF4-FFF2-40B4-BE49-F238E27FC236}">
                  <a16:creationId xmlns:a16="http://schemas.microsoft.com/office/drawing/2014/main" id="{87F36E94-6129-844B-8E65-DAB4ED73993D}"/>
                </a:ext>
              </a:extLst>
            </p:cNvPr>
            <p:cNvSpPr txBox="1"/>
            <p:nvPr/>
          </p:nvSpPr>
          <p:spPr>
            <a:xfrm>
              <a:off x="587336" y="2095875"/>
              <a:ext cx="3670716" cy="474097"/>
            </a:xfrm>
            <a:prstGeom prst="rect">
              <a:avLst/>
            </a:prstGeom>
            <a:solidFill>
              <a:srgbClr val="FF9600"/>
            </a:solidFill>
          </p:spPr>
          <p:txBody>
            <a:bodyPr wrap="square" lIns="84716" tIns="84716" rIns="84716" bIns="84716" rtlCol="0">
              <a:noAutofit/>
            </a:bodyPr>
            <a:lstStyle/>
            <a:p>
              <a:r>
                <a:rPr lang="en-US" sz="973" b="1" dirty="0">
                  <a:solidFill>
                    <a:schemeClr val="accent5">
                      <a:lumMod val="50000"/>
                    </a:schemeClr>
                  </a:solidFill>
                  <a:latin typeface="Arial Black"/>
                  <a:cs typeface="Arial Black"/>
                </a:rPr>
                <a:t>PHASE 1: Feb 1 - May 8 (13 WKS)</a:t>
              </a:r>
            </a:p>
            <a:p>
              <a:r>
                <a:rPr lang="en-US" sz="973" b="1" dirty="0">
                  <a:solidFill>
                    <a:schemeClr val="bg1"/>
                  </a:solidFill>
                  <a:latin typeface="Arial Black"/>
                  <a:cs typeface="Arial Black"/>
                </a:rPr>
                <a:t>Understand the Problem Space</a:t>
              </a:r>
            </a:p>
          </p:txBody>
        </p:sp>
        <p:sp>
          <p:nvSpPr>
            <p:cNvPr id="68" name="TextBox 67">
              <a:extLst>
                <a:ext uri="{FF2B5EF4-FFF2-40B4-BE49-F238E27FC236}">
                  <a16:creationId xmlns:a16="http://schemas.microsoft.com/office/drawing/2014/main" id="{E42E3108-095B-4F40-969B-259196E23CF5}"/>
                </a:ext>
              </a:extLst>
            </p:cNvPr>
            <p:cNvSpPr txBox="1"/>
            <p:nvPr/>
          </p:nvSpPr>
          <p:spPr>
            <a:xfrm>
              <a:off x="7274980" y="2641537"/>
              <a:ext cx="7058592" cy="474097"/>
            </a:xfrm>
            <a:prstGeom prst="rect">
              <a:avLst/>
            </a:prstGeom>
            <a:solidFill>
              <a:schemeClr val="accent1"/>
            </a:solidFill>
          </p:spPr>
          <p:txBody>
            <a:bodyPr wrap="square" lIns="84716" tIns="84716" rIns="84716" bIns="84716" rtlCol="0">
              <a:noAutofit/>
            </a:bodyPr>
            <a:lstStyle/>
            <a:p>
              <a:r>
                <a:rPr lang="en-US" sz="973" b="1" dirty="0">
                  <a:solidFill>
                    <a:schemeClr val="accent3">
                      <a:lumMod val="50000"/>
                    </a:schemeClr>
                  </a:solidFill>
                  <a:latin typeface="Arial Black"/>
                  <a:cs typeface="Arial Black"/>
                </a:rPr>
                <a:t>PHASE 2: June 1 – July 10 (9 WKS)</a:t>
              </a:r>
            </a:p>
            <a:p>
              <a:r>
                <a:rPr lang="en-US" sz="973" b="1" dirty="0">
                  <a:solidFill>
                    <a:schemeClr val="bg1"/>
                  </a:solidFill>
                  <a:latin typeface="Arial Black"/>
                  <a:cs typeface="Arial Black"/>
                </a:rPr>
                <a:t>Scope Opportunities Making Recommendations</a:t>
              </a:r>
            </a:p>
          </p:txBody>
        </p:sp>
        <p:sp>
          <p:nvSpPr>
            <p:cNvPr id="69" name="TextBox 68">
              <a:extLst>
                <a:ext uri="{FF2B5EF4-FFF2-40B4-BE49-F238E27FC236}">
                  <a16:creationId xmlns:a16="http://schemas.microsoft.com/office/drawing/2014/main" id="{B1E3FB85-BD96-D840-BD20-A82612438B2D}"/>
                </a:ext>
              </a:extLst>
            </p:cNvPr>
            <p:cNvSpPr txBox="1"/>
            <p:nvPr/>
          </p:nvSpPr>
          <p:spPr>
            <a:xfrm>
              <a:off x="10952292" y="3192141"/>
              <a:ext cx="3381281" cy="474097"/>
            </a:xfrm>
            <a:prstGeom prst="rect">
              <a:avLst/>
            </a:prstGeom>
            <a:solidFill>
              <a:schemeClr val="accent4"/>
            </a:solidFill>
          </p:spPr>
          <p:txBody>
            <a:bodyPr wrap="square" lIns="84716" tIns="84716" rIns="84716" bIns="84716" rtlCol="0">
              <a:noAutofit/>
            </a:bodyPr>
            <a:lstStyle/>
            <a:p>
              <a:r>
                <a:rPr lang="en-US" sz="973" b="1" dirty="0">
                  <a:solidFill>
                    <a:schemeClr val="accent4">
                      <a:lumMod val="50000"/>
                    </a:schemeClr>
                  </a:solidFill>
                  <a:latin typeface="Arial Black"/>
                  <a:cs typeface="Arial Black"/>
                </a:rPr>
                <a:t>PHASE 3: July 1 - July 31 (4 WKS)</a:t>
              </a:r>
            </a:p>
            <a:p>
              <a:r>
                <a:rPr lang="en-US" sz="973" b="1" dirty="0">
                  <a:solidFill>
                    <a:schemeClr val="bg1"/>
                  </a:solidFill>
                  <a:latin typeface="Arial Black"/>
                  <a:cs typeface="Arial Black"/>
                </a:rPr>
                <a:t>Concept Development and Testing</a:t>
              </a:r>
            </a:p>
          </p:txBody>
        </p:sp>
        <p:sp>
          <p:nvSpPr>
            <p:cNvPr id="26" name="TextBox 25">
              <a:extLst>
                <a:ext uri="{FF2B5EF4-FFF2-40B4-BE49-F238E27FC236}">
                  <a16:creationId xmlns:a16="http://schemas.microsoft.com/office/drawing/2014/main" id="{4E04B798-2C92-F74B-A429-7FCC16448622}"/>
                </a:ext>
              </a:extLst>
            </p:cNvPr>
            <p:cNvSpPr txBox="1"/>
            <p:nvPr/>
          </p:nvSpPr>
          <p:spPr>
            <a:xfrm>
              <a:off x="4334818" y="2095875"/>
              <a:ext cx="4899896" cy="474097"/>
            </a:xfrm>
            <a:prstGeom prst="rect">
              <a:avLst/>
            </a:prstGeom>
            <a:solidFill>
              <a:srgbClr val="FF9600"/>
            </a:solidFill>
          </p:spPr>
          <p:txBody>
            <a:bodyPr wrap="square" lIns="84716" tIns="84716" rIns="84716" bIns="84716" rtlCol="0">
              <a:noAutofit/>
            </a:bodyPr>
            <a:lstStyle/>
            <a:p>
              <a:r>
                <a:rPr lang="en-US" sz="973" b="1" dirty="0">
                  <a:solidFill>
                    <a:schemeClr val="accent5">
                      <a:lumMod val="50000"/>
                    </a:schemeClr>
                  </a:solidFill>
                  <a:latin typeface="Arial Black"/>
                  <a:cs typeface="Arial Black"/>
                </a:rPr>
                <a:t>May 11 – June 12 (5 WKS)</a:t>
              </a:r>
            </a:p>
            <a:p>
              <a:r>
                <a:rPr lang="en-US" sz="973" b="1" dirty="0">
                  <a:solidFill>
                    <a:schemeClr val="bg1"/>
                  </a:solidFill>
                  <a:latin typeface="Arial Black"/>
                  <a:cs typeface="Arial Black"/>
                </a:rPr>
                <a:t>Strategic Framework and Additional Executive Vetting</a:t>
              </a:r>
            </a:p>
          </p:txBody>
        </p:sp>
      </p:grpSp>
      <p:sp>
        <p:nvSpPr>
          <p:cNvPr id="72" name="Text Placeholder 1">
            <a:extLst>
              <a:ext uri="{FF2B5EF4-FFF2-40B4-BE49-F238E27FC236}">
                <a16:creationId xmlns:a16="http://schemas.microsoft.com/office/drawing/2014/main" id="{CCD88A3F-FDF3-7144-A267-9665E86939B3}"/>
              </a:ext>
            </a:extLst>
          </p:cNvPr>
          <p:cNvSpPr txBox="1">
            <a:spLocks/>
          </p:cNvSpPr>
          <p:nvPr/>
        </p:nvSpPr>
        <p:spPr>
          <a:xfrm>
            <a:off x="1015903" y="3750118"/>
            <a:ext cx="4945229" cy="289470"/>
          </a:xfrm>
          <a:prstGeom prst="rect">
            <a:avLst/>
          </a:prstGeom>
        </p:spPr>
        <p:txBody>
          <a:bodyPr vert="horz" lIns="0" tIns="0" rIns="0" bIns="0" rtlCol="0" anchor="t"/>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667" b="1" dirty="0">
                <a:solidFill>
                  <a:srgbClr val="003963"/>
                </a:solidFill>
                <a:latin typeface="+mj-lt"/>
                <a:cs typeface="Calibri Light" panose="020F0302020204030204" pitchFamily="34" charset="0"/>
              </a:rPr>
              <a:t>PROJECT STAGES</a:t>
            </a:r>
            <a:endParaRPr lang="en-US" sz="1483" b="1" dirty="0">
              <a:solidFill>
                <a:srgbClr val="003963"/>
              </a:solidFill>
              <a:latin typeface="+mj-lt"/>
            </a:endParaRPr>
          </a:p>
        </p:txBody>
      </p:sp>
      <p:sp>
        <p:nvSpPr>
          <p:cNvPr id="5" name="TextBox 4"/>
          <p:cNvSpPr txBox="1"/>
          <p:nvPr/>
        </p:nvSpPr>
        <p:spPr>
          <a:xfrm>
            <a:off x="960074" y="4927814"/>
            <a:ext cx="3039695" cy="1290290"/>
          </a:xfrm>
          <a:prstGeom prst="rect">
            <a:avLst/>
          </a:prstGeom>
          <a:noFill/>
        </p:spPr>
        <p:txBody>
          <a:bodyPr wrap="square" rtlCol="0">
            <a:spAutoFit/>
          </a:bodyPr>
          <a:lstStyle/>
          <a:p>
            <a:r>
              <a:rPr lang="en-US" sz="1112" dirty="0"/>
              <a:t>Conduct research and synthesize insights to identify the fundamental patient, caregiver, community, clinician, provider, and payer problems that are key to solving for Behavioral Health. Develop a Strategic Framework that helps align all BH initiatives for the desired long-term impact. </a:t>
            </a:r>
          </a:p>
        </p:txBody>
      </p:sp>
      <p:sp>
        <p:nvSpPr>
          <p:cNvPr id="13" name="TextBox 12"/>
          <p:cNvSpPr txBox="1"/>
          <p:nvPr/>
        </p:nvSpPr>
        <p:spPr>
          <a:xfrm>
            <a:off x="6400801" y="5188764"/>
            <a:ext cx="2759598" cy="1974836"/>
          </a:xfrm>
          <a:prstGeom prst="rect">
            <a:avLst/>
          </a:prstGeom>
          <a:noFill/>
        </p:spPr>
        <p:txBody>
          <a:bodyPr wrap="square" rtlCol="0">
            <a:spAutoFit/>
          </a:bodyPr>
          <a:lstStyle/>
          <a:p>
            <a:r>
              <a:rPr lang="en-US" sz="1112" dirty="0"/>
              <a:t>Summarize problems to solve across Strategic Pillars in the BH framework, help coordinate and activate innovative approaches across the enterprise, and scope the best opportunities Highmark Health Innovation can pursue. Conduct additional research and business analysis to inform the right solution approaches. Develop detailed insights and recommendations for solution design and implementation. </a:t>
            </a:r>
          </a:p>
        </p:txBody>
      </p:sp>
      <p:sp>
        <p:nvSpPr>
          <p:cNvPr id="14" name="TextBox 13"/>
          <p:cNvSpPr txBox="1"/>
          <p:nvPr/>
        </p:nvSpPr>
        <p:spPr>
          <a:xfrm>
            <a:off x="9365064" y="5680257"/>
            <a:ext cx="2827979" cy="948016"/>
          </a:xfrm>
          <a:prstGeom prst="rect">
            <a:avLst/>
          </a:prstGeom>
          <a:noFill/>
        </p:spPr>
        <p:txBody>
          <a:bodyPr wrap="square" rtlCol="0">
            <a:spAutoFit/>
          </a:bodyPr>
          <a:lstStyle/>
          <a:p>
            <a:r>
              <a:rPr lang="en-US" sz="1112" dirty="0"/>
              <a:t>For opportunities that require additional Innovation concepting, the team will define principles, design solutions, and potentially prototype and test suggested approaches.</a:t>
            </a:r>
          </a:p>
        </p:txBody>
      </p:sp>
      <p:cxnSp>
        <p:nvCxnSpPr>
          <p:cNvPr id="37" name="Straight Connector 36">
            <a:extLst>
              <a:ext uri="{FF2B5EF4-FFF2-40B4-BE49-F238E27FC236}">
                <a16:creationId xmlns:a16="http://schemas.microsoft.com/office/drawing/2014/main" id="{7CF5E220-07FB-9E47-930A-02E2F2ED4B71}"/>
              </a:ext>
            </a:extLst>
          </p:cNvPr>
          <p:cNvCxnSpPr>
            <a:cxnSpLocks/>
            <a:stCxn id="42" idx="6"/>
            <a:endCxn id="43" idx="3"/>
          </p:cNvCxnSpPr>
          <p:nvPr/>
        </p:nvCxnSpPr>
        <p:spPr>
          <a:xfrm flipV="1">
            <a:off x="1840803" y="2479754"/>
            <a:ext cx="1495914" cy="856485"/>
          </a:xfrm>
          <a:prstGeom prst="line">
            <a:avLst/>
          </a:prstGeom>
          <a:ln w="38100">
            <a:solidFill>
              <a:schemeClr val="tx1">
                <a:lumMod val="40000"/>
                <a:lumOff val="6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5703A89-A3B2-F542-A6E6-6C3AE93907A3}"/>
              </a:ext>
            </a:extLst>
          </p:cNvPr>
          <p:cNvCxnSpPr>
            <a:cxnSpLocks/>
            <a:endCxn id="43" idx="5"/>
          </p:cNvCxnSpPr>
          <p:nvPr/>
        </p:nvCxnSpPr>
        <p:spPr>
          <a:xfrm flipH="1" flipV="1">
            <a:off x="3703157" y="2479754"/>
            <a:ext cx="2772919" cy="786066"/>
          </a:xfrm>
          <a:prstGeom prst="line">
            <a:avLst/>
          </a:prstGeom>
          <a:ln w="38100">
            <a:solidFill>
              <a:schemeClr val="tx1">
                <a:lumMod val="40000"/>
                <a:lumOff val="6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C8751D7-B808-ED4D-9B23-090ED48C8D92}"/>
              </a:ext>
            </a:extLst>
          </p:cNvPr>
          <p:cNvCxnSpPr>
            <a:cxnSpLocks/>
          </p:cNvCxnSpPr>
          <p:nvPr/>
        </p:nvCxnSpPr>
        <p:spPr>
          <a:xfrm flipV="1">
            <a:off x="6829264" y="2424279"/>
            <a:ext cx="1844195" cy="846918"/>
          </a:xfrm>
          <a:prstGeom prst="line">
            <a:avLst/>
          </a:prstGeom>
          <a:ln w="38100">
            <a:solidFill>
              <a:schemeClr val="tx1">
                <a:lumMod val="40000"/>
                <a:lumOff val="6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2D2F38B-8508-9A44-BF19-6891B45EDA29}"/>
              </a:ext>
            </a:extLst>
          </p:cNvPr>
          <p:cNvCxnSpPr>
            <a:cxnSpLocks/>
          </p:cNvCxnSpPr>
          <p:nvPr/>
        </p:nvCxnSpPr>
        <p:spPr>
          <a:xfrm flipH="1" flipV="1">
            <a:off x="8759928" y="2378916"/>
            <a:ext cx="1974456" cy="941788"/>
          </a:xfrm>
          <a:prstGeom prst="line">
            <a:avLst/>
          </a:prstGeom>
          <a:ln w="38100">
            <a:solidFill>
              <a:schemeClr val="tx1">
                <a:lumMod val="40000"/>
                <a:lumOff val="60000"/>
              </a:schemeClr>
            </a:solidFill>
            <a:prstDash val="sysDot"/>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90512FC5-2BFE-5B46-8D10-FA4B0D7D34EF}"/>
              </a:ext>
            </a:extLst>
          </p:cNvPr>
          <p:cNvSpPr/>
          <p:nvPr/>
        </p:nvSpPr>
        <p:spPr>
          <a:xfrm>
            <a:off x="1322580" y="3076038"/>
            <a:ext cx="518224" cy="520404"/>
          </a:xfrm>
          <a:prstGeom prst="ellipse">
            <a:avLst/>
          </a:prstGeom>
          <a:solidFill>
            <a:srgbClr val="FF9600"/>
          </a:solidFill>
        </p:spPr>
        <p:txBody>
          <a:bodyPr wrap="square" lIns="84716" tIns="84716" rIns="84716" bIns="84716" rtlCol="0">
            <a:noAutofit/>
          </a:bodyPr>
          <a:lstStyle/>
          <a:p>
            <a:endParaRPr lang="x-none" sz="1483" b="1" dirty="0">
              <a:solidFill>
                <a:schemeClr val="accent5">
                  <a:lumMod val="50000"/>
                </a:schemeClr>
              </a:solidFill>
              <a:latin typeface="Arial Black"/>
              <a:cs typeface="Arial Black"/>
            </a:endParaRPr>
          </a:p>
        </p:txBody>
      </p:sp>
      <p:sp>
        <p:nvSpPr>
          <p:cNvPr id="43" name="Oval 42">
            <a:extLst>
              <a:ext uri="{FF2B5EF4-FFF2-40B4-BE49-F238E27FC236}">
                <a16:creationId xmlns:a16="http://schemas.microsoft.com/office/drawing/2014/main" id="{7075F177-DD09-E545-985F-B7D3722A6178}"/>
              </a:ext>
            </a:extLst>
          </p:cNvPr>
          <p:cNvSpPr/>
          <p:nvPr/>
        </p:nvSpPr>
        <p:spPr>
          <a:xfrm>
            <a:off x="3260825" y="2035563"/>
            <a:ext cx="518224" cy="520404"/>
          </a:xfrm>
          <a:prstGeom prst="ellipse">
            <a:avLst/>
          </a:prstGeom>
          <a:solidFill>
            <a:srgbClr val="FF9600"/>
          </a:solidFill>
        </p:spPr>
        <p:txBody>
          <a:bodyPr wrap="square" lIns="84716" tIns="84716" rIns="84716" bIns="84716" rtlCol="0">
            <a:noAutofit/>
          </a:bodyPr>
          <a:lstStyle/>
          <a:p>
            <a:endParaRPr lang="x-none" sz="1483" b="1" dirty="0">
              <a:solidFill>
                <a:schemeClr val="accent5">
                  <a:lumMod val="50000"/>
                </a:schemeClr>
              </a:solidFill>
              <a:latin typeface="Arial Black"/>
              <a:cs typeface="Arial Black"/>
            </a:endParaRPr>
          </a:p>
        </p:txBody>
      </p:sp>
      <p:sp>
        <p:nvSpPr>
          <p:cNvPr id="44" name="Oval 43">
            <a:extLst>
              <a:ext uri="{FF2B5EF4-FFF2-40B4-BE49-F238E27FC236}">
                <a16:creationId xmlns:a16="http://schemas.microsoft.com/office/drawing/2014/main" id="{0BB1A987-6F20-4643-A34A-F99D6BDC4886}"/>
              </a:ext>
            </a:extLst>
          </p:cNvPr>
          <p:cNvSpPr/>
          <p:nvPr/>
        </p:nvSpPr>
        <p:spPr>
          <a:xfrm>
            <a:off x="10514963" y="3078891"/>
            <a:ext cx="518224" cy="520404"/>
          </a:xfrm>
          <a:prstGeom prst="ellipse">
            <a:avLst/>
          </a:prstGeom>
          <a:solidFill>
            <a:schemeClr val="bg1"/>
          </a:solidFill>
          <a:ln w="28575">
            <a:solidFill>
              <a:schemeClr val="bg1">
                <a:lumMod val="50000"/>
              </a:schemeClr>
            </a:solidFill>
          </a:ln>
        </p:spPr>
        <p:txBody>
          <a:bodyPr wrap="square" lIns="84716" tIns="84716" rIns="84716" bIns="84716" rtlCol="0">
            <a:noAutofit/>
          </a:bodyPr>
          <a:lstStyle/>
          <a:p>
            <a:endParaRPr lang="x-none" sz="1483" b="1" dirty="0">
              <a:solidFill>
                <a:schemeClr val="accent4">
                  <a:lumMod val="50000"/>
                </a:schemeClr>
              </a:solidFill>
              <a:latin typeface="Arial Black"/>
              <a:cs typeface="Arial Black"/>
            </a:endParaRPr>
          </a:p>
        </p:txBody>
      </p:sp>
      <p:sp>
        <p:nvSpPr>
          <p:cNvPr id="45" name="Oval 44">
            <a:extLst>
              <a:ext uri="{FF2B5EF4-FFF2-40B4-BE49-F238E27FC236}">
                <a16:creationId xmlns:a16="http://schemas.microsoft.com/office/drawing/2014/main" id="{6A390D8E-7940-E349-837F-3753C5033A57}"/>
              </a:ext>
            </a:extLst>
          </p:cNvPr>
          <p:cNvSpPr/>
          <p:nvPr/>
        </p:nvSpPr>
        <p:spPr>
          <a:xfrm>
            <a:off x="6453096" y="3078891"/>
            <a:ext cx="518224" cy="520404"/>
          </a:xfrm>
          <a:prstGeom prst="ellipse">
            <a:avLst/>
          </a:prstGeom>
          <a:solidFill>
            <a:schemeClr val="bg1"/>
          </a:solidFill>
          <a:ln w="28575">
            <a:solidFill>
              <a:schemeClr val="bg1">
                <a:lumMod val="50000"/>
              </a:schemeClr>
            </a:solidFill>
          </a:ln>
        </p:spPr>
        <p:txBody>
          <a:bodyPr wrap="square" lIns="84716" tIns="84716" rIns="84716" bIns="84716" rtlCol="0">
            <a:noAutofit/>
          </a:bodyPr>
          <a:lstStyle/>
          <a:p>
            <a:endParaRPr lang="x-none" sz="1483" b="1" dirty="0">
              <a:solidFill>
                <a:schemeClr val="accent3">
                  <a:lumMod val="50000"/>
                </a:schemeClr>
              </a:solidFill>
              <a:latin typeface="Arial Black"/>
              <a:cs typeface="Arial Black"/>
            </a:endParaRPr>
          </a:p>
        </p:txBody>
      </p:sp>
      <p:sp>
        <p:nvSpPr>
          <p:cNvPr id="46" name="Oval 45">
            <a:extLst>
              <a:ext uri="{FF2B5EF4-FFF2-40B4-BE49-F238E27FC236}">
                <a16:creationId xmlns:a16="http://schemas.microsoft.com/office/drawing/2014/main" id="{81ADB70F-A87E-0845-95B6-1B04CCE4ED09}"/>
              </a:ext>
            </a:extLst>
          </p:cNvPr>
          <p:cNvSpPr/>
          <p:nvPr/>
        </p:nvSpPr>
        <p:spPr>
          <a:xfrm>
            <a:off x="8406739" y="2077280"/>
            <a:ext cx="518224" cy="520404"/>
          </a:xfrm>
          <a:prstGeom prst="ellipse">
            <a:avLst/>
          </a:prstGeom>
          <a:solidFill>
            <a:schemeClr val="bg1"/>
          </a:solidFill>
          <a:ln w="28575">
            <a:solidFill>
              <a:schemeClr val="bg1">
                <a:lumMod val="50000"/>
              </a:schemeClr>
            </a:solidFill>
          </a:ln>
        </p:spPr>
        <p:txBody>
          <a:bodyPr wrap="square" lIns="84716" tIns="84716" rIns="84716" bIns="84716" rtlCol="0">
            <a:noAutofit/>
          </a:bodyPr>
          <a:lstStyle/>
          <a:p>
            <a:endParaRPr lang="x-none" sz="1483" b="1" dirty="0">
              <a:solidFill>
                <a:schemeClr val="accent3">
                  <a:lumMod val="50000"/>
                </a:schemeClr>
              </a:solidFill>
              <a:latin typeface="Arial Black"/>
              <a:cs typeface="Arial Black"/>
            </a:endParaRPr>
          </a:p>
        </p:txBody>
      </p:sp>
      <p:sp>
        <p:nvSpPr>
          <p:cNvPr id="52" name="Rectangle 51">
            <a:extLst>
              <a:ext uri="{FF2B5EF4-FFF2-40B4-BE49-F238E27FC236}">
                <a16:creationId xmlns:a16="http://schemas.microsoft.com/office/drawing/2014/main" id="{E0CA8F99-B7BD-BF44-BDC2-930CDBE7C16B}"/>
              </a:ext>
            </a:extLst>
          </p:cNvPr>
          <p:cNvSpPr/>
          <p:nvPr/>
        </p:nvSpPr>
        <p:spPr>
          <a:xfrm>
            <a:off x="587592" y="2461784"/>
            <a:ext cx="1760434" cy="434606"/>
          </a:xfrm>
          <a:prstGeom prst="rect">
            <a:avLst/>
          </a:prstGeom>
        </p:spPr>
        <p:txBody>
          <a:bodyPr wrap="square">
            <a:spAutoFit/>
          </a:bodyPr>
          <a:lstStyle/>
          <a:p>
            <a:pPr algn="ctr"/>
            <a:r>
              <a:rPr lang="en-US" sz="1112" dirty="0">
                <a:solidFill>
                  <a:srgbClr val="003963"/>
                </a:solidFill>
              </a:rPr>
              <a:t>Research and Synthesize Findings</a:t>
            </a:r>
          </a:p>
        </p:txBody>
      </p:sp>
      <p:sp>
        <p:nvSpPr>
          <p:cNvPr id="53" name="Rectangle 52">
            <a:extLst>
              <a:ext uri="{FF2B5EF4-FFF2-40B4-BE49-F238E27FC236}">
                <a16:creationId xmlns:a16="http://schemas.microsoft.com/office/drawing/2014/main" id="{895FB058-4043-FF4C-8BF9-E6974BACECBC}"/>
              </a:ext>
            </a:extLst>
          </p:cNvPr>
          <p:cNvSpPr/>
          <p:nvPr/>
        </p:nvSpPr>
        <p:spPr>
          <a:xfrm>
            <a:off x="2639719" y="1220083"/>
            <a:ext cx="1760434" cy="776879"/>
          </a:xfrm>
          <a:prstGeom prst="rect">
            <a:avLst/>
          </a:prstGeom>
        </p:spPr>
        <p:txBody>
          <a:bodyPr wrap="square">
            <a:spAutoFit/>
          </a:bodyPr>
          <a:lstStyle/>
          <a:p>
            <a:pPr algn="ctr"/>
            <a:r>
              <a:rPr lang="en-US" sz="1112" dirty="0">
                <a:solidFill>
                  <a:srgbClr val="003963"/>
                </a:solidFill>
              </a:rPr>
              <a:t>Recommend Opportunities and Prioritize for Further Scoping</a:t>
            </a:r>
          </a:p>
        </p:txBody>
      </p:sp>
      <p:sp>
        <p:nvSpPr>
          <p:cNvPr id="54" name="Rectangle 53">
            <a:extLst>
              <a:ext uri="{FF2B5EF4-FFF2-40B4-BE49-F238E27FC236}">
                <a16:creationId xmlns:a16="http://schemas.microsoft.com/office/drawing/2014/main" id="{72C85F44-AD88-EA40-933E-A9EA1026E48E}"/>
              </a:ext>
            </a:extLst>
          </p:cNvPr>
          <p:cNvSpPr/>
          <p:nvPr/>
        </p:nvSpPr>
        <p:spPr>
          <a:xfrm>
            <a:off x="5661309" y="2498194"/>
            <a:ext cx="2049122" cy="434606"/>
          </a:xfrm>
          <a:prstGeom prst="rect">
            <a:avLst/>
          </a:prstGeom>
        </p:spPr>
        <p:txBody>
          <a:bodyPr wrap="square">
            <a:spAutoFit/>
          </a:bodyPr>
          <a:lstStyle/>
          <a:p>
            <a:pPr algn="ctr"/>
            <a:r>
              <a:rPr lang="en-US" sz="1112" dirty="0">
                <a:solidFill>
                  <a:srgbClr val="003963"/>
                </a:solidFill>
              </a:rPr>
              <a:t>Scope Prioritized Opportunities</a:t>
            </a:r>
          </a:p>
        </p:txBody>
      </p:sp>
      <p:sp>
        <p:nvSpPr>
          <p:cNvPr id="55" name="Rectangle 54">
            <a:extLst>
              <a:ext uri="{FF2B5EF4-FFF2-40B4-BE49-F238E27FC236}">
                <a16:creationId xmlns:a16="http://schemas.microsoft.com/office/drawing/2014/main" id="{B69C5476-FAA1-954D-B188-5F3900827D9B}"/>
              </a:ext>
            </a:extLst>
          </p:cNvPr>
          <p:cNvSpPr/>
          <p:nvPr/>
        </p:nvSpPr>
        <p:spPr>
          <a:xfrm>
            <a:off x="7208092" y="1323796"/>
            <a:ext cx="2933104" cy="605743"/>
          </a:xfrm>
          <a:prstGeom prst="rect">
            <a:avLst/>
          </a:prstGeom>
        </p:spPr>
        <p:txBody>
          <a:bodyPr wrap="square">
            <a:spAutoFit/>
          </a:bodyPr>
          <a:lstStyle/>
          <a:p>
            <a:pPr algn="ctr"/>
            <a:r>
              <a:rPr lang="en-US" sz="1112" dirty="0">
                <a:solidFill>
                  <a:srgbClr val="003963"/>
                </a:solidFill>
              </a:rPr>
              <a:t>Prioritize Scoped Opportunities for Hand-off to Owners and Continued Concept Development by Innovation </a:t>
            </a:r>
          </a:p>
        </p:txBody>
      </p:sp>
      <p:sp>
        <p:nvSpPr>
          <p:cNvPr id="56" name="Rectangle 55">
            <a:extLst>
              <a:ext uri="{FF2B5EF4-FFF2-40B4-BE49-F238E27FC236}">
                <a16:creationId xmlns:a16="http://schemas.microsoft.com/office/drawing/2014/main" id="{E935E313-79B8-FB47-9EFD-3C97D372406F}"/>
              </a:ext>
            </a:extLst>
          </p:cNvPr>
          <p:cNvSpPr/>
          <p:nvPr/>
        </p:nvSpPr>
        <p:spPr>
          <a:xfrm>
            <a:off x="9779749" y="2498194"/>
            <a:ext cx="2032912" cy="434606"/>
          </a:xfrm>
          <a:prstGeom prst="rect">
            <a:avLst/>
          </a:prstGeom>
        </p:spPr>
        <p:txBody>
          <a:bodyPr wrap="square">
            <a:spAutoFit/>
          </a:bodyPr>
          <a:lstStyle/>
          <a:p>
            <a:pPr algn="ctr"/>
            <a:r>
              <a:rPr lang="en-US" sz="1112" dirty="0">
                <a:solidFill>
                  <a:srgbClr val="003963"/>
                </a:solidFill>
              </a:rPr>
              <a:t>Recommend Design of Innovative Solutions</a:t>
            </a:r>
          </a:p>
        </p:txBody>
      </p:sp>
      <p:sp>
        <p:nvSpPr>
          <p:cNvPr id="4" name="Down Arrow Callout 3">
            <a:extLst>
              <a:ext uri="{FF2B5EF4-FFF2-40B4-BE49-F238E27FC236}">
                <a16:creationId xmlns:a16="http://schemas.microsoft.com/office/drawing/2014/main" id="{3B9EA4A3-32DB-F142-B14D-F81E8E8A03CA}"/>
              </a:ext>
            </a:extLst>
          </p:cNvPr>
          <p:cNvSpPr/>
          <p:nvPr/>
        </p:nvSpPr>
        <p:spPr>
          <a:xfrm>
            <a:off x="3999770" y="3274575"/>
            <a:ext cx="1682443" cy="814302"/>
          </a:xfrm>
          <a:prstGeom prst="downArrowCallout">
            <a:avLst>
              <a:gd name="adj1" fmla="val 50000"/>
              <a:gd name="adj2" fmla="val 25000"/>
              <a:gd name="adj3" fmla="val 25000"/>
              <a:gd name="adj4" fmla="val 64977"/>
            </a:avLst>
          </a:prstGeom>
          <a:solidFill>
            <a:srgbClr val="00A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67" dirty="0"/>
              <a:t>We are here</a:t>
            </a:r>
          </a:p>
        </p:txBody>
      </p:sp>
      <p:sp>
        <p:nvSpPr>
          <p:cNvPr id="31" name="Oval 30">
            <a:extLst>
              <a:ext uri="{FF2B5EF4-FFF2-40B4-BE49-F238E27FC236}">
                <a16:creationId xmlns:a16="http://schemas.microsoft.com/office/drawing/2014/main" id="{D31DC6D4-DD51-E747-A52D-602DFA21901B}"/>
              </a:ext>
            </a:extLst>
          </p:cNvPr>
          <p:cNvSpPr/>
          <p:nvPr/>
        </p:nvSpPr>
        <p:spPr>
          <a:xfrm>
            <a:off x="5035756" y="2639797"/>
            <a:ext cx="518224" cy="520404"/>
          </a:xfrm>
          <a:prstGeom prst="ellipse">
            <a:avLst/>
          </a:prstGeom>
          <a:solidFill>
            <a:schemeClr val="bg1"/>
          </a:solidFill>
          <a:ln w="28575">
            <a:solidFill>
              <a:srgbClr val="FF9600"/>
            </a:solidFill>
          </a:ln>
        </p:spPr>
        <p:txBody>
          <a:bodyPr wrap="square" lIns="84716" tIns="84716" rIns="84716" bIns="84716" rtlCol="0">
            <a:noAutofit/>
          </a:bodyPr>
          <a:lstStyle/>
          <a:p>
            <a:endParaRPr lang="x-none" sz="1483" b="1" dirty="0">
              <a:solidFill>
                <a:schemeClr val="accent5">
                  <a:lumMod val="50000"/>
                </a:schemeClr>
              </a:solidFill>
              <a:latin typeface="Arial Black"/>
              <a:cs typeface="Arial Black"/>
            </a:endParaRPr>
          </a:p>
        </p:txBody>
      </p:sp>
      <p:sp>
        <p:nvSpPr>
          <p:cNvPr id="32" name="Rectangle 31">
            <a:extLst>
              <a:ext uri="{FF2B5EF4-FFF2-40B4-BE49-F238E27FC236}">
                <a16:creationId xmlns:a16="http://schemas.microsoft.com/office/drawing/2014/main" id="{EF6EC390-EA46-C448-A70B-9961BEEBE7FB}"/>
              </a:ext>
            </a:extLst>
          </p:cNvPr>
          <p:cNvSpPr/>
          <p:nvPr/>
        </p:nvSpPr>
        <p:spPr>
          <a:xfrm>
            <a:off x="4410900" y="1802886"/>
            <a:ext cx="1760434" cy="776879"/>
          </a:xfrm>
          <a:prstGeom prst="rect">
            <a:avLst/>
          </a:prstGeom>
        </p:spPr>
        <p:txBody>
          <a:bodyPr wrap="square">
            <a:spAutoFit/>
          </a:bodyPr>
          <a:lstStyle/>
          <a:p>
            <a:pPr algn="ctr"/>
            <a:r>
              <a:rPr lang="en-US" sz="1112" b="1" dirty="0">
                <a:solidFill>
                  <a:srgbClr val="003963"/>
                </a:solidFill>
              </a:rPr>
              <a:t>Develop Strategic Framework to Align Cross-enterprise BH Solutions</a:t>
            </a:r>
          </a:p>
        </p:txBody>
      </p:sp>
      <p:sp>
        <p:nvSpPr>
          <p:cNvPr id="29" name="TextBox 28">
            <a:extLst>
              <a:ext uri="{FF2B5EF4-FFF2-40B4-BE49-F238E27FC236}">
                <a16:creationId xmlns:a16="http://schemas.microsoft.com/office/drawing/2014/main" id="{DF8675E7-C1A7-EC40-A766-19DA9532CC0F}"/>
              </a:ext>
            </a:extLst>
          </p:cNvPr>
          <p:cNvSpPr txBox="1"/>
          <p:nvPr/>
        </p:nvSpPr>
        <p:spPr>
          <a:xfrm>
            <a:off x="4062195" y="4927815"/>
            <a:ext cx="2338604" cy="1119153"/>
          </a:xfrm>
          <a:prstGeom prst="rect">
            <a:avLst/>
          </a:prstGeom>
          <a:noFill/>
        </p:spPr>
        <p:txBody>
          <a:bodyPr wrap="square" rtlCol="0">
            <a:spAutoFit/>
          </a:bodyPr>
          <a:lstStyle/>
          <a:p>
            <a:r>
              <a:rPr lang="en-US" sz="1112" dirty="0"/>
              <a:t>Develop a Strategic Framework that helps align all BH initiatives for the desired long-term impact. Vet this framework with senior leadership to understand their priorities for Innovation focus. </a:t>
            </a:r>
          </a:p>
        </p:txBody>
      </p:sp>
      <p:sp>
        <p:nvSpPr>
          <p:cNvPr id="30" name="Title 1">
            <a:extLst>
              <a:ext uri="{FF2B5EF4-FFF2-40B4-BE49-F238E27FC236}">
                <a16:creationId xmlns:a16="http://schemas.microsoft.com/office/drawing/2014/main" id="{7731E358-E16B-1843-AED2-979376966FF2}"/>
              </a:ext>
            </a:extLst>
          </p:cNvPr>
          <p:cNvSpPr txBox="1">
            <a:spLocks/>
          </p:cNvSpPr>
          <p:nvPr/>
        </p:nvSpPr>
        <p:spPr>
          <a:xfrm>
            <a:off x="445855" y="511315"/>
            <a:ext cx="11951972" cy="785657"/>
          </a:xfrm>
          <a:prstGeom prst="rect">
            <a:avLst/>
          </a:prstGeom>
        </p:spPr>
        <p:txBody>
          <a:bodyPr lIns="0" anchor="ctr">
            <a:noAutofit/>
          </a:bodyPr>
          <a:lstStyle>
            <a:defPPr>
              <a:defRPr lang="en-US"/>
            </a:defPPr>
            <a:lvl1pPr>
              <a:lnSpc>
                <a:spcPct val="90000"/>
              </a:lnSpc>
              <a:spcBef>
                <a:spcPct val="0"/>
              </a:spcBef>
              <a:buNone/>
              <a:defRPr sz="4000" b="1" i="0" spc="0">
                <a:solidFill>
                  <a:schemeClr val="accent1">
                    <a:lumMod val="50000"/>
                  </a:schemeClr>
                </a:solidFill>
                <a:latin typeface="Century Gothic" panose="020B0502020202020204" pitchFamily="34" charset="0"/>
                <a:ea typeface="Helvetica Neue" panose="02000503000000020004" pitchFamily="2" charset="0"/>
                <a:cs typeface="Arial" panose="020B0604020202020204" pitchFamily="34" charset="0"/>
              </a:defRPr>
            </a:lvl1pPr>
          </a:lstStyle>
          <a:p>
            <a:pPr>
              <a:defRPr/>
            </a:pPr>
            <a:r>
              <a:rPr lang="en-US" sz="4200" dirty="0">
                <a:solidFill>
                  <a:srgbClr val="000000"/>
                </a:solidFill>
                <a:latin typeface="Calibri" panose="020F0502020204030204" pitchFamily="34" charset="0"/>
              </a:rPr>
              <a:t>Behavioral Health Innovation Process</a:t>
            </a:r>
          </a:p>
        </p:txBody>
      </p:sp>
    </p:spTree>
    <p:extLst>
      <p:ext uri="{BB962C8B-B14F-4D97-AF65-F5344CB8AC3E}">
        <p14:creationId xmlns:p14="http://schemas.microsoft.com/office/powerpoint/2010/main" val="3106699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291994-35EB-E849-8F05-2F8B5FD87631}"/>
              </a:ext>
            </a:extLst>
          </p:cNvPr>
          <p:cNvSpPr/>
          <p:nvPr/>
        </p:nvSpPr>
        <p:spPr>
          <a:xfrm>
            <a:off x="558869" y="1122509"/>
            <a:ext cx="11655590" cy="4199611"/>
          </a:xfrm>
          <a:prstGeom prst="rect">
            <a:avLst/>
          </a:prstGeom>
        </p:spPr>
        <p:txBody>
          <a:bodyPr wrap="square" anchor="t">
            <a:spAutoFit/>
          </a:bodyPr>
          <a:lstStyle/>
          <a:p>
            <a:r>
              <a:rPr lang="en-US" sz="2224" b="1" dirty="0">
                <a:solidFill>
                  <a:srgbClr val="003963"/>
                </a:solidFill>
              </a:rPr>
              <a:t>Task at Hand: Define the problems to solve under each pillar, categorize and rank impact, assess stakeholders/ownership, determine and activate innovation activities aligned to the “right” problems in each pillar. </a:t>
            </a:r>
          </a:p>
          <a:p>
            <a:endParaRPr lang="en-US" sz="2224" b="1" dirty="0">
              <a:solidFill>
                <a:srgbClr val="003963"/>
              </a:solidFill>
            </a:endParaRPr>
          </a:p>
          <a:p>
            <a:pPr marL="342900" indent="-342900">
              <a:buFont typeface="Arial" panose="020B0604020202020204" pitchFamily="34" charset="0"/>
              <a:buChar char="•"/>
            </a:pPr>
            <a:r>
              <a:rPr lang="en-US" sz="2224" dirty="0">
                <a:solidFill>
                  <a:srgbClr val="003963"/>
                </a:solidFill>
              </a:rPr>
              <a:t>Erica and Jason to coordinate on what form the problem summary and framing should take.</a:t>
            </a:r>
          </a:p>
          <a:p>
            <a:pPr marL="342900" indent="-342900">
              <a:buFont typeface="Arial" panose="020B0604020202020204" pitchFamily="34" charset="0"/>
              <a:buChar char="•"/>
            </a:pPr>
            <a:endParaRPr lang="en-US" sz="2224" dirty="0">
              <a:solidFill>
                <a:srgbClr val="003963"/>
              </a:solidFill>
            </a:endParaRPr>
          </a:p>
          <a:p>
            <a:pPr marL="342900" indent="-342900">
              <a:buFont typeface="Arial" panose="020B0604020202020204" pitchFamily="34" charset="0"/>
              <a:buChar char="•"/>
            </a:pPr>
            <a:r>
              <a:rPr lang="en-US" sz="2224" dirty="0">
                <a:solidFill>
                  <a:srgbClr val="003963"/>
                </a:solidFill>
              </a:rPr>
              <a:t>Erica with Janice and Ashley: A, B.1</a:t>
            </a:r>
          </a:p>
          <a:p>
            <a:pPr marL="342900" indent="-342900">
              <a:buFont typeface="Arial" panose="020B0604020202020204" pitchFamily="34" charset="0"/>
              <a:buChar char="•"/>
            </a:pPr>
            <a:endParaRPr lang="en-US" sz="2224" dirty="0">
              <a:solidFill>
                <a:srgbClr val="003963"/>
              </a:solidFill>
            </a:endParaRPr>
          </a:p>
          <a:p>
            <a:pPr marL="342900" indent="-342900">
              <a:buFont typeface="Arial" panose="020B0604020202020204" pitchFamily="34" charset="0"/>
              <a:buChar char="•"/>
            </a:pPr>
            <a:r>
              <a:rPr lang="en-US" sz="2224" dirty="0">
                <a:solidFill>
                  <a:srgbClr val="003963"/>
                </a:solidFill>
              </a:rPr>
              <a:t>Jason with Matt and Brett: B.2, B.3, C</a:t>
            </a:r>
          </a:p>
          <a:p>
            <a:pPr marL="342900" indent="-342900">
              <a:buFont typeface="Arial" panose="020B0604020202020204" pitchFamily="34" charset="0"/>
              <a:buChar char="•"/>
            </a:pPr>
            <a:endParaRPr lang="en-US" sz="2224" dirty="0">
              <a:solidFill>
                <a:srgbClr val="003963"/>
              </a:solidFill>
            </a:endParaRPr>
          </a:p>
          <a:p>
            <a:endParaRPr lang="en-US" sz="2224" b="1" dirty="0">
              <a:solidFill>
                <a:srgbClr val="003963"/>
              </a:solidFill>
            </a:endParaRPr>
          </a:p>
        </p:txBody>
      </p:sp>
    </p:spTree>
    <p:extLst>
      <p:ext uri="{BB962C8B-B14F-4D97-AF65-F5344CB8AC3E}">
        <p14:creationId xmlns:p14="http://schemas.microsoft.com/office/powerpoint/2010/main" val="3021690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468593" y="1517368"/>
            <a:ext cx="11942955" cy="829129"/>
          </a:xfrm>
          <a:prstGeom prst="rect">
            <a:avLst/>
          </a:prstGeom>
          <a:solidFill>
            <a:srgbClr val="003963"/>
          </a:solidFill>
          <a:ln w="381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041"/>
          </a:p>
        </p:txBody>
      </p:sp>
      <p:sp>
        <p:nvSpPr>
          <p:cNvPr id="4" name="Rectangle 3"/>
          <p:cNvSpPr/>
          <p:nvPr/>
        </p:nvSpPr>
        <p:spPr>
          <a:xfrm>
            <a:off x="459576" y="6278339"/>
            <a:ext cx="11942955" cy="975386"/>
          </a:xfrm>
          <a:prstGeom prst="rect">
            <a:avLst/>
          </a:prstGeom>
          <a:solidFill>
            <a:schemeClr val="bg1"/>
          </a:solidFill>
          <a:ln w="381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041"/>
          </a:p>
        </p:txBody>
      </p:sp>
      <p:sp>
        <p:nvSpPr>
          <p:cNvPr id="2" name="Slide Number Placeholder 1"/>
          <p:cNvSpPr>
            <a:spLocks noGrp="1"/>
          </p:cNvSpPr>
          <p:nvPr>
            <p:ph type="sldNum" sz="quarter" idx="4"/>
          </p:nvPr>
        </p:nvSpPr>
        <p:spPr>
          <a:xfrm>
            <a:off x="9299713"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400" b="0" kern="1200">
                <a:solidFill>
                  <a:schemeClr val="bg1">
                    <a:lumMod val="50000"/>
                  </a:schemeClr>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FE79565-5D94-4FD3-8818-22A2ECE0A54D}" type="slidenum">
              <a:rPr lang="en-US" smtClean="0">
                <a:solidFill>
                  <a:srgbClr val="FFFFFF">
                    <a:lumMod val="50000"/>
                  </a:srgbClr>
                </a:solidFill>
              </a:rPr>
              <a:pPr/>
              <a:t>3</a:t>
            </a:fld>
            <a:endParaRPr lang="en-US" dirty="0">
              <a:solidFill>
                <a:srgbClr val="FFFFFF">
                  <a:lumMod val="50000"/>
                </a:srgbClr>
              </a:solidFill>
            </a:endParaRPr>
          </a:p>
        </p:txBody>
      </p:sp>
      <p:sp>
        <p:nvSpPr>
          <p:cNvPr id="7" name="Title 1">
            <a:extLst>
              <a:ext uri="{FF2B5EF4-FFF2-40B4-BE49-F238E27FC236}">
                <a16:creationId xmlns:a16="http://schemas.microsoft.com/office/drawing/2014/main" id="{433A62EA-CB24-4005-8DCC-90C7F0BF4E94}"/>
              </a:ext>
            </a:extLst>
          </p:cNvPr>
          <p:cNvSpPr txBox="1">
            <a:spLocks/>
          </p:cNvSpPr>
          <p:nvPr/>
        </p:nvSpPr>
        <p:spPr>
          <a:xfrm>
            <a:off x="445855" y="511315"/>
            <a:ext cx="11951972" cy="785657"/>
          </a:xfrm>
          <a:prstGeom prst="rect">
            <a:avLst/>
          </a:prstGeom>
        </p:spPr>
        <p:txBody>
          <a:bodyPr lIns="0" anchor="ctr">
            <a:noAutofit/>
          </a:bodyPr>
          <a:lstStyle>
            <a:defPPr>
              <a:defRPr lang="en-US"/>
            </a:defPPr>
            <a:lvl1pPr>
              <a:lnSpc>
                <a:spcPct val="90000"/>
              </a:lnSpc>
              <a:spcBef>
                <a:spcPct val="0"/>
              </a:spcBef>
              <a:buNone/>
              <a:defRPr sz="4000" b="1" i="0" spc="0">
                <a:solidFill>
                  <a:schemeClr val="accent1">
                    <a:lumMod val="50000"/>
                  </a:schemeClr>
                </a:solidFill>
                <a:latin typeface="Century Gothic" panose="020B0502020202020204" pitchFamily="34" charset="0"/>
                <a:ea typeface="Helvetica Neue" panose="02000503000000020004" pitchFamily="2" charset="0"/>
                <a:cs typeface="Arial" panose="020B0604020202020204" pitchFamily="34" charset="0"/>
              </a:defRPr>
            </a:lvl1pPr>
          </a:lstStyle>
          <a:p>
            <a:pPr>
              <a:defRPr/>
            </a:pPr>
            <a:r>
              <a:rPr lang="en-US" sz="4200" dirty="0">
                <a:solidFill>
                  <a:srgbClr val="000000"/>
                </a:solidFill>
                <a:latin typeface="Calibri" panose="020F0502020204030204" pitchFamily="34" charset="0"/>
              </a:rPr>
              <a:t>BH Vision and Focus</a:t>
            </a:r>
            <a:endParaRPr lang="en-US" sz="4200" dirty="0">
              <a:solidFill>
                <a:srgbClr val="FF0000"/>
              </a:solidFill>
            </a:endParaRPr>
          </a:p>
        </p:txBody>
      </p:sp>
      <p:cxnSp>
        <p:nvCxnSpPr>
          <p:cNvPr id="8" name="Straight Connector 7">
            <a:extLst>
              <a:ext uri="{FF2B5EF4-FFF2-40B4-BE49-F238E27FC236}">
                <a16:creationId xmlns:a16="http://schemas.microsoft.com/office/drawing/2014/main" id="{28275807-41FD-457A-BB21-8DED130FF0CD}"/>
              </a:ext>
            </a:extLst>
          </p:cNvPr>
          <p:cNvCxnSpPr>
            <a:cxnSpLocks/>
          </p:cNvCxnSpPr>
          <p:nvPr/>
        </p:nvCxnSpPr>
        <p:spPr>
          <a:xfrm>
            <a:off x="459580" y="1388494"/>
            <a:ext cx="11878515" cy="0"/>
          </a:xfrm>
          <a:prstGeom prst="line">
            <a:avLst/>
          </a:prstGeom>
          <a:ln w="38100">
            <a:solidFill>
              <a:schemeClr val="tx1">
                <a:alpha val="40000"/>
              </a:schemeClr>
            </a:solidFill>
          </a:ln>
        </p:spPr>
        <p:style>
          <a:lnRef idx="3">
            <a:schemeClr val="accent2"/>
          </a:lnRef>
          <a:fillRef idx="0">
            <a:schemeClr val="accent2"/>
          </a:fillRef>
          <a:effectRef idx="2">
            <a:schemeClr val="accent2"/>
          </a:effectRef>
          <a:fontRef idx="minor">
            <a:schemeClr val="tx1"/>
          </a:fontRef>
        </p:style>
      </p:cxnSp>
      <p:sp>
        <p:nvSpPr>
          <p:cNvPr id="3" name="TextBox 2"/>
          <p:cNvSpPr txBox="1"/>
          <p:nvPr/>
        </p:nvSpPr>
        <p:spPr>
          <a:xfrm>
            <a:off x="573731" y="1608842"/>
            <a:ext cx="11521440" cy="584775"/>
          </a:xfrm>
          <a:prstGeom prst="rect">
            <a:avLst/>
          </a:prstGeom>
          <a:noFill/>
        </p:spPr>
        <p:txBody>
          <a:bodyPr wrap="square" rtlCol="0">
            <a:spAutoFit/>
          </a:bodyPr>
          <a:lstStyle/>
          <a:p>
            <a:pPr algn="ctr"/>
            <a:r>
              <a:rPr lang="en-US" sz="1600" b="1" dirty="0">
                <a:solidFill>
                  <a:schemeClr val="bg1"/>
                </a:solidFill>
              </a:rPr>
              <a:t>Be the catalyst in re-thinking the industry approach to behavioral health by convening innovators to identify more effective solutions and address systemic barriers to care and maintenance </a:t>
            </a:r>
          </a:p>
        </p:txBody>
      </p:sp>
      <p:sp>
        <p:nvSpPr>
          <p:cNvPr id="9" name="TextBox 8"/>
          <p:cNvSpPr txBox="1"/>
          <p:nvPr/>
        </p:nvSpPr>
        <p:spPr>
          <a:xfrm>
            <a:off x="572544" y="6384567"/>
            <a:ext cx="11765551" cy="787139"/>
          </a:xfrm>
          <a:prstGeom prst="rect">
            <a:avLst/>
          </a:prstGeom>
          <a:noFill/>
        </p:spPr>
        <p:txBody>
          <a:bodyPr wrap="square" rtlCol="0">
            <a:spAutoFit/>
          </a:bodyPr>
          <a:lstStyle/>
          <a:p>
            <a:r>
              <a:rPr lang="en-US" sz="1260" b="1" dirty="0"/>
              <a:t>Near/medium term</a:t>
            </a:r>
            <a:r>
              <a:rPr lang="en-US" sz="1260" dirty="0"/>
              <a:t> – focus on interventions that address the highest-cost, most acute needs in the population where the payback is clear </a:t>
            </a:r>
          </a:p>
          <a:p>
            <a:endParaRPr lang="en-US" sz="735" dirty="0"/>
          </a:p>
          <a:p>
            <a:r>
              <a:rPr lang="en-US" sz="1260" b="1" dirty="0"/>
              <a:t>Long-term</a:t>
            </a:r>
            <a:r>
              <a:rPr lang="en-US" sz="1260" dirty="0"/>
              <a:t> – convene the academic, clinical, and innovation community in the development of systemic, more cost-effective solutions to promote, sustain, restore mental health </a:t>
            </a:r>
          </a:p>
        </p:txBody>
      </p:sp>
      <p:sp>
        <p:nvSpPr>
          <p:cNvPr id="11" name="Rectangle 10"/>
          <p:cNvSpPr/>
          <p:nvPr/>
        </p:nvSpPr>
        <p:spPr>
          <a:xfrm>
            <a:off x="468593" y="2464883"/>
            <a:ext cx="2285584" cy="744968"/>
          </a:xfrm>
          <a:prstGeom prst="rect">
            <a:avLst/>
          </a:prstGeom>
          <a:solidFill>
            <a:srgbClr val="003963"/>
          </a:solidFill>
          <a:ln w="38100"/>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680" b="1" dirty="0"/>
              <a:t>A. Change the Dialog</a:t>
            </a:r>
            <a:endParaRPr lang="en-US" sz="1680" b="1" dirty="0">
              <a:solidFill>
                <a:srgbClr val="FF0000"/>
              </a:solidFill>
            </a:endParaRPr>
          </a:p>
        </p:txBody>
      </p:sp>
      <p:sp>
        <p:nvSpPr>
          <p:cNvPr id="14" name="Rectangle 13"/>
          <p:cNvSpPr/>
          <p:nvPr/>
        </p:nvSpPr>
        <p:spPr>
          <a:xfrm>
            <a:off x="468592" y="3154813"/>
            <a:ext cx="2285584" cy="2210621"/>
          </a:xfrm>
          <a:prstGeom prst="rect">
            <a:avLst/>
          </a:prstGeom>
          <a:solidFill>
            <a:schemeClr val="bg1"/>
          </a:solidFill>
          <a:ln w="381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041"/>
          </a:p>
        </p:txBody>
      </p:sp>
      <p:sp>
        <p:nvSpPr>
          <p:cNvPr id="15" name="Rectangle 14"/>
          <p:cNvSpPr/>
          <p:nvPr/>
        </p:nvSpPr>
        <p:spPr>
          <a:xfrm>
            <a:off x="2898140" y="3846097"/>
            <a:ext cx="2285584" cy="1519340"/>
          </a:xfrm>
          <a:prstGeom prst="rect">
            <a:avLst/>
          </a:prstGeom>
          <a:solidFill>
            <a:schemeClr val="bg1"/>
          </a:solidFill>
          <a:ln w="381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041"/>
          </a:p>
        </p:txBody>
      </p:sp>
      <p:sp>
        <p:nvSpPr>
          <p:cNvPr id="16" name="Rectangle 15"/>
          <p:cNvSpPr/>
          <p:nvPr/>
        </p:nvSpPr>
        <p:spPr>
          <a:xfrm>
            <a:off x="5305329" y="3846097"/>
            <a:ext cx="2277840" cy="1519340"/>
          </a:xfrm>
          <a:prstGeom prst="rect">
            <a:avLst/>
          </a:prstGeom>
          <a:solidFill>
            <a:schemeClr val="bg1"/>
          </a:solidFill>
          <a:ln w="381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041"/>
          </a:p>
        </p:txBody>
      </p:sp>
      <p:sp>
        <p:nvSpPr>
          <p:cNvPr id="18" name="Rectangle 17">
            <a:extLst>
              <a:ext uri="{FF2B5EF4-FFF2-40B4-BE49-F238E27FC236}">
                <a16:creationId xmlns:a16="http://schemas.microsoft.com/office/drawing/2014/main" id="{295CCA60-441E-AE4B-B421-2303AFF3FA07}"/>
              </a:ext>
            </a:extLst>
          </p:cNvPr>
          <p:cNvSpPr/>
          <p:nvPr/>
        </p:nvSpPr>
        <p:spPr>
          <a:xfrm>
            <a:off x="5301149" y="3174665"/>
            <a:ext cx="2277840" cy="744968"/>
          </a:xfrm>
          <a:prstGeom prst="rect">
            <a:avLst/>
          </a:prstGeom>
          <a:solidFill>
            <a:srgbClr val="00A2E2"/>
          </a:solidFill>
          <a:ln w="38100"/>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680" b="1" dirty="0"/>
              <a:t>2. Improve Interventions</a:t>
            </a:r>
          </a:p>
        </p:txBody>
      </p:sp>
      <p:sp>
        <p:nvSpPr>
          <p:cNvPr id="22" name="Rectangle 21">
            <a:extLst>
              <a:ext uri="{FF2B5EF4-FFF2-40B4-BE49-F238E27FC236}">
                <a16:creationId xmlns:a16="http://schemas.microsoft.com/office/drawing/2014/main" id="{D1760BBF-B80B-2D46-81E0-3B92360E759E}"/>
              </a:ext>
            </a:extLst>
          </p:cNvPr>
          <p:cNvSpPr/>
          <p:nvPr/>
        </p:nvSpPr>
        <p:spPr>
          <a:xfrm>
            <a:off x="7705628" y="3846097"/>
            <a:ext cx="2277840" cy="1519340"/>
          </a:xfrm>
          <a:prstGeom prst="rect">
            <a:avLst/>
          </a:prstGeom>
          <a:solidFill>
            <a:schemeClr val="bg1"/>
          </a:solidFill>
          <a:ln w="381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041"/>
          </a:p>
        </p:txBody>
      </p:sp>
      <p:sp>
        <p:nvSpPr>
          <p:cNvPr id="23" name="Rectangle 22">
            <a:extLst>
              <a:ext uri="{FF2B5EF4-FFF2-40B4-BE49-F238E27FC236}">
                <a16:creationId xmlns:a16="http://schemas.microsoft.com/office/drawing/2014/main" id="{DE074980-2597-9647-ADA3-120D9C4D1B9A}"/>
              </a:ext>
            </a:extLst>
          </p:cNvPr>
          <p:cNvSpPr/>
          <p:nvPr/>
        </p:nvSpPr>
        <p:spPr>
          <a:xfrm>
            <a:off x="10110510" y="2464883"/>
            <a:ext cx="2277840" cy="744968"/>
          </a:xfrm>
          <a:prstGeom prst="rect">
            <a:avLst/>
          </a:prstGeom>
          <a:solidFill>
            <a:srgbClr val="003963"/>
          </a:solidFill>
          <a:ln w="38100"/>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680" b="1" dirty="0"/>
              <a:t>C. Fix the Business Model</a:t>
            </a:r>
          </a:p>
        </p:txBody>
      </p:sp>
      <p:sp>
        <p:nvSpPr>
          <p:cNvPr id="24" name="Rectangle 23">
            <a:extLst>
              <a:ext uri="{FF2B5EF4-FFF2-40B4-BE49-F238E27FC236}">
                <a16:creationId xmlns:a16="http://schemas.microsoft.com/office/drawing/2014/main" id="{1C5B9B3E-075D-D74C-9FD9-F0AAFF572346}"/>
              </a:ext>
            </a:extLst>
          </p:cNvPr>
          <p:cNvSpPr/>
          <p:nvPr/>
        </p:nvSpPr>
        <p:spPr>
          <a:xfrm>
            <a:off x="10110510" y="3154813"/>
            <a:ext cx="2277840" cy="2210624"/>
          </a:xfrm>
          <a:prstGeom prst="rect">
            <a:avLst/>
          </a:prstGeom>
          <a:solidFill>
            <a:schemeClr val="bg1"/>
          </a:solidFill>
          <a:ln w="381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041"/>
          </a:p>
        </p:txBody>
      </p:sp>
      <p:sp>
        <p:nvSpPr>
          <p:cNvPr id="25" name="Rectangle 24">
            <a:extLst>
              <a:ext uri="{FF2B5EF4-FFF2-40B4-BE49-F238E27FC236}">
                <a16:creationId xmlns:a16="http://schemas.microsoft.com/office/drawing/2014/main" id="{FE547642-8C1C-144C-9E87-DB4A7EE0E56B}"/>
              </a:ext>
            </a:extLst>
          </p:cNvPr>
          <p:cNvSpPr/>
          <p:nvPr/>
        </p:nvSpPr>
        <p:spPr>
          <a:xfrm>
            <a:off x="459576" y="5478240"/>
            <a:ext cx="11942955" cy="685318"/>
          </a:xfrm>
          <a:prstGeom prst="rect">
            <a:avLst/>
          </a:prstGeom>
          <a:solidFill>
            <a:schemeClr val="bg1"/>
          </a:solidFill>
          <a:ln w="3810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041"/>
          </a:p>
        </p:txBody>
      </p:sp>
      <p:sp>
        <p:nvSpPr>
          <p:cNvPr id="26" name="Rectangle 25">
            <a:extLst>
              <a:ext uri="{FF2B5EF4-FFF2-40B4-BE49-F238E27FC236}">
                <a16:creationId xmlns:a16="http://schemas.microsoft.com/office/drawing/2014/main" id="{ABD198D5-C91F-7A48-AFB2-8D703C36C5B9}"/>
              </a:ext>
            </a:extLst>
          </p:cNvPr>
          <p:cNvSpPr/>
          <p:nvPr/>
        </p:nvSpPr>
        <p:spPr>
          <a:xfrm>
            <a:off x="459702" y="5478593"/>
            <a:ext cx="2285584" cy="684965"/>
          </a:xfrm>
          <a:prstGeom prst="rect">
            <a:avLst/>
          </a:prstGeom>
          <a:solidFill>
            <a:srgbClr val="003963"/>
          </a:solidFill>
          <a:ln w="38100"/>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680" b="1" dirty="0"/>
              <a:t>D. Establish Structure and Governance</a:t>
            </a:r>
          </a:p>
        </p:txBody>
      </p:sp>
      <p:sp>
        <p:nvSpPr>
          <p:cNvPr id="28" name="TextBox 27">
            <a:extLst>
              <a:ext uri="{FF2B5EF4-FFF2-40B4-BE49-F238E27FC236}">
                <a16:creationId xmlns:a16="http://schemas.microsoft.com/office/drawing/2014/main" id="{BC8F9A79-703C-9B49-8C1D-A6784635DF30}"/>
              </a:ext>
            </a:extLst>
          </p:cNvPr>
          <p:cNvSpPr txBox="1"/>
          <p:nvPr/>
        </p:nvSpPr>
        <p:spPr>
          <a:xfrm>
            <a:off x="2862579" y="5581770"/>
            <a:ext cx="9197031" cy="480131"/>
          </a:xfrm>
          <a:prstGeom prst="rect">
            <a:avLst/>
          </a:prstGeom>
          <a:noFill/>
        </p:spPr>
        <p:txBody>
          <a:bodyPr wrap="square" rtlCol="0">
            <a:spAutoFit/>
          </a:bodyPr>
          <a:lstStyle/>
          <a:p>
            <a:r>
              <a:rPr lang="en-US" sz="1260" dirty="0"/>
              <a:t>Appoint enterprise-level BH leadership and governance structure to align with the Blended Health Model, activate the vision, and provide oversight for short and long-term strategies.   </a:t>
            </a:r>
          </a:p>
        </p:txBody>
      </p:sp>
      <p:sp>
        <p:nvSpPr>
          <p:cNvPr id="30" name="TextBox 29">
            <a:extLst>
              <a:ext uri="{FF2B5EF4-FFF2-40B4-BE49-F238E27FC236}">
                <a16:creationId xmlns:a16="http://schemas.microsoft.com/office/drawing/2014/main" id="{EA153BB4-5B24-D240-B2E2-B9DE9A86F393}"/>
              </a:ext>
            </a:extLst>
          </p:cNvPr>
          <p:cNvSpPr txBox="1"/>
          <p:nvPr/>
        </p:nvSpPr>
        <p:spPr>
          <a:xfrm>
            <a:off x="5337719" y="3921313"/>
            <a:ext cx="2285584" cy="1061829"/>
          </a:xfrm>
          <a:prstGeom prst="rect">
            <a:avLst/>
          </a:prstGeom>
          <a:noFill/>
        </p:spPr>
        <p:txBody>
          <a:bodyPr wrap="square" rtlCol="0">
            <a:spAutoFit/>
          </a:bodyPr>
          <a:lstStyle/>
          <a:p>
            <a:r>
              <a:rPr lang="en-US" sz="1260" dirty="0"/>
              <a:t>Lead the industry in identifying,  developing and providing real world evidence for BH solutions, programs, and care pathways. </a:t>
            </a:r>
          </a:p>
        </p:txBody>
      </p:sp>
      <p:sp>
        <p:nvSpPr>
          <p:cNvPr id="31" name="TextBox 30">
            <a:extLst>
              <a:ext uri="{FF2B5EF4-FFF2-40B4-BE49-F238E27FC236}">
                <a16:creationId xmlns:a16="http://schemas.microsoft.com/office/drawing/2014/main" id="{FC942EF4-AC4A-3C46-BF0E-30832EBEBE45}"/>
              </a:ext>
            </a:extLst>
          </p:cNvPr>
          <p:cNvSpPr txBox="1"/>
          <p:nvPr/>
        </p:nvSpPr>
        <p:spPr>
          <a:xfrm>
            <a:off x="10117401" y="3242153"/>
            <a:ext cx="2215608" cy="1643527"/>
          </a:xfrm>
          <a:prstGeom prst="rect">
            <a:avLst/>
          </a:prstGeom>
          <a:noFill/>
        </p:spPr>
        <p:txBody>
          <a:bodyPr wrap="square" rtlCol="0">
            <a:spAutoFit/>
          </a:bodyPr>
          <a:lstStyle/>
          <a:p>
            <a:r>
              <a:rPr lang="en-US" sz="1260" dirty="0"/>
              <a:t>Understand current economics of customer OOP, payor/provider and insurance responsibility and respond with new approaches for balancing the economics to create value.</a:t>
            </a:r>
          </a:p>
        </p:txBody>
      </p:sp>
      <p:sp>
        <p:nvSpPr>
          <p:cNvPr id="32" name="TextBox 31">
            <a:extLst>
              <a:ext uri="{FF2B5EF4-FFF2-40B4-BE49-F238E27FC236}">
                <a16:creationId xmlns:a16="http://schemas.microsoft.com/office/drawing/2014/main" id="{35F50B54-A537-904E-BDB7-F9C0A5DD0D76}"/>
              </a:ext>
            </a:extLst>
          </p:cNvPr>
          <p:cNvSpPr txBox="1"/>
          <p:nvPr/>
        </p:nvSpPr>
        <p:spPr>
          <a:xfrm>
            <a:off x="493270" y="3242152"/>
            <a:ext cx="2203577" cy="1449628"/>
          </a:xfrm>
          <a:prstGeom prst="rect">
            <a:avLst/>
          </a:prstGeom>
          <a:noFill/>
        </p:spPr>
        <p:txBody>
          <a:bodyPr wrap="square" rtlCol="0">
            <a:spAutoFit/>
          </a:bodyPr>
          <a:lstStyle/>
          <a:p>
            <a:r>
              <a:rPr lang="en-US" sz="1260" dirty="0"/>
              <a:t>Make BH care as ubiquitous as physical care and address sources of stigma and barriers that stand in the way of population impact.    </a:t>
            </a:r>
            <a:endParaRPr lang="en-US" sz="1260" i="1" dirty="0"/>
          </a:p>
          <a:p>
            <a:pPr marL="360045" indent="-360045">
              <a:buAutoNum type="arabicPeriod"/>
            </a:pPr>
            <a:endParaRPr lang="en-US" sz="1260" i="1" dirty="0"/>
          </a:p>
        </p:txBody>
      </p:sp>
      <p:sp>
        <p:nvSpPr>
          <p:cNvPr id="5" name="Rectangle 4">
            <a:extLst>
              <a:ext uri="{FF2B5EF4-FFF2-40B4-BE49-F238E27FC236}">
                <a16:creationId xmlns:a16="http://schemas.microsoft.com/office/drawing/2014/main" id="{C7870668-DDD3-1448-89E2-67BFF0F660A9}"/>
              </a:ext>
            </a:extLst>
          </p:cNvPr>
          <p:cNvSpPr/>
          <p:nvPr/>
        </p:nvSpPr>
        <p:spPr>
          <a:xfrm>
            <a:off x="7733424" y="3925487"/>
            <a:ext cx="2250043" cy="1255728"/>
          </a:xfrm>
          <a:prstGeom prst="rect">
            <a:avLst/>
          </a:prstGeom>
        </p:spPr>
        <p:txBody>
          <a:bodyPr wrap="square">
            <a:spAutoFit/>
          </a:bodyPr>
          <a:lstStyle/>
          <a:p>
            <a:r>
              <a:rPr lang="en-US" sz="1260" dirty="0"/>
              <a:t>Re-focus our clinical workforce and sites of care on highest-impact needs, and activate the entire caregiver community to achieve greater scale.</a:t>
            </a:r>
          </a:p>
        </p:txBody>
      </p:sp>
      <p:sp>
        <p:nvSpPr>
          <p:cNvPr id="33" name="Rectangle 32">
            <a:extLst>
              <a:ext uri="{FF2B5EF4-FFF2-40B4-BE49-F238E27FC236}">
                <a16:creationId xmlns:a16="http://schemas.microsoft.com/office/drawing/2014/main" id="{0EDC0108-BC7F-284B-BC8F-5794E69C514C}"/>
              </a:ext>
            </a:extLst>
          </p:cNvPr>
          <p:cNvSpPr/>
          <p:nvPr/>
        </p:nvSpPr>
        <p:spPr>
          <a:xfrm>
            <a:off x="2922815" y="3925487"/>
            <a:ext cx="2267799" cy="1255728"/>
          </a:xfrm>
          <a:prstGeom prst="rect">
            <a:avLst/>
          </a:prstGeom>
        </p:spPr>
        <p:txBody>
          <a:bodyPr wrap="square">
            <a:spAutoFit/>
          </a:bodyPr>
          <a:lstStyle/>
          <a:p>
            <a:r>
              <a:rPr lang="en-US" sz="1260" dirty="0"/>
              <a:t>Create robust preventative and early intervention solutions for rising-risk customers to maintain mental health and </a:t>
            </a:r>
          </a:p>
          <a:p>
            <a:r>
              <a:rPr lang="en-US" sz="1260" dirty="0"/>
              <a:t>curb downstream demand. </a:t>
            </a:r>
          </a:p>
        </p:txBody>
      </p:sp>
      <p:sp>
        <p:nvSpPr>
          <p:cNvPr id="13" name="Rectangle 12"/>
          <p:cNvSpPr/>
          <p:nvPr/>
        </p:nvSpPr>
        <p:spPr>
          <a:xfrm>
            <a:off x="7696413" y="3174664"/>
            <a:ext cx="2277840" cy="744968"/>
          </a:xfrm>
          <a:prstGeom prst="rect">
            <a:avLst/>
          </a:prstGeom>
          <a:solidFill>
            <a:srgbClr val="00A2E2"/>
          </a:solidFill>
          <a:ln w="38100"/>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680" b="1" dirty="0"/>
              <a:t>3. Optimize Capacity</a:t>
            </a:r>
          </a:p>
        </p:txBody>
      </p:sp>
      <p:sp>
        <p:nvSpPr>
          <p:cNvPr id="12" name="Rectangle 11"/>
          <p:cNvSpPr/>
          <p:nvPr/>
        </p:nvSpPr>
        <p:spPr>
          <a:xfrm>
            <a:off x="2898140" y="3174665"/>
            <a:ext cx="2285584" cy="744968"/>
          </a:xfrm>
          <a:prstGeom prst="rect">
            <a:avLst/>
          </a:prstGeom>
          <a:solidFill>
            <a:srgbClr val="00A2E2"/>
          </a:solidFill>
          <a:ln w="38100"/>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680" b="1" dirty="0"/>
              <a:t>1. Maintain Behavioral Health</a:t>
            </a:r>
          </a:p>
        </p:txBody>
      </p:sp>
      <p:sp>
        <p:nvSpPr>
          <p:cNvPr id="27" name="Rectangle 26">
            <a:extLst>
              <a:ext uri="{FF2B5EF4-FFF2-40B4-BE49-F238E27FC236}">
                <a16:creationId xmlns:a16="http://schemas.microsoft.com/office/drawing/2014/main" id="{9BB73D35-1320-B348-83F8-B309ADC833BC}"/>
              </a:ext>
            </a:extLst>
          </p:cNvPr>
          <p:cNvSpPr/>
          <p:nvPr/>
        </p:nvSpPr>
        <p:spPr>
          <a:xfrm>
            <a:off x="2898140" y="2470283"/>
            <a:ext cx="7085328" cy="744968"/>
          </a:xfrm>
          <a:prstGeom prst="rect">
            <a:avLst/>
          </a:prstGeom>
          <a:solidFill>
            <a:srgbClr val="003963"/>
          </a:solidFill>
          <a:ln w="38100"/>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680" b="1" dirty="0"/>
              <a:t>B. Innovate the Value Chain</a:t>
            </a:r>
          </a:p>
        </p:txBody>
      </p:sp>
    </p:spTree>
    <p:extLst>
      <p:ext uri="{BB962C8B-B14F-4D97-AF65-F5344CB8AC3E}">
        <p14:creationId xmlns:p14="http://schemas.microsoft.com/office/powerpoint/2010/main" val="2640221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291994-35EB-E849-8F05-2F8B5FD87631}"/>
              </a:ext>
            </a:extLst>
          </p:cNvPr>
          <p:cNvSpPr/>
          <p:nvPr/>
        </p:nvSpPr>
        <p:spPr>
          <a:xfrm>
            <a:off x="682437" y="3322012"/>
            <a:ext cx="8033290" cy="434606"/>
          </a:xfrm>
          <a:prstGeom prst="rect">
            <a:avLst/>
          </a:prstGeom>
        </p:spPr>
        <p:txBody>
          <a:bodyPr wrap="square" anchor="t">
            <a:spAutoFit/>
          </a:bodyPr>
          <a:lstStyle/>
          <a:p>
            <a:r>
              <a:rPr lang="en-US" sz="2224" b="1" dirty="0">
                <a:solidFill>
                  <a:srgbClr val="003963"/>
                </a:solidFill>
              </a:rPr>
              <a:t>Original Problem Area Rollup</a:t>
            </a:r>
          </a:p>
        </p:txBody>
      </p:sp>
    </p:spTree>
    <p:extLst>
      <p:ext uri="{BB962C8B-B14F-4D97-AF65-F5344CB8AC3E}">
        <p14:creationId xmlns:p14="http://schemas.microsoft.com/office/powerpoint/2010/main" val="3124730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CA521EE-B02C-BD4D-88D2-9A3D3DDF0B46}"/>
              </a:ext>
            </a:extLst>
          </p:cNvPr>
          <p:cNvGrpSpPr/>
          <p:nvPr/>
        </p:nvGrpSpPr>
        <p:grpSpPr>
          <a:xfrm>
            <a:off x="4052176" y="1669056"/>
            <a:ext cx="4821704" cy="4177981"/>
            <a:chOff x="3467290" y="2011174"/>
            <a:chExt cx="5867022" cy="5083743"/>
          </a:xfrm>
        </p:grpSpPr>
        <p:sp>
          <p:nvSpPr>
            <p:cNvPr id="28" name="Freeform 176">
              <a:extLst>
                <a:ext uri="{FF2B5EF4-FFF2-40B4-BE49-F238E27FC236}">
                  <a16:creationId xmlns:a16="http://schemas.microsoft.com/office/drawing/2014/main" id="{DD43B23D-82FB-D446-914C-7C56B1A81D65}"/>
                </a:ext>
              </a:extLst>
            </p:cNvPr>
            <p:cNvSpPr>
              <a:spLocks/>
            </p:cNvSpPr>
            <p:nvPr/>
          </p:nvSpPr>
          <p:spPr bwMode="auto">
            <a:xfrm>
              <a:off x="4932533" y="4553045"/>
              <a:ext cx="2933511" cy="2541872"/>
            </a:xfrm>
            <a:custGeom>
              <a:avLst/>
              <a:gdLst>
                <a:gd name="T0" fmla="*/ 1540102 w 4486"/>
                <a:gd name="T1" fmla="*/ 0 h 3885"/>
                <a:gd name="T2" fmla="*/ 0 w 4486"/>
                <a:gd name="T3" fmla="*/ 2667613 h 3885"/>
                <a:gd name="T4" fmla="*/ 3079517 w 4486"/>
                <a:gd name="T5" fmla="*/ 2667613 h 3885"/>
                <a:gd name="T6" fmla="*/ 1540102 w 4486"/>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5">
                  <a:moveTo>
                    <a:pt x="2243" y="0"/>
                  </a:moveTo>
                  <a:lnTo>
                    <a:pt x="0" y="3884"/>
                  </a:lnTo>
                  <a:lnTo>
                    <a:pt x="4485" y="3884"/>
                  </a:lnTo>
                  <a:lnTo>
                    <a:pt x="2243" y="0"/>
                  </a:lnTo>
                </a:path>
              </a:pathLst>
            </a:custGeom>
            <a:solidFill>
              <a:schemeClr val="accent1"/>
            </a:solidFill>
            <a:ln w="28575">
              <a:solidFill>
                <a:schemeClr val="bg1"/>
              </a:solidFill>
              <a:round/>
              <a:headEnd/>
              <a:tailEnd/>
            </a:ln>
          </p:spPr>
          <p:txBody>
            <a:bodyPr wrap="none" anchor="ctr"/>
            <a:lstStyle/>
            <a:p>
              <a:endParaRPr lang="en-US" sz="3429"/>
            </a:p>
          </p:txBody>
        </p:sp>
        <p:sp>
          <p:nvSpPr>
            <p:cNvPr id="29" name="Freeform 177">
              <a:extLst>
                <a:ext uri="{FF2B5EF4-FFF2-40B4-BE49-F238E27FC236}">
                  <a16:creationId xmlns:a16="http://schemas.microsoft.com/office/drawing/2014/main" id="{E6C1A490-86AA-B341-9750-300E56A3768E}"/>
                </a:ext>
              </a:extLst>
            </p:cNvPr>
            <p:cNvSpPr>
              <a:spLocks/>
            </p:cNvSpPr>
            <p:nvPr/>
          </p:nvSpPr>
          <p:spPr bwMode="auto">
            <a:xfrm>
              <a:off x="6400801" y="2011174"/>
              <a:ext cx="2933511" cy="2541871"/>
            </a:xfrm>
            <a:custGeom>
              <a:avLst/>
              <a:gdLst>
                <a:gd name="T0" fmla="*/ 1539760 w 4485"/>
                <a:gd name="T1" fmla="*/ 0 h 3884"/>
                <a:gd name="T2" fmla="*/ 0 w 4485"/>
                <a:gd name="T3" fmla="*/ 2667611 h 3884"/>
                <a:gd name="T4" fmla="*/ 3079519 w 4485"/>
                <a:gd name="T5" fmla="*/ 2667611 h 3884"/>
                <a:gd name="T6" fmla="*/ 1539760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2" y="0"/>
                  </a:moveTo>
                  <a:lnTo>
                    <a:pt x="0" y="3883"/>
                  </a:lnTo>
                  <a:lnTo>
                    <a:pt x="4484" y="3883"/>
                  </a:lnTo>
                  <a:lnTo>
                    <a:pt x="2242" y="0"/>
                  </a:lnTo>
                </a:path>
              </a:pathLst>
            </a:custGeom>
            <a:solidFill>
              <a:schemeClr val="accent1"/>
            </a:solidFill>
            <a:ln w="28575">
              <a:solidFill>
                <a:schemeClr val="bg1"/>
              </a:solidFill>
              <a:round/>
              <a:headEnd/>
              <a:tailEnd/>
            </a:ln>
          </p:spPr>
          <p:txBody>
            <a:bodyPr wrap="none" anchor="ctr"/>
            <a:lstStyle/>
            <a:p>
              <a:endParaRPr lang="en-US" sz="3429"/>
            </a:p>
          </p:txBody>
        </p:sp>
        <p:sp>
          <p:nvSpPr>
            <p:cNvPr id="30" name="Freeform 178">
              <a:extLst>
                <a:ext uri="{FF2B5EF4-FFF2-40B4-BE49-F238E27FC236}">
                  <a16:creationId xmlns:a16="http://schemas.microsoft.com/office/drawing/2014/main" id="{55E3863E-6536-D949-80E2-D0B7ACD91A81}"/>
                </a:ext>
              </a:extLst>
            </p:cNvPr>
            <p:cNvSpPr>
              <a:spLocks/>
            </p:cNvSpPr>
            <p:nvPr/>
          </p:nvSpPr>
          <p:spPr bwMode="auto">
            <a:xfrm>
              <a:off x="4932533" y="2020246"/>
              <a:ext cx="2933511" cy="2540360"/>
            </a:xfrm>
            <a:custGeom>
              <a:avLst/>
              <a:gdLst>
                <a:gd name="T0" fmla="*/ 1540102 w 4486"/>
                <a:gd name="T1" fmla="*/ 2667613 h 3883"/>
                <a:gd name="T2" fmla="*/ 3079517 w 4486"/>
                <a:gd name="T3" fmla="*/ 0 h 3883"/>
                <a:gd name="T4" fmla="*/ 0 w 4486"/>
                <a:gd name="T5" fmla="*/ 0 h 3883"/>
                <a:gd name="T6" fmla="*/ 1540102 w 4486"/>
                <a:gd name="T7" fmla="*/ 2667613 h 38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3">
                  <a:moveTo>
                    <a:pt x="2243" y="3882"/>
                  </a:moveTo>
                  <a:lnTo>
                    <a:pt x="4485" y="0"/>
                  </a:lnTo>
                  <a:lnTo>
                    <a:pt x="0" y="0"/>
                  </a:lnTo>
                  <a:lnTo>
                    <a:pt x="2243" y="3882"/>
                  </a:lnTo>
                </a:path>
              </a:pathLst>
            </a:custGeom>
            <a:solidFill>
              <a:srgbClr val="003963"/>
            </a:solidFill>
            <a:ln w="28575">
              <a:solidFill>
                <a:schemeClr val="bg1"/>
              </a:solidFill>
              <a:round/>
              <a:headEnd/>
              <a:tailEnd/>
            </a:ln>
          </p:spPr>
          <p:txBody>
            <a:bodyPr wrap="none" anchor="ctr"/>
            <a:lstStyle/>
            <a:p>
              <a:endParaRPr lang="en-US" sz="3429"/>
            </a:p>
          </p:txBody>
        </p:sp>
        <p:sp>
          <p:nvSpPr>
            <p:cNvPr id="31" name="Freeform 179">
              <a:extLst>
                <a:ext uri="{FF2B5EF4-FFF2-40B4-BE49-F238E27FC236}">
                  <a16:creationId xmlns:a16="http://schemas.microsoft.com/office/drawing/2014/main" id="{56317E00-0F59-B44E-9499-48EAC927C858}"/>
                </a:ext>
              </a:extLst>
            </p:cNvPr>
            <p:cNvSpPr>
              <a:spLocks/>
            </p:cNvSpPr>
            <p:nvPr/>
          </p:nvSpPr>
          <p:spPr bwMode="auto">
            <a:xfrm>
              <a:off x="6400801" y="4553045"/>
              <a:ext cx="2933511" cy="2541872"/>
            </a:xfrm>
            <a:custGeom>
              <a:avLst/>
              <a:gdLst>
                <a:gd name="T0" fmla="*/ 0 w 4485"/>
                <a:gd name="T1" fmla="*/ 0 h 3885"/>
                <a:gd name="T2" fmla="*/ 1539760 w 4485"/>
                <a:gd name="T3" fmla="*/ 2667613 h 3885"/>
                <a:gd name="T4" fmla="*/ 3079519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2" y="3884"/>
                  </a:lnTo>
                  <a:lnTo>
                    <a:pt x="4484" y="0"/>
                  </a:lnTo>
                  <a:lnTo>
                    <a:pt x="0" y="0"/>
                  </a:lnTo>
                </a:path>
              </a:pathLst>
            </a:custGeom>
            <a:solidFill>
              <a:srgbClr val="003963"/>
            </a:solidFill>
            <a:ln w="28575">
              <a:solidFill>
                <a:schemeClr val="bg1"/>
              </a:solidFill>
              <a:round/>
              <a:headEnd/>
              <a:tailEnd/>
            </a:ln>
          </p:spPr>
          <p:txBody>
            <a:bodyPr wrap="none" anchor="ctr"/>
            <a:lstStyle/>
            <a:p>
              <a:endParaRPr lang="en-US" sz="3429"/>
            </a:p>
          </p:txBody>
        </p:sp>
        <p:sp>
          <p:nvSpPr>
            <p:cNvPr id="32" name="Freeform 180">
              <a:extLst>
                <a:ext uri="{FF2B5EF4-FFF2-40B4-BE49-F238E27FC236}">
                  <a16:creationId xmlns:a16="http://schemas.microsoft.com/office/drawing/2014/main" id="{184B73E8-D4FB-C641-BD70-AE69421F9E51}"/>
                </a:ext>
              </a:extLst>
            </p:cNvPr>
            <p:cNvSpPr>
              <a:spLocks/>
            </p:cNvSpPr>
            <p:nvPr/>
          </p:nvSpPr>
          <p:spPr bwMode="auto">
            <a:xfrm>
              <a:off x="3467290" y="2011174"/>
              <a:ext cx="2933511" cy="2541871"/>
            </a:xfrm>
            <a:custGeom>
              <a:avLst/>
              <a:gdLst>
                <a:gd name="T0" fmla="*/ 1539072 w 4485"/>
                <a:gd name="T1" fmla="*/ 0 h 3884"/>
                <a:gd name="T2" fmla="*/ 0 w 4485"/>
                <a:gd name="T3" fmla="*/ 2667611 h 3884"/>
                <a:gd name="T4" fmla="*/ 3079517 w 4485"/>
                <a:gd name="T5" fmla="*/ 2667611 h 3884"/>
                <a:gd name="T6" fmla="*/ 1539072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1" y="0"/>
                  </a:moveTo>
                  <a:lnTo>
                    <a:pt x="0" y="3883"/>
                  </a:lnTo>
                  <a:lnTo>
                    <a:pt x="4484" y="3883"/>
                  </a:lnTo>
                  <a:lnTo>
                    <a:pt x="2241" y="0"/>
                  </a:lnTo>
                </a:path>
              </a:pathLst>
            </a:custGeom>
            <a:solidFill>
              <a:schemeClr val="accent1"/>
            </a:solidFill>
            <a:ln w="28575">
              <a:solidFill>
                <a:schemeClr val="bg1"/>
              </a:solidFill>
              <a:round/>
              <a:headEnd/>
              <a:tailEnd/>
            </a:ln>
          </p:spPr>
          <p:txBody>
            <a:bodyPr wrap="none" anchor="ctr"/>
            <a:lstStyle/>
            <a:p>
              <a:endParaRPr lang="en-US" sz="3429"/>
            </a:p>
          </p:txBody>
        </p:sp>
        <p:sp>
          <p:nvSpPr>
            <p:cNvPr id="33" name="Freeform 181">
              <a:extLst>
                <a:ext uri="{FF2B5EF4-FFF2-40B4-BE49-F238E27FC236}">
                  <a16:creationId xmlns:a16="http://schemas.microsoft.com/office/drawing/2014/main" id="{0D03319C-3DC6-714F-B1D3-3DDF2BE93101}"/>
                </a:ext>
              </a:extLst>
            </p:cNvPr>
            <p:cNvSpPr>
              <a:spLocks/>
            </p:cNvSpPr>
            <p:nvPr/>
          </p:nvSpPr>
          <p:spPr bwMode="auto">
            <a:xfrm>
              <a:off x="3467290" y="4553045"/>
              <a:ext cx="2933511" cy="2541872"/>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rgbClr val="003963"/>
            </a:solidFill>
            <a:ln w="28575">
              <a:solidFill>
                <a:schemeClr val="bg1"/>
              </a:solidFill>
              <a:round/>
              <a:headEnd/>
              <a:tailEnd/>
            </a:ln>
          </p:spPr>
          <p:txBody>
            <a:bodyPr wrap="none" anchor="ctr"/>
            <a:lstStyle/>
            <a:p>
              <a:endParaRPr lang="en-US" sz="3429"/>
            </a:p>
          </p:txBody>
        </p:sp>
        <p:sp>
          <p:nvSpPr>
            <p:cNvPr id="13" name="TextBox 12">
              <a:extLst>
                <a:ext uri="{FF2B5EF4-FFF2-40B4-BE49-F238E27FC236}">
                  <a16:creationId xmlns:a16="http://schemas.microsoft.com/office/drawing/2014/main" id="{FDEF3011-8ACA-8940-AAE6-71E91FA44802}"/>
                </a:ext>
              </a:extLst>
            </p:cNvPr>
            <p:cNvSpPr txBox="1"/>
            <p:nvPr/>
          </p:nvSpPr>
          <p:spPr>
            <a:xfrm>
              <a:off x="4274645" y="3144692"/>
              <a:ext cx="520869" cy="839974"/>
            </a:xfrm>
            <a:prstGeom prst="rect">
              <a:avLst/>
            </a:prstGeom>
            <a:noFill/>
          </p:spPr>
          <p:txBody>
            <a:bodyPr wrap="none" rtlCol="0" anchor="ctr">
              <a:spAutoFit/>
            </a:bodyPr>
            <a:lstStyle/>
            <a:p>
              <a:pPr algn="ctr"/>
              <a:r>
                <a:rPr lang="en-US" sz="3886" b="1" spc="-152" dirty="0">
                  <a:solidFill>
                    <a:schemeClr val="bg1"/>
                  </a:solidFill>
                  <a:latin typeface="Source Sans Pro" panose="020B0503030403020204" pitchFamily="34" charset="0"/>
                  <a:ea typeface="Source Sans Pro" panose="020B0503030403020204" pitchFamily="34" charset="0"/>
                </a:rPr>
                <a:t>6</a:t>
              </a:r>
            </a:p>
          </p:txBody>
        </p:sp>
        <p:sp>
          <p:nvSpPr>
            <p:cNvPr id="14" name="TextBox 13">
              <a:extLst>
                <a:ext uri="{FF2B5EF4-FFF2-40B4-BE49-F238E27FC236}">
                  <a16:creationId xmlns:a16="http://schemas.microsoft.com/office/drawing/2014/main" id="{A9B30AA2-6899-D04A-BBB4-6F2070827695}"/>
                </a:ext>
              </a:extLst>
            </p:cNvPr>
            <p:cNvSpPr txBox="1"/>
            <p:nvPr/>
          </p:nvSpPr>
          <p:spPr>
            <a:xfrm>
              <a:off x="6102017" y="2037599"/>
              <a:ext cx="520869" cy="839974"/>
            </a:xfrm>
            <a:prstGeom prst="rect">
              <a:avLst/>
            </a:prstGeom>
            <a:noFill/>
          </p:spPr>
          <p:txBody>
            <a:bodyPr wrap="none" rtlCol="0" anchor="ctr">
              <a:spAutoFit/>
            </a:bodyPr>
            <a:lstStyle/>
            <a:p>
              <a:pPr algn="ctr"/>
              <a:r>
                <a:rPr lang="en-US" sz="3886" b="1" spc="-152" dirty="0">
                  <a:solidFill>
                    <a:schemeClr val="bg1"/>
                  </a:solidFill>
                  <a:latin typeface="Source Sans Pro" panose="020B0503030403020204" pitchFamily="34" charset="0"/>
                  <a:ea typeface="Source Sans Pro" panose="020B0503030403020204" pitchFamily="34" charset="0"/>
                </a:rPr>
                <a:t>1</a:t>
              </a:r>
            </a:p>
          </p:txBody>
        </p:sp>
        <p:sp>
          <p:nvSpPr>
            <p:cNvPr id="15" name="TextBox 14">
              <a:extLst>
                <a:ext uri="{FF2B5EF4-FFF2-40B4-BE49-F238E27FC236}">
                  <a16:creationId xmlns:a16="http://schemas.microsoft.com/office/drawing/2014/main" id="{08036B06-1ADA-4643-B123-BD20549961D8}"/>
                </a:ext>
              </a:extLst>
            </p:cNvPr>
            <p:cNvSpPr txBox="1"/>
            <p:nvPr/>
          </p:nvSpPr>
          <p:spPr>
            <a:xfrm>
              <a:off x="8042765" y="3164700"/>
              <a:ext cx="520869" cy="839974"/>
            </a:xfrm>
            <a:prstGeom prst="rect">
              <a:avLst/>
            </a:prstGeom>
            <a:noFill/>
          </p:spPr>
          <p:txBody>
            <a:bodyPr wrap="none" rtlCol="0" anchor="ctr">
              <a:spAutoFit/>
            </a:bodyPr>
            <a:lstStyle/>
            <a:p>
              <a:pPr algn="ctr"/>
              <a:r>
                <a:rPr lang="en-US" sz="3886" b="1" spc="-152" dirty="0">
                  <a:solidFill>
                    <a:schemeClr val="bg1"/>
                  </a:solidFill>
                  <a:latin typeface="Source Sans Pro" panose="020B0503030403020204" pitchFamily="34" charset="0"/>
                  <a:ea typeface="Source Sans Pro" panose="020B0503030403020204" pitchFamily="34" charset="0"/>
                </a:rPr>
                <a:t>2</a:t>
              </a:r>
            </a:p>
          </p:txBody>
        </p:sp>
        <p:sp>
          <p:nvSpPr>
            <p:cNvPr id="16" name="TextBox 15">
              <a:extLst>
                <a:ext uri="{FF2B5EF4-FFF2-40B4-BE49-F238E27FC236}">
                  <a16:creationId xmlns:a16="http://schemas.microsoft.com/office/drawing/2014/main" id="{272A1DC6-6541-0048-8C93-C2362FE377BF}"/>
                </a:ext>
              </a:extLst>
            </p:cNvPr>
            <p:cNvSpPr txBox="1"/>
            <p:nvPr/>
          </p:nvSpPr>
          <p:spPr>
            <a:xfrm>
              <a:off x="7989411" y="5045426"/>
              <a:ext cx="520869" cy="839974"/>
            </a:xfrm>
            <a:prstGeom prst="rect">
              <a:avLst/>
            </a:prstGeom>
            <a:noFill/>
          </p:spPr>
          <p:txBody>
            <a:bodyPr wrap="none" rtlCol="0" anchor="ctr">
              <a:spAutoFit/>
            </a:bodyPr>
            <a:lstStyle/>
            <a:p>
              <a:pPr algn="ctr"/>
              <a:r>
                <a:rPr lang="en-US" sz="3886" b="1" spc="-152" dirty="0">
                  <a:solidFill>
                    <a:schemeClr val="bg1"/>
                  </a:solidFill>
                  <a:latin typeface="Source Sans Pro" panose="020B0503030403020204" pitchFamily="34" charset="0"/>
                  <a:ea typeface="Source Sans Pro" panose="020B0503030403020204" pitchFamily="34" charset="0"/>
                </a:rPr>
                <a:t>3</a:t>
              </a:r>
            </a:p>
          </p:txBody>
        </p:sp>
        <p:sp>
          <p:nvSpPr>
            <p:cNvPr id="17" name="TextBox 16">
              <a:extLst>
                <a:ext uri="{FF2B5EF4-FFF2-40B4-BE49-F238E27FC236}">
                  <a16:creationId xmlns:a16="http://schemas.microsoft.com/office/drawing/2014/main" id="{5F3D34A8-ACC4-7F42-A661-F018C897C3B2}"/>
                </a:ext>
              </a:extLst>
            </p:cNvPr>
            <p:cNvSpPr txBox="1"/>
            <p:nvPr/>
          </p:nvSpPr>
          <p:spPr>
            <a:xfrm>
              <a:off x="6135362" y="6165856"/>
              <a:ext cx="520869" cy="839974"/>
            </a:xfrm>
            <a:prstGeom prst="rect">
              <a:avLst/>
            </a:prstGeom>
            <a:noFill/>
          </p:spPr>
          <p:txBody>
            <a:bodyPr wrap="none" rtlCol="0" anchor="ctr">
              <a:spAutoFit/>
            </a:bodyPr>
            <a:lstStyle/>
            <a:p>
              <a:pPr algn="ctr"/>
              <a:r>
                <a:rPr lang="en-US" sz="3886" b="1" spc="-152" dirty="0">
                  <a:solidFill>
                    <a:schemeClr val="bg1"/>
                  </a:solidFill>
                  <a:latin typeface="Source Sans Pro" panose="020B0503030403020204" pitchFamily="34" charset="0"/>
                  <a:ea typeface="Source Sans Pro" panose="020B0503030403020204" pitchFamily="34" charset="0"/>
                </a:rPr>
                <a:t>4</a:t>
              </a:r>
            </a:p>
          </p:txBody>
        </p:sp>
        <p:sp>
          <p:nvSpPr>
            <p:cNvPr id="18" name="TextBox 17">
              <a:extLst>
                <a:ext uri="{FF2B5EF4-FFF2-40B4-BE49-F238E27FC236}">
                  <a16:creationId xmlns:a16="http://schemas.microsoft.com/office/drawing/2014/main" id="{2B6437EA-101D-644E-BE72-9C2D91F6267E}"/>
                </a:ext>
              </a:extLst>
            </p:cNvPr>
            <p:cNvSpPr txBox="1"/>
            <p:nvPr/>
          </p:nvSpPr>
          <p:spPr>
            <a:xfrm>
              <a:off x="4287984" y="5085440"/>
              <a:ext cx="520869" cy="839974"/>
            </a:xfrm>
            <a:prstGeom prst="rect">
              <a:avLst/>
            </a:prstGeom>
            <a:noFill/>
          </p:spPr>
          <p:txBody>
            <a:bodyPr wrap="none" rtlCol="0" anchor="ctr">
              <a:spAutoFit/>
            </a:bodyPr>
            <a:lstStyle/>
            <a:p>
              <a:pPr algn="ctr"/>
              <a:r>
                <a:rPr lang="en-US" sz="3886" b="1" spc="-152" dirty="0">
                  <a:solidFill>
                    <a:schemeClr val="bg1"/>
                  </a:solidFill>
                  <a:latin typeface="Source Sans Pro" panose="020B0503030403020204" pitchFamily="34" charset="0"/>
                  <a:ea typeface="Source Sans Pro" panose="020B0503030403020204" pitchFamily="34" charset="0"/>
                </a:rPr>
                <a:t>5</a:t>
              </a:r>
            </a:p>
          </p:txBody>
        </p:sp>
      </p:grpSp>
      <p:sp>
        <p:nvSpPr>
          <p:cNvPr id="3" name="Oval 2">
            <a:extLst>
              <a:ext uri="{FF2B5EF4-FFF2-40B4-BE49-F238E27FC236}">
                <a16:creationId xmlns:a16="http://schemas.microsoft.com/office/drawing/2014/main" id="{9330C557-B199-4F46-8372-2A8783295188}"/>
              </a:ext>
            </a:extLst>
          </p:cNvPr>
          <p:cNvSpPr/>
          <p:nvPr/>
        </p:nvSpPr>
        <p:spPr>
          <a:xfrm>
            <a:off x="5640527" y="3259818"/>
            <a:ext cx="1656385" cy="1020204"/>
          </a:xfrm>
          <a:prstGeom prst="ellipse">
            <a:avLst/>
          </a:prstGeom>
          <a:solidFill>
            <a:srgbClr val="003963"/>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D4FB822-B471-A44B-BCB3-4BE83DA6084C}"/>
              </a:ext>
            </a:extLst>
          </p:cNvPr>
          <p:cNvSpPr txBox="1"/>
          <p:nvPr/>
        </p:nvSpPr>
        <p:spPr>
          <a:xfrm>
            <a:off x="8512038" y="1790040"/>
            <a:ext cx="1652648" cy="1015663"/>
          </a:xfrm>
          <a:prstGeom prst="rect">
            <a:avLst/>
          </a:prstGeom>
          <a:noFill/>
        </p:spPr>
        <p:txBody>
          <a:bodyPr wrap="square" rtlCol="0" anchor="b">
            <a:spAutoFit/>
          </a:bodyPr>
          <a:lstStyle/>
          <a:p>
            <a:r>
              <a:rPr lang="en-US" sz="2000" b="1" spc="-16" dirty="0">
                <a:ea typeface="Source Sans Pro" panose="020B0503030403020204" pitchFamily="34" charset="0"/>
              </a:rPr>
              <a:t>Address Clinician </a:t>
            </a:r>
            <a:br>
              <a:rPr lang="en-US" sz="2000" b="1" spc="-16" dirty="0">
                <a:ea typeface="Source Sans Pro" panose="020B0503030403020204" pitchFamily="34" charset="0"/>
              </a:rPr>
            </a:br>
            <a:r>
              <a:rPr lang="en-US" sz="2000" b="1" spc="-16" dirty="0">
                <a:ea typeface="Source Sans Pro" panose="020B0503030403020204" pitchFamily="34" charset="0"/>
              </a:rPr>
              <a:t>Challenges </a:t>
            </a:r>
          </a:p>
        </p:txBody>
      </p:sp>
      <p:sp>
        <p:nvSpPr>
          <p:cNvPr id="40" name="TextBox 39">
            <a:extLst>
              <a:ext uri="{FF2B5EF4-FFF2-40B4-BE49-F238E27FC236}">
                <a16:creationId xmlns:a16="http://schemas.microsoft.com/office/drawing/2014/main" id="{7CFF30F5-EA89-CF4E-862A-66FC62FD8C04}"/>
              </a:ext>
            </a:extLst>
          </p:cNvPr>
          <p:cNvSpPr txBox="1"/>
          <p:nvPr/>
        </p:nvSpPr>
        <p:spPr>
          <a:xfrm>
            <a:off x="5204002" y="872589"/>
            <a:ext cx="2778629" cy="707886"/>
          </a:xfrm>
          <a:prstGeom prst="rect">
            <a:avLst/>
          </a:prstGeom>
          <a:noFill/>
        </p:spPr>
        <p:txBody>
          <a:bodyPr wrap="square" rtlCol="0" anchor="b">
            <a:spAutoFit/>
          </a:bodyPr>
          <a:lstStyle/>
          <a:p>
            <a:r>
              <a:rPr lang="en-US" sz="2000" b="1" spc="-16" dirty="0">
                <a:ea typeface="Source Sans Pro" panose="020B0503030403020204" pitchFamily="34" charset="0"/>
              </a:rPr>
              <a:t>Remove Barriers to Value Realization</a:t>
            </a:r>
          </a:p>
        </p:txBody>
      </p:sp>
      <p:sp>
        <p:nvSpPr>
          <p:cNvPr id="43" name="TextBox 42">
            <a:extLst>
              <a:ext uri="{FF2B5EF4-FFF2-40B4-BE49-F238E27FC236}">
                <a16:creationId xmlns:a16="http://schemas.microsoft.com/office/drawing/2014/main" id="{D27BED7E-64D7-6746-9E9F-8B4B57BB9D35}"/>
              </a:ext>
            </a:extLst>
          </p:cNvPr>
          <p:cNvSpPr txBox="1"/>
          <p:nvPr/>
        </p:nvSpPr>
        <p:spPr>
          <a:xfrm>
            <a:off x="5510934" y="5953103"/>
            <a:ext cx="2081757" cy="1015663"/>
          </a:xfrm>
          <a:prstGeom prst="rect">
            <a:avLst/>
          </a:prstGeom>
          <a:noFill/>
        </p:spPr>
        <p:txBody>
          <a:bodyPr wrap="square" rtlCol="0" anchor="b">
            <a:spAutoFit/>
          </a:bodyPr>
          <a:lstStyle/>
          <a:p>
            <a:r>
              <a:rPr lang="en-US" sz="2000" b="1" spc="-16" dirty="0">
                <a:ea typeface="Source Sans Pro" panose="020B0503030403020204" pitchFamily="34" charset="0"/>
              </a:rPr>
              <a:t>Shift from Reactive to Proactive</a:t>
            </a:r>
          </a:p>
        </p:txBody>
      </p:sp>
      <p:sp>
        <p:nvSpPr>
          <p:cNvPr id="44" name="TextBox 43">
            <a:extLst>
              <a:ext uri="{FF2B5EF4-FFF2-40B4-BE49-F238E27FC236}">
                <a16:creationId xmlns:a16="http://schemas.microsoft.com/office/drawing/2014/main" id="{B8B3BC1A-F87D-2640-89E8-4151E8FD9554}"/>
              </a:ext>
            </a:extLst>
          </p:cNvPr>
          <p:cNvSpPr txBox="1"/>
          <p:nvPr/>
        </p:nvSpPr>
        <p:spPr>
          <a:xfrm>
            <a:off x="2619149" y="1918519"/>
            <a:ext cx="2167868" cy="1015663"/>
          </a:xfrm>
          <a:prstGeom prst="rect">
            <a:avLst/>
          </a:prstGeom>
          <a:noFill/>
        </p:spPr>
        <p:txBody>
          <a:bodyPr wrap="square" rtlCol="0" anchor="b">
            <a:spAutoFit/>
          </a:bodyPr>
          <a:lstStyle/>
          <a:p>
            <a:r>
              <a:rPr lang="en-US" sz="2000" b="1" spc="-16" dirty="0">
                <a:ea typeface="Source Sans Pro" panose="020B0503030403020204" pitchFamily="34" charset="0"/>
              </a:rPr>
              <a:t>Address Stigma </a:t>
            </a:r>
            <a:br>
              <a:rPr lang="en-US" sz="2000" b="1" spc="-16" dirty="0">
                <a:ea typeface="Source Sans Pro" panose="020B0503030403020204" pitchFamily="34" charset="0"/>
              </a:rPr>
            </a:br>
            <a:r>
              <a:rPr lang="en-US" sz="2000" b="1" spc="-16" dirty="0">
                <a:ea typeface="Source Sans Pro" panose="020B0503030403020204" pitchFamily="34" charset="0"/>
              </a:rPr>
              <a:t>and Cultural Challenges</a:t>
            </a:r>
          </a:p>
        </p:txBody>
      </p:sp>
      <p:sp>
        <p:nvSpPr>
          <p:cNvPr id="45" name="TextBox 44">
            <a:extLst>
              <a:ext uri="{FF2B5EF4-FFF2-40B4-BE49-F238E27FC236}">
                <a16:creationId xmlns:a16="http://schemas.microsoft.com/office/drawing/2014/main" id="{43E09490-76E0-6845-B766-59AFC5D97DFB}"/>
              </a:ext>
            </a:extLst>
          </p:cNvPr>
          <p:cNvSpPr txBox="1"/>
          <p:nvPr/>
        </p:nvSpPr>
        <p:spPr>
          <a:xfrm>
            <a:off x="2952109" y="4311756"/>
            <a:ext cx="2231316" cy="1323439"/>
          </a:xfrm>
          <a:prstGeom prst="rect">
            <a:avLst/>
          </a:prstGeom>
          <a:noFill/>
        </p:spPr>
        <p:txBody>
          <a:bodyPr wrap="square" rtlCol="0" anchor="b">
            <a:spAutoFit/>
          </a:bodyPr>
          <a:lstStyle/>
          <a:p>
            <a:r>
              <a:rPr lang="en-US" sz="2000" b="1" spc="-16" dirty="0">
                <a:ea typeface="Source Sans Pro" panose="020B0503030403020204" pitchFamily="34" charset="0"/>
              </a:rPr>
              <a:t>Prevent Conditions</a:t>
            </a:r>
            <a:br>
              <a:rPr lang="en-US" sz="2000" b="1" spc="-16" dirty="0">
                <a:ea typeface="Source Sans Pro" panose="020B0503030403020204" pitchFamily="34" charset="0"/>
              </a:rPr>
            </a:br>
            <a:r>
              <a:rPr lang="en-US" sz="2000" b="1" spc="-16" dirty="0">
                <a:ea typeface="Source Sans Pro" panose="020B0503030403020204" pitchFamily="34" charset="0"/>
              </a:rPr>
              <a:t>Before </a:t>
            </a:r>
            <a:br>
              <a:rPr lang="en-US" sz="2000" b="1" spc="-16" dirty="0">
                <a:ea typeface="Source Sans Pro" panose="020B0503030403020204" pitchFamily="34" charset="0"/>
              </a:rPr>
            </a:br>
            <a:r>
              <a:rPr lang="en-US" sz="2000" b="1" spc="-16" dirty="0">
                <a:ea typeface="Source Sans Pro" panose="020B0503030403020204" pitchFamily="34" charset="0"/>
              </a:rPr>
              <a:t>They Start </a:t>
            </a:r>
          </a:p>
        </p:txBody>
      </p:sp>
      <p:sp>
        <p:nvSpPr>
          <p:cNvPr id="46" name="TextBox 45">
            <a:extLst>
              <a:ext uri="{FF2B5EF4-FFF2-40B4-BE49-F238E27FC236}">
                <a16:creationId xmlns:a16="http://schemas.microsoft.com/office/drawing/2014/main" id="{FE588480-CCE1-024A-A674-02163D363AC3}"/>
              </a:ext>
            </a:extLst>
          </p:cNvPr>
          <p:cNvSpPr txBox="1"/>
          <p:nvPr/>
        </p:nvSpPr>
        <p:spPr>
          <a:xfrm>
            <a:off x="8397823" y="4619532"/>
            <a:ext cx="2249175" cy="1015663"/>
          </a:xfrm>
          <a:prstGeom prst="rect">
            <a:avLst/>
          </a:prstGeom>
          <a:noFill/>
        </p:spPr>
        <p:txBody>
          <a:bodyPr wrap="square" rtlCol="0" anchor="b">
            <a:spAutoFit/>
          </a:bodyPr>
          <a:lstStyle/>
          <a:p>
            <a:r>
              <a:rPr lang="en-US" sz="2000" b="1" spc="-16" dirty="0">
                <a:ea typeface="Source Sans Pro" panose="020B0503030403020204" pitchFamily="34" charset="0"/>
              </a:rPr>
              <a:t>Match Individual Need with the Right Care</a:t>
            </a:r>
          </a:p>
        </p:txBody>
      </p:sp>
      <p:sp>
        <p:nvSpPr>
          <p:cNvPr id="47" name="Rectangle 46">
            <a:extLst>
              <a:ext uri="{FF2B5EF4-FFF2-40B4-BE49-F238E27FC236}">
                <a16:creationId xmlns:a16="http://schemas.microsoft.com/office/drawing/2014/main" id="{1AEC8755-968C-E94A-B115-1636F814A717}"/>
              </a:ext>
            </a:extLst>
          </p:cNvPr>
          <p:cNvSpPr/>
          <p:nvPr/>
        </p:nvSpPr>
        <p:spPr>
          <a:xfrm>
            <a:off x="228600" y="534035"/>
            <a:ext cx="6764994" cy="338554"/>
          </a:xfrm>
          <a:prstGeom prst="rect">
            <a:avLst/>
          </a:prstGeom>
        </p:spPr>
        <p:txBody>
          <a:bodyPr wrap="square" anchor="t">
            <a:spAutoFit/>
          </a:bodyPr>
          <a:lstStyle/>
          <a:p>
            <a:r>
              <a:rPr lang="en-US" sz="1600" b="1" dirty="0">
                <a:solidFill>
                  <a:srgbClr val="00A2E2"/>
                </a:solidFill>
              </a:rPr>
              <a:t>Identifying Behavioral Health Problem Areas</a:t>
            </a:r>
          </a:p>
        </p:txBody>
      </p:sp>
      <p:sp>
        <p:nvSpPr>
          <p:cNvPr id="41" name="TextBox 40">
            <a:extLst>
              <a:ext uri="{FF2B5EF4-FFF2-40B4-BE49-F238E27FC236}">
                <a16:creationId xmlns:a16="http://schemas.microsoft.com/office/drawing/2014/main" id="{181341CA-5EB8-7F48-83FD-3099D7971C18}"/>
              </a:ext>
            </a:extLst>
          </p:cNvPr>
          <p:cNvSpPr txBox="1"/>
          <p:nvPr/>
        </p:nvSpPr>
        <p:spPr>
          <a:xfrm>
            <a:off x="5122447" y="3318822"/>
            <a:ext cx="2672936" cy="830997"/>
          </a:xfrm>
          <a:prstGeom prst="rect">
            <a:avLst/>
          </a:prstGeom>
          <a:noFill/>
        </p:spPr>
        <p:txBody>
          <a:bodyPr wrap="square" rtlCol="0" anchor="b">
            <a:spAutoFit/>
          </a:bodyPr>
          <a:lstStyle/>
          <a:p>
            <a:pPr algn="ctr"/>
            <a:r>
              <a:rPr lang="en-US" sz="1600" dirty="0">
                <a:solidFill>
                  <a:schemeClr val="bg1"/>
                </a:solidFill>
                <a:latin typeface="+mj-lt"/>
                <a:ea typeface="Source Sans Pro" panose="020B0503030403020204" pitchFamily="34" charset="0"/>
              </a:rPr>
              <a:t>Problems are </a:t>
            </a:r>
            <a:br>
              <a:rPr lang="en-US" sz="1600" dirty="0">
                <a:solidFill>
                  <a:schemeClr val="bg1"/>
                </a:solidFill>
                <a:latin typeface="+mj-lt"/>
                <a:ea typeface="Source Sans Pro" panose="020B0503030403020204" pitchFamily="34" charset="0"/>
              </a:rPr>
            </a:br>
            <a:r>
              <a:rPr lang="en-US" sz="1600" dirty="0">
                <a:solidFill>
                  <a:schemeClr val="bg1"/>
                </a:solidFill>
                <a:latin typeface="+mj-lt"/>
                <a:ea typeface="Source Sans Pro" panose="020B0503030403020204" pitchFamily="34" charset="0"/>
              </a:rPr>
              <a:t>Complex and </a:t>
            </a:r>
            <a:br>
              <a:rPr lang="en-US" sz="1600" dirty="0">
                <a:solidFill>
                  <a:schemeClr val="bg1"/>
                </a:solidFill>
                <a:latin typeface="+mj-lt"/>
                <a:ea typeface="Source Sans Pro" panose="020B0503030403020204" pitchFamily="34" charset="0"/>
              </a:rPr>
            </a:br>
            <a:r>
              <a:rPr lang="en-US" sz="1600" dirty="0">
                <a:solidFill>
                  <a:schemeClr val="bg1"/>
                </a:solidFill>
                <a:latin typeface="+mj-lt"/>
                <a:ea typeface="Source Sans Pro" panose="020B0503030403020204" pitchFamily="34" charset="0"/>
              </a:rPr>
              <a:t>Interconnected</a:t>
            </a:r>
          </a:p>
        </p:txBody>
      </p:sp>
      <p:sp>
        <p:nvSpPr>
          <p:cNvPr id="42" name="Rectangle 41">
            <a:extLst>
              <a:ext uri="{FF2B5EF4-FFF2-40B4-BE49-F238E27FC236}">
                <a16:creationId xmlns:a16="http://schemas.microsoft.com/office/drawing/2014/main" id="{D6A52A77-BEB2-F14C-BC47-D3939F4EA17C}"/>
              </a:ext>
            </a:extLst>
          </p:cNvPr>
          <p:cNvSpPr/>
          <p:nvPr/>
        </p:nvSpPr>
        <p:spPr>
          <a:xfrm>
            <a:off x="228601" y="1234930"/>
            <a:ext cx="2119024" cy="2246769"/>
          </a:xfrm>
          <a:prstGeom prst="rect">
            <a:avLst/>
          </a:prstGeom>
        </p:spPr>
        <p:txBody>
          <a:bodyPr wrap="square" anchor="t">
            <a:spAutoFit/>
          </a:bodyPr>
          <a:lstStyle/>
          <a:p>
            <a:r>
              <a:rPr lang="en-US" sz="1400" dirty="0">
                <a:solidFill>
                  <a:srgbClr val="003963"/>
                </a:solidFill>
              </a:rPr>
              <a:t>Through extensive interviews with internal SMEs and secondary research about the issues in the BH space, we identified six problem areas in Behavioral Health that we must consider and address. </a:t>
            </a:r>
          </a:p>
        </p:txBody>
      </p:sp>
    </p:spTree>
    <p:extLst>
      <p:ext uri="{BB962C8B-B14F-4D97-AF65-F5344CB8AC3E}">
        <p14:creationId xmlns:p14="http://schemas.microsoft.com/office/powerpoint/2010/main" val="255278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818B1C-7512-BF4C-A24D-63537D0ED002}"/>
              </a:ext>
            </a:extLst>
          </p:cNvPr>
          <p:cNvSpPr/>
          <p:nvPr/>
        </p:nvSpPr>
        <p:spPr>
          <a:xfrm>
            <a:off x="298402" y="1136326"/>
            <a:ext cx="4443719" cy="830997"/>
          </a:xfrm>
          <a:prstGeom prst="rect">
            <a:avLst/>
          </a:prstGeom>
        </p:spPr>
        <p:txBody>
          <a:bodyPr wrap="square">
            <a:spAutoFit/>
          </a:bodyPr>
          <a:lstStyle/>
          <a:p>
            <a:r>
              <a:rPr lang="en-US" sz="2400" b="1" dirty="0">
                <a:solidFill>
                  <a:srgbClr val="002060"/>
                </a:solidFill>
              </a:rPr>
              <a:t>Remove Barriers to Value Realization</a:t>
            </a:r>
          </a:p>
        </p:txBody>
      </p:sp>
      <p:sp>
        <p:nvSpPr>
          <p:cNvPr id="38" name="Rectangle 37">
            <a:extLst>
              <a:ext uri="{FF2B5EF4-FFF2-40B4-BE49-F238E27FC236}">
                <a16:creationId xmlns:a16="http://schemas.microsoft.com/office/drawing/2014/main" id="{6262059F-41C9-9C4E-8A3A-C4577C041ECE}"/>
              </a:ext>
            </a:extLst>
          </p:cNvPr>
          <p:cNvSpPr/>
          <p:nvPr/>
        </p:nvSpPr>
        <p:spPr>
          <a:xfrm>
            <a:off x="5603846" y="1122282"/>
            <a:ext cx="6764994" cy="6632585"/>
          </a:xfrm>
          <a:prstGeom prst="rect">
            <a:avLst/>
          </a:prstGeom>
        </p:spPr>
        <p:txBody>
          <a:bodyPr wrap="square">
            <a:spAutoFit/>
          </a:bodyPr>
          <a:lstStyle/>
          <a:p>
            <a:pPr>
              <a:spcAft>
                <a:spcPts val="600"/>
              </a:spcAft>
            </a:pPr>
            <a:r>
              <a:rPr lang="en-US" sz="1200" b="1" dirty="0"/>
              <a:t>Why is this so critical?</a:t>
            </a:r>
            <a:endParaRPr lang="en-US" sz="1200" dirty="0"/>
          </a:p>
          <a:p>
            <a:pPr marL="171450" indent="-171450" fontAlgn="base">
              <a:buFont typeface="Arial" panose="020B0604020202020204" pitchFamily="34" charset="0"/>
              <a:buChar char="•"/>
            </a:pPr>
            <a:r>
              <a:rPr lang="en-US" sz="1200" b="1" dirty="0"/>
              <a:t>The demand for behavioral health care already exceeds our current capacity, </a:t>
            </a:r>
            <a:r>
              <a:rPr lang="en-US" sz="1200" dirty="0"/>
              <a:t>despite a large untreated and under-treated population. Demand on the system is currently limited through myriad factors, including awareness and recognition, systemic limits, clinician behavior, and stigma.</a:t>
            </a:r>
          </a:p>
          <a:p>
            <a:pPr marL="171450" indent="-171450" fontAlgn="base">
              <a:buFont typeface="Arial" panose="020B0604020202020204" pitchFamily="34" charset="0"/>
              <a:buChar char="•"/>
            </a:pPr>
            <a:endParaRPr lang="en-US" sz="1200" dirty="0"/>
          </a:p>
          <a:p>
            <a:pPr marL="171450" indent="-171450" fontAlgn="base">
              <a:buFont typeface="Arial" panose="020B0604020202020204" pitchFamily="34" charset="0"/>
              <a:buChar char="•"/>
            </a:pPr>
            <a:r>
              <a:rPr lang="en-US" sz="1200" b="1" dirty="0"/>
              <a:t>Reimbursement of behavioral health services in the fee-for-service model </a:t>
            </a:r>
            <a:r>
              <a:rPr lang="en-US" sz="1200" dirty="0"/>
              <a:t>remains low, creating a disincentive for all clinicians to render behavioral health care and for new clinicians to enter the field—further adding to the clinician shortage.</a:t>
            </a:r>
          </a:p>
          <a:p>
            <a:pPr marL="171450" indent="-171450" fontAlgn="base">
              <a:buFont typeface="Arial" panose="020B0604020202020204" pitchFamily="34" charset="0"/>
              <a:buChar char="•"/>
            </a:pPr>
            <a:endParaRPr lang="en-US" sz="1200" dirty="0"/>
          </a:p>
          <a:p>
            <a:pPr marL="171450" indent="-171450" fontAlgn="base">
              <a:buFont typeface="Arial" panose="020B0604020202020204" pitchFamily="34" charset="0"/>
              <a:buChar char="•"/>
            </a:pPr>
            <a:r>
              <a:rPr lang="en-US" sz="1200" b="1" dirty="0"/>
              <a:t>It’s more difficult to articulate the value of behavioral health care </a:t>
            </a:r>
            <a:r>
              <a:rPr lang="en-US" sz="1200" dirty="0"/>
              <a:t>because of challenges with existing research and data. Our ability to measure and report impact is hindered by inconsistencies in collection and sharing, a lack of active analysis and insights, and the complex interconnection with physical health outcomes that makes attribution of outcomes complex to decouple.</a:t>
            </a:r>
          </a:p>
          <a:p>
            <a:pPr marL="171450" indent="-171450" fontAlgn="base">
              <a:buFont typeface="Arial" panose="020B0604020202020204" pitchFamily="34" charset="0"/>
              <a:buChar char="•"/>
            </a:pPr>
            <a:endParaRPr lang="en-US" sz="1200" dirty="0"/>
          </a:p>
          <a:p>
            <a:pPr marL="171450" indent="-171450" fontAlgn="base">
              <a:buFont typeface="Arial" panose="020B0604020202020204" pitchFamily="34" charset="0"/>
              <a:buChar char="•"/>
            </a:pPr>
            <a:r>
              <a:rPr lang="en-US" sz="1200" b="1" dirty="0"/>
              <a:t>Many payers still put up barriers to behavioral health care, despite state oversight established by the 2008 Parity Act. </a:t>
            </a:r>
            <a:r>
              <a:rPr lang="en-US" sz="1200" dirty="0"/>
              <a:t>Recent court cases impacting United Health Care and Cigna have brought focus to eliminating systemic limitations on behavioral health care.</a:t>
            </a:r>
          </a:p>
          <a:p>
            <a:pPr marL="171450" indent="-171450" fontAlgn="base">
              <a:buFont typeface="Arial" panose="020B0604020202020204" pitchFamily="34" charset="0"/>
              <a:buChar char="•"/>
            </a:pPr>
            <a:endParaRPr lang="en-US" sz="1200" dirty="0"/>
          </a:p>
          <a:p>
            <a:pPr marL="171450" indent="-171450" fontAlgn="base">
              <a:buFont typeface="Arial" panose="020B0604020202020204" pitchFamily="34" charset="0"/>
              <a:buChar char="•"/>
            </a:pPr>
            <a:r>
              <a:rPr lang="en-US" sz="1200" b="1" dirty="0"/>
              <a:t>The GAF score, which is our current standard for behavioral health assessment, is too subjective </a:t>
            </a:r>
            <a:r>
              <a:rPr lang="en-US" sz="1200" dirty="0"/>
              <a:t>and doesn’t holistically evaluate patient condition and outcomes. To adopt value based reimbursement, a more effective framework to assess clinical outcomes will be necessary.</a:t>
            </a:r>
          </a:p>
          <a:p>
            <a:pPr marL="171450" indent="-171450" fontAlgn="base">
              <a:buFont typeface="Arial" panose="020B0604020202020204" pitchFamily="34" charset="0"/>
              <a:buChar char="•"/>
            </a:pPr>
            <a:endParaRPr lang="en-US" sz="1200" dirty="0"/>
          </a:p>
          <a:p>
            <a:pPr marL="171450" indent="-171450" fontAlgn="base">
              <a:buFont typeface="Arial" panose="020B0604020202020204" pitchFamily="34" charset="0"/>
              <a:buChar char="•"/>
            </a:pPr>
            <a:r>
              <a:rPr lang="en-US" sz="1200" dirty="0"/>
              <a:t>An estimated 200 million workdays are lost due to mental health conditions each year ($16.8 billion in employee productivity). Employers and our commercial clients are looking for solutions to bring evidence-based Behavioral Health support to their workforce, with measurable outcomes in </a:t>
            </a:r>
            <a:r>
              <a:rPr lang="en-US" sz="1200" b="1" dirty="0"/>
              <a:t>increased productivity, declines in absenteeism, and reductions in disability claims due to behavioral health conditions.</a:t>
            </a:r>
          </a:p>
          <a:p>
            <a:pPr marL="171450" indent="-171450" fontAlgn="base">
              <a:buFont typeface="Arial" panose="020B0604020202020204" pitchFamily="34" charset="0"/>
              <a:buChar char="•"/>
            </a:pPr>
            <a:endParaRPr lang="en-US" sz="1200" b="1" dirty="0"/>
          </a:p>
          <a:p>
            <a:pPr marL="171450" indent="-171450" fontAlgn="base">
              <a:buFont typeface="Arial" panose="020B0604020202020204" pitchFamily="34" charset="0"/>
              <a:buChar char="•"/>
            </a:pPr>
            <a:r>
              <a:rPr lang="en-US" sz="1200" b="1" dirty="0"/>
              <a:t>The population in need is growing due to COVID-19. </a:t>
            </a:r>
            <a:r>
              <a:rPr lang="en-US" sz="1200" dirty="0"/>
              <a:t>Isolation, stress, fear, trauma, and grief that can trigger behavioral health conditions and will be a driver of future costs if conditions go untreated and become more acute.</a:t>
            </a:r>
          </a:p>
          <a:p>
            <a:endParaRPr lang="en-US" sz="1200" dirty="0"/>
          </a:p>
        </p:txBody>
      </p:sp>
      <p:sp>
        <p:nvSpPr>
          <p:cNvPr id="46" name="Rectangle 45">
            <a:extLst>
              <a:ext uri="{FF2B5EF4-FFF2-40B4-BE49-F238E27FC236}">
                <a16:creationId xmlns:a16="http://schemas.microsoft.com/office/drawing/2014/main" id="{A1C640E4-09F4-FB45-8A3D-4280A40E9083}"/>
              </a:ext>
            </a:extLst>
          </p:cNvPr>
          <p:cNvSpPr/>
          <p:nvPr/>
        </p:nvSpPr>
        <p:spPr>
          <a:xfrm>
            <a:off x="228600" y="534035"/>
            <a:ext cx="6764994" cy="338554"/>
          </a:xfrm>
          <a:prstGeom prst="rect">
            <a:avLst/>
          </a:prstGeom>
        </p:spPr>
        <p:txBody>
          <a:bodyPr wrap="square" anchor="t">
            <a:spAutoFit/>
          </a:bodyPr>
          <a:lstStyle/>
          <a:p>
            <a:r>
              <a:rPr lang="en-US" sz="1600" b="1" dirty="0">
                <a:solidFill>
                  <a:srgbClr val="00A2E2"/>
                </a:solidFill>
              </a:rPr>
              <a:t>Identifying Behavioral Health Problem Areas</a:t>
            </a:r>
          </a:p>
        </p:txBody>
      </p:sp>
      <p:grpSp>
        <p:nvGrpSpPr>
          <p:cNvPr id="48" name="Group 47">
            <a:extLst>
              <a:ext uri="{FF2B5EF4-FFF2-40B4-BE49-F238E27FC236}">
                <a16:creationId xmlns:a16="http://schemas.microsoft.com/office/drawing/2014/main" id="{5BFC48C9-6458-AE4C-9A37-DD0D61A2CEB5}"/>
              </a:ext>
            </a:extLst>
          </p:cNvPr>
          <p:cNvGrpSpPr/>
          <p:nvPr/>
        </p:nvGrpSpPr>
        <p:grpSpPr>
          <a:xfrm>
            <a:off x="880677" y="2313891"/>
            <a:ext cx="3629125" cy="3144618"/>
            <a:chOff x="3467290" y="2011174"/>
            <a:chExt cx="5867022" cy="5083743"/>
          </a:xfrm>
        </p:grpSpPr>
        <p:sp>
          <p:nvSpPr>
            <p:cNvPr id="49" name="Freeform 176">
              <a:extLst>
                <a:ext uri="{FF2B5EF4-FFF2-40B4-BE49-F238E27FC236}">
                  <a16:creationId xmlns:a16="http://schemas.microsoft.com/office/drawing/2014/main" id="{3598A13C-601E-DC43-9B49-B4D159632C40}"/>
                </a:ext>
              </a:extLst>
            </p:cNvPr>
            <p:cNvSpPr>
              <a:spLocks/>
            </p:cNvSpPr>
            <p:nvPr/>
          </p:nvSpPr>
          <p:spPr bwMode="auto">
            <a:xfrm>
              <a:off x="4932533" y="4553045"/>
              <a:ext cx="2933511" cy="2541872"/>
            </a:xfrm>
            <a:custGeom>
              <a:avLst/>
              <a:gdLst>
                <a:gd name="T0" fmla="*/ 1540102 w 4486"/>
                <a:gd name="T1" fmla="*/ 0 h 3885"/>
                <a:gd name="T2" fmla="*/ 0 w 4486"/>
                <a:gd name="T3" fmla="*/ 2667613 h 3885"/>
                <a:gd name="T4" fmla="*/ 3079517 w 4486"/>
                <a:gd name="T5" fmla="*/ 2667613 h 3885"/>
                <a:gd name="T6" fmla="*/ 1540102 w 4486"/>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5">
                  <a:moveTo>
                    <a:pt x="2243" y="0"/>
                  </a:moveTo>
                  <a:lnTo>
                    <a:pt x="0" y="3884"/>
                  </a:lnTo>
                  <a:lnTo>
                    <a:pt x="4485" y="3884"/>
                  </a:lnTo>
                  <a:lnTo>
                    <a:pt x="2243" y="0"/>
                  </a:lnTo>
                </a:path>
              </a:pathLst>
            </a:custGeom>
            <a:solidFill>
              <a:srgbClr val="00A2E2"/>
            </a:solidFill>
            <a:ln w="28575">
              <a:solidFill>
                <a:schemeClr val="bg1"/>
              </a:solidFill>
              <a:round/>
              <a:headEnd/>
              <a:tailEnd/>
            </a:ln>
          </p:spPr>
          <p:txBody>
            <a:bodyPr wrap="none" anchor="ctr"/>
            <a:lstStyle/>
            <a:p>
              <a:endParaRPr lang="en-US" sz="3429" dirty="0"/>
            </a:p>
          </p:txBody>
        </p:sp>
        <p:sp>
          <p:nvSpPr>
            <p:cNvPr id="50" name="Freeform 177">
              <a:extLst>
                <a:ext uri="{FF2B5EF4-FFF2-40B4-BE49-F238E27FC236}">
                  <a16:creationId xmlns:a16="http://schemas.microsoft.com/office/drawing/2014/main" id="{3CD3CD6E-6A2F-F14E-8340-943AC5A1463C}"/>
                </a:ext>
              </a:extLst>
            </p:cNvPr>
            <p:cNvSpPr>
              <a:spLocks/>
            </p:cNvSpPr>
            <p:nvPr/>
          </p:nvSpPr>
          <p:spPr bwMode="auto">
            <a:xfrm>
              <a:off x="6400801" y="2011174"/>
              <a:ext cx="2933511" cy="2541871"/>
            </a:xfrm>
            <a:custGeom>
              <a:avLst/>
              <a:gdLst>
                <a:gd name="T0" fmla="*/ 1539760 w 4485"/>
                <a:gd name="T1" fmla="*/ 0 h 3884"/>
                <a:gd name="T2" fmla="*/ 0 w 4485"/>
                <a:gd name="T3" fmla="*/ 2667611 h 3884"/>
                <a:gd name="T4" fmla="*/ 3079519 w 4485"/>
                <a:gd name="T5" fmla="*/ 2667611 h 3884"/>
                <a:gd name="T6" fmla="*/ 1539760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2" y="0"/>
                  </a:moveTo>
                  <a:lnTo>
                    <a:pt x="0" y="3883"/>
                  </a:lnTo>
                  <a:lnTo>
                    <a:pt x="4484" y="3883"/>
                  </a:lnTo>
                  <a:lnTo>
                    <a:pt x="2242" y="0"/>
                  </a:lnTo>
                </a:path>
              </a:pathLst>
            </a:custGeom>
            <a:solidFill>
              <a:srgbClr val="00A2E2"/>
            </a:solidFill>
            <a:ln w="28575">
              <a:solidFill>
                <a:schemeClr val="bg1"/>
              </a:solidFill>
              <a:round/>
              <a:headEnd/>
              <a:tailEnd/>
            </a:ln>
          </p:spPr>
          <p:txBody>
            <a:bodyPr wrap="none" anchor="ctr"/>
            <a:lstStyle/>
            <a:p>
              <a:endParaRPr lang="en-US" sz="3429" dirty="0"/>
            </a:p>
          </p:txBody>
        </p:sp>
        <p:sp>
          <p:nvSpPr>
            <p:cNvPr id="51" name="Freeform 178">
              <a:extLst>
                <a:ext uri="{FF2B5EF4-FFF2-40B4-BE49-F238E27FC236}">
                  <a16:creationId xmlns:a16="http://schemas.microsoft.com/office/drawing/2014/main" id="{F7FAA1F8-FAD6-694D-899B-D2EC82A2DA6B}"/>
                </a:ext>
              </a:extLst>
            </p:cNvPr>
            <p:cNvSpPr>
              <a:spLocks/>
            </p:cNvSpPr>
            <p:nvPr/>
          </p:nvSpPr>
          <p:spPr bwMode="auto">
            <a:xfrm>
              <a:off x="4932533" y="2020246"/>
              <a:ext cx="2933511" cy="2540360"/>
            </a:xfrm>
            <a:custGeom>
              <a:avLst/>
              <a:gdLst>
                <a:gd name="T0" fmla="*/ 1540102 w 4486"/>
                <a:gd name="T1" fmla="*/ 2667613 h 3883"/>
                <a:gd name="T2" fmla="*/ 3079517 w 4486"/>
                <a:gd name="T3" fmla="*/ 0 h 3883"/>
                <a:gd name="T4" fmla="*/ 0 w 4486"/>
                <a:gd name="T5" fmla="*/ 0 h 3883"/>
                <a:gd name="T6" fmla="*/ 1540102 w 4486"/>
                <a:gd name="T7" fmla="*/ 2667613 h 38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3">
                  <a:moveTo>
                    <a:pt x="2243" y="3882"/>
                  </a:moveTo>
                  <a:lnTo>
                    <a:pt x="4485" y="0"/>
                  </a:lnTo>
                  <a:lnTo>
                    <a:pt x="0" y="0"/>
                  </a:lnTo>
                  <a:lnTo>
                    <a:pt x="2243" y="3882"/>
                  </a:lnTo>
                </a:path>
              </a:pathLst>
            </a:custGeom>
            <a:solidFill>
              <a:srgbClr val="003963"/>
            </a:solidFill>
            <a:ln w="28575">
              <a:solidFill>
                <a:schemeClr val="bg1"/>
              </a:solidFill>
              <a:round/>
              <a:headEnd/>
              <a:tailEnd/>
            </a:ln>
          </p:spPr>
          <p:txBody>
            <a:bodyPr wrap="none" anchor="ctr"/>
            <a:lstStyle/>
            <a:p>
              <a:endParaRPr lang="en-US" sz="3429" dirty="0"/>
            </a:p>
          </p:txBody>
        </p:sp>
        <p:sp>
          <p:nvSpPr>
            <p:cNvPr id="52" name="Freeform 179">
              <a:extLst>
                <a:ext uri="{FF2B5EF4-FFF2-40B4-BE49-F238E27FC236}">
                  <a16:creationId xmlns:a16="http://schemas.microsoft.com/office/drawing/2014/main" id="{CE8FF102-4255-4F4F-A350-D8C33761AF7F}"/>
                </a:ext>
              </a:extLst>
            </p:cNvPr>
            <p:cNvSpPr>
              <a:spLocks/>
            </p:cNvSpPr>
            <p:nvPr/>
          </p:nvSpPr>
          <p:spPr bwMode="auto">
            <a:xfrm>
              <a:off x="6400801" y="4553045"/>
              <a:ext cx="2933511" cy="2541872"/>
            </a:xfrm>
            <a:custGeom>
              <a:avLst/>
              <a:gdLst>
                <a:gd name="T0" fmla="*/ 0 w 4485"/>
                <a:gd name="T1" fmla="*/ 0 h 3885"/>
                <a:gd name="T2" fmla="*/ 1539760 w 4485"/>
                <a:gd name="T3" fmla="*/ 2667613 h 3885"/>
                <a:gd name="T4" fmla="*/ 3079519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2" y="3884"/>
                  </a:lnTo>
                  <a:lnTo>
                    <a:pt x="4484" y="0"/>
                  </a:lnTo>
                  <a:lnTo>
                    <a:pt x="0" y="0"/>
                  </a:lnTo>
                </a:path>
              </a:pathLst>
            </a:custGeom>
            <a:solidFill>
              <a:srgbClr val="00A2E2"/>
            </a:solidFill>
            <a:ln w="28575">
              <a:solidFill>
                <a:schemeClr val="bg1"/>
              </a:solidFill>
              <a:round/>
              <a:headEnd/>
              <a:tailEnd/>
            </a:ln>
          </p:spPr>
          <p:txBody>
            <a:bodyPr wrap="none" anchor="ctr"/>
            <a:lstStyle/>
            <a:p>
              <a:endParaRPr lang="en-US" sz="3429" dirty="0">
                <a:solidFill>
                  <a:srgbClr val="002060"/>
                </a:solidFill>
              </a:endParaRPr>
            </a:p>
          </p:txBody>
        </p:sp>
        <p:sp>
          <p:nvSpPr>
            <p:cNvPr id="53" name="Freeform 180">
              <a:extLst>
                <a:ext uri="{FF2B5EF4-FFF2-40B4-BE49-F238E27FC236}">
                  <a16:creationId xmlns:a16="http://schemas.microsoft.com/office/drawing/2014/main" id="{A744D439-CFE1-A84E-A306-0AAE549B7934}"/>
                </a:ext>
              </a:extLst>
            </p:cNvPr>
            <p:cNvSpPr>
              <a:spLocks/>
            </p:cNvSpPr>
            <p:nvPr/>
          </p:nvSpPr>
          <p:spPr bwMode="auto">
            <a:xfrm>
              <a:off x="3467290" y="2011174"/>
              <a:ext cx="2933511" cy="2541871"/>
            </a:xfrm>
            <a:custGeom>
              <a:avLst/>
              <a:gdLst>
                <a:gd name="T0" fmla="*/ 1539072 w 4485"/>
                <a:gd name="T1" fmla="*/ 0 h 3884"/>
                <a:gd name="T2" fmla="*/ 0 w 4485"/>
                <a:gd name="T3" fmla="*/ 2667611 h 3884"/>
                <a:gd name="T4" fmla="*/ 3079517 w 4485"/>
                <a:gd name="T5" fmla="*/ 2667611 h 3884"/>
                <a:gd name="T6" fmla="*/ 1539072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1" y="0"/>
                  </a:moveTo>
                  <a:lnTo>
                    <a:pt x="0" y="3883"/>
                  </a:lnTo>
                  <a:lnTo>
                    <a:pt x="4484" y="3883"/>
                  </a:lnTo>
                  <a:lnTo>
                    <a:pt x="2241" y="0"/>
                  </a:lnTo>
                </a:path>
              </a:pathLst>
            </a:custGeom>
            <a:solidFill>
              <a:srgbClr val="00A2E2"/>
            </a:solidFill>
            <a:ln w="28575">
              <a:solidFill>
                <a:schemeClr val="bg1"/>
              </a:solidFill>
              <a:round/>
              <a:headEnd/>
              <a:tailEnd/>
            </a:ln>
          </p:spPr>
          <p:txBody>
            <a:bodyPr wrap="none" anchor="ctr"/>
            <a:lstStyle/>
            <a:p>
              <a:endParaRPr lang="en-US" sz="3429" dirty="0"/>
            </a:p>
          </p:txBody>
        </p:sp>
        <p:sp>
          <p:nvSpPr>
            <p:cNvPr id="54" name="Freeform 181">
              <a:extLst>
                <a:ext uri="{FF2B5EF4-FFF2-40B4-BE49-F238E27FC236}">
                  <a16:creationId xmlns:a16="http://schemas.microsoft.com/office/drawing/2014/main" id="{9E002CFD-ABAC-834D-A3B1-3D73632D53BB}"/>
                </a:ext>
              </a:extLst>
            </p:cNvPr>
            <p:cNvSpPr>
              <a:spLocks/>
            </p:cNvSpPr>
            <p:nvPr/>
          </p:nvSpPr>
          <p:spPr bwMode="auto">
            <a:xfrm>
              <a:off x="3467290" y="4553045"/>
              <a:ext cx="2933511" cy="2541872"/>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rgbClr val="00A2E2"/>
            </a:solidFill>
            <a:ln w="28575">
              <a:solidFill>
                <a:schemeClr val="bg1"/>
              </a:solidFill>
              <a:round/>
              <a:headEnd/>
              <a:tailEnd/>
            </a:ln>
          </p:spPr>
          <p:txBody>
            <a:bodyPr wrap="none" anchor="ctr"/>
            <a:lstStyle/>
            <a:p>
              <a:endParaRPr lang="en-US" sz="3429" dirty="0"/>
            </a:p>
          </p:txBody>
        </p:sp>
        <p:sp>
          <p:nvSpPr>
            <p:cNvPr id="55" name="TextBox 54">
              <a:extLst>
                <a:ext uri="{FF2B5EF4-FFF2-40B4-BE49-F238E27FC236}">
                  <a16:creationId xmlns:a16="http://schemas.microsoft.com/office/drawing/2014/main" id="{A1B39AF2-F151-0B4A-8321-5B0A2BF1B13A}"/>
                </a:ext>
              </a:extLst>
            </p:cNvPr>
            <p:cNvSpPr txBox="1"/>
            <p:nvPr/>
          </p:nvSpPr>
          <p:spPr>
            <a:xfrm>
              <a:off x="4365578" y="3191502"/>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6</a:t>
              </a:r>
            </a:p>
          </p:txBody>
        </p:sp>
        <p:sp>
          <p:nvSpPr>
            <p:cNvPr id="56" name="TextBox 55">
              <a:extLst>
                <a:ext uri="{FF2B5EF4-FFF2-40B4-BE49-F238E27FC236}">
                  <a16:creationId xmlns:a16="http://schemas.microsoft.com/office/drawing/2014/main" id="{B78D086F-34F8-1E47-81CC-027DE16983C5}"/>
                </a:ext>
              </a:extLst>
            </p:cNvPr>
            <p:cNvSpPr txBox="1"/>
            <p:nvPr/>
          </p:nvSpPr>
          <p:spPr>
            <a:xfrm>
              <a:off x="6090295" y="2187065"/>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1</a:t>
              </a:r>
            </a:p>
          </p:txBody>
        </p:sp>
        <p:sp>
          <p:nvSpPr>
            <p:cNvPr id="57" name="TextBox 56">
              <a:extLst>
                <a:ext uri="{FF2B5EF4-FFF2-40B4-BE49-F238E27FC236}">
                  <a16:creationId xmlns:a16="http://schemas.microsoft.com/office/drawing/2014/main" id="{34EF0460-06A4-954A-B957-3B841D19AF34}"/>
                </a:ext>
              </a:extLst>
            </p:cNvPr>
            <p:cNvSpPr txBox="1"/>
            <p:nvPr/>
          </p:nvSpPr>
          <p:spPr>
            <a:xfrm>
              <a:off x="7928385" y="3211510"/>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2</a:t>
              </a:r>
            </a:p>
          </p:txBody>
        </p:sp>
        <p:sp>
          <p:nvSpPr>
            <p:cNvPr id="58" name="TextBox 57">
              <a:extLst>
                <a:ext uri="{FF2B5EF4-FFF2-40B4-BE49-F238E27FC236}">
                  <a16:creationId xmlns:a16="http://schemas.microsoft.com/office/drawing/2014/main" id="{17FEC6EA-67EF-164C-BD79-84797C0BCB78}"/>
                </a:ext>
              </a:extLst>
            </p:cNvPr>
            <p:cNvSpPr txBox="1"/>
            <p:nvPr/>
          </p:nvSpPr>
          <p:spPr>
            <a:xfrm>
              <a:off x="7875031" y="5092237"/>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3</a:t>
              </a:r>
            </a:p>
          </p:txBody>
        </p:sp>
        <p:sp>
          <p:nvSpPr>
            <p:cNvPr id="59" name="TextBox 58">
              <a:extLst>
                <a:ext uri="{FF2B5EF4-FFF2-40B4-BE49-F238E27FC236}">
                  <a16:creationId xmlns:a16="http://schemas.microsoft.com/office/drawing/2014/main" id="{141BC39E-61EB-EF42-8297-340AA33DAE85}"/>
                </a:ext>
              </a:extLst>
            </p:cNvPr>
            <p:cNvSpPr txBox="1"/>
            <p:nvPr/>
          </p:nvSpPr>
          <p:spPr>
            <a:xfrm>
              <a:off x="6123639" y="6110009"/>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4</a:t>
              </a:r>
            </a:p>
          </p:txBody>
        </p:sp>
        <p:sp>
          <p:nvSpPr>
            <p:cNvPr id="60" name="TextBox 59">
              <a:extLst>
                <a:ext uri="{FF2B5EF4-FFF2-40B4-BE49-F238E27FC236}">
                  <a16:creationId xmlns:a16="http://schemas.microsoft.com/office/drawing/2014/main" id="{39A76FEB-1691-8541-A138-41FB27011DD8}"/>
                </a:ext>
              </a:extLst>
            </p:cNvPr>
            <p:cNvSpPr txBox="1"/>
            <p:nvPr/>
          </p:nvSpPr>
          <p:spPr>
            <a:xfrm>
              <a:off x="4378918" y="5132249"/>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5</a:t>
              </a:r>
            </a:p>
          </p:txBody>
        </p:sp>
      </p:grpSp>
    </p:spTree>
    <p:extLst>
      <p:ext uri="{BB962C8B-B14F-4D97-AF65-F5344CB8AC3E}">
        <p14:creationId xmlns:p14="http://schemas.microsoft.com/office/powerpoint/2010/main" val="4247106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818B1C-7512-BF4C-A24D-63537D0ED002}"/>
              </a:ext>
            </a:extLst>
          </p:cNvPr>
          <p:cNvSpPr/>
          <p:nvPr/>
        </p:nvSpPr>
        <p:spPr>
          <a:xfrm>
            <a:off x="298402" y="1136326"/>
            <a:ext cx="6695192" cy="461665"/>
          </a:xfrm>
          <a:prstGeom prst="rect">
            <a:avLst/>
          </a:prstGeom>
        </p:spPr>
        <p:txBody>
          <a:bodyPr wrap="square">
            <a:spAutoFit/>
          </a:bodyPr>
          <a:lstStyle/>
          <a:p>
            <a:r>
              <a:rPr lang="en-US" sz="2400" b="1" dirty="0">
                <a:solidFill>
                  <a:srgbClr val="002060"/>
                </a:solidFill>
              </a:rPr>
              <a:t>Address Clinician Challenges</a:t>
            </a:r>
          </a:p>
        </p:txBody>
      </p:sp>
      <p:sp>
        <p:nvSpPr>
          <p:cNvPr id="38" name="Rectangle 37">
            <a:extLst>
              <a:ext uri="{FF2B5EF4-FFF2-40B4-BE49-F238E27FC236}">
                <a16:creationId xmlns:a16="http://schemas.microsoft.com/office/drawing/2014/main" id="{6262059F-41C9-9C4E-8A3A-C4577C041ECE}"/>
              </a:ext>
            </a:extLst>
          </p:cNvPr>
          <p:cNvSpPr/>
          <p:nvPr/>
        </p:nvSpPr>
        <p:spPr>
          <a:xfrm>
            <a:off x="5603846" y="2004022"/>
            <a:ext cx="6537354" cy="5155257"/>
          </a:xfrm>
          <a:prstGeom prst="rect">
            <a:avLst/>
          </a:prstGeom>
        </p:spPr>
        <p:txBody>
          <a:bodyPr wrap="square">
            <a:spAutoFit/>
          </a:bodyPr>
          <a:lstStyle/>
          <a:p>
            <a:pPr>
              <a:spcAft>
                <a:spcPts val="600"/>
              </a:spcAft>
            </a:pPr>
            <a:r>
              <a:rPr lang="en-US" sz="1200" b="1" dirty="0"/>
              <a:t>Why is this so critical?</a:t>
            </a:r>
            <a:endParaRPr lang="en-US" sz="1200" dirty="0"/>
          </a:p>
          <a:p>
            <a:pPr marL="171450" indent="-171450" fontAlgn="base">
              <a:buFont typeface="Arial" panose="020B0604020202020204" pitchFamily="34" charset="0"/>
              <a:buChar char="•"/>
            </a:pPr>
            <a:r>
              <a:rPr lang="en-US" sz="1200" b="1" dirty="0"/>
              <a:t>The system does not incentivize behavioral health clinicians to deliver the best care possible. </a:t>
            </a:r>
            <a:r>
              <a:rPr lang="en-US" sz="1200" dirty="0"/>
              <a:t>Providers must focus on quantity over quality for their work to be lucrative. The high cost of training, licensing, and certifications adds to this dynamic. </a:t>
            </a:r>
          </a:p>
          <a:p>
            <a:pPr marL="171450" indent="-171450" fontAlgn="base">
              <a:buFont typeface="Arial" panose="020B0604020202020204" pitchFamily="34" charset="0"/>
              <a:buChar char="•"/>
            </a:pPr>
            <a:endParaRPr lang="en-US" sz="1200" dirty="0"/>
          </a:p>
          <a:p>
            <a:pPr marL="171450" indent="-171450" fontAlgn="base">
              <a:buFont typeface="Arial" panose="020B0604020202020204" pitchFamily="34" charset="0"/>
              <a:buChar char="•"/>
            </a:pPr>
            <a:r>
              <a:rPr lang="en-US" sz="1200" b="1" dirty="0"/>
              <a:t>Behavioral health clinicians struggle to maintain the financial operations of their practices while also maintaining the highest quality of care. </a:t>
            </a:r>
            <a:r>
              <a:rPr lang="en-US" sz="1200" dirty="0"/>
              <a:t>Practices must keep costs as low as possible to account for low reimbursement rates and shrinking margins in order to stay profitable.</a:t>
            </a:r>
          </a:p>
          <a:p>
            <a:pPr marL="171450" indent="-171450" fontAlgn="base">
              <a:buFont typeface="Arial" panose="020B0604020202020204" pitchFamily="34" charset="0"/>
              <a:buChar char="•"/>
            </a:pPr>
            <a:endParaRPr lang="en-US" sz="1200" b="1" dirty="0"/>
          </a:p>
          <a:p>
            <a:pPr marL="171450" indent="-171450" fontAlgn="base">
              <a:buFont typeface="Arial" panose="020B0604020202020204" pitchFamily="34" charset="0"/>
              <a:buChar char="•"/>
            </a:pPr>
            <a:r>
              <a:rPr lang="en-US" sz="1200" b="1" dirty="0"/>
              <a:t>The value of behavioral health treatment is often not fully understood by those inside and outside of the behavioral health space. </a:t>
            </a:r>
            <a:r>
              <a:rPr lang="en-US" sz="1200" dirty="0"/>
              <a:t>The general understanding of behavioral health lags behind PH and is more difficult to attribute to health outcomes</a:t>
            </a:r>
            <a:r>
              <a:rPr lang="en-US" sz="1200" b="1" dirty="0"/>
              <a:t>.</a:t>
            </a:r>
          </a:p>
          <a:p>
            <a:pPr marL="171450" indent="-171450" fontAlgn="base">
              <a:buFont typeface="Arial" panose="020B0604020202020204" pitchFamily="34" charset="0"/>
              <a:buChar char="•"/>
            </a:pPr>
            <a:endParaRPr lang="en-US" sz="1200" b="1" dirty="0"/>
          </a:p>
          <a:p>
            <a:pPr marL="171450" indent="-171450" fontAlgn="base">
              <a:buFont typeface="Arial" panose="020B0604020202020204" pitchFamily="34" charset="0"/>
              <a:buChar char="•"/>
            </a:pPr>
            <a:r>
              <a:rPr lang="en-US" sz="1200" b="1" dirty="0"/>
              <a:t>The rapidly evolving amount of knowledge in the behavioral health space is difficult to keep up with. </a:t>
            </a:r>
            <a:r>
              <a:rPr lang="en-US" sz="1200" dirty="0"/>
              <a:t>Best practices, guidelines, and new treatments needed to deliver quality care are overwhelming to sort through.</a:t>
            </a:r>
          </a:p>
          <a:p>
            <a:pPr marL="171450" indent="-171450" fontAlgn="base">
              <a:buFont typeface="Arial" panose="020B0604020202020204" pitchFamily="34" charset="0"/>
              <a:buChar char="•"/>
            </a:pPr>
            <a:endParaRPr lang="en-US" sz="1200" b="1" dirty="0"/>
          </a:p>
          <a:p>
            <a:pPr marL="171450" indent="-171450" fontAlgn="base">
              <a:buFont typeface="Arial" panose="020B0604020202020204" pitchFamily="34" charset="0"/>
              <a:buChar char="•"/>
            </a:pPr>
            <a:r>
              <a:rPr lang="en-US" sz="1200" b="1" dirty="0"/>
              <a:t>The personal biases held by clinicians may lead to the patient not receiving the proper care for their condition. </a:t>
            </a:r>
            <a:r>
              <a:rPr lang="en-US" sz="1200" dirty="0"/>
              <a:t>This can be the result of professional background and personal experiences.</a:t>
            </a:r>
          </a:p>
          <a:p>
            <a:pPr marL="171450" indent="-171450" fontAlgn="base">
              <a:buFont typeface="Arial" panose="020B0604020202020204" pitchFamily="34" charset="0"/>
              <a:buChar char="•"/>
            </a:pPr>
            <a:endParaRPr lang="en-US" sz="1200" b="1" dirty="0"/>
          </a:p>
          <a:p>
            <a:pPr marL="171450" indent="-171450" fontAlgn="base">
              <a:buFont typeface="Arial" panose="020B0604020202020204" pitchFamily="34" charset="0"/>
              <a:buChar char="•"/>
            </a:pPr>
            <a:r>
              <a:rPr lang="en-US" sz="1200" b="1" dirty="0"/>
              <a:t>Non-behavioral health clinicians may hesitate to initiate a behavioral health-related dialogue with a patient due to the uncomfortable nature of the conversation. </a:t>
            </a:r>
            <a:r>
              <a:rPr lang="en-US" sz="1200" dirty="0"/>
              <a:t>In addition, a diagnosis leads to additional administrative burden and a referral, for which there is not always a clear path.</a:t>
            </a:r>
          </a:p>
          <a:p>
            <a:endParaRPr lang="en-US" sz="1200" dirty="0"/>
          </a:p>
        </p:txBody>
      </p:sp>
      <p:sp>
        <p:nvSpPr>
          <p:cNvPr id="46" name="Rectangle 45">
            <a:extLst>
              <a:ext uri="{FF2B5EF4-FFF2-40B4-BE49-F238E27FC236}">
                <a16:creationId xmlns:a16="http://schemas.microsoft.com/office/drawing/2014/main" id="{A1C640E4-09F4-FB45-8A3D-4280A40E9083}"/>
              </a:ext>
            </a:extLst>
          </p:cNvPr>
          <p:cNvSpPr/>
          <p:nvPr/>
        </p:nvSpPr>
        <p:spPr>
          <a:xfrm>
            <a:off x="228600" y="534035"/>
            <a:ext cx="6764994" cy="338554"/>
          </a:xfrm>
          <a:prstGeom prst="rect">
            <a:avLst/>
          </a:prstGeom>
        </p:spPr>
        <p:txBody>
          <a:bodyPr wrap="square" anchor="t">
            <a:spAutoFit/>
          </a:bodyPr>
          <a:lstStyle/>
          <a:p>
            <a:r>
              <a:rPr lang="en-US" sz="1600" b="1" dirty="0">
                <a:solidFill>
                  <a:srgbClr val="00A2E2"/>
                </a:solidFill>
              </a:rPr>
              <a:t>Identifying Behavioral Health Problem Areas</a:t>
            </a:r>
          </a:p>
        </p:txBody>
      </p:sp>
      <p:grpSp>
        <p:nvGrpSpPr>
          <p:cNvPr id="48" name="Group 47">
            <a:extLst>
              <a:ext uri="{FF2B5EF4-FFF2-40B4-BE49-F238E27FC236}">
                <a16:creationId xmlns:a16="http://schemas.microsoft.com/office/drawing/2014/main" id="{5BFC48C9-6458-AE4C-9A37-DD0D61A2CEB5}"/>
              </a:ext>
            </a:extLst>
          </p:cNvPr>
          <p:cNvGrpSpPr/>
          <p:nvPr/>
        </p:nvGrpSpPr>
        <p:grpSpPr>
          <a:xfrm>
            <a:off x="880677" y="2313891"/>
            <a:ext cx="3629125" cy="3144618"/>
            <a:chOff x="3467290" y="2011174"/>
            <a:chExt cx="5867022" cy="5083743"/>
          </a:xfrm>
        </p:grpSpPr>
        <p:sp>
          <p:nvSpPr>
            <p:cNvPr id="49" name="Freeform 176">
              <a:extLst>
                <a:ext uri="{FF2B5EF4-FFF2-40B4-BE49-F238E27FC236}">
                  <a16:creationId xmlns:a16="http://schemas.microsoft.com/office/drawing/2014/main" id="{3598A13C-601E-DC43-9B49-B4D159632C40}"/>
                </a:ext>
              </a:extLst>
            </p:cNvPr>
            <p:cNvSpPr>
              <a:spLocks/>
            </p:cNvSpPr>
            <p:nvPr/>
          </p:nvSpPr>
          <p:spPr bwMode="auto">
            <a:xfrm>
              <a:off x="4932533" y="4553045"/>
              <a:ext cx="2933511" cy="2541872"/>
            </a:xfrm>
            <a:custGeom>
              <a:avLst/>
              <a:gdLst>
                <a:gd name="T0" fmla="*/ 1540102 w 4486"/>
                <a:gd name="T1" fmla="*/ 0 h 3885"/>
                <a:gd name="T2" fmla="*/ 0 w 4486"/>
                <a:gd name="T3" fmla="*/ 2667613 h 3885"/>
                <a:gd name="T4" fmla="*/ 3079517 w 4486"/>
                <a:gd name="T5" fmla="*/ 2667613 h 3885"/>
                <a:gd name="T6" fmla="*/ 1540102 w 4486"/>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5">
                  <a:moveTo>
                    <a:pt x="2243" y="0"/>
                  </a:moveTo>
                  <a:lnTo>
                    <a:pt x="0" y="3884"/>
                  </a:lnTo>
                  <a:lnTo>
                    <a:pt x="4485" y="3884"/>
                  </a:lnTo>
                  <a:lnTo>
                    <a:pt x="2243" y="0"/>
                  </a:lnTo>
                </a:path>
              </a:pathLst>
            </a:custGeom>
            <a:solidFill>
              <a:srgbClr val="00A2E2"/>
            </a:solidFill>
            <a:ln w="28575">
              <a:solidFill>
                <a:schemeClr val="bg1"/>
              </a:solidFill>
              <a:round/>
              <a:headEnd/>
              <a:tailEnd/>
            </a:ln>
          </p:spPr>
          <p:txBody>
            <a:bodyPr wrap="none" anchor="ctr"/>
            <a:lstStyle/>
            <a:p>
              <a:endParaRPr lang="en-US" sz="3429" dirty="0"/>
            </a:p>
          </p:txBody>
        </p:sp>
        <p:sp>
          <p:nvSpPr>
            <p:cNvPr id="50" name="Freeform 177">
              <a:extLst>
                <a:ext uri="{FF2B5EF4-FFF2-40B4-BE49-F238E27FC236}">
                  <a16:creationId xmlns:a16="http://schemas.microsoft.com/office/drawing/2014/main" id="{3CD3CD6E-6A2F-F14E-8340-943AC5A1463C}"/>
                </a:ext>
              </a:extLst>
            </p:cNvPr>
            <p:cNvSpPr>
              <a:spLocks/>
            </p:cNvSpPr>
            <p:nvPr/>
          </p:nvSpPr>
          <p:spPr bwMode="auto">
            <a:xfrm>
              <a:off x="6400801" y="2011174"/>
              <a:ext cx="2933511" cy="2541871"/>
            </a:xfrm>
            <a:custGeom>
              <a:avLst/>
              <a:gdLst>
                <a:gd name="T0" fmla="*/ 1539760 w 4485"/>
                <a:gd name="T1" fmla="*/ 0 h 3884"/>
                <a:gd name="T2" fmla="*/ 0 w 4485"/>
                <a:gd name="T3" fmla="*/ 2667611 h 3884"/>
                <a:gd name="T4" fmla="*/ 3079519 w 4485"/>
                <a:gd name="T5" fmla="*/ 2667611 h 3884"/>
                <a:gd name="T6" fmla="*/ 1539760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2" y="0"/>
                  </a:moveTo>
                  <a:lnTo>
                    <a:pt x="0" y="3883"/>
                  </a:lnTo>
                  <a:lnTo>
                    <a:pt x="4484" y="3883"/>
                  </a:lnTo>
                  <a:lnTo>
                    <a:pt x="2242" y="0"/>
                  </a:lnTo>
                </a:path>
              </a:pathLst>
            </a:custGeom>
            <a:solidFill>
              <a:srgbClr val="003963"/>
            </a:solidFill>
            <a:ln w="28575">
              <a:solidFill>
                <a:schemeClr val="bg1"/>
              </a:solidFill>
              <a:round/>
              <a:headEnd/>
              <a:tailEnd/>
            </a:ln>
          </p:spPr>
          <p:txBody>
            <a:bodyPr wrap="none" anchor="ctr"/>
            <a:lstStyle/>
            <a:p>
              <a:endParaRPr lang="en-US" sz="3429" dirty="0"/>
            </a:p>
          </p:txBody>
        </p:sp>
        <p:sp>
          <p:nvSpPr>
            <p:cNvPr id="51" name="Freeform 178">
              <a:extLst>
                <a:ext uri="{FF2B5EF4-FFF2-40B4-BE49-F238E27FC236}">
                  <a16:creationId xmlns:a16="http://schemas.microsoft.com/office/drawing/2014/main" id="{F7FAA1F8-FAD6-694D-899B-D2EC82A2DA6B}"/>
                </a:ext>
              </a:extLst>
            </p:cNvPr>
            <p:cNvSpPr>
              <a:spLocks/>
            </p:cNvSpPr>
            <p:nvPr/>
          </p:nvSpPr>
          <p:spPr bwMode="auto">
            <a:xfrm>
              <a:off x="4932533" y="2020246"/>
              <a:ext cx="2933511" cy="2540360"/>
            </a:xfrm>
            <a:custGeom>
              <a:avLst/>
              <a:gdLst>
                <a:gd name="T0" fmla="*/ 1540102 w 4486"/>
                <a:gd name="T1" fmla="*/ 2667613 h 3883"/>
                <a:gd name="T2" fmla="*/ 3079517 w 4486"/>
                <a:gd name="T3" fmla="*/ 0 h 3883"/>
                <a:gd name="T4" fmla="*/ 0 w 4486"/>
                <a:gd name="T5" fmla="*/ 0 h 3883"/>
                <a:gd name="T6" fmla="*/ 1540102 w 4486"/>
                <a:gd name="T7" fmla="*/ 2667613 h 38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3">
                  <a:moveTo>
                    <a:pt x="2243" y="3882"/>
                  </a:moveTo>
                  <a:lnTo>
                    <a:pt x="4485" y="0"/>
                  </a:lnTo>
                  <a:lnTo>
                    <a:pt x="0" y="0"/>
                  </a:lnTo>
                  <a:lnTo>
                    <a:pt x="2243" y="3882"/>
                  </a:lnTo>
                </a:path>
              </a:pathLst>
            </a:custGeom>
            <a:solidFill>
              <a:srgbClr val="00A2E2"/>
            </a:solidFill>
            <a:ln w="28575">
              <a:solidFill>
                <a:schemeClr val="bg1"/>
              </a:solidFill>
              <a:round/>
              <a:headEnd/>
              <a:tailEnd/>
            </a:ln>
          </p:spPr>
          <p:txBody>
            <a:bodyPr wrap="none" anchor="ctr"/>
            <a:lstStyle/>
            <a:p>
              <a:endParaRPr lang="en-US" sz="3429" dirty="0"/>
            </a:p>
          </p:txBody>
        </p:sp>
        <p:sp>
          <p:nvSpPr>
            <p:cNvPr id="52" name="Freeform 179">
              <a:extLst>
                <a:ext uri="{FF2B5EF4-FFF2-40B4-BE49-F238E27FC236}">
                  <a16:creationId xmlns:a16="http://schemas.microsoft.com/office/drawing/2014/main" id="{CE8FF102-4255-4F4F-A350-D8C33761AF7F}"/>
                </a:ext>
              </a:extLst>
            </p:cNvPr>
            <p:cNvSpPr>
              <a:spLocks/>
            </p:cNvSpPr>
            <p:nvPr/>
          </p:nvSpPr>
          <p:spPr bwMode="auto">
            <a:xfrm>
              <a:off x="6400801" y="4553045"/>
              <a:ext cx="2933511" cy="2541872"/>
            </a:xfrm>
            <a:custGeom>
              <a:avLst/>
              <a:gdLst>
                <a:gd name="T0" fmla="*/ 0 w 4485"/>
                <a:gd name="T1" fmla="*/ 0 h 3885"/>
                <a:gd name="T2" fmla="*/ 1539760 w 4485"/>
                <a:gd name="T3" fmla="*/ 2667613 h 3885"/>
                <a:gd name="T4" fmla="*/ 3079519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2" y="3884"/>
                  </a:lnTo>
                  <a:lnTo>
                    <a:pt x="4484" y="0"/>
                  </a:lnTo>
                  <a:lnTo>
                    <a:pt x="0" y="0"/>
                  </a:lnTo>
                </a:path>
              </a:pathLst>
            </a:custGeom>
            <a:solidFill>
              <a:srgbClr val="00A2E2"/>
            </a:solidFill>
            <a:ln w="28575">
              <a:solidFill>
                <a:schemeClr val="bg1"/>
              </a:solidFill>
              <a:round/>
              <a:headEnd/>
              <a:tailEnd/>
            </a:ln>
          </p:spPr>
          <p:txBody>
            <a:bodyPr wrap="none" anchor="ctr"/>
            <a:lstStyle/>
            <a:p>
              <a:endParaRPr lang="en-US" sz="3429" dirty="0">
                <a:solidFill>
                  <a:srgbClr val="002060"/>
                </a:solidFill>
              </a:endParaRPr>
            </a:p>
          </p:txBody>
        </p:sp>
        <p:sp>
          <p:nvSpPr>
            <p:cNvPr id="53" name="Freeform 180">
              <a:extLst>
                <a:ext uri="{FF2B5EF4-FFF2-40B4-BE49-F238E27FC236}">
                  <a16:creationId xmlns:a16="http://schemas.microsoft.com/office/drawing/2014/main" id="{A744D439-CFE1-A84E-A306-0AAE549B7934}"/>
                </a:ext>
              </a:extLst>
            </p:cNvPr>
            <p:cNvSpPr>
              <a:spLocks/>
            </p:cNvSpPr>
            <p:nvPr/>
          </p:nvSpPr>
          <p:spPr bwMode="auto">
            <a:xfrm>
              <a:off x="3467290" y="2011174"/>
              <a:ext cx="2933511" cy="2541871"/>
            </a:xfrm>
            <a:custGeom>
              <a:avLst/>
              <a:gdLst>
                <a:gd name="T0" fmla="*/ 1539072 w 4485"/>
                <a:gd name="T1" fmla="*/ 0 h 3884"/>
                <a:gd name="T2" fmla="*/ 0 w 4485"/>
                <a:gd name="T3" fmla="*/ 2667611 h 3884"/>
                <a:gd name="T4" fmla="*/ 3079517 w 4485"/>
                <a:gd name="T5" fmla="*/ 2667611 h 3884"/>
                <a:gd name="T6" fmla="*/ 1539072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1" y="0"/>
                  </a:moveTo>
                  <a:lnTo>
                    <a:pt x="0" y="3883"/>
                  </a:lnTo>
                  <a:lnTo>
                    <a:pt x="4484" y="3883"/>
                  </a:lnTo>
                  <a:lnTo>
                    <a:pt x="2241" y="0"/>
                  </a:lnTo>
                </a:path>
              </a:pathLst>
            </a:custGeom>
            <a:solidFill>
              <a:srgbClr val="00A2E2"/>
            </a:solidFill>
            <a:ln w="28575">
              <a:solidFill>
                <a:schemeClr val="bg1"/>
              </a:solidFill>
              <a:round/>
              <a:headEnd/>
              <a:tailEnd/>
            </a:ln>
          </p:spPr>
          <p:txBody>
            <a:bodyPr wrap="none" anchor="ctr"/>
            <a:lstStyle/>
            <a:p>
              <a:endParaRPr lang="en-US" sz="3429" dirty="0"/>
            </a:p>
          </p:txBody>
        </p:sp>
        <p:sp>
          <p:nvSpPr>
            <p:cNvPr id="54" name="Freeform 181">
              <a:extLst>
                <a:ext uri="{FF2B5EF4-FFF2-40B4-BE49-F238E27FC236}">
                  <a16:creationId xmlns:a16="http://schemas.microsoft.com/office/drawing/2014/main" id="{9E002CFD-ABAC-834D-A3B1-3D73632D53BB}"/>
                </a:ext>
              </a:extLst>
            </p:cNvPr>
            <p:cNvSpPr>
              <a:spLocks/>
            </p:cNvSpPr>
            <p:nvPr/>
          </p:nvSpPr>
          <p:spPr bwMode="auto">
            <a:xfrm>
              <a:off x="3467290" y="4553045"/>
              <a:ext cx="2933511" cy="2541872"/>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rgbClr val="00A2E2"/>
            </a:solidFill>
            <a:ln w="28575">
              <a:solidFill>
                <a:schemeClr val="bg1"/>
              </a:solidFill>
              <a:round/>
              <a:headEnd/>
              <a:tailEnd/>
            </a:ln>
          </p:spPr>
          <p:txBody>
            <a:bodyPr wrap="none" anchor="ctr"/>
            <a:lstStyle/>
            <a:p>
              <a:endParaRPr lang="en-US" sz="3429" dirty="0"/>
            </a:p>
          </p:txBody>
        </p:sp>
        <p:sp>
          <p:nvSpPr>
            <p:cNvPr id="55" name="TextBox 54">
              <a:extLst>
                <a:ext uri="{FF2B5EF4-FFF2-40B4-BE49-F238E27FC236}">
                  <a16:creationId xmlns:a16="http://schemas.microsoft.com/office/drawing/2014/main" id="{A1B39AF2-F151-0B4A-8321-5B0A2BF1B13A}"/>
                </a:ext>
              </a:extLst>
            </p:cNvPr>
            <p:cNvSpPr txBox="1"/>
            <p:nvPr/>
          </p:nvSpPr>
          <p:spPr>
            <a:xfrm>
              <a:off x="4365578" y="3191502"/>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6</a:t>
              </a:r>
            </a:p>
          </p:txBody>
        </p:sp>
        <p:sp>
          <p:nvSpPr>
            <p:cNvPr id="56" name="TextBox 55">
              <a:extLst>
                <a:ext uri="{FF2B5EF4-FFF2-40B4-BE49-F238E27FC236}">
                  <a16:creationId xmlns:a16="http://schemas.microsoft.com/office/drawing/2014/main" id="{B78D086F-34F8-1E47-81CC-027DE16983C5}"/>
                </a:ext>
              </a:extLst>
            </p:cNvPr>
            <p:cNvSpPr txBox="1"/>
            <p:nvPr/>
          </p:nvSpPr>
          <p:spPr>
            <a:xfrm>
              <a:off x="6090295" y="2187065"/>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1</a:t>
              </a:r>
            </a:p>
          </p:txBody>
        </p:sp>
        <p:sp>
          <p:nvSpPr>
            <p:cNvPr id="57" name="TextBox 56">
              <a:extLst>
                <a:ext uri="{FF2B5EF4-FFF2-40B4-BE49-F238E27FC236}">
                  <a16:creationId xmlns:a16="http://schemas.microsoft.com/office/drawing/2014/main" id="{34EF0460-06A4-954A-B957-3B841D19AF34}"/>
                </a:ext>
              </a:extLst>
            </p:cNvPr>
            <p:cNvSpPr txBox="1"/>
            <p:nvPr/>
          </p:nvSpPr>
          <p:spPr>
            <a:xfrm>
              <a:off x="7928385" y="3211510"/>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2</a:t>
              </a:r>
            </a:p>
          </p:txBody>
        </p:sp>
        <p:sp>
          <p:nvSpPr>
            <p:cNvPr id="58" name="TextBox 57">
              <a:extLst>
                <a:ext uri="{FF2B5EF4-FFF2-40B4-BE49-F238E27FC236}">
                  <a16:creationId xmlns:a16="http://schemas.microsoft.com/office/drawing/2014/main" id="{17FEC6EA-67EF-164C-BD79-84797C0BCB78}"/>
                </a:ext>
              </a:extLst>
            </p:cNvPr>
            <p:cNvSpPr txBox="1"/>
            <p:nvPr/>
          </p:nvSpPr>
          <p:spPr>
            <a:xfrm>
              <a:off x="7875031" y="5092237"/>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3</a:t>
              </a:r>
            </a:p>
          </p:txBody>
        </p:sp>
        <p:sp>
          <p:nvSpPr>
            <p:cNvPr id="59" name="TextBox 58">
              <a:extLst>
                <a:ext uri="{FF2B5EF4-FFF2-40B4-BE49-F238E27FC236}">
                  <a16:creationId xmlns:a16="http://schemas.microsoft.com/office/drawing/2014/main" id="{141BC39E-61EB-EF42-8297-340AA33DAE85}"/>
                </a:ext>
              </a:extLst>
            </p:cNvPr>
            <p:cNvSpPr txBox="1"/>
            <p:nvPr/>
          </p:nvSpPr>
          <p:spPr>
            <a:xfrm>
              <a:off x="6123639" y="6110009"/>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4</a:t>
              </a:r>
            </a:p>
          </p:txBody>
        </p:sp>
        <p:sp>
          <p:nvSpPr>
            <p:cNvPr id="60" name="TextBox 59">
              <a:extLst>
                <a:ext uri="{FF2B5EF4-FFF2-40B4-BE49-F238E27FC236}">
                  <a16:creationId xmlns:a16="http://schemas.microsoft.com/office/drawing/2014/main" id="{39A76FEB-1691-8541-A138-41FB27011DD8}"/>
                </a:ext>
              </a:extLst>
            </p:cNvPr>
            <p:cNvSpPr txBox="1"/>
            <p:nvPr/>
          </p:nvSpPr>
          <p:spPr>
            <a:xfrm>
              <a:off x="4378918" y="5132249"/>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5</a:t>
              </a:r>
            </a:p>
          </p:txBody>
        </p:sp>
      </p:grpSp>
    </p:spTree>
    <p:extLst>
      <p:ext uri="{BB962C8B-B14F-4D97-AF65-F5344CB8AC3E}">
        <p14:creationId xmlns:p14="http://schemas.microsoft.com/office/powerpoint/2010/main" val="2708940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818B1C-7512-BF4C-A24D-63537D0ED002}"/>
              </a:ext>
            </a:extLst>
          </p:cNvPr>
          <p:cNvSpPr/>
          <p:nvPr/>
        </p:nvSpPr>
        <p:spPr>
          <a:xfrm>
            <a:off x="298402" y="1136326"/>
            <a:ext cx="4743498" cy="830997"/>
          </a:xfrm>
          <a:prstGeom prst="rect">
            <a:avLst/>
          </a:prstGeom>
        </p:spPr>
        <p:txBody>
          <a:bodyPr wrap="square">
            <a:spAutoFit/>
          </a:bodyPr>
          <a:lstStyle/>
          <a:p>
            <a:r>
              <a:rPr lang="en-US" sz="2400" b="1" dirty="0">
                <a:solidFill>
                  <a:srgbClr val="002060"/>
                </a:solidFill>
              </a:rPr>
              <a:t>Match Individual Need With the Right Care</a:t>
            </a:r>
          </a:p>
        </p:txBody>
      </p:sp>
      <p:sp>
        <p:nvSpPr>
          <p:cNvPr id="38" name="Rectangle 37">
            <a:extLst>
              <a:ext uri="{FF2B5EF4-FFF2-40B4-BE49-F238E27FC236}">
                <a16:creationId xmlns:a16="http://schemas.microsoft.com/office/drawing/2014/main" id="{6262059F-41C9-9C4E-8A3A-C4577C041ECE}"/>
              </a:ext>
            </a:extLst>
          </p:cNvPr>
          <p:cNvSpPr/>
          <p:nvPr/>
        </p:nvSpPr>
        <p:spPr>
          <a:xfrm>
            <a:off x="5605800" y="1136326"/>
            <a:ext cx="6695191" cy="5893921"/>
          </a:xfrm>
          <a:prstGeom prst="rect">
            <a:avLst/>
          </a:prstGeom>
        </p:spPr>
        <p:txBody>
          <a:bodyPr wrap="square">
            <a:spAutoFit/>
          </a:bodyPr>
          <a:lstStyle/>
          <a:p>
            <a:pPr>
              <a:spcAft>
                <a:spcPts val="600"/>
              </a:spcAft>
            </a:pPr>
            <a:r>
              <a:rPr lang="en-US" sz="1200" b="1" dirty="0"/>
              <a:t>Why is this so critical?</a:t>
            </a:r>
            <a:endParaRPr lang="en-US" sz="1200" dirty="0"/>
          </a:p>
          <a:p>
            <a:pPr marL="171450" indent="-171450">
              <a:buFont typeface="Arial" panose="020B0604020202020204" pitchFamily="34" charset="0"/>
              <a:buChar char="•"/>
            </a:pPr>
            <a:r>
              <a:rPr lang="en-US" sz="1200" b="1" dirty="0"/>
              <a:t>8-10 years is the average time between symptom onset to first treatment. </a:t>
            </a:r>
            <a:r>
              <a:rPr lang="en-US" sz="1200" dirty="0"/>
              <a:t>This time frame often coincides with the development of other comorbidities, which complicates appropriate diagnosis.</a:t>
            </a:r>
          </a:p>
          <a:p>
            <a:endParaRPr lang="en-US" sz="1200" dirty="0"/>
          </a:p>
          <a:p>
            <a:pPr marL="171450" indent="-171450">
              <a:buFont typeface="Arial" panose="020B0604020202020204" pitchFamily="34" charset="0"/>
              <a:buChar char="•"/>
            </a:pPr>
            <a:r>
              <a:rPr lang="en-US" sz="1200" b="1" dirty="0"/>
              <a:t>Behavioral health conditions are often co-morbid with physical health conditions and other behavioral health conditions. </a:t>
            </a:r>
            <a:r>
              <a:rPr lang="en-US" sz="1200" dirty="0"/>
              <a:t>This, coupled with the extended time frames between onset and treatment, lead to long, challenging treatment paths and high costs.</a:t>
            </a:r>
          </a:p>
          <a:p>
            <a:endParaRPr lang="en-US" sz="1200" dirty="0"/>
          </a:p>
          <a:p>
            <a:pPr marL="171450" indent="-171450">
              <a:buFont typeface="Arial" panose="020B0604020202020204" pitchFamily="34" charset="0"/>
              <a:buChar char="•"/>
            </a:pPr>
            <a:r>
              <a:rPr lang="en-US" sz="1200" dirty="0"/>
              <a:t>The science of behavioral health is still young, lacking many of the independent biomarkers and independent metrics found in physical health, and relying heavily on subjective screening. </a:t>
            </a:r>
            <a:r>
              <a:rPr lang="en-US" sz="1200" b="1" dirty="0"/>
              <a:t>This makes proper diagnosis a challenge.</a:t>
            </a:r>
          </a:p>
          <a:p>
            <a:endParaRPr lang="en-US" sz="1200" dirty="0"/>
          </a:p>
          <a:p>
            <a:pPr marL="171450" indent="-171450">
              <a:buFont typeface="Arial" panose="020B0604020202020204" pitchFamily="34" charset="0"/>
              <a:buChar char="•"/>
            </a:pPr>
            <a:r>
              <a:rPr lang="en-US" sz="1200" dirty="0"/>
              <a:t>Even when patients get a proper diagnosis, the cost of behavioral health and issues of accessibility (lack of behavioral health clinicians, transportation, lack of insurance coverage, etc.) </a:t>
            </a:r>
            <a:r>
              <a:rPr lang="en-US" sz="1200" b="1" dirty="0"/>
              <a:t>may prevent these patients from getting the care they need.</a:t>
            </a:r>
          </a:p>
          <a:p>
            <a:endParaRPr lang="en-US" sz="1200" dirty="0"/>
          </a:p>
          <a:p>
            <a:pPr marL="171450" indent="-171450">
              <a:buFont typeface="Arial" panose="020B0604020202020204" pitchFamily="34" charset="0"/>
              <a:buChar char="•"/>
            </a:pPr>
            <a:r>
              <a:rPr lang="en-US" sz="1200" dirty="0"/>
              <a:t>Even when patients are properly diagnosed and access care, that </a:t>
            </a:r>
            <a:r>
              <a:rPr lang="en-US" sz="1200" b="1" dirty="0"/>
              <a:t>care is not consistently being delivered by the right clinicians. </a:t>
            </a:r>
            <a:r>
              <a:rPr lang="en-US" sz="1200" dirty="0"/>
              <a:t>For example, the majority of clinical visits for depression are with general practitioners as opposed to behavioral health specialists. Additionally, these GPs are more likely to prescribe medication than refer patients to therapy.</a:t>
            </a:r>
          </a:p>
          <a:p>
            <a:endParaRPr lang="en-US" sz="1200" dirty="0"/>
          </a:p>
          <a:p>
            <a:pPr marL="171450" indent="-171450">
              <a:buFont typeface="Arial" panose="020B0604020202020204" pitchFamily="34" charset="0"/>
              <a:buChar char="•"/>
            </a:pPr>
            <a:r>
              <a:rPr lang="en-US" sz="1200" b="1" dirty="0"/>
              <a:t>Best practices are not being consistently applied</a:t>
            </a:r>
            <a:r>
              <a:rPr lang="en-US" sz="1200" dirty="0"/>
              <a:t>, which slows their continued development and overall acceptance. Additionally, these best practices are not being taught in medical school, which exacerbates the issue.</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b="1" dirty="0"/>
              <a:t>Due to pressures from fee-for-service models, behavioral health clinicians are not able to spend the amount of time with patients which is needed to make maximal progress in getting these patients back to health in the most efficient (but responsible) timeframes.</a:t>
            </a:r>
          </a:p>
        </p:txBody>
      </p:sp>
      <p:sp>
        <p:nvSpPr>
          <p:cNvPr id="46" name="Rectangle 45">
            <a:extLst>
              <a:ext uri="{FF2B5EF4-FFF2-40B4-BE49-F238E27FC236}">
                <a16:creationId xmlns:a16="http://schemas.microsoft.com/office/drawing/2014/main" id="{A1C640E4-09F4-FB45-8A3D-4280A40E9083}"/>
              </a:ext>
            </a:extLst>
          </p:cNvPr>
          <p:cNvSpPr/>
          <p:nvPr/>
        </p:nvSpPr>
        <p:spPr>
          <a:xfrm>
            <a:off x="228600" y="534035"/>
            <a:ext cx="6764994" cy="338554"/>
          </a:xfrm>
          <a:prstGeom prst="rect">
            <a:avLst/>
          </a:prstGeom>
        </p:spPr>
        <p:txBody>
          <a:bodyPr wrap="square" anchor="t">
            <a:spAutoFit/>
          </a:bodyPr>
          <a:lstStyle/>
          <a:p>
            <a:r>
              <a:rPr lang="en-US" sz="1600" b="1" dirty="0">
                <a:solidFill>
                  <a:srgbClr val="00A2E2"/>
                </a:solidFill>
              </a:rPr>
              <a:t>Identifying Behavioral Health Problem Areas</a:t>
            </a:r>
          </a:p>
        </p:txBody>
      </p:sp>
      <p:grpSp>
        <p:nvGrpSpPr>
          <p:cNvPr id="48" name="Group 47">
            <a:extLst>
              <a:ext uri="{FF2B5EF4-FFF2-40B4-BE49-F238E27FC236}">
                <a16:creationId xmlns:a16="http://schemas.microsoft.com/office/drawing/2014/main" id="{5BFC48C9-6458-AE4C-9A37-DD0D61A2CEB5}"/>
              </a:ext>
            </a:extLst>
          </p:cNvPr>
          <p:cNvGrpSpPr/>
          <p:nvPr/>
        </p:nvGrpSpPr>
        <p:grpSpPr>
          <a:xfrm>
            <a:off x="880677" y="2313891"/>
            <a:ext cx="3629125" cy="3144618"/>
            <a:chOff x="3467290" y="2011174"/>
            <a:chExt cx="5867022" cy="5083743"/>
          </a:xfrm>
        </p:grpSpPr>
        <p:sp>
          <p:nvSpPr>
            <p:cNvPr id="49" name="Freeform 176">
              <a:extLst>
                <a:ext uri="{FF2B5EF4-FFF2-40B4-BE49-F238E27FC236}">
                  <a16:creationId xmlns:a16="http://schemas.microsoft.com/office/drawing/2014/main" id="{3598A13C-601E-DC43-9B49-B4D159632C40}"/>
                </a:ext>
              </a:extLst>
            </p:cNvPr>
            <p:cNvSpPr>
              <a:spLocks/>
            </p:cNvSpPr>
            <p:nvPr/>
          </p:nvSpPr>
          <p:spPr bwMode="auto">
            <a:xfrm>
              <a:off x="4932533" y="4553045"/>
              <a:ext cx="2933511" cy="2541872"/>
            </a:xfrm>
            <a:custGeom>
              <a:avLst/>
              <a:gdLst>
                <a:gd name="T0" fmla="*/ 1540102 w 4486"/>
                <a:gd name="T1" fmla="*/ 0 h 3885"/>
                <a:gd name="T2" fmla="*/ 0 w 4486"/>
                <a:gd name="T3" fmla="*/ 2667613 h 3885"/>
                <a:gd name="T4" fmla="*/ 3079517 w 4486"/>
                <a:gd name="T5" fmla="*/ 2667613 h 3885"/>
                <a:gd name="T6" fmla="*/ 1540102 w 4486"/>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5">
                  <a:moveTo>
                    <a:pt x="2243" y="0"/>
                  </a:moveTo>
                  <a:lnTo>
                    <a:pt x="0" y="3884"/>
                  </a:lnTo>
                  <a:lnTo>
                    <a:pt x="4485" y="3884"/>
                  </a:lnTo>
                  <a:lnTo>
                    <a:pt x="2243" y="0"/>
                  </a:lnTo>
                </a:path>
              </a:pathLst>
            </a:custGeom>
            <a:solidFill>
              <a:srgbClr val="00A2E2"/>
            </a:solidFill>
            <a:ln w="28575">
              <a:solidFill>
                <a:schemeClr val="bg1"/>
              </a:solidFill>
              <a:round/>
              <a:headEnd/>
              <a:tailEnd/>
            </a:ln>
          </p:spPr>
          <p:txBody>
            <a:bodyPr wrap="none" anchor="ctr"/>
            <a:lstStyle/>
            <a:p>
              <a:endParaRPr lang="en-US" sz="3429" dirty="0"/>
            </a:p>
          </p:txBody>
        </p:sp>
        <p:sp>
          <p:nvSpPr>
            <p:cNvPr id="50" name="Freeform 177">
              <a:extLst>
                <a:ext uri="{FF2B5EF4-FFF2-40B4-BE49-F238E27FC236}">
                  <a16:creationId xmlns:a16="http://schemas.microsoft.com/office/drawing/2014/main" id="{3CD3CD6E-6A2F-F14E-8340-943AC5A1463C}"/>
                </a:ext>
              </a:extLst>
            </p:cNvPr>
            <p:cNvSpPr>
              <a:spLocks/>
            </p:cNvSpPr>
            <p:nvPr/>
          </p:nvSpPr>
          <p:spPr bwMode="auto">
            <a:xfrm>
              <a:off x="6400801" y="2011174"/>
              <a:ext cx="2933511" cy="2541871"/>
            </a:xfrm>
            <a:custGeom>
              <a:avLst/>
              <a:gdLst>
                <a:gd name="T0" fmla="*/ 1539760 w 4485"/>
                <a:gd name="T1" fmla="*/ 0 h 3884"/>
                <a:gd name="T2" fmla="*/ 0 w 4485"/>
                <a:gd name="T3" fmla="*/ 2667611 h 3884"/>
                <a:gd name="T4" fmla="*/ 3079519 w 4485"/>
                <a:gd name="T5" fmla="*/ 2667611 h 3884"/>
                <a:gd name="T6" fmla="*/ 1539760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2" y="0"/>
                  </a:moveTo>
                  <a:lnTo>
                    <a:pt x="0" y="3883"/>
                  </a:lnTo>
                  <a:lnTo>
                    <a:pt x="4484" y="3883"/>
                  </a:lnTo>
                  <a:lnTo>
                    <a:pt x="2242" y="0"/>
                  </a:lnTo>
                </a:path>
              </a:pathLst>
            </a:custGeom>
            <a:solidFill>
              <a:srgbClr val="00A2E2"/>
            </a:solidFill>
            <a:ln w="28575">
              <a:solidFill>
                <a:schemeClr val="bg1"/>
              </a:solidFill>
              <a:round/>
              <a:headEnd/>
              <a:tailEnd/>
            </a:ln>
          </p:spPr>
          <p:txBody>
            <a:bodyPr wrap="none" anchor="ctr"/>
            <a:lstStyle/>
            <a:p>
              <a:endParaRPr lang="en-US" sz="3429" dirty="0"/>
            </a:p>
          </p:txBody>
        </p:sp>
        <p:sp>
          <p:nvSpPr>
            <p:cNvPr id="51" name="Freeform 178">
              <a:extLst>
                <a:ext uri="{FF2B5EF4-FFF2-40B4-BE49-F238E27FC236}">
                  <a16:creationId xmlns:a16="http://schemas.microsoft.com/office/drawing/2014/main" id="{F7FAA1F8-FAD6-694D-899B-D2EC82A2DA6B}"/>
                </a:ext>
              </a:extLst>
            </p:cNvPr>
            <p:cNvSpPr>
              <a:spLocks/>
            </p:cNvSpPr>
            <p:nvPr/>
          </p:nvSpPr>
          <p:spPr bwMode="auto">
            <a:xfrm>
              <a:off x="4932533" y="2020246"/>
              <a:ext cx="2933511" cy="2540360"/>
            </a:xfrm>
            <a:custGeom>
              <a:avLst/>
              <a:gdLst>
                <a:gd name="T0" fmla="*/ 1540102 w 4486"/>
                <a:gd name="T1" fmla="*/ 2667613 h 3883"/>
                <a:gd name="T2" fmla="*/ 3079517 w 4486"/>
                <a:gd name="T3" fmla="*/ 0 h 3883"/>
                <a:gd name="T4" fmla="*/ 0 w 4486"/>
                <a:gd name="T5" fmla="*/ 0 h 3883"/>
                <a:gd name="T6" fmla="*/ 1540102 w 4486"/>
                <a:gd name="T7" fmla="*/ 2667613 h 38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3">
                  <a:moveTo>
                    <a:pt x="2243" y="3882"/>
                  </a:moveTo>
                  <a:lnTo>
                    <a:pt x="4485" y="0"/>
                  </a:lnTo>
                  <a:lnTo>
                    <a:pt x="0" y="0"/>
                  </a:lnTo>
                  <a:lnTo>
                    <a:pt x="2243" y="3882"/>
                  </a:lnTo>
                </a:path>
              </a:pathLst>
            </a:custGeom>
            <a:solidFill>
              <a:srgbClr val="00A2E2"/>
            </a:solidFill>
            <a:ln w="28575">
              <a:solidFill>
                <a:schemeClr val="bg1"/>
              </a:solidFill>
              <a:round/>
              <a:headEnd/>
              <a:tailEnd/>
            </a:ln>
          </p:spPr>
          <p:txBody>
            <a:bodyPr wrap="none" anchor="ctr"/>
            <a:lstStyle/>
            <a:p>
              <a:endParaRPr lang="en-US" sz="3429" dirty="0"/>
            </a:p>
          </p:txBody>
        </p:sp>
        <p:sp>
          <p:nvSpPr>
            <p:cNvPr id="52" name="Freeform 179">
              <a:extLst>
                <a:ext uri="{FF2B5EF4-FFF2-40B4-BE49-F238E27FC236}">
                  <a16:creationId xmlns:a16="http://schemas.microsoft.com/office/drawing/2014/main" id="{CE8FF102-4255-4F4F-A350-D8C33761AF7F}"/>
                </a:ext>
              </a:extLst>
            </p:cNvPr>
            <p:cNvSpPr>
              <a:spLocks/>
            </p:cNvSpPr>
            <p:nvPr/>
          </p:nvSpPr>
          <p:spPr bwMode="auto">
            <a:xfrm>
              <a:off x="6400801" y="4553045"/>
              <a:ext cx="2933511" cy="2541872"/>
            </a:xfrm>
            <a:custGeom>
              <a:avLst/>
              <a:gdLst>
                <a:gd name="T0" fmla="*/ 0 w 4485"/>
                <a:gd name="T1" fmla="*/ 0 h 3885"/>
                <a:gd name="T2" fmla="*/ 1539760 w 4485"/>
                <a:gd name="T3" fmla="*/ 2667613 h 3885"/>
                <a:gd name="T4" fmla="*/ 3079519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2" y="3884"/>
                  </a:lnTo>
                  <a:lnTo>
                    <a:pt x="4484" y="0"/>
                  </a:lnTo>
                  <a:lnTo>
                    <a:pt x="0" y="0"/>
                  </a:lnTo>
                </a:path>
              </a:pathLst>
            </a:custGeom>
            <a:solidFill>
              <a:srgbClr val="003963"/>
            </a:solidFill>
            <a:ln w="28575">
              <a:solidFill>
                <a:schemeClr val="bg1"/>
              </a:solidFill>
              <a:round/>
              <a:headEnd/>
              <a:tailEnd/>
            </a:ln>
          </p:spPr>
          <p:txBody>
            <a:bodyPr wrap="none" anchor="ctr"/>
            <a:lstStyle/>
            <a:p>
              <a:endParaRPr lang="en-US" sz="3429" dirty="0">
                <a:solidFill>
                  <a:srgbClr val="002060"/>
                </a:solidFill>
              </a:endParaRPr>
            </a:p>
          </p:txBody>
        </p:sp>
        <p:sp>
          <p:nvSpPr>
            <p:cNvPr id="53" name="Freeform 180">
              <a:extLst>
                <a:ext uri="{FF2B5EF4-FFF2-40B4-BE49-F238E27FC236}">
                  <a16:creationId xmlns:a16="http://schemas.microsoft.com/office/drawing/2014/main" id="{A744D439-CFE1-A84E-A306-0AAE549B7934}"/>
                </a:ext>
              </a:extLst>
            </p:cNvPr>
            <p:cNvSpPr>
              <a:spLocks/>
            </p:cNvSpPr>
            <p:nvPr/>
          </p:nvSpPr>
          <p:spPr bwMode="auto">
            <a:xfrm>
              <a:off x="3467290" y="2011174"/>
              <a:ext cx="2933511" cy="2541871"/>
            </a:xfrm>
            <a:custGeom>
              <a:avLst/>
              <a:gdLst>
                <a:gd name="T0" fmla="*/ 1539072 w 4485"/>
                <a:gd name="T1" fmla="*/ 0 h 3884"/>
                <a:gd name="T2" fmla="*/ 0 w 4485"/>
                <a:gd name="T3" fmla="*/ 2667611 h 3884"/>
                <a:gd name="T4" fmla="*/ 3079517 w 4485"/>
                <a:gd name="T5" fmla="*/ 2667611 h 3884"/>
                <a:gd name="T6" fmla="*/ 1539072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1" y="0"/>
                  </a:moveTo>
                  <a:lnTo>
                    <a:pt x="0" y="3883"/>
                  </a:lnTo>
                  <a:lnTo>
                    <a:pt x="4484" y="3883"/>
                  </a:lnTo>
                  <a:lnTo>
                    <a:pt x="2241" y="0"/>
                  </a:lnTo>
                </a:path>
              </a:pathLst>
            </a:custGeom>
            <a:solidFill>
              <a:srgbClr val="00A2E2"/>
            </a:solidFill>
            <a:ln w="28575">
              <a:solidFill>
                <a:schemeClr val="bg1"/>
              </a:solidFill>
              <a:round/>
              <a:headEnd/>
              <a:tailEnd/>
            </a:ln>
          </p:spPr>
          <p:txBody>
            <a:bodyPr wrap="none" anchor="ctr"/>
            <a:lstStyle/>
            <a:p>
              <a:endParaRPr lang="en-US" sz="3429" dirty="0"/>
            </a:p>
          </p:txBody>
        </p:sp>
        <p:sp>
          <p:nvSpPr>
            <p:cNvPr id="54" name="Freeform 181">
              <a:extLst>
                <a:ext uri="{FF2B5EF4-FFF2-40B4-BE49-F238E27FC236}">
                  <a16:creationId xmlns:a16="http://schemas.microsoft.com/office/drawing/2014/main" id="{9E002CFD-ABAC-834D-A3B1-3D73632D53BB}"/>
                </a:ext>
              </a:extLst>
            </p:cNvPr>
            <p:cNvSpPr>
              <a:spLocks/>
            </p:cNvSpPr>
            <p:nvPr/>
          </p:nvSpPr>
          <p:spPr bwMode="auto">
            <a:xfrm>
              <a:off x="3467290" y="4553045"/>
              <a:ext cx="2933511" cy="2541872"/>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rgbClr val="00A2E2"/>
            </a:solidFill>
            <a:ln w="28575">
              <a:solidFill>
                <a:schemeClr val="bg1"/>
              </a:solidFill>
              <a:round/>
              <a:headEnd/>
              <a:tailEnd/>
            </a:ln>
          </p:spPr>
          <p:txBody>
            <a:bodyPr wrap="none" anchor="ctr"/>
            <a:lstStyle/>
            <a:p>
              <a:endParaRPr lang="en-US" sz="3429" dirty="0"/>
            </a:p>
          </p:txBody>
        </p:sp>
        <p:sp>
          <p:nvSpPr>
            <p:cNvPr id="55" name="TextBox 54">
              <a:extLst>
                <a:ext uri="{FF2B5EF4-FFF2-40B4-BE49-F238E27FC236}">
                  <a16:creationId xmlns:a16="http://schemas.microsoft.com/office/drawing/2014/main" id="{A1B39AF2-F151-0B4A-8321-5B0A2BF1B13A}"/>
                </a:ext>
              </a:extLst>
            </p:cNvPr>
            <p:cNvSpPr txBox="1"/>
            <p:nvPr/>
          </p:nvSpPr>
          <p:spPr>
            <a:xfrm>
              <a:off x="4365578" y="3191502"/>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6</a:t>
              </a:r>
            </a:p>
          </p:txBody>
        </p:sp>
        <p:sp>
          <p:nvSpPr>
            <p:cNvPr id="56" name="TextBox 55">
              <a:extLst>
                <a:ext uri="{FF2B5EF4-FFF2-40B4-BE49-F238E27FC236}">
                  <a16:creationId xmlns:a16="http://schemas.microsoft.com/office/drawing/2014/main" id="{B78D086F-34F8-1E47-81CC-027DE16983C5}"/>
                </a:ext>
              </a:extLst>
            </p:cNvPr>
            <p:cNvSpPr txBox="1"/>
            <p:nvPr/>
          </p:nvSpPr>
          <p:spPr>
            <a:xfrm>
              <a:off x="6090295" y="2187065"/>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1</a:t>
              </a:r>
            </a:p>
          </p:txBody>
        </p:sp>
        <p:sp>
          <p:nvSpPr>
            <p:cNvPr id="57" name="TextBox 56">
              <a:extLst>
                <a:ext uri="{FF2B5EF4-FFF2-40B4-BE49-F238E27FC236}">
                  <a16:creationId xmlns:a16="http://schemas.microsoft.com/office/drawing/2014/main" id="{34EF0460-06A4-954A-B957-3B841D19AF34}"/>
                </a:ext>
              </a:extLst>
            </p:cNvPr>
            <p:cNvSpPr txBox="1"/>
            <p:nvPr/>
          </p:nvSpPr>
          <p:spPr>
            <a:xfrm>
              <a:off x="7928385" y="3211510"/>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2</a:t>
              </a:r>
            </a:p>
          </p:txBody>
        </p:sp>
        <p:sp>
          <p:nvSpPr>
            <p:cNvPr id="58" name="TextBox 57">
              <a:extLst>
                <a:ext uri="{FF2B5EF4-FFF2-40B4-BE49-F238E27FC236}">
                  <a16:creationId xmlns:a16="http://schemas.microsoft.com/office/drawing/2014/main" id="{17FEC6EA-67EF-164C-BD79-84797C0BCB78}"/>
                </a:ext>
              </a:extLst>
            </p:cNvPr>
            <p:cNvSpPr txBox="1"/>
            <p:nvPr/>
          </p:nvSpPr>
          <p:spPr>
            <a:xfrm>
              <a:off x="7875031" y="5092237"/>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3</a:t>
              </a:r>
            </a:p>
          </p:txBody>
        </p:sp>
        <p:sp>
          <p:nvSpPr>
            <p:cNvPr id="59" name="TextBox 58">
              <a:extLst>
                <a:ext uri="{FF2B5EF4-FFF2-40B4-BE49-F238E27FC236}">
                  <a16:creationId xmlns:a16="http://schemas.microsoft.com/office/drawing/2014/main" id="{141BC39E-61EB-EF42-8297-340AA33DAE85}"/>
                </a:ext>
              </a:extLst>
            </p:cNvPr>
            <p:cNvSpPr txBox="1"/>
            <p:nvPr/>
          </p:nvSpPr>
          <p:spPr>
            <a:xfrm>
              <a:off x="6123639" y="6110009"/>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4</a:t>
              </a:r>
            </a:p>
          </p:txBody>
        </p:sp>
        <p:sp>
          <p:nvSpPr>
            <p:cNvPr id="60" name="TextBox 59">
              <a:extLst>
                <a:ext uri="{FF2B5EF4-FFF2-40B4-BE49-F238E27FC236}">
                  <a16:creationId xmlns:a16="http://schemas.microsoft.com/office/drawing/2014/main" id="{39A76FEB-1691-8541-A138-41FB27011DD8}"/>
                </a:ext>
              </a:extLst>
            </p:cNvPr>
            <p:cNvSpPr txBox="1"/>
            <p:nvPr/>
          </p:nvSpPr>
          <p:spPr>
            <a:xfrm>
              <a:off x="4378918" y="5132249"/>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5</a:t>
              </a:r>
            </a:p>
          </p:txBody>
        </p:sp>
      </p:grpSp>
    </p:spTree>
    <p:extLst>
      <p:ext uri="{BB962C8B-B14F-4D97-AF65-F5344CB8AC3E}">
        <p14:creationId xmlns:p14="http://schemas.microsoft.com/office/powerpoint/2010/main" val="919982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818B1C-7512-BF4C-A24D-63537D0ED002}"/>
              </a:ext>
            </a:extLst>
          </p:cNvPr>
          <p:cNvSpPr/>
          <p:nvPr/>
        </p:nvSpPr>
        <p:spPr>
          <a:xfrm>
            <a:off x="298402" y="1136326"/>
            <a:ext cx="5937298" cy="461665"/>
          </a:xfrm>
          <a:prstGeom prst="rect">
            <a:avLst/>
          </a:prstGeom>
        </p:spPr>
        <p:txBody>
          <a:bodyPr wrap="square">
            <a:spAutoFit/>
          </a:bodyPr>
          <a:lstStyle/>
          <a:p>
            <a:r>
              <a:rPr lang="en-US" sz="2400" b="1" dirty="0">
                <a:solidFill>
                  <a:srgbClr val="002060"/>
                </a:solidFill>
              </a:rPr>
              <a:t>Shift From Reactive to Proactive</a:t>
            </a:r>
          </a:p>
        </p:txBody>
      </p:sp>
      <p:sp>
        <p:nvSpPr>
          <p:cNvPr id="38" name="Rectangle 37">
            <a:extLst>
              <a:ext uri="{FF2B5EF4-FFF2-40B4-BE49-F238E27FC236}">
                <a16:creationId xmlns:a16="http://schemas.microsoft.com/office/drawing/2014/main" id="{6262059F-41C9-9C4E-8A3A-C4577C041ECE}"/>
              </a:ext>
            </a:extLst>
          </p:cNvPr>
          <p:cNvSpPr/>
          <p:nvPr/>
        </p:nvSpPr>
        <p:spPr>
          <a:xfrm>
            <a:off x="5603846" y="2004022"/>
            <a:ext cx="6537354" cy="5339923"/>
          </a:xfrm>
          <a:prstGeom prst="rect">
            <a:avLst/>
          </a:prstGeom>
        </p:spPr>
        <p:txBody>
          <a:bodyPr wrap="square">
            <a:spAutoFit/>
          </a:bodyPr>
          <a:lstStyle/>
          <a:p>
            <a:pPr>
              <a:spcAft>
                <a:spcPts val="600"/>
              </a:spcAft>
            </a:pPr>
            <a:r>
              <a:rPr lang="en-US" sz="1200" b="1" dirty="0"/>
              <a:t>Why is this so critical?</a:t>
            </a:r>
            <a:endParaRPr lang="en-US" sz="1200" dirty="0"/>
          </a:p>
          <a:p>
            <a:pPr marL="171450" indent="-171450">
              <a:buFont typeface="Arial" panose="020B0604020202020204" pitchFamily="34" charset="0"/>
              <a:buChar char="•"/>
            </a:pPr>
            <a:r>
              <a:rPr lang="en-US" sz="1200" b="1" dirty="0"/>
              <a:t>Individuals with behavioral health challenges are challenged by a health care system that cannot support their needs in a timely manner; </a:t>
            </a:r>
            <a:r>
              <a:rPr lang="en-US" sz="1200" dirty="0"/>
              <a:t>in fact, the average delay between onset of symptoms and intervention is 8-10 years.</a:t>
            </a:r>
          </a:p>
          <a:p>
            <a:endParaRPr lang="en-US" sz="1200" b="1" dirty="0"/>
          </a:p>
          <a:p>
            <a:pPr marL="171450" indent="-171450">
              <a:buFont typeface="Arial" panose="020B0604020202020204" pitchFamily="34" charset="0"/>
              <a:buChar char="•"/>
            </a:pPr>
            <a:r>
              <a:rPr lang="en-US" sz="1200" b="1" dirty="0"/>
              <a:t>Current emergency services are not equipped to handle dire mental health needs and dramatic episodic events. </a:t>
            </a:r>
            <a:r>
              <a:rPr lang="en-US" sz="1200" dirty="0"/>
              <a:t>83% of emergency departments do not even have a psychiatrist on call, while 3 of 4 ER doctors said there were patients waiting for psychiatric beds during their last shift.   </a:t>
            </a:r>
          </a:p>
          <a:p>
            <a:endParaRPr lang="en-US" sz="1200" b="1" dirty="0"/>
          </a:p>
          <a:p>
            <a:pPr marL="171450" indent="-171450">
              <a:buFont typeface="Arial" panose="020B0604020202020204" pitchFamily="34" charset="0"/>
              <a:buChar char="•"/>
            </a:pPr>
            <a:r>
              <a:rPr lang="en-US" sz="1200" b="1" dirty="0"/>
              <a:t>Members and the industry are not prepared to identify and align members to care when they need it, at all stages of acuity</a:t>
            </a:r>
            <a:r>
              <a:rPr lang="en-US" sz="1200" dirty="0"/>
              <a:t> - 56% of adults with a mental illness receive no treatment.</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b="1" dirty="0"/>
              <a:t>Despite general societal advancement in 24/7 digital tools and predictive modeling, </a:t>
            </a:r>
            <a:r>
              <a:rPr lang="en-US" sz="1200" dirty="0"/>
              <a:t>behavioral healthcare has few predictive tools that are both readily adopted and evidence-based.</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b="1" dirty="0"/>
              <a:t>Targeted behavioral health outreach is hamstrung by the inability to both leverage and integrate data sources for outreach </a:t>
            </a:r>
            <a:r>
              <a:rPr lang="en-US" sz="1200" dirty="0"/>
              <a:t>(e.g., smartphone, AI augmented psychotherapy, claims, clinical, wearables) across various platforms.</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b="1" dirty="0"/>
              <a:t>Health plan monitoring is challenged to identify and correct treatment protocol that is inconsistent and perhaps strays from best-in-class care.</a:t>
            </a:r>
          </a:p>
          <a:p>
            <a:pPr marL="171450" indent="-171450">
              <a:buFont typeface="Arial" panose="020B0604020202020204" pitchFamily="34" charset="0"/>
              <a:buChar char="•"/>
            </a:pPr>
            <a:endParaRPr lang="en-US" sz="1200" b="1" dirty="0"/>
          </a:p>
          <a:p>
            <a:pPr marL="171450" indent="-171450">
              <a:buFont typeface="Arial" panose="020B0604020202020204" pitchFamily="34" charset="0"/>
              <a:buChar char="•"/>
            </a:pPr>
            <a:r>
              <a:rPr lang="en-US" sz="1200" b="1" dirty="0"/>
              <a:t>Patients rarely are afforded opportunities to align to physicians and support structures that meet their personalized preferences and sub-specialty needs.</a:t>
            </a:r>
          </a:p>
          <a:p>
            <a:endParaRPr lang="en-US" sz="1200" dirty="0"/>
          </a:p>
        </p:txBody>
      </p:sp>
      <p:sp>
        <p:nvSpPr>
          <p:cNvPr id="46" name="Rectangle 45">
            <a:extLst>
              <a:ext uri="{FF2B5EF4-FFF2-40B4-BE49-F238E27FC236}">
                <a16:creationId xmlns:a16="http://schemas.microsoft.com/office/drawing/2014/main" id="{A1C640E4-09F4-FB45-8A3D-4280A40E9083}"/>
              </a:ext>
            </a:extLst>
          </p:cNvPr>
          <p:cNvSpPr/>
          <p:nvPr/>
        </p:nvSpPr>
        <p:spPr>
          <a:xfrm>
            <a:off x="228600" y="534035"/>
            <a:ext cx="6764994" cy="338554"/>
          </a:xfrm>
          <a:prstGeom prst="rect">
            <a:avLst/>
          </a:prstGeom>
        </p:spPr>
        <p:txBody>
          <a:bodyPr wrap="square" anchor="t">
            <a:spAutoFit/>
          </a:bodyPr>
          <a:lstStyle/>
          <a:p>
            <a:r>
              <a:rPr lang="en-US" sz="1600" b="1" dirty="0">
                <a:solidFill>
                  <a:srgbClr val="00A2E2"/>
                </a:solidFill>
              </a:rPr>
              <a:t>Identifying Behavioral Health Problem Areas</a:t>
            </a:r>
          </a:p>
        </p:txBody>
      </p:sp>
      <p:grpSp>
        <p:nvGrpSpPr>
          <p:cNvPr id="48" name="Group 47">
            <a:extLst>
              <a:ext uri="{FF2B5EF4-FFF2-40B4-BE49-F238E27FC236}">
                <a16:creationId xmlns:a16="http://schemas.microsoft.com/office/drawing/2014/main" id="{5BFC48C9-6458-AE4C-9A37-DD0D61A2CEB5}"/>
              </a:ext>
            </a:extLst>
          </p:cNvPr>
          <p:cNvGrpSpPr/>
          <p:nvPr/>
        </p:nvGrpSpPr>
        <p:grpSpPr>
          <a:xfrm>
            <a:off x="880677" y="2313891"/>
            <a:ext cx="3629125" cy="3144618"/>
            <a:chOff x="3467290" y="2011174"/>
            <a:chExt cx="5867022" cy="5083743"/>
          </a:xfrm>
        </p:grpSpPr>
        <p:sp>
          <p:nvSpPr>
            <p:cNvPr id="49" name="Freeform 176">
              <a:extLst>
                <a:ext uri="{FF2B5EF4-FFF2-40B4-BE49-F238E27FC236}">
                  <a16:creationId xmlns:a16="http://schemas.microsoft.com/office/drawing/2014/main" id="{3598A13C-601E-DC43-9B49-B4D159632C40}"/>
                </a:ext>
              </a:extLst>
            </p:cNvPr>
            <p:cNvSpPr>
              <a:spLocks/>
            </p:cNvSpPr>
            <p:nvPr/>
          </p:nvSpPr>
          <p:spPr bwMode="auto">
            <a:xfrm>
              <a:off x="4932533" y="4553045"/>
              <a:ext cx="2933511" cy="2541872"/>
            </a:xfrm>
            <a:custGeom>
              <a:avLst/>
              <a:gdLst>
                <a:gd name="T0" fmla="*/ 1540102 w 4486"/>
                <a:gd name="T1" fmla="*/ 0 h 3885"/>
                <a:gd name="T2" fmla="*/ 0 w 4486"/>
                <a:gd name="T3" fmla="*/ 2667613 h 3885"/>
                <a:gd name="T4" fmla="*/ 3079517 w 4486"/>
                <a:gd name="T5" fmla="*/ 2667613 h 3885"/>
                <a:gd name="T6" fmla="*/ 1540102 w 4486"/>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5">
                  <a:moveTo>
                    <a:pt x="2243" y="0"/>
                  </a:moveTo>
                  <a:lnTo>
                    <a:pt x="0" y="3884"/>
                  </a:lnTo>
                  <a:lnTo>
                    <a:pt x="4485" y="3884"/>
                  </a:lnTo>
                  <a:lnTo>
                    <a:pt x="2243" y="0"/>
                  </a:lnTo>
                </a:path>
              </a:pathLst>
            </a:custGeom>
            <a:solidFill>
              <a:srgbClr val="003963"/>
            </a:solidFill>
            <a:ln w="28575">
              <a:solidFill>
                <a:schemeClr val="bg1"/>
              </a:solidFill>
              <a:round/>
              <a:headEnd/>
              <a:tailEnd/>
            </a:ln>
          </p:spPr>
          <p:txBody>
            <a:bodyPr wrap="none" anchor="ctr"/>
            <a:lstStyle/>
            <a:p>
              <a:endParaRPr lang="en-US" sz="3429" dirty="0"/>
            </a:p>
          </p:txBody>
        </p:sp>
        <p:sp>
          <p:nvSpPr>
            <p:cNvPr id="50" name="Freeform 177">
              <a:extLst>
                <a:ext uri="{FF2B5EF4-FFF2-40B4-BE49-F238E27FC236}">
                  <a16:creationId xmlns:a16="http://schemas.microsoft.com/office/drawing/2014/main" id="{3CD3CD6E-6A2F-F14E-8340-943AC5A1463C}"/>
                </a:ext>
              </a:extLst>
            </p:cNvPr>
            <p:cNvSpPr>
              <a:spLocks/>
            </p:cNvSpPr>
            <p:nvPr/>
          </p:nvSpPr>
          <p:spPr bwMode="auto">
            <a:xfrm>
              <a:off x="6400801" y="2011174"/>
              <a:ext cx="2933511" cy="2541871"/>
            </a:xfrm>
            <a:custGeom>
              <a:avLst/>
              <a:gdLst>
                <a:gd name="T0" fmla="*/ 1539760 w 4485"/>
                <a:gd name="T1" fmla="*/ 0 h 3884"/>
                <a:gd name="T2" fmla="*/ 0 w 4485"/>
                <a:gd name="T3" fmla="*/ 2667611 h 3884"/>
                <a:gd name="T4" fmla="*/ 3079519 w 4485"/>
                <a:gd name="T5" fmla="*/ 2667611 h 3884"/>
                <a:gd name="T6" fmla="*/ 1539760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2" y="0"/>
                  </a:moveTo>
                  <a:lnTo>
                    <a:pt x="0" y="3883"/>
                  </a:lnTo>
                  <a:lnTo>
                    <a:pt x="4484" y="3883"/>
                  </a:lnTo>
                  <a:lnTo>
                    <a:pt x="2242" y="0"/>
                  </a:lnTo>
                </a:path>
              </a:pathLst>
            </a:custGeom>
            <a:solidFill>
              <a:srgbClr val="00A2E2"/>
            </a:solidFill>
            <a:ln w="28575">
              <a:solidFill>
                <a:schemeClr val="bg1"/>
              </a:solidFill>
              <a:round/>
              <a:headEnd/>
              <a:tailEnd/>
            </a:ln>
          </p:spPr>
          <p:txBody>
            <a:bodyPr wrap="none" anchor="ctr"/>
            <a:lstStyle/>
            <a:p>
              <a:endParaRPr lang="en-US" sz="3429" dirty="0"/>
            </a:p>
          </p:txBody>
        </p:sp>
        <p:sp>
          <p:nvSpPr>
            <p:cNvPr id="51" name="Freeform 178">
              <a:extLst>
                <a:ext uri="{FF2B5EF4-FFF2-40B4-BE49-F238E27FC236}">
                  <a16:creationId xmlns:a16="http://schemas.microsoft.com/office/drawing/2014/main" id="{F7FAA1F8-FAD6-694D-899B-D2EC82A2DA6B}"/>
                </a:ext>
              </a:extLst>
            </p:cNvPr>
            <p:cNvSpPr>
              <a:spLocks/>
            </p:cNvSpPr>
            <p:nvPr/>
          </p:nvSpPr>
          <p:spPr bwMode="auto">
            <a:xfrm>
              <a:off x="4932533" y="2020246"/>
              <a:ext cx="2933511" cy="2540360"/>
            </a:xfrm>
            <a:custGeom>
              <a:avLst/>
              <a:gdLst>
                <a:gd name="T0" fmla="*/ 1540102 w 4486"/>
                <a:gd name="T1" fmla="*/ 2667613 h 3883"/>
                <a:gd name="T2" fmla="*/ 3079517 w 4486"/>
                <a:gd name="T3" fmla="*/ 0 h 3883"/>
                <a:gd name="T4" fmla="*/ 0 w 4486"/>
                <a:gd name="T5" fmla="*/ 0 h 3883"/>
                <a:gd name="T6" fmla="*/ 1540102 w 4486"/>
                <a:gd name="T7" fmla="*/ 2667613 h 38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3">
                  <a:moveTo>
                    <a:pt x="2243" y="3882"/>
                  </a:moveTo>
                  <a:lnTo>
                    <a:pt x="4485" y="0"/>
                  </a:lnTo>
                  <a:lnTo>
                    <a:pt x="0" y="0"/>
                  </a:lnTo>
                  <a:lnTo>
                    <a:pt x="2243" y="3882"/>
                  </a:lnTo>
                </a:path>
              </a:pathLst>
            </a:custGeom>
            <a:solidFill>
              <a:srgbClr val="00A2E2"/>
            </a:solidFill>
            <a:ln w="28575">
              <a:solidFill>
                <a:schemeClr val="bg1"/>
              </a:solidFill>
              <a:round/>
              <a:headEnd/>
              <a:tailEnd/>
            </a:ln>
          </p:spPr>
          <p:txBody>
            <a:bodyPr wrap="none" anchor="ctr"/>
            <a:lstStyle/>
            <a:p>
              <a:endParaRPr lang="en-US" sz="3429" dirty="0"/>
            </a:p>
          </p:txBody>
        </p:sp>
        <p:sp>
          <p:nvSpPr>
            <p:cNvPr id="52" name="Freeform 179">
              <a:extLst>
                <a:ext uri="{FF2B5EF4-FFF2-40B4-BE49-F238E27FC236}">
                  <a16:creationId xmlns:a16="http://schemas.microsoft.com/office/drawing/2014/main" id="{CE8FF102-4255-4F4F-A350-D8C33761AF7F}"/>
                </a:ext>
              </a:extLst>
            </p:cNvPr>
            <p:cNvSpPr>
              <a:spLocks/>
            </p:cNvSpPr>
            <p:nvPr/>
          </p:nvSpPr>
          <p:spPr bwMode="auto">
            <a:xfrm>
              <a:off x="6400801" y="4553045"/>
              <a:ext cx="2933511" cy="2541872"/>
            </a:xfrm>
            <a:custGeom>
              <a:avLst/>
              <a:gdLst>
                <a:gd name="T0" fmla="*/ 0 w 4485"/>
                <a:gd name="T1" fmla="*/ 0 h 3885"/>
                <a:gd name="T2" fmla="*/ 1539760 w 4485"/>
                <a:gd name="T3" fmla="*/ 2667613 h 3885"/>
                <a:gd name="T4" fmla="*/ 3079519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2" y="3884"/>
                  </a:lnTo>
                  <a:lnTo>
                    <a:pt x="4484" y="0"/>
                  </a:lnTo>
                  <a:lnTo>
                    <a:pt x="0" y="0"/>
                  </a:lnTo>
                </a:path>
              </a:pathLst>
            </a:custGeom>
            <a:solidFill>
              <a:srgbClr val="00A2E2"/>
            </a:solidFill>
            <a:ln w="28575">
              <a:solidFill>
                <a:schemeClr val="bg1"/>
              </a:solidFill>
              <a:round/>
              <a:headEnd/>
              <a:tailEnd/>
            </a:ln>
          </p:spPr>
          <p:txBody>
            <a:bodyPr wrap="none" anchor="ctr"/>
            <a:lstStyle/>
            <a:p>
              <a:endParaRPr lang="en-US" sz="3429" dirty="0">
                <a:solidFill>
                  <a:srgbClr val="002060"/>
                </a:solidFill>
              </a:endParaRPr>
            </a:p>
          </p:txBody>
        </p:sp>
        <p:sp>
          <p:nvSpPr>
            <p:cNvPr id="53" name="Freeform 180">
              <a:extLst>
                <a:ext uri="{FF2B5EF4-FFF2-40B4-BE49-F238E27FC236}">
                  <a16:creationId xmlns:a16="http://schemas.microsoft.com/office/drawing/2014/main" id="{A744D439-CFE1-A84E-A306-0AAE549B7934}"/>
                </a:ext>
              </a:extLst>
            </p:cNvPr>
            <p:cNvSpPr>
              <a:spLocks/>
            </p:cNvSpPr>
            <p:nvPr/>
          </p:nvSpPr>
          <p:spPr bwMode="auto">
            <a:xfrm>
              <a:off x="3467290" y="2011174"/>
              <a:ext cx="2933511" cy="2541871"/>
            </a:xfrm>
            <a:custGeom>
              <a:avLst/>
              <a:gdLst>
                <a:gd name="T0" fmla="*/ 1539072 w 4485"/>
                <a:gd name="T1" fmla="*/ 0 h 3884"/>
                <a:gd name="T2" fmla="*/ 0 w 4485"/>
                <a:gd name="T3" fmla="*/ 2667611 h 3884"/>
                <a:gd name="T4" fmla="*/ 3079517 w 4485"/>
                <a:gd name="T5" fmla="*/ 2667611 h 3884"/>
                <a:gd name="T6" fmla="*/ 1539072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1" y="0"/>
                  </a:moveTo>
                  <a:lnTo>
                    <a:pt x="0" y="3883"/>
                  </a:lnTo>
                  <a:lnTo>
                    <a:pt x="4484" y="3883"/>
                  </a:lnTo>
                  <a:lnTo>
                    <a:pt x="2241" y="0"/>
                  </a:lnTo>
                </a:path>
              </a:pathLst>
            </a:custGeom>
            <a:solidFill>
              <a:srgbClr val="00A2E2"/>
            </a:solidFill>
            <a:ln w="28575">
              <a:solidFill>
                <a:schemeClr val="bg1"/>
              </a:solidFill>
              <a:round/>
              <a:headEnd/>
              <a:tailEnd/>
            </a:ln>
          </p:spPr>
          <p:txBody>
            <a:bodyPr wrap="none" anchor="ctr"/>
            <a:lstStyle/>
            <a:p>
              <a:endParaRPr lang="en-US" sz="3429" dirty="0"/>
            </a:p>
          </p:txBody>
        </p:sp>
        <p:sp>
          <p:nvSpPr>
            <p:cNvPr id="54" name="Freeform 181">
              <a:extLst>
                <a:ext uri="{FF2B5EF4-FFF2-40B4-BE49-F238E27FC236}">
                  <a16:creationId xmlns:a16="http://schemas.microsoft.com/office/drawing/2014/main" id="{9E002CFD-ABAC-834D-A3B1-3D73632D53BB}"/>
                </a:ext>
              </a:extLst>
            </p:cNvPr>
            <p:cNvSpPr>
              <a:spLocks/>
            </p:cNvSpPr>
            <p:nvPr/>
          </p:nvSpPr>
          <p:spPr bwMode="auto">
            <a:xfrm>
              <a:off x="3467290" y="4553045"/>
              <a:ext cx="2933511" cy="2541872"/>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rgbClr val="00A2E2"/>
            </a:solidFill>
            <a:ln w="28575">
              <a:solidFill>
                <a:schemeClr val="bg1"/>
              </a:solidFill>
              <a:round/>
              <a:headEnd/>
              <a:tailEnd/>
            </a:ln>
          </p:spPr>
          <p:txBody>
            <a:bodyPr wrap="none" anchor="ctr"/>
            <a:lstStyle/>
            <a:p>
              <a:endParaRPr lang="en-US" sz="3429" dirty="0"/>
            </a:p>
          </p:txBody>
        </p:sp>
        <p:sp>
          <p:nvSpPr>
            <p:cNvPr id="55" name="TextBox 54">
              <a:extLst>
                <a:ext uri="{FF2B5EF4-FFF2-40B4-BE49-F238E27FC236}">
                  <a16:creationId xmlns:a16="http://schemas.microsoft.com/office/drawing/2014/main" id="{A1B39AF2-F151-0B4A-8321-5B0A2BF1B13A}"/>
                </a:ext>
              </a:extLst>
            </p:cNvPr>
            <p:cNvSpPr txBox="1"/>
            <p:nvPr/>
          </p:nvSpPr>
          <p:spPr>
            <a:xfrm>
              <a:off x="4365578" y="3191502"/>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6</a:t>
              </a:r>
            </a:p>
          </p:txBody>
        </p:sp>
        <p:sp>
          <p:nvSpPr>
            <p:cNvPr id="56" name="TextBox 55">
              <a:extLst>
                <a:ext uri="{FF2B5EF4-FFF2-40B4-BE49-F238E27FC236}">
                  <a16:creationId xmlns:a16="http://schemas.microsoft.com/office/drawing/2014/main" id="{B78D086F-34F8-1E47-81CC-027DE16983C5}"/>
                </a:ext>
              </a:extLst>
            </p:cNvPr>
            <p:cNvSpPr txBox="1"/>
            <p:nvPr/>
          </p:nvSpPr>
          <p:spPr>
            <a:xfrm>
              <a:off x="6090295" y="2187065"/>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1</a:t>
              </a:r>
            </a:p>
          </p:txBody>
        </p:sp>
        <p:sp>
          <p:nvSpPr>
            <p:cNvPr id="57" name="TextBox 56">
              <a:extLst>
                <a:ext uri="{FF2B5EF4-FFF2-40B4-BE49-F238E27FC236}">
                  <a16:creationId xmlns:a16="http://schemas.microsoft.com/office/drawing/2014/main" id="{34EF0460-06A4-954A-B957-3B841D19AF34}"/>
                </a:ext>
              </a:extLst>
            </p:cNvPr>
            <p:cNvSpPr txBox="1"/>
            <p:nvPr/>
          </p:nvSpPr>
          <p:spPr>
            <a:xfrm>
              <a:off x="7928385" y="3211510"/>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2</a:t>
              </a:r>
            </a:p>
          </p:txBody>
        </p:sp>
        <p:sp>
          <p:nvSpPr>
            <p:cNvPr id="58" name="TextBox 57">
              <a:extLst>
                <a:ext uri="{FF2B5EF4-FFF2-40B4-BE49-F238E27FC236}">
                  <a16:creationId xmlns:a16="http://schemas.microsoft.com/office/drawing/2014/main" id="{17FEC6EA-67EF-164C-BD79-84797C0BCB78}"/>
                </a:ext>
              </a:extLst>
            </p:cNvPr>
            <p:cNvSpPr txBox="1"/>
            <p:nvPr/>
          </p:nvSpPr>
          <p:spPr>
            <a:xfrm>
              <a:off x="7875031" y="5092237"/>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3</a:t>
              </a:r>
            </a:p>
          </p:txBody>
        </p:sp>
        <p:sp>
          <p:nvSpPr>
            <p:cNvPr id="59" name="TextBox 58">
              <a:extLst>
                <a:ext uri="{FF2B5EF4-FFF2-40B4-BE49-F238E27FC236}">
                  <a16:creationId xmlns:a16="http://schemas.microsoft.com/office/drawing/2014/main" id="{141BC39E-61EB-EF42-8297-340AA33DAE85}"/>
                </a:ext>
              </a:extLst>
            </p:cNvPr>
            <p:cNvSpPr txBox="1"/>
            <p:nvPr/>
          </p:nvSpPr>
          <p:spPr>
            <a:xfrm>
              <a:off x="6123639" y="6110009"/>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4</a:t>
              </a:r>
            </a:p>
          </p:txBody>
        </p:sp>
        <p:sp>
          <p:nvSpPr>
            <p:cNvPr id="60" name="TextBox 59">
              <a:extLst>
                <a:ext uri="{FF2B5EF4-FFF2-40B4-BE49-F238E27FC236}">
                  <a16:creationId xmlns:a16="http://schemas.microsoft.com/office/drawing/2014/main" id="{39A76FEB-1691-8541-A138-41FB27011DD8}"/>
                </a:ext>
              </a:extLst>
            </p:cNvPr>
            <p:cNvSpPr txBox="1"/>
            <p:nvPr/>
          </p:nvSpPr>
          <p:spPr>
            <a:xfrm>
              <a:off x="4378918" y="5132249"/>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5</a:t>
              </a:r>
            </a:p>
          </p:txBody>
        </p:sp>
      </p:grpSp>
    </p:spTree>
    <p:extLst>
      <p:ext uri="{BB962C8B-B14F-4D97-AF65-F5344CB8AC3E}">
        <p14:creationId xmlns:p14="http://schemas.microsoft.com/office/powerpoint/2010/main" val="4067080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818B1C-7512-BF4C-A24D-63537D0ED002}"/>
              </a:ext>
            </a:extLst>
          </p:cNvPr>
          <p:cNvSpPr/>
          <p:nvPr/>
        </p:nvSpPr>
        <p:spPr>
          <a:xfrm>
            <a:off x="298402" y="1136326"/>
            <a:ext cx="6695192" cy="461665"/>
          </a:xfrm>
          <a:prstGeom prst="rect">
            <a:avLst/>
          </a:prstGeom>
        </p:spPr>
        <p:txBody>
          <a:bodyPr wrap="square">
            <a:spAutoFit/>
          </a:bodyPr>
          <a:lstStyle/>
          <a:p>
            <a:r>
              <a:rPr lang="en-US" sz="2400" b="1" dirty="0">
                <a:solidFill>
                  <a:srgbClr val="002060"/>
                </a:solidFill>
              </a:rPr>
              <a:t>Prevent Conditions Before They Start</a:t>
            </a:r>
          </a:p>
        </p:txBody>
      </p:sp>
      <p:sp>
        <p:nvSpPr>
          <p:cNvPr id="38" name="Rectangle 37">
            <a:extLst>
              <a:ext uri="{FF2B5EF4-FFF2-40B4-BE49-F238E27FC236}">
                <a16:creationId xmlns:a16="http://schemas.microsoft.com/office/drawing/2014/main" id="{6262059F-41C9-9C4E-8A3A-C4577C041ECE}"/>
              </a:ext>
            </a:extLst>
          </p:cNvPr>
          <p:cNvSpPr/>
          <p:nvPr/>
        </p:nvSpPr>
        <p:spPr>
          <a:xfrm>
            <a:off x="5603846" y="2004022"/>
            <a:ext cx="6537354" cy="4970591"/>
          </a:xfrm>
          <a:prstGeom prst="rect">
            <a:avLst/>
          </a:prstGeom>
        </p:spPr>
        <p:txBody>
          <a:bodyPr wrap="square">
            <a:spAutoFit/>
          </a:bodyPr>
          <a:lstStyle/>
          <a:p>
            <a:pPr>
              <a:spcAft>
                <a:spcPts val="600"/>
              </a:spcAft>
            </a:pPr>
            <a:r>
              <a:rPr lang="en-US" sz="1200" b="1" dirty="0"/>
              <a:t>Why is this so critical?</a:t>
            </a:r>
          </a:p>
          <a:p>
            <a:pPr marL="171450" indent="-171450">
              <a:buFont typeface="Arial" panose="020B0604020202020204" pitchFamily="34" charset="0"/>
              <a:buChar char="•"/>
            </a:pPr>
            <a:r>
              <a:rPr lang="en-US" sz="1200" b="1" dirty="0"/>
              <a:t>Prevention benefits everyone. </a:t>
            </a:r>
            <a:r>
              <a:rPr lang="en-US" sz="1200" dirty="0"/>
              <a:t>If we can prevent the increase and proliferation of behavioral health conditions, we can effectively lower future costs and complexity, avoid lost productivity, and increase quality of life.</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b="1" dirty="0"/>
              <a:t>Our health system can’t keep up with the increasing and overwhelming demand of behavioral health treatment. </a:t>
            </a:r>
            <a:r>
              <a:rPr lang="en-US" sz="1200" dirty="0"/>
              <a:t>There is a huge gap created by the lack of behavioral health clinicians to meet the growing demand of behavioral health patients.</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b="1" dirty="0"/>
              <a:t>Behavioral health conditions start young. </a:t>
            </a:r>
            <a:r>
              <a:rPr lang="en-US" sz="1200" dirty="0"/>
              <a:t>Many behavioral health conditions we see in adults are linked to Adverse Childhood Experiences (ACE) that can affect their mental health throughout their life.</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b="1" dirty="0"/>
              <a:t>Behavioral health is interconnected with physical health. </a:t>
            </a:r>
            <a:r>
              <a:rPr lang="en-US" sz="1200" dirty="0"/>
              <a:t>People’s whole health is a intertwined connection of physical and mental health. In order to best help people stay healthy, our system needs to adopt a “total health” approach to care.</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b="1" dirty="0"/>
              <a:t>Value and awareness of preventative resilience and mindfulness practices aren’t widely understood or adopted by people. </a:t>
            </a:r>
            <a:r>
              <a:rPr lang="en-US" sz="1200" dirty="0"/>
              <a:t>The lack of awareness and education for our patients will continue if non-clinicians don’t prioritize behavioral health prevention conversations.</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b="1" dirty="0"/>
              <a:t>Behavioral health prevention is difficult because there is no clear method of engagement, </a:t>
            </a:r>
            <a:r>
              <a:rPr lang="en-US" sz="1200" dirty="0"/>
              <a:t>detection and communication with the healthy population. We aren’t able to recognize at-risk populations before onset.</a:t>
            </a:r>
          </a:p>
          <a:p>
            <a:endParaRPr lang="en-US" sz="1200" dirty="0"/>
          </a:p>
        </p:txBody>
      </p:sp>
      <p:sp>
        <p:nvSpPr>
          <p:cNvPr id="46" name="Rectangle 45">
            <a:extLst>
              <a:ext uri="{FF2B5EF4-FFF2-40B4-BE49-F238E27FC236}">
                <a16:creationId xmlns:a16="http://schemas.microsoft.com/office/drawing/2014/main" id="{A1C640E4-09F4-FB45-8A3D-4280A40E9083}"/>
              </a:ext>
            </a:extLst>
          </p:cNvPr>
          <p:cNvSpPr/>
          <p:nvPr/>
        </p:nvSpPr>
        <p:spPr>
          <a:xfrm>
            <a:off x="228600" y="534035"/>
            <a:ext cx="6764994" cy="338554"/>
          </a:xfrm>
          <a:prstGeom prst="rect">
            <a:avLst/>
          </a:prstGeom>
        </p:spPr>
        <p:txBody>
          <a:bodyPr wrap="square" anchor="t">
            <a:spAutoFit/>
          </a:bodyPr>
          <a:lstStyle/>
          <a:p>
            <a:r>
              <a:rPr lang="en-US" sz="1600" b="1" dirty="0">
                <a:solidFill>
                  <a:srgbClr val="00A2E2"/>
                </a:solidFill>
              </a:rPr>
              <a:t>Identifying Behavioral Health Problem Areas</a:t>
            </a:r>
          </a:p>
        </p:txBody>
      </p:sp>
      <p:grpSp>
        <p:nvGrpSpPr>
          <p:cNvPr id="48" name="Group 47">
            <a:extLst>
              <a:ext uri="{FF2B5EF4-FFF2-40B4-BE49-F238E27FC236}">
                <a16:creationId xmlns:a16="http://schemas.microsoft.com/office/drawing/2014/main" id="{5BFC48C9-6458-AE4C-9A37-DD0D61A2CEB5}"/>
              </a:ext>
            </a:extLst>
          </p:cNvPr>
          <p:cNvGrpSpPr/>
          <p:nvPr/>
        </p:nvGrpSpPr>
        <p:grpSpPr>
          <a:xfrm>
            <a:off x="880677" y="2313891"/>
            <a:ext cx="3629125" cy="3144618"/>
            <a:chOff x="3467290" y="2011174"/>
            <a:chExt cx="5867022" cy="5083743"/>
          </a:xfrm>
        </p:grpSpPr>
        <p:sp>
          <p:nvSpPr>
            <p:cNvPr id="49" name="Freeform 176">
              <a:extLst>
                <a:ext uri="{FF2B5EF4-FFF2-40B4-BE49-F238E27FC236}">
                  <a16:creationId xmlns:a16="http://schemas.microsoft.com/office/drawing/2014/main" id="{3598A13C-601E-DC43-9B49-B4D159632C40}"/>
                </a:ext>
              </a:extLst>
            </p:cNvPr>
            <p:cNvSpPr>
              <a:spLocks/>
            </p:cNvSpPr>
            <p:nvPr/>
          </p:nvSpPr>
          <p:spPr bwMode="auto">
            <a:xfrm>
              <a:off x="4932533" y="4553045"/>
              <a:ext cx="2933511" cy="2541872"/>
            </a:xfrm>
            <a:custGeom>
              <a:avLst/>
              <a:gdLst>
                <a:gd name="T0" fmla="*/ 1540102 w 4486"/>
                <a:gd name="T1" fmla="*/ 0 h 3885"/>
                <a:gd name="T2" fmla="*/ 0 w 4486"/>
                <a:gd name="T3" fmla="*/ 2667613 h 3885"/>
                <a:gd name="T4" fmla="*/ 3079517 w 4486"/>
                <a:gd name="T5" fmla="*/ 2667613 h 3885"/>
                <a:gd name="T6" fmla="*/ 1540102 w 4486"/>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5">
                  <a:moveTo>
                    <a:pt x="2243" y="0"/>
                  </a:moveTo>
                  <a:lnTo>
                    <a:pt x="0" y="3884"/>
                  </a:lnTo>
                  <a:lnTo>
                    <a:pt x="4485" y="3884"/>
                  </a:lnTo>
                  <a:lnTo>
                    <a:pt x="2243" y="0"/>
                  </a:lnTo>
                </a:path>
              </a:pathLst>
            </a:custGeom>
            <a:solidFill>
              <a:srgbClr val="00A2E2"/>
            </a:solidFill>
            <a:ln w="28575">
              <a:solidFill>
                <a:schemeClr val="bg1"/>
              </a:solidFill>
              <a:round/>
              <a:headEnd/>
              <a:tailEnd/>
            </a:ln>
          </p:spPr>
          <p:txBody>
            <a:bodyPr wrap="none" anchor="ctr"/>
            <a:lstStyle/>
            <a:p>
              <a:endParaRPr lang="en-US" sz="3429" dirty="0"/>
            </a:p>
          </p:txBody>
        </p:sp>
        <p:sp>
          <p:nvSpPr>
            <p:cNvPr id="50" name="Freeform 177">
              <a:extLst>
                <a:ext uri="{FF2B5EF4-FFF2-40B4-BE49-F238E27FC236}">
                  <a16:creationId xmlns:a16="http://schemas.microsoft.com/office/drawing/2014/main" id="{3CD3CD6E-6A2F-F14E-8340-943AC5A1463C}"/>
                </a:ext>
              </a:extLst>
            </p:cNvPr>
            <p:cNvSpPr>
              <a:spLocks/>
            </p:cNvSpPr>
            <p:nvPr/>
          </p:nvSpPr>
          <p:spPr bwMode="auto">
            <a:xfrm>
              <a:off x="6400801" y="2011174"/>
              <a:ext cx="2933511" cy="2541871"/>
            </a:xfrm>
            <a:custGeom>
              <a:avLst/>
              <a:gdLst>
                <a:gd name="T0" fmla="*/ 1539760 w 4485"/>
                <a:gd name="T1" fmla="*/ 0 h 3884"/>
                <a:gd name="T2" fmla="*/ 0 w 4485"/>
                <a:gd name="T3" fmla="*/ 2667611 h 3884"/>
                <a:gd name="T4" fmla="*/ 3079519 w 4485"/>
                <a:gd name="T5" fmla="*/ 2667611 h 3884"/>
                <a:gd name="T6" fmla="*/ 1539760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2" y="0"/>
                  </a:moveTo>
                  <a:lnTo>
                    <a:pt x="0" y="3883"/>
                  </a:lnTo>
                  <a:lnTo>
                    <a:pt x="4484" y="3883"/>
                  </a:lnTo>
                  <a:lnTo>
                    <a:pt x="2242" y="0"/>
                  </a:lnTo>
                </a:path>
              </a:pathLst>
            </a:custGeom>
            <a:solidFill>
              <a:srgbClr val="00A2E2"/>
            </a:solidFill>
            <a:ln w="28575">
              <a:solidFill>
                <a:schemeClr val="bg1"/>
              </a:solidFill>
              <a:round/>
              <a:headEnd/>
              <a:tailEnd/>
            </a:ln>
          </p:spPr>
          <p:txBody>
            <a:bodyPr wrap="none" anchor="ctr"/>
            <a:lstStyle/>
            <a:p>
              <a:endParaRPr lang="en-US" sz="3429" dirty="0"/>
            </a:p>
          </p:txBody>
        </p:sp>
        <p:sp>
          <p:nvSpPr>
            <p:cNvPr id="51" name="Freeform 178">
              <a:extLst>
                <a:ext uri="{FF2B5EF4-FFF2-40B4-BE49-F238E27FC236}">
                  <a16:creationId xmlns:a16="http://schemas.microsoft.com/office/drawing/2014/main" id="{F7FAA1F8-FAD6-694D-899B-D2EC82A2DA6B}"/>
                </a:ext>
              </a:extLst>
            </p:cNvPr>
            <p:cNvSpPr>
              <a:spLocks/>
            </p:cNvSpPr>
            <p:nvPr/>
          </p:nvSpPr>
          <p:spPr bwMode="auto">
            <a:xfrm>
              <a:off x="4932533" y="2020246"/>
              <a:ext cx="2933511" cy="2540360"/>
            </a:xfrm>
            <a:custGeom>
              <a:avLst/>
              <a:gdLst>
                <a:gd name="T0" fmla="*/ 1540102 w 4486"/>
                <a:gd name="T1" fmla="*/ 2667613 h 3883"/>
                <a:gd name="T2" fmla="*/ 3079517 w 4486"/>
                <a:gd name="T3" fmla="*/ 0 h 3883"/>
                <a:gd name="T4" fmla="*/ 0 w 4486"/>
                <a:gd name="T5" fmla="*/ 0 h 3883"/>
                <a:gd name="T6" fmla="*/ 1540102 w 4486"/>
                <a:gd name="T7" fmla="*/ 2667613 h 38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3">
                  <a:moveTo>
                    <a:pt x="2243" y="3882"/>
                  </a:moveTo>
                  <a:lnTo>
                    <a:pt x="4485" y="0"/>
                  </a:lnTo>
                  <a:lnTo>
                    <a:pt x="0" y="0"/>
                  </a:lnTo>
                  <a:lnTo>
                    <a:pt x="2243" y="3882"/>
                  </a:lnTo>
                </a:path>
              </a:pathLst>
            </a:custGeom>
            <a:solidFill>
              <a:srgbClr val="00A2E2"/>
            </a:solidFill>
            <a:ln w="28575">
              <a:solidFill>
                <a:schemeClr val="bg1"/>
              </a:solidFill>
              <a:round/>
              <a:headEnd/>
              <a:tailEnd/>
            </a:ln>
          </p:spPr>
          <p:txBody>
            <a:bodyPr wrap="none" anchor="ctr"/>
            <a:lstStyle/>
            <a:p>
              <a:endParaRPr lang="en-US" sz="3429" dirty="0"/>
            </a:p>
          </p:txBody>
        </p:sp>
        <p:sp>
          <p:nvSpPr>
            <p:cNvPr id="52" name="Freeform 179">
              <a:extLst>
                <a:ext uri="{FF2B5EF4-FFF2-40B4-BE49-F238E27FC236}">
                  <a16:creationId xmlns:a16="http://schemas.microsoft.com/office/drawing/2014/main" id="{CE8FF102-4255-4F4F-A350-D8C33761AF7F}"/>
                </a:ext>
              </a:extLst>
            </p:cNvPr>
            <p:cNvSpPr>
              <a:spLocks/>
            </p:cNvSpPr>
            <p:nvPr/>
          </p:nvSpPr>
          <p:spPr bwMode="auto">
            <a:xfrm>
              <a:off x="6400801" y="4553045"/>
              <a:ext cx="2933511" cy="2541872"/>
            </a:xfrm>
            <a:custGeom>
              <a:avLst/>
              <a:gdLst>
                <a:gd name="T0" fmla="*/ 0 w 4485"/>
                <a:gd name="T1" fmla="*/ 0 h 3885"/>
                <a:gd name="T2" fmla="*/ 1539760 w 4485"/>
                <a:gd name="T3" fmla="*/ 2667613 h 3885"/>
                <a:gd name="T4" fmla="*/ 3079519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2" y="3884"/>
                  </a:lnTo>
                  <a:lnTo>
                    <a:pt x="4484" y="0"/>
                  </a:lnTo>
                  <a:lnTo>
                    <a:pt x="0" y="0"/>
                  </a:lnTo>
                </a:path>
              </a:pathLst>
            </a:custGeom>
            <a:solidFill>
              <a:srgbClr val="00A2E2"/>
            </a:solidFill>
            <a:ln w="28575">
              <a:solidFill>
                <a:schemeClr val="bg1"/>
              </a:solidFill>
              <a:round/>
              <a:headEnd/>
              <a:tailEnd/>
            </a:ln>
          </p:spPr>
          <p:txBody>
            <a:bodyPr wrap="none" anchor="ctr"/>
            <a:lstStyle/>
            <a:p>
              <a:endParaRPr lang="en-US" sz="3429" dirty="0">
                <a:solidFill>
                  <a:srgbClr val="002060"/>
                </a:solidFill>
              </a:endParaRPr>
            </a:p>
          </p:txBody>
        </p:sp>
        <p:sp>
          <p:nvSpPr>
            <p:cNvPr id="53" name="Freeform 180">
              <a:extLst>
                <a:ext uri="{FF2B5EF4-FFF2-40B4-BE49-F238E27FC236}">
                  <a16:creationId xmlns:a16="http://schemas.microsoft.com/office/drawing/2014/main" id="{A744D439-CFE1-A84E-A306-0AAE549B7934}"/>
                </a:ext>
              </a:extLst>
            </p:cNvPr>
            <p:cNvSpPr>
              <a:spLocks/>
            </p:cNvSpPr>
            <p:nvPr/>
          </p:nvSpPr>
          <p:spPr bwMode="auto">
            <a:xfrm>
              <a:off x="3467290" y="2011174"/>
              <a:ext cx="2933511" cy="2541871"/>
            </a:xfrm>
            <a:custGeom>
              <a:avLst/>
              <a:gdLst>
                <a:gd name="T0" fmla="*/ 1539072 w 4485"/>
                <a:gd name="T1" fmla="*/ 0 h 3884"/>
                <a:gd name="T2" fmla="*/ 0 w 4485"/>
                <a:gd name="T3" fmla="*/ 2667611 h 3884"/>
                <a:gd name="T4" fmla="*/ 3079517 w 4485"/>
                <a:gd name="T5" fmla="*/ 2667611 h 3884"/>
                <a:gd name="T6" fmla="*/ 1539072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1" y="0"/>
                  </a:moveTo>
                  <a:lnTo>
                    <a:pt x="0" y="3883"/>
                  </a:lnTo>
                  <a:lnTo>
                    <a:pt x="4484" y="3883"/>
                  </a:lnTo>
                  <a:lnTo>
                    <a:pt x="2241" y="0"/>
                  </a:lnTo>
                </a:path>
              </a:pathLst>
            </a:custGeom>
            <a:solidFill>
              <a:srgbClr val="00A2E2"/>
            </a:solidFill>
            <a:ln w="28575">
              <a:solidFill>
                <a:schemeClr val="bg1"/>
              </a:solidFill>
              <a:round/>
              <a:headEnd/>
              <a:tailEnd/>
            </a:ln>
          </p:spPr>
          <p:txBody>
            <a:bodyPr wrap="none" anchor="ctr"/>
            <a:lstStyle/>
            <a:p>
              <a:endParaRPr lang="en-US" sz="3429" dirty="0"/>
            </a:p>
          </p:txBody>
        </p:sp>
        <p:sp>
          <p:nvSpPr>
            <p:cNvPr id="54" name="Freeform 181">
              <a:extLst>
                <a:ext uri="{FF2B5EF4-FFF2-40B4-BE49-F238E27FC236}">
                  <a16:creationId xmlns:a16="http://schemas.microsoft.com/office/drawing/2014/main" id="{9E002CFD-ABAC-834D-A3B1-3D73632D53BB}"/>
                </a:ext>
              </a:extLst>
            </p:cNvPr>
            <p:cNvSpPr>
              <a:spLocks/>
            </p:cNvSpPr>
            <p:nvPr/>
          </p:nvSpPr>
          <p:spPr bwMode="auto">
            <a:xfrm>
              <a:off x="3467290" y="4553045"/>
              <a:ext cx="2933511" cy="2541872"/>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rgbClr val="003963"/>
            </a:solidFill>
            <a:ln w="28575">
              <a:solidFill>
                <a:schemeClr val="bg1"/>
              </a:solidFill>
              <a:round/>
              <a:headEnd/>
              <a:tailEnd/>
            </a:ln>
          </p:spPr>
          <p:txBody>
            <a:bodyPr wrap="none" anchor="ctr"/>
            <a:lstStyle/>
            <a:p>
              <a:endParaRPr lang="en-US" sz="3429" dirty="0"/>
            </a:p>
          </p:txBody>
        </p:sp>
        <p:sp>
          <p:nvSpPr>
            <p:cNvPr id="55" name="TextBox 54">
              <a:extLst>
                <a:ext uri="{FF2B5EF4-FFF2-40B4-BE49-F238E27FC236}">
                  <a16:creationId xmlns:a16="http://schemas.microsoft.com/office/drawing/2014/main" id="{A1B39AF2-F151-0B4A-8321-5B0A2BF1B13A}"/>
                </a:ext>
              </a:extLst>
            </p:cNvPr>
            <p:cNvSpPr txBox="1"/>
            <p:nvPr/>
          </p:nvSpPr>
          <p:spPr>
            <a:xfrm>
              <a:off x="4365578" y="3191502"/>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6</a:t>
              </a:r>
            </a:p>
          </p:txBody>
        </p:sp>
        <p:sp>
          <p:nvSpPr>
            <p:cNvPr id="56" name="TextBox 55">
              <a:extLst>
                <a:ext uri="{FF2B5EF4-FFF2-40B4-BE49-F238E27FC236}">
                  <a16:creationId xmlns:a16="http://schemas.microsoft.com/office/drawing/2014/main" id="{B78D086F-34F8-1E47-81CC-027DE16983C5}"/>
                </a:ext>
              </a:extLst>
            </p:cNvPr>
            <p:cNvSpPr txBox="1"/>
            <p:nvPr/>
          </p:nvSpPr>
          <p:spPr>
            <a:xfrm>
              <a:off x="6090295" y="2187065"/>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1</a:t>
              </a:r>
            </a:p>
          </p:txBody>
        </p:sp>
        <p:sp>
          <p:nvSpPr>
            <p:cNvPr id="57" name="TextBox 56">
              <a:extLst>
                <a:ext uri="{FF2B5EF4-FFF2-40B4-BE49-F238E27FC236}">
                  <a16:creationId xmlns:a16="http://schemas.microsoft.com/office/drawing/2014/main" id="{34EF0460-06A4-954A-B957-3B841D19AF34}"/>
                </a:ext>
              </a:extLst>
            </p:cNvPr>
            <p:cNvSpPr txBox="1"/>
            <p:nvPr/>
          </p:nvSpPr>
          <p:spPr>
            <a:xfrm>
              <a:off x="7928385" y="3211510"/>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2</a:t>
              </a:r>
            </a:p>
          </p:txBody>
        </p:sp>
        <p:sp>
          <p:nvSpPr>
            <p:cNvPr id="58" name="TextBox 57">
              <a:extLst>
                <a:ext uri="{FF2B5EF4-FFF2-40B4-BE49-F238E27FC236}">
                  <a16:creationId xmlns:a16="http://schemas.microsoft.com/office/drawing/2014/main" id="{17FEC6EA-67EF-164C-BD79-84797C0BCB78}"/>
                </a:ext>
              </a:extLst>
            </p:cNvPr>
            <p:cNvSpPr txBox="1"/>
            <p:nvPr/>
          </p:nvSpPr>
          <p:spPr>
            <a:xfrm>
              <a:off x="7875031" y="5092237"/>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3</a:t>
              </a:r>
            </a:p>
          </p:txBody>
        </p:sp>
        <p:sp>
          <p:nvSpPr>
            <p:cNvPr id="59" name="TextBox 58">
              <a:extLst>
                <a:ext uri="{FF2B5EF4-FFF2-40B4-BE49-F238E27FC236}">
                  <a16:creationId xmlns:a16="http://schemas.microsoft.com/office/drawing/2014/main" id="{141BC39E-61EB-EF42-8297-340AA33DAE85}"/>
                </a:ext>
              </a:extLst>
            </p:cNvPr>
            <p:cNvSpPr txBox="1"/>
            <p:nvPr/>
          </p:nvSpPr>
          <p:spPr>
            <a:xfrm>
              <a:off x="6123639" y="6110009"/>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4</a:t>
              </a:r>
            </a:p>
          </p:txBody>
        </p:sp>
        <p:sp>
          <p:nvSpPr>
            <p:cNvPr id="60" name="TextBox 59">
              <a:extLst>
                <a:ext uri="{FF2B5EF4-FFF2-40B4-BE49-F238E27FC236}">
                  <a16:creationId xmlns:a16="http://schemas.microsoft.com/office/drawing/2014/main" id="{39A76FEB-1691-8541-A138-41FB27011DD8}"/>
                </a:ext>
              </a:extLst>
            </p:cNvPr>
            <p:cNvSpPr txBox="1"/>
            <p:nvPr/>
          </p:nvSpPr>
          <p:spPr>
            <a:xfrm>
              <a:off x="4378918" y="5132249"/>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5</a:t>
              </a:r>
            </a:p>
          </p:txBody>
        </p:sp>
      </p:grpSp>
    </p:spTree>
    <p:extLst>
      <p:ext uri="{BB962C8B-B14F-4D97-AF65-F5344CB8AC3E}">
        <p14:creationId xmlns:p14="http://schemas.microsoft.com/office/powerpoint/2010/main" val="1151096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818B1C-7512-BF4C-A24D-63537D0ED002}"/>
              </a:ext>
            </a:extLst>
          </p:cNvPr>
          <p:cNvSpPr/>
          <p:nvPr/>
        </p:nvSpPr>
        <p:spPr>
          <a:xfrm>
            <a:off x="298402" y="1136326"/>
            <a:ext cx="6203998" cy="461665"/>
          </a:xfrm>
          <a:prstGeom prst="rect">
            <a:avLst/>
          </a:prstGeom>
        </p:spPr>
        <p:txBody>
          <a:bodyPr wrap="square">
            <a:spAutoFit/>
          </a:bodyPr>
          <a:lstStyle/>
          <a:p>
            <a:r>
              <a:rPr lang="en-US" sz="2400" b="1" dirty="0">
                <a:solidFill>
                  <a:srgbClr val="002060"/>
                </a:solidFill>
              </a:rPr>
              <a:t>Address Stigma and Cultural Challenges</a:t>
            </a:r>
          </a:p>
        </p:txBody>
      </p:sp>
      <p:sp>
        <p:nvSpPr>
          <p:cNvPr id="38" name="Rectangle 37">
            <a:extLst>
              <a:ext uri="{FF2B5EF4-FFF2-40B4-BE49-F238E27FC236}">
                <a16:creationId xmlns:a16="http://schemas.microsoft.com/office/drawing/2014/main" id="{6262059F-41C9-9C4E-8A3A-C4577C041ECE}"/>
              </a:ext>
            </a:extLst>
          </p:cNvPr>
          <p:cNvSpPr/>
          <p:nvPr/>
        </p:nvSpPr>
        <p:spPr>
          <a:xfrm>
            <a:off x="5603846" y="2004022"/>
            <a:ext cx="6476472" cy="4480904"/>
          </a:xfrm>
          <a:prstGeom prst="rect">
            <a:avLst/>
          </a:prstGeom>
        </p:spPr>
        <p:txBody>
          <a:bodyPr wrap="square">
            <a:spAutoFit/>
          </a:bodyPr>
          <a:lstStyle/>
          <a:p>
            <a:pPr>
              <a:spcAft>
                <a:spcPts val="600"/>
              </a:spcAft>
            </a:pPr>
            <a:r>
              <a:rPr lang="en-US" sz="1200" b="1" dirty="0"/>
              <a:t>Why is this so critical?</a:t>
            </a:r>
          </a:p>
          <a:p>
            <a:pPr marL="171450" indent="-171450">
              <a:buFont typeface="Arial" panose="020B0604020202020204" pitchFamily="34" charset="0"/>
              <a:buChar char="•"/>
            </a:pPr>
            <a:r>
              <a:rPr lang="en-US" sz="1200" dirty="0"/>
              <a:t>The experience of </a:t>
            </a:r>
            <a:r>
              <a:rPr lang="en-US" sz="1200" b="1" dirty="0"/>
              <a:t>stigma is a significant barrier </a:t>
            </a:r>
            <a:r>
              <a:rPr lang="en-US" sz="1200" dirty="0"/>
              <a:t>for at-risk individuals seeking and accessing the help they need.</a:t>
            </a:r>
          </a:p>
          <a:p>
            <a:endParaRPr lang="en-US" sz="1200" dirty="0"/>
          </a:p>
          <a:p>
            <a:pPr marL="171450" indent="-171450">
              <a:buFont typeface="Arial" panose="020B0604020202020204" pitchFamily="34" charset="0"/>
              <a:buChar char="•"/>
            </a:pPr>
            <a:r>
              <a:rPr lang="en-US" sz="1200" dirty="0"/>
              <a:t>Experiencing </a:t>
            </a:r>
            <a:r>
              <a:rPr lang="en-US" sz="1200" b="1" dirty="0"/>
              <a:t>stigma exacerbates already difficult behavioral health symptoms and conditions</a:t>
            </a:r>
            <a:r>
              <a:rPr lang="en-US" sz="1200" dirty="0"/>
              <a:t>, causing inertia and compounding the situation.</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b="1" dirty="0"/>
              <a:t>Certain populations and demographics are often </a:t>
            </a:r>
            <a:r>
              <a:rPr lang="en-US" sz="1200" b="1" dirty="0">
                <a:solidFill>
                  <a:srgbClr val="454545"/>
                </a:solidFill>
                <a:latin typeface="Helvetica Neue" panose="02000503000000020004" pitchFamily="2" charset="0"/>
              </a:rPr>
              <a:t>targets of cultural stigma and bias</a:t>
            </a:r>
            <a:r>
              <a:rPr lang="en-US" sz="1200" dirty="0">
                <a:solidFill>
                  <a:srgbClr val="454545"/>
                </a:solidFill>
                <a:latin typeface="Helvetica Neue" panose="02000503000000020004" pitchFamily="2" charset="0"/>
              </a:rPr>
              <a:t>, including LGBTQ individuals, people of color, homeless people, women, and immigrants.</a:t>
            </a:r>
          </a:p>
          <a:p>
            <a:endParaRPr lang="en-US" sz="1200" dirty="0"/>
          </a:p>
          <a:p>
            <a:pPr marL="171450" indent="-171450">
              <a:buFont typeface="Arial" panose="020B0604020202020204" pitchFamily="34" charset="0"/>
              <a:buChar char="•"/>
            </a:pPr>
            <a:r>
              <a:rPr lang="en-US" sz="1200" dirty="0"/>
              <a:t>Social determinants of health, such as adverse childhood experiences, substance abuse and violence in the family, food, housing, and economic instability, and debt, </a:t>
            </a:r>
            <a:r>
              <a:rPr lang="en-US" sz="1200" b="1" dirty="0"/>
              <a:t>compound behavioral health conditions, making access to care that much more difficult</a:t>
            </a:r>
            <a:r>
              <a:rPr lang="en-US" sz="1200" dirty="0"/>
              <a:t>.</a:t>
            </a:r>
          </a:p>
          <a:p>
            <a:pPr marL="171450" indent="-171450">
              <a:buFont typeface="Arial" panose="020B0604020202020204" pitchFamily="34" charset="0"/>
              <a:buChar char="•"/>
            </a:pPr>
            <a:endParaRPr lang="en-US" sz="1200" dirty="0"/>
          </a:p>
          <a:p>
            <a:pPr marL="171450" indent="-171450">
              <a:buFont typeface="Arial" panose="020B0604020202020204" pitchFamily="34" charset="0"/>
              <a:buChar char="•"/>
            </a:pPr>
            <a:r>
              <a:rPr lang="en-US" sz="1200" b="1" dirty="0"/>
              <a:t>Some cultural practices and beliefs frown upon people discussing and seeking help for mental health issues</a:t>
            </a:r>
            <a:r>
              <a:rPr lang="en-US" sz="1200" dirty="0"/>
              <a:t>, and de-emphasize the importance of mental wellness and hygiene.</a:t>
            </a:r>
          </a:p>
          <a:p>
            <a:endParaRPr lang="en-US" sz="1200" dirty="0"/>
          </a:p>
          <a:p>
            <a:pPr marL="171450" indent="-171450">
              <a:buFont typeface="Arial" panose="020B0604020202020204" pitchFamily="34" charset="0"/>
              <a:buChar char="•"/>
            </a:pPr>
            <a:r>
              <a:rPr lang="en-US" sz="1200" b="1" dirty="0"/>
              <a:t>Stigma exists in clinical environments and takes many forms</a:t>
            </a:r>
            <a:r>
              <a:rPr lang="en-US" sz="1200" dirty="0"/>
              <a:t>, including bias in treatment, patients being excluded from or receiving substandard care, overmedication of certain populations, patients being “fired” by clinicians, clinicians fearing physical harm, and clinicians feeling afraid to discuss their own mental health.</a:t>
            </a:r>
          </a:p>
          <a:p>
            <a:pPr marL="160020" indent="-160020">
              <a:spcAft>
                <a:spcPts val="600"/>
              </a:spcAft>
              <a:buFont typeface="Arial" panose="020B0604020202020204" pitchFamily="34" charset="0"/>
              <a:buChar char="•"/>
            </a:pPr>
            <a:endParaRPr lang="en-US" sz="1200" dirty="0"/>
          </a:p>
        </p:txBody>
      </p:sp>
      <p:sp>
        <p:nvSpPr>
          <p:cNvPr id="46" name="Rectangle 45">
            <a:extLst>
              <a:ext uri="{FF2B5EF4-FFF2-40B4-BE49-F238E27FC236}">
                <a16:creationId xmlns:a16="http://schemas.microsoft.com/office/drawing/2014/main" id="{A1C640E4-09F4-FB45-8A3D-4280A40E9083}"/>
              </a:ext>
            </a:extLst>
          </p:cNvPr>
          <p:cNvSpPr/>
          <p:nvPr/>
        </p:nvSpPr>
        <p:spPr>
          <a:xfrm>
            <a:off x="228600" y="534035"/>
            <a:ext cx="6764994" cy="338554"/>
          </a:xfrm>
          <a:prstGeom prst="rect">
            <a:avLst/>
          </a:prstGeom>
        </p:spPr>
        <p:txBody>
          <a:bodyPr wrap="square" anchor="t">
            <a:spAutoFit/>
          </a:bodyPr>
          <a:lstStyle/>
          <a:p>
            <a:r>
              <a:rPr lang="en-US" sz="1600" b="1" dirty="0">
                <a:solidFill>
                  <a:srgbClr val="00A2E2"/>
                </a:solidFill>
              </a:rPr>
              <a:t>Identifying Behavioral Health Problem Areas</a:t>
            </a:r>
          </a:p>
        </p:txBody>
      </p:sp>
      <p:grpSp>
        <p:nvGrpSpPr>
          <p:cNvPr id="18" name="Group 17">
            <a:extLst>
              <a:ext uri="{FF2B5EF4-FFF2-40B4-BE49-F238E27FC236}">
                <a16:creationId xmlns:a16="http://schemas.microsoft.com/office/drawing/2014/main" id="{71F9B385-E984-6044-81FD-A00278CDF489}"/>
              </a:ext>
            </a:extLst>
          </p:cNvPr>
          <p:cNvGrpSpPr/>
          <p:nvPr/>
        </p:nvGrpSpPr>
        <p:grpSpPr>
          <a:xfrm>
            <a:off x="880677" y="2313891"/>
            <a:ext cx="3629125" cy="3144618"/>
            <a:chOff x="3467290" y="2011174"/>
            <a:chExt cx="5867022" cy="5083743"/>
          </a:xfrm>
        </p:grpSpPr>
        <p:sp>
          <p:nvSpPr>
            <p:cNvPr id="19" name="Freeform 176">
              <a:extLst>
                <a:ext uri="{FF2B5EF4-FFF2-40B4-BE49-F238E27FC236}">
                  <a16:creationId xmlns:a16="http://schemas.microsoft.com/office/drawing/2014/main" id="{75A4D034-08F2-4747-9753-BCE150032486}"/>
                </a:ext>
              </a:extLst>
            </p:cNvPr>
            <p:cNvSpPr>
              <a:spLocks/>
            </p:cNvSpPr>
            <p:nvPr/>
          </p:nvSpPr>
          <p:spPr bwMode="auto">
            <a:xfrm>
              <a:off x="4932533" y="4553045"/>
              <a:ext cx="2933511" cy="2541872"/>
            </a:xfrm>
            <a:custGeom>
              <a:avLst/>
              <a:gdLst>
                <a:gd name="T0" fmla="*/ 1540102 w 4486"/>
                <a:gd name="T1" fmla="*/ 0 h 3885"/>
                <a:gd name="T2" fmla="*/ 0 w 4486"/>
                <a:gd name="T3" fmla="*/ 2667613 h 3885"/>
                <a:gd name="T4" fmla="*/ 3079517 w 4486"/>
                <a:gd name="T5" fmla="*/ 2667613 h 3885"/>
                <a:gd name="T6" fmla="*/ 1540102 w 4486"/>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5">
                  <a:moveTo>
                    <a:pt x="2243" y="0"/>
                  </a:moveTo>
                  <a:lnTo>
                    <a:pt x="0" y="3884"/>
                  </a:lnTo>
                  <a:lnTo>
                    <a:pt x="4485" y="3884"/>
                  </a:lnTo>
                  <a:lnTo>
                    <a:pt x="2243" y="0"/>
                  </a:lnTo>
                </a:path>
              </a:pathLst>
            </a:custGeom>
            <a:solidFill>
              <a:srgbClr val="00A2E2"/>
            </a:solidFill>
            <a:ln w="28575">
              <a:solidFill>
                <a:schemeClr val="bg1"/>
              </a:solidFill>
              <a:round/>
              <a:headEnd/>
              <a:tailEnd/>
            </a:ln>
          </p:spPr>
          <p:txBody>
            <a:bodyPr wrap="none" anchor="ctr"/>
            <a:lstStyle/>
            <a:p>
              <a:endParaRPr lang="en-US" sz="3429" dirty="0"/>
            </a:p>
          </p:txBody>
        </p:sp>
        <p:sp>
          <p:nvSpPr>
            <p:cNvPr id="20" name="Freeform 177">
              <a:extLst>
                <a:ext uri="{FF2B5EF4-FFF2-40B4-BE49-F238E27FC236}">
                  <a16:creationId xmlns:a16="http://schemas.microsoft.com/office/drawing/2014/main" id="{80422DBA-1BAC-3D4D-80A8-36F9D20BD72B}"/>
                </a:ext>
              </a:extLst>
            </p:cNvPr>
            <p:cNvSpPr>
              <a:spLocks/>
            </p:cNvSpPr>
            <p:nvPr/>
          </p:nvSpPr>
          <p:spPr bwMode="auto">
            <a:xfrm>
              <a:off x="6400801" y="2011174"/>
              <a:ext cx="2933511" cy="2541871"/>
            </a:xfrm>
            <a:custGeom>
              <a:avLst/>
              <a:gdLst>
                <a:gd name="T0" fmla="*/ 1539760 w 4485"/>
                <a:gd name="T1" fmla="*/ 0 h 3884"/>
                <a:gd name="T2" fmla="*/ 0 w 4485"/>
                <a:gd name="T3" fmla="*/ 2667611 h 3884"/>
                <a:gd name="T4" fmla="*/ 3079519 w 4485"/>
                <a:gd name="T5" fmla="*/ 2667611 h 3884"/>
                <a:gd name="T6" fmla="*/ 1539760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2" y="0"/>
                  </a:moveTo>
                  <a:lnTo>
                    <a:pt x="0" y="3883"/>
                  </a:lnTo>
                  <a:lnTo>
                    <a:pt x="4484" y="3883"/>
                  </a:lnTo>
                  <a:lnTo>
                    <a:pt x="2242" y="0"/>
                  </a:lnTo>
                </a:path>
              </a:pathLst>
            </a:custGeom>
            <a:solidFill>
              <a:srgbClr val="00A2E2"/>
            </a:solidFill>
            <a:ln w="28575">
              <a:solidFill>
                <a:schemeClr val="bg1"/>
              </a:solidFill>
              <a:round/>
              <a:headEnd/>
              <a:tailEnd/>
            </a:ln>
          </p:spPr>
          <p:txBody>
            <a:bodyPr wrap="none" anchor="ctr"/>
            <a:lstStyle/>
            <a:p>
              <a:endParaRPr lang="en-US" sz="3429" dirty="0"/>
            </a:p>
          </p:txBody>
        </p:sp>
        <p:sp>
          <p:nvSpPr>
            <p:cNvPr id="21" name="Freeform 178">
              <a:extLst>
                <a:ext uri="{FF2B5EF4-FFF2-40B4-BE49-F238E27FC236}">
                  <a16:creationId xmlns:a16="http://schemas.microsoft.com/office/drawing/2014/main" id="{FAD3DB40-0AF7-B74F-BE61-C378F2A5AFAE}"/>
                </a:ext>
              </a:extLst>
            </p:cNvPr>
            <p:cNvSpPr>
              <a:spLocks/>
            </p:cNvSpPr>
            <p:nvPr/>
          </p:nvSpPr>
          <p:spPr bwMode="auto">
            <a:xfrm>
              <a:off x="4932533" y="2020246"/>
              <a:ext cx="2933511" cy="2540360"/>
            </a:xfrm>
            <a:custGeom>
              <a:avLst/>
              <a:gdLst>
                <a:gd name="T0" fmla="*/ 1540102 w 4486"/>
                <a:gd name="T1" fmla="*/ 2667613 h 3883"/>
                <a:gd name="T2" fmla="*/ 3079517 w 4486"/>
                <a:gd name="T3" fmla="*/ 0 h 3883"/>
                <a:gd name="T4" fmla="*/ 0 w 4486"/>
                <a:gd name="T5" fmla="*/ 0 h 3883"/>
                <a:gd name="T6" fmla="*/ 1540102 w 4486"/>
                <a:gd name="T7" fmla="*/ 2667613 h 38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3">
                  <a:moveTo>
                    <a:pt x="2243" y="3882"/>
                  </a:moveTo>
                  <a:lnTo>
                    <a:pt x="4485" y="0"/>
                  </a:lnTo>
                  <a:lnTo>
                    <a:pt x="0" y="0"/>
                  </a:lnTo>
                  <a:lnTo>
                    <a:pt x="2243" y="3882"/>
                  </a:lnTo>
                </a:path>
              </a:pathLst>
            </a:custGeom>
            <a:solidFill>
              <a:srgbClr val="00A2E2"/>
            </a:solidFill>
            <a:ln w="28575">
              <a:solidFill>
                <a:schemeClr val="bg1"/>
              </a:solidFill>
              <a:round/>
              <a:headEnd/>
              <a:tailEnd/>
            </a:ln>
          </p:spPr>
          <p:txBody>
            <a:bodyPr wrap="none" anchor="ctr"/>
            <a:lstStyle/>
            <a:p>
              <a:endParaRPr lang="en-US" sz="3429" dirty="0"/>
            </a:p>
          </p:txBody>
        </p:sp>
        <p:sp>
          <p:nvSpPr>
            <p:cNvPr id="22" name="Freeform 179">
              <a:extLst>
                <a:ext uri="{FF2B5EF4-FFF2-40B4-BE49-F238E27FC236}">
                  <a16:creationId xmlns:a16="http://schemas.microsoft.com/office/drawing/2014/main" id="{0D888099-FB8E-424F-9AA4-6A8E420B14C6}"/>
                </a:ext>
              </a:extLst>
            </p:cNvPr>
            <p:cNvSpPr>
              <a:spLocks/>
            </p:cNvSpPr>
            <p:nvPr/>
          </p:nvSpPr>
          <p:spPr bwMode="auto">
            <a:xfrm>
              <a:off x="6400801" y="4553045"/>
              <a:ext cx="2933511" cy="2541872"/>
            </a:xfrm>
            <a:custGeom>
              <a:avLst/>
              <a:gdLst>
                <a:gd name="T0" fmla="*/ 0 w 4485"/>
                <a:gd name="T1" fmla="*/ 0 h 3885"/>
                <a:gd name="T2" fmla="*/ 1539760 w 4485"/>
                <a:gd name="T3" fmla="*/ 2667613 h 3885"/>
                <a:gd name="T4" fmla="*/ 3079519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2" y="3884"/>
                  </a:lnTo>
                  <a:lnTo>
                    <a:pt x="4484" y="0"/>
                  </a:lnTo>
                  <a:lnTo>
                    <a:pt x="0" y="0"/>
                  </a:lnTo>
                </a:path>
              </a:pathLst>
            </a:custGeom>
            <a:solidFill>
              <a:srgbClr val="00A2E2"/>
            </a:solidFill>
            <a:ln w="28575">
              <a:solidFill>
                <a:schemeClr val="bg1"/>
              </a:solidFill>
              <a:round/>
              <a:headEnd/>
              <a:tailEnd/>
            </a:ln>
          </p:spPr>
          <p:txBody>
            <a:bodyPr wrap="none" anchor="ctr"/>
            <a:lstStyle/>
            <a:p>
              <a:endParaRPr lang="en-US" sz="3429" dirty="0">
                <a:solidFill>
                  <a:srgbClr val="002060"/>
                </a:solidFill>
              </a:endParaRPr>
            </a:p>
          </p:txBody>
        </p:sp>
        <p:sp>
          <p:nvSpPr>
            <p:cNvPr id="23" name="Freeform 180">
              <a:extLst>
                <a:ext uri="{FF2B5EF4-FFF2-40B4-BE49-F238E27FC236}">
                  <a16:creationId xmlns:a16="http://schemas.microsoft.com/office/drawing/2014/main" id="{D76A53B6-AACD-924C-AF63-09635A362C5A}"/>
                </a:ext>
              </a:extLst>
            </p:cNvPr>
            <p:cNvSpPr>
              <a:spLocks/>
            </p:cNvSpPr>
            <p:nvPr/>
          </p:nvSpPr>
          <p:spPr bwMode="auto">
            <a:xfrm>
              <a:off x="3467290" y="2011174"/>
              <a:ext cx="2933511" cy="2541871"/>
            </a:xfrm>
            <a:custGeom>
              <a:avLst/>
              <a:gdLst>
                <a:gd name="T0" fmla="*/ 1539072 w 4485"/>
                <a:gd name="T1" fmla="*/ 0 h 3884"/>
                <a:gd name="T2" fmla="*/ 0 w 4485"/>
                <a:gd name="T3" fmla="*/ 2667611 h 3884"/>
                <a:gd name="T4" fmla="*/ 3079517 w 4485"/>
                <a:gd name="T5" fmla="*/ 2667611 h 3884"/>
                <a:gd name="T6" fmla="*/ 1539072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1" y="0"/>
                  </a:moveTo>
                  <a:lnTo>
                    <a:pt x="0" y="3883"/>
                  </a:lnTo>
                  <a:lnTo>
                    <a:pt x="4484" y="3883"/>
                  </a:lnTo>
                  <a:lnTo>
                    <a:pt x="2241" y="0"/>
                  </a:lnTo>
                </a:path>
              </a:pathLst>
            </a:custGeom>
            <a:solidFill>
              <a:srgbClr val="003963"/>
            </a:solidFill>
            <a:ln w="28575">
              <a:solidFill>
                <a:schemeClr val="bg1"/>
              </a:solidFill>
              <a:round/>
              <a:headEnd/>
              <a:tailEnd/>
            </a:ln>
          </p:spPr>
          <p:txBody>
            <a:bodyPr wrap="none" anchor="ctr"/>
            <a:lstStyle/>
            <a:p>
              <a:endParaRPr lang="en-US" sz="3429" dirty="0"/>
            </a:p>
          </p:txBody>
        </p:sp>
        <p:sp>
          <p:nvSpPr>
            <p:cNvPr id="24" name="Freeform 181">
              <a:extLst>
                <a:ext uri="{FF2B5EF4-FFF2-40B4-BE49-F238E27FC236}">
                  <a16:creationId xmlns:a16="http://schemas.microsoft.com/office/drawing/2014/main" id="{27FD3603-9BE3-1547-AA5D-BD1F7E78DF5E}"/>
                </a:ext>
              </a:extLst>
            </p:cNvPr>
            <p:cNvSpPr>
              <a:spLocks/>
            </p:cNvSpPr>
            <p:nvPr/>
          </p:nvSpPr>
          <p:spPr bwMode="auto">
            <a:xfrm>
              <a:off x="3467290" y="4553045"/>
              <a:ext cx="2933511" cy="2541872"/>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rgbClr val="00A2E2"/>
            </a:solidFill>
            <a:ln w="28575">
              <a:solidFill>
                <a:schemeClr val="bg1"/>
              </a:solidFill>
              <a:round/>
              <a:headEnd/>
              <a:tailEnd/>
            </a:ln>
          </p:spPr>
          <p:txBody>
            <a:bodyPr wrap="none" anchor="ctr"/>
            <a:lstStyle/>
            <a:p>
              <a:endParaRPr lang="en-US" sz="3429" dirty="0"/>
            </a:p>
          </p:txBody>
        </p:sp>
        <p:sp>
          <p:nvSpPr>
            <p:cNvPr id="25" name="TextBox 24">
              <a:extLst>
                <a:ext uri="{FF2B5EF4-FFF2-40B4-BE49-F238E27FC236}">
                  <a16:creationId xmlns:a16="http://schemas.microsoft.com/office/drawing/2014/main" id="{03F2457A-21E0-A94D-812B-23F3CAC87A80}"/>
                </a:ext>
              </a:extLst>
            </p:cNvPr>
            <p:cNvSpPr txBox="1"/>
            <p:nvPr/>
          </p:nvSpPr>
          <p:spPr>
            <a:xfrm>
              <a:off x="4365578" y="3191502"/>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6</a:t>
              </a:r>
            </a:p>
          </p:txBody>
        </p:sp>
        <p:sp>
          <p:nvSpPr>
            <p:cNvPr id="26" name="TextBox 25">
              <a:extLst>
                <a:ext uri="{FF2B5EF4-FFF2-40B4-BE49-F238E27FC236}">
                  <a16:creationId xmlns:a16="http://schemas.microsoft.com/office/drawing/2014/main" id="{6F8ACB2A-041D-7645-B8AE-8AD34A17B806}"/>
                </a:ext>
              </a:extLst>
            </p:cNvPr>
            <p:cNvSpPr txBox="1"/>
            <p:nvPr/>
          </p:nvSpPr>
          <p:spPr>
            <a:xfrm>
              <a:off x="6090295" y="2187065"/>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1</a:t>
              </a:r>
            </a:p>
          </p:txBody>
        </p:sp>
        <p:sp>
          <p:nvSpPr>
            <p:cNvPr id="27" name="TextBox 26">
              <a:extLst>
                <a:ext uri="{FF2B5EF4-FFF2-40B4-BE49-F238E27FC236}">
                  <a16:creationId xmlns:a16="http://schemas.microsoft.com/office/drawing/2014/main" id="{0F179BDE-D112-CD45-8235-729110FD93DB}"/>
                </a:ext>
              </a:extLst>
            </p:cNvPr>
            <p:cNvSpPr txBox="1"/>
            <p:nvPr/>
          </p:nvSpPr>
          <p:spPr>
            <a:xfrm>
              <a:off x="7928385" y="3211510"/>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2</a:t>
              </a:r>
            </a:p>
          </p:txBody>
        </p:sp>
        <p:sp>
          <p:nvSpPr>
            <p:cNvPr id="28" name="TextBox 27">
              <a:extLst>
                <a:ext uri="{FF2B5EF4-FFF2-40B4-BE49-F238E27FC236}">
                  <a16:creationId xmlns:a16="http://schemas.microsoft.com/office/drawing/2014/main" id="{634E669C-332B-3D4D-811C-BAE1C4B313B5}"/>
                </a:ext>
              </a:extLst>
            </p:cNvPr>
            <p:cNvSpPr txBox="1"/>
            <p:nvPr/>
          </p:nvSpPr>
          <p:spPr>
            <a:xfrm>
              <a:off x="7875031" y="5092237"/>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3</a:t>
              </a:r>
            </a:p>
          </p:txBody>
        </p:sp>
        <p:sp>
          <p:nvSpPr>
            <p:cNvPr id="29" name="TextBox 28">
              <a:extLst>
                <a:ext uri="{FF2B5EF4-FFF2-40B4-BE49-F238E27FC236}">
                  <a16:creationId xmlns:a16="http://schemas.microsoft.com/office/drawing/2014/main" id="{C503BAF1-6732-024D-9F85-AE6ECDB5E5D3}"/>
                </a:ext>
              </a:extLst>
            </p:cNvPr>
            <p:cNvSpPr txBox="1"/>
            <p:nvPr/>
          </p:nvSpPr>
          <p:spPr>
            <a:xfrm>
              <a:off x="6123639" y="6110009"/>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4</a:t>
              </a:r>
            </a:p>
          </p:txBody>
        </p:sp>
        <p:sp>
          <p:nvSpPr>
            <p:cNvPr id="30" name="TextBox 29">
              <a:extLst>
                <a:ext uri="{FF2B5EF4-FFF2-40B4-BE49-F238E27FC236}">
                  <a16:creationId xmlns:a16="http://schemas.microsoft.com/office/drawing/2014/main" id="{2434E241-B2C9-7F48-9129-B85860C24996}"/>
                </a:ext>
              </a:extLst>
            </p:cNvPr>
            <p:cNvSpPr txBox="1"/>
            <p:nvPr/>
          </p:nvSpPr>
          <p:spPr>
            <a:xfrm>
              <a:off x="4378918" y="5132249"/>
              <a:ext cx="544318" cy="746350"/>
            </a:xfrm>
            <a:prstGeom prst="rect">
              <a:avLst/>
            </a:prstGeom>
            <a:noFill/>
          </p:spPr>
          <p:txBody>
            <a:bodyPr wrap="none" rtlCol="0" anchor="ctr">
              <a:spAutoFit/>
            </a:bodyPr>
            <a:lstStyle/>
            <a:p>
              <a:pPr algn="ctr"/>
              <a:r>
                <a:rPr lang="en-US" sz="2400" b="1" spc="-152" dirty="0">
                  <a:solidFill>
                    <a:schemeClr val="bg1"/>
                  </a:solidFill>
                  <a:latin typeface="+mj-lt"/>
                  <a:ea typeface="Source Sans Pro" panose="020B0503030403020204" pitchFamily="34" charset="0"/>
                </a:rPr>
                <a:t>5</a:t>
              </a:r>
            </a:p>
          </p:txBody>
        </p:sp>
      </p:grpSp>
    </p:spTree>
    <p:extLst>
      <p:ext uri="{BB962C8B-B14F-4D97-AF65-F5344CB8AC3E}">
        <p14:creationId xmlns:p14="http://schemas.microsoft.com/office/powerpoint/2010/main" val="1848399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1AEC8755-968C-E94A-B115-1636F814A717}"/>
              </a:ext>
            </a:extLst>
          </p:cNvPr>
          <p:cNvSpPr/>
          <p:nvPr/>
        </p:nvSpPr>
        <p:spPr>
          <a:xfrm>
            <a:off x="168964" y="-2218162"/>
            <a:ext cx="7549587" cy="1015663"/>
          </a:xfrm>
          <a:prstGeom prst="rect">
            <a:avLst/>
          </a:prstGeom>
        </p:spPr>
        <p:txBody>
          <a:bodyPr wrap="square" anchor="t">
            <a:spAutoFit/>
          </a:bodyPr>
          <a:lstStyle/>
          <a:p>
            <a:r>
              <a:rPr lang="en-US" sz="2400" b="1" dirty="0">
                <a:solidFill>
                  <a:srgbClr val="003963"/>
                </a:solidFill>
              </a:rPr>
              <a:t>The urgency is now: </a:t>
            </a:r>
          </a:p>
          <a:p>
            <a:r>
              <a:rPr lang="en-US" sz="1800" dirty="0">
                <a:solidFill>
                  <a:srgbClr val="00A2E2"/>
                </a:solidFill>
              </a:rPr>
              <a:t>How do we ensure we are addressing the critical issues and opportunities that are emerging in the Behavioral Health Epidemic </a:t>
            </a:r>
          </a:p>
        </p:txBody>
      </p:sp>
      <p:sp>
        <p:nvSpPr>
          <p:cNvPr id="17" name="Rectangle 16">
            <a:extLst>
              <a:ext uri="{FF2B5EF4-FFF2-40B4-BE49-F238E27FC236}">
                <a16:creationId xmlns:a16="http://schemas.microsoft.com/office/drawing/2014/main" id="{B9828F08-482B-D046-9186-8DEB2752A0AF}"/>
              </a:ext>
            </a:extLst>
          </p:cNvPr>
          <p:cNvSpPr/>
          <p:nvPr/>
        </p:nvSpPr>
        <p:spPr>
          <a:xfrm>
            <a:off x="2247911" y="1407970"/>
            <a:ext cx="8305775" cy="5199350"/>
          </a:xfrm>
          <a:prstGeom prst="rect">
            <a:avLst/>
          </a:prstGeom>
          <a:solidFill>
            <a:srgbClr val="B1E2FF">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Lato Light" panose="020F0502020204030203" pitchFamily="34" charset="0"/>
            </a:endParaRPr>
          </a:p>
        </p:txBody>
      </p:sp>
      <p:sp>
        <p:nvSpPr>
          <p:cNvPr id="21" name="TextBox 20">
            <a:extLst>
              <a:ext uri="{FF2B5EF4-FFF2-40B4-BE49-F238E27FC236}">
                <a16:creationId xmlns:a16="http://schemas.microsoft.com/office/drawing/2014/main" id="{9EAB0B62-40C0-D240-BE13-9096C323C9D0}"/>
              </a:ext>
            </a:extLst>
          </p:cNvPr>
          <p:cNvSpPr txBox="1"/>
          <p:nvPr/>
        </p:nvSpPr>
        <p:spPr>
          <a:xfrm>
            <a:off x="5860435" y="6830371"/>
            <a:ext cx="1080745" cy="400110"/>
          </a:xfrm>
          <a:prstGeom prst="rect">
            <a:avLst/>
          </a:prstGeom>
          <a:noFill/>
        </p:spPr>
        <p:txBody>
          <a:bodyPr wrap="none" rtlCol="0" anchor="t" anchorCtr="0">
            <a:spAutoFit/>
          </a:bodyPr>
          <a:lstStyle/>
          <a:p>
            <a:pPr algn="ctr"/>
            <a:r>
              <a:rPr lang="en-US" sz="2000" b="1" dirty="0">
                <a:solidFill>
                  <a:schemeClr val="bg1">
                    <a:lumMod val="50000"/>
                  </a:schemeClr>
                </a:solidFill>
                <a:latin typeface="Open Sans" panose="020B0606030504020204" pitchFamily="34" charset="0"/>
                <a:ea typeface="League Spartan" charset="0"/>
                <a:cs typeface="Poppins" pitchFamily="2" charset="77"/>
              </a:rPr>
              <a:t>Impact</a:t>
            </a:r>
          </a:p>
        </p:txBody>
      </p:sp>
      <p:sp>
        <p:nvSpPr>
          <p:cNvPr id="23" name="TextBox 22">
            <a:extLst>
              <a:ext uri="{FF2B5EF4-FFF2-40B4-BE49-F238E27FC236}">
                <a16:creationId xmlns:a16="http://schemas.microsoft.com/office/drawing/2014/main" id="{8C712ED7-DBCF-EE41-B0EC-1B1B43550306}"/>
              </a:ext>
            </a:extLst>
          </p:cNvPr>
          <p:cNvSpPr txBox="1"/>
          <p:nvPr/>
        </p:nvSpPr>
        <p:spPr>
          <a:xfrm rot="16200000">
            <a:off x="1381945" y="3807592"/>
            <a:ext cx="914033" cy="400110"/>
          </a:xfrm>
          <a:prstGeom prst="rect">
            <a:avLst/>
          </a:prstGeom>
          <a:noFill/>
        </p:spPr>
        <p:txBody>
          <a:bodyPr wrap="none" rtlCol="0" anchor="b" anchorCtr="0">
            <a:spAutoFit/>
          </a:bodyPr>
          <a:lstStyle/>
          <a:p>
            <a:pPr algn="ctr"/>
            <a:r>
              <a:rPr lang="en-US" sz="2000" b="1" dirty="0">
                <a:solidFill>
                  <a:schemeClr val="bg1">
                    <a:lumMod val="50000"/>
                  </a:schemeClr>
                </a:solidFill>
                <a:latin typeface="Open Sans" panose="020B0606030504020204" pitchFamily="34" charset="0"/>
                <a:ea typeface="League Spartan" charset="0"/>
                <a:cs typeface="Poppins" pitchFamily="2" charset="77"/>
              </a:rPr>
              <a:t>Effort</a:t>
            </a:r>
          </a:p>
        </p:txBody>
      </p:sp>
      <p:cxnSp>
        <p:nvCxnSpPr>
          <p:cNvPr id="27" name="Straight Arrow Connector 26">
            <a:extLst>
              <a:ext uri="{FF2B5EF4-FFF2-40B4-BE49-F238E27FC236}">
                <a16:creationId xmlns:a16="http://schemas.microsoft.com/office/drawing/2014/main" id="{FE753DBB-7004-1849-BB28-A282E66BB885}"/>
              </a:ext>
            </a:extLst>
          </p:cNvPr>
          <p:cNvCxnSpPr>
            <a:cxnSpLocks/>
            <a:stCxn id="17" idx="1"/>
          </p:cNvCxnSpPr>
          <p:nvPr/>
        </p:nvCxnSpPr>
        <p:spPr>
          <a:xfrm>
            <a:off x="2247911" y="4007645"/>
            <a:ext cx="8305775" cy="0"/>
          </a:xfrm>
          <a:prstGeom prst="straightConnector1">
            <a:avLst/>
          </a:prstGeom>
          <a:ln w="6350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B29C3C1-8540-1444-B275-EE47F6F58C3B}"/>
              </a:ext>
            </a:extLst>
          </p:cNvPr>
          <p:cNvCxnSpPr>
            <a:cxnSpLocks/>
          </p:cNvCxnSpPr>
          <p:nvPr/>
        </p:nvCxnSpPr>
        <p:spPr>
          <a:xfrm flipH="1">
            <a:off x="6407383" y="1403702"/>
            <a:ext cx="1" cy="5203618"/>
          </a:xfrm>
          <a:prstGeom prst="straightConnector1">
            <a:avLst/>
          </a:prstGeom>
          <a:ln w="6350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9A4C7338-87F1-7D41-BB0E-45EDC072B4FD}"/>
              </a:ext>
            </a:extLst>
          </p:cNvPr>
          <p:cNvSpPr/>
          <p:nvPr/>
        </p:nvSpPr>
        <p:spPr>
          <a:xfrm>
            <a:off x="228600" y="534035"/>
            <a:ext cx="6764994" cy="338554"/>
          </a:xfrm>
          <a:prstGeom prst="rect">
            <a:avLst/>
          </a:prstGeom>
        </p:spPr>
        <p:txBody>
          <a:bodyPr wrap="square" anchor="t">
            <a:spAutoFit/>
          </a:bodyPr>
          <a:lstStyle/>
          <a:p>
            <a:r>
              <a:rPr lang="en-US" sz="1600" b="1" dirty="0">
                <a:solidFill>
                  <a:srgbClr val="00A2E2"/>
                </a:solidFill>
              </a:rPr>
              <a:t>Identifying Issues and Opportunities</a:t>
            </a:r>
          </a:p>
        </p:txBody>
      </p:sp>
      <p:sp>
        <p:nvSpPr>
          <p:cNvPr id="10" name="Скругленный прямоугольник 7">
            <a:extLst>
              <a:ext uri="{FF2B5EF4-FFF2-40B4-BE49-F238E27FC236}">
                <a16:creationId xmlns:a16="http://schemas.microsoft.com/office/drawing/2014/main" id="{257267B7-CB26-E848-9A8B-0C4DFFBE02EA}"/>
              </a:ext>
            </a:extLst>
          </p:cNvPr>
          <p:cNvSpPr/>
          <p:nvPr/>
        </p:nvSpPr>
        <p:spPr bwMode="auto">
          <a:xfrm>
            <a:off x="-1922574" y="5308629"/>
            <a:ext cx="1206402" cy="690702"/>
          </a:xfrm>
          <a:prstGeom prst="roundRect">
            <a:avLst>
              <a:gd name="adj" fmla="val 5329"/>
            </a:avLst>
          </a:prstGeom>
          <a:solidFill>
            <a:schemeClr val="bg1">
              <a:lumMod val="65000"/>
            </a:schemeClr>
          </a:solidFill>
          <a:ln w="12700" cap="flat" cmpd="sng" algn="ctr">
            <a:noFill/>
            <a:prstDash val="solid"/>
            <a:miter lim="400000"/>
            <a:headEnd type="none" w="med" len="med"/>
            <a:tailEnd type="none" w="med" len="med"/>
          </a:ln>
          <a:effectLst/>
        </p:spPr>
        <p:txBody>
          <a:bodyPr vert="horz" wrap="square" lIns="20002" tIns="20002" rIns="20002" bIns="20002" numCol="1" rtlCol="0" anchor="ctr" anchorCtr="0" compatLnSpc="1">
            <a:prstTxWarp prst="textNoShape">
              <a:avLst/>
            </a:prstTxWarp>
            <a:noAutofit/>
          </a:bodyPr>
          <a:lstStyle/>
          <a:p>
            <a:pPr algn="ctr" defTabSz="433340" fontAlgn="base" hangingPunct="0">
              <a:spcBef>
                <a:spcPct val="0"/>
              </a:spcBef>
              <a:spcAft>
                <a:spcPct val="0"/>
              </a:spcAft>
            </a:pPr>
            <a:r>
              <a:rPr lang="en-US" sz="1200" dirty="0">
                <a:solidFill>
                  <a:schemeClr val="bg1"/>
                </a:solidFill>
                <a:latin typeface="Arial" panose="020B0604020202020204" pitchFamily="34" charset="0"/>
                <a:ea typeface="Poppins" charset="0"/>
                <a:cs typeface="Arial" panose="020B0604020202020204" pitchFamily="34" charset="0"/>
                <a:sym typeface="Poppins" charset="0"/>
              </a:rPr>
              <a:t>COVID-19 BH Need Response</a:t>
            </a:r>
          </a:p>
        </p:txBody>
      </p:sp>
      <p:sp>
        <p:nvSpPr>
          <p:cNvPr id="15" name="Скругленный прямоугольник 7">
            <a:extLst>
              <a:ext uri="{FF2B5EF4-FFF2-40B4-BE49-F238E27FC236}">
                <a16:creationId xmlns:a16="http://schemas.microsoft.com/office/drawing/2014/main" id="{3CC12C72-2F94-8243-89D3-59CDA1EAAD0B}"/>
              </a:ext>
            </a:extLst>
          </p:cNvPr>
          <p:cNvSpPr/>
          <p:nvPr/>
        </p:nvSpPr>
        <p:spPr bwMode="auto">
          <a:xfrm>
            <a:off x="8010761" y="3510243"/>
            <a:ext cx="1206407" cy="690702"/>
          </a:xfrm>
          <a:prstGeom prst="roundRect">
            <a:avLst>
              <a:gd name="adj" fmla="val 5329"/>
            </a:avLst>
          </a:prstGeom>
          <a:solidFill>
            <a:srgbClr val="003963"/>
          </a:solidFill>
          <a:ln w="12700" cap="flat" cmpd="sng" algn="ctr">
            <a:noFill/>
            <a:prstDash val="solid"/>
            <a:miter lim="400000"/>
            <a:headEnd type="none" w="med" len="med"/>
            <a:tailEnd type="none" w="med" len="med"/>
          </a:ln>
          <a:effectLst/>
        </p:spPr>
        <p:txBody>
          <a:bodyPr vert="horz" wrap="square" lIns="20002" tIns="20002" rIns="20002" bIns="20002" numCol="1" rtlCol="0" anchor="ctr" anchorCtr="0" compatLnSpc="1">
            <a:prstTxWarp prst="textNoShape">
              <a:avLst/>
            </a:prstTxWarp>
            <a:noAutofit/>
          </a:bodyPr>
          <a:lstStyle/>
          <a:p>
            <a:pPr algn="ctr" defTabSz="433340" fontAlgn="base" hangingPunct="0">
              <a:spcBef>
                <a:spcPct val="0"/>
              </a:spcBef>
              <a:spcAft>
                <a:spcPct val="0"/>
              </a:spcAft>
            </a:pPr>
            <a:r>
              <a:rPr lang="en-US" sz="1200" dirty="0">
                <a:solidFill>
                  <a:schemeClr val="bg1"/>
                </a:solidFill>
                <a:latin typeface="Arial" panose="020B0604020202020204" pitchFamily="34" charset="0"/>
                <a:ea typeface="Poppins" charset="0"/>
                <a:cs typeface="Arial" panose="020B0604020202020204" pitchFamily="34" charset="0"/>
                <a:sym typeface="Poppins" charset="0"/>
              </a:rPr>
              <a:t>Clinicians as Whole-Health Practitioners</a:t>
            </a:r>
          </a:p>
        </p:txBody>
      </p:sp>
      <p:sp>
        <p:nvSpPr>
          <p:cNvPr id="16" name="Скругленный прямоугольник 7">
            <a:extLst>
              <a:ext uri="{FF2B5EF4-FFF2-40B4-BE49-F238E27FC236}">
                <a16:creationId xmlns:a16="http://schemas.microsoft.com/office/drawing/2014/main" id="{1ADCA983-0A71-F947-8534-B53F4F895669}"/>
              </a:ext>
            </a:extLst>
          </p:cNvPr>
          <p:cNvSpPr/>
          <p:nvPr/>
        </p:nvSpPr>
        <p:spPr bwMode="auto">
          <a:xfrm>
            <a:off x="6670924" y="4298906"/>
            <a:ext cx="1206407" cy="690702"/>
          </a:xfrm>
          <a:prstGeom prst="roundRect">
            <a:avLst>
              <a:gd name="adj" fmla="val 5329"/>
            </a:avLst>
          </a:prstGeom>
          <a:solidFill>
            <a:srgbClr val="003963"/>
          </a:solidFill>
          <a:ln w="12700" cap="flat" cmpd="sng" algn="ctr">
            <a:noFill/>
            <a:prstDash val="solid"/>
            <a:miter lim="400000"/>
            <a:headEnd type="none" w="med" len="med"/>
            <a:tailEnd type="none" w="med" len="med"/>
          </a:ln>
          <a:effectLst/>
        </p:spPr>
        <p:txBody>
          <a:bodyPr vert="horz" wrap="square" lIns="20002" tIns="20002" rIns="20002" bIns="20002" numCol="1" rtlCol="0" anchor="ctr" anchorCtr="0" compatLnSpc="1">
            <a:prstTxWarp prst="textNoShape">
              <a:avLst/>
            </a:prstTxWarp>
            <a:noAutofit/>
          </a:bodyPr>
          <a:lstStyle/>
          <a:p>
            <a:pPr algn="ctr" defTabSz="433340" fontAlgn="base" hangingPunct="0">
              <a:spcBef>
                <a:spcPct val="0"/>
              </a:spcBef>
              <a:spcAft>
                <a:spcPct val="0"/>
              </a:spcAft>
            </a:pPr>
            <a:r>
              <a:rPr lang="en-US" sz="1200" dirty="0">
                <a:solidFill>
                  <a:schemeClr val="bg1"/>
                </a:solidFill>
                <a:latin typeface="Arial" panose="020B0604020202020204" pitchFamily="34" charset="0"/>
                <a:ea typeface="Poppins" charset="0"/>
                <a:cs typeface="Arial" panose="020B0604020202020204" pitchFamily="34" charset="0"/>
                <a:sym typeface="Poppins" charset="0"/>
              </a:rPr>
              <a:t>Communities as Caregivers</a:t>
            </a:r>
          </a:p>
        </p:txBody>
      </p:sp>
      <p:sp>
        <p:nvSpPr>
          <p:cNvPr id="18" name="Скругленный прямоугольник 7">
            <a:extLst>
              <a:ext uri="{FF2B5EF4-FFF2-40B4-BE49-F238E27FC236}">
                <a16:creationId xmlns:a16="http://schemas.microsoft.com/office/drawing/2014/main" id="{0E20A8AB-E559-C047-980A-13648AD76104}"/>
              </a:ext>
            </a:extLst>
          </p:cNvPr>
          <p:cNvSpPr/>
          <p:nvPr/>
        </p:nvSpPr>
        <p:spPr bwMode="auto">
          <a:xfrm>
            <a:off x="-1922574" y="2165841"/>
            <a:ext cx="1206408" cy="690702"/>
          </a:xfrm>
          <a:prstGeom prst="roundRect">
            <a:avLst>
              <a:gd name="adj" fmla="val 5329"/>
            </a:avLst>
          </a:prstGeom>
          <a:solidFill>
            <a:schemeClr val="bg1">
              <a:lumMod val="65000"/>
            </a:schemeClr>
          </a:solidFill>
          <a:ln w="12700" cap="flat" cmpd="sng" algn="ctr">
            <a:noFill/>
            <a:prstDash val="solid"/>
            <a:miter lim="400000"/>
            <a:headEnd type="none" w="med" len="med"/>
            <a:tailEnd type="none" w="med" len="med"/>
          </a:ln>
          <a:effectLst/>
        </p:spPr>
        <p:txBody>
          <a:bodyPr vert="horz" wrap="square" lIns="20002" tIns="20002" rIns="20002" bIns="20002" numCol="1" rtlCol="0" anchor="ctr" anchorCtr="0" compatLnSpc="1">
            <a:prstTxWarp prst="textNoShape">
              <a:avLst/>
            </a:prstTxWarp>
            <a:noAutofit/>
          </a:bodyPr>
          <a:lstStyle/>
          <a:p>
            <a:pPr algn="ctr" defTabSz="433340" fontAlgn="base" hangingPunct="0">
              <a:spcBef>
                <a:spcPct val="0"/>
              </a:spcBef>
              <a:spcAft>
                <a:spcPct val="0"/>
              </a:spcAft>
            </a:pPr>
            <a:r>
              <a:rPr lang="en-US" sz="1200" dirty="0">
                <a:solidFill>
                  <a:schemeClr val="bg1"/>
                </a:solidFill>
                <a:latin typeface="Arial" panose="020B0604020202020204" pitchFamily="34" charset="0"/>
                <a:ea typeface="Poppins" charset="0"/>
                <a:cs typeface="Arial" panose="020B0604020202020204" pitchFamily="34" charset="0"/>
                <a:sym typeface="Poppins" charset="0"/>
              </a:rPr>
              <a:t>Realign Org for </a:t>
            </a:r>
            <a:br>
              <a:rPr lang="en-US" sz="1200" dirty="0">
                <a:solidFill>
                  <a:schemeClr val="bg1"/>
                </a:solidFill>
                <a:latin typeface="Arial" panose="020B0604020202020204" pitchFamily="34" charset="0"/>
                <a:ea typeface="Poppins" charset="0"/>
                <a:cs typeface="Arial" panose="020B0604020202020204" pitchFamily="34" charset="0"/>
                <a:sym typeface="Poppins" charset="0"/>
              </a:rPr>
            </a:br>
            <a:r>
              <a:rPr lang="en-US" sz="1200" dirty="0">
                <a:solidFill>
                  <a:schemeClr val="bg1"/>
                </a:solidFill>
                <a:latin typeface="Arial" panose="020B0604020202020204" pitchFamily="34" charset="0"/>
                <a:ea typeface="Poppins" charset="0"/>
                <a:cs typeface="Arial" panose="020B0604020202020204" pitchFamily="34" charset="0"/>
                <a:sym typeface="Poppins" charset="0"/>
              </a:rPr>
              <a:t>Whole-Health</a:t>
            </a:r>
          </a:p>
        </p:txBody>
      </p:sp>
      <p:sp>
        <p:nvSpPr>
          <p:cNvPr id="19" name="Скругленный прямоугольник 7">
            <a:extLst>
              <a:ext uri="{FF2B5EF4-FFF2-40B4-BE49-F238E27FC236}">
                <a16:creationId xmlns:a16="http://schemas.microsoft.com/office/drawing/2014/main" id="{0CD0BCD1-8F12-C242-94AD-46F72F065951}"/>
              </a:ext>
            </a:extLst>
          </p:cNvPr>
          <p:cNvSpPr/>
          <p:nvPr/>
        </p:nvSpPr>
        <p:spPr bwMode="auto">
          <a:xfrm>
            <a:off x="-1919433" y="4510468"/>
            <a:ext cx="1206407" cy="690702"/>
          </a:xfrm>
          <a:prstGeom prst="roundRect">
            <a:avLst>
              <a:gd name="adj" fmla="val 5329"/>
            </a:avLst>
          </a:prstGeom>
          <a:solidFill>
            <a:schemeClr val="bg1">
              <a:lumMod val="65000"/>
            </a:schemeClr>
          </a:solidFill>
          <a:ln w="12700" cap="flat" cmpd="sng" algn="ctr">
            <a:noFill/>
            <a:prstDash val="solid"/>
            <a:miter lim="400000"/>
            <a:headEnd type="none" w="med" len="med"/>
            <a:tailEnd type="none" w="med" len="med"/>
          </a:ln>
          <a:effectLst/>
        </p:spPr>
        <p:txBody>
          <a:bodyPr vert="horz" wrap="square" lIns="20002" tIns="20002" rIns="20002" bIns="20002" numCol="1" rtlCol="0" anchor="ctr" anchorCtr="0" compatLnSpc="1">
            <a:prstTxWarp prst="textNoShape">
              <a:avLst/>
            </a:prstTxWarp>
            <a:noAutofit/>
          </a:bodyPr>
          <a:lstStyle/>
          <a:p>
            <a:pPr algn="ctr" defTabSz="433340" fontAlgn="base" hangingPunct="0">
              <a:spcBef>
                <a:spcPct val="0"/>
              </a:spcBef>
              <a:spcAft>
                <a:spcPct val="0"/>
              </a:spcAft>
            </a:pPr>
            <a:r>
              <a:rPr lang="en-US" sz="1200" dirty="0">
                <a:solidFill>
                  <a:schemeClr val="bg1"/>
                </a:solidFill>
                <a:latin typeface="Arial" panose="020B0604020202020204" pitchFamily="34" charset="0"/>
                <a:ea typeface="Poppins" charset="0"/>
                <a:cs typeface="Arial" panose="020B0604020202020204" pitchFamily="34" charset="0"/>
                <a:sym typeface="Poppins" charset="0"/>
              </a:rPr>
              <a:t>Reimbursement and Care Model</a:t>
            </a:r>
          </a:p>
        </p:txBody>
      </p:sp>
      <p:sp>
        <p:nvSpPr>
          <p:cNvPr id="20" name="Скругленный прямоугольник 7">
            <a:extLst>
              <a:ext uri="{FF2B5EF4-FFF2-40B4-BE49-F238E27FC236}">
                <a16:creationId xmlns:a16="http://schemas.microsoft.com/office/drawing/2014/main" id="{F97748E3-F5C1-854C-9EF5-BCB0A4B28C7B}"/>
              </a:ext>
            </a:extLst>
          </p:cNvPr>
          <p:cNvSpPr/>
          <p:nvPr/>
        </p:nvSpPr>
        <p:spPr bwMode="auto">
          <a:xfrm>
            <a:off x="-1922573" y="2924962"/>
            <a:ext cx="1206407" cy="690702"/>
          </a:xfrm>
          <a:prstGeom prst="roundRect">
            <a:avLst>
              <a:gd name="adj" fmla="val 5329"/>
            </a:avLst>
          </a:prstGeom>
          <a:solidFill>
            <a:schemeClr val="bg1">
              <a:lumMod val="65000"/>
            </a:schemeClr>
          </a:solidFill>
          <a:ln w="12700" cap="flat" cmpd="sng" algn="ctr">
            <a:noFill/>
            <a:prstDash val="solid"/>
            <a:miter lim="400000"/>
            <a:headEnd type="none" w="med" len="med"/>
            <a:tailEnd type="none" w="med" len="med"/>
          </a:ln>
          <a:effectLst/>
        </p:spPr>
        <p:txBody>
          <a:bodyPr vert="horz" wrap="square" lIns="20002" tIns="20002" rIns="20002" bIns="20002" numCol="1" rtlCol="0" anchor="ctr" anchorCtr="0" compatLnSpc="1">
            <a:prstTxWarp prst="textNoShape">
              <a:avLst/>
            </a:prstTxWarp>
            <a:noAutofit/>
          </a:bodyPr>
          <a:lstStyle/>
          <a:p>
            <a:pPr algn="ctr" defTabSz="433340" fontAlgn="base" hangingPunct="0">
              <a:spcBef>
                <a:spcPct val="0"/>
              </a:spcBef>
              <a:spcAft>
                <a:spcPct val="0"/>
              </a:spcAft>
            </a:pPr>
            <a:r>
              <a:rPr lang="en-US" sz="1200" dirty="0">
                <a:solidFill>
                  <a:schemeClr val="bg1"/>
                </a:solidFill>
                <a:latin typeface="Arial" panose="020B0604020202020204" pitchFamily="34" charset="0"/>
                <a:ea typeface="Poppins" charset="0"/>
                <a:cs typeface="Arial" panose="020B0604020202020204" pitchFamily="34" charset="0"/>
                <a:sym typeface="Poppins" charset="0"/>
              </a:rPr>
              <a:t>Use Data for Insights and Action</a:t>
            </a:r>
          </a:p>
        </p:txBody>
      </p:sp>
      <p:sp>
        <p:nvSpPr>
          <p:cNvPr id="22" name="Скругленный прямоугольник 7">
            <a:extLst>
              <a:ext uri="{FF2B5EF4-FFF2-40B4-BE49-F238E27FC236}">
                <a16:creationId xmlns:a16="http://schemas.microsoft.com/office/drawing/2014/main" id="{D9072276-E42F-9E4F-A7F3-EB01A15A571C}"/>
              </a:ext>
            </a:extLst>
          </p:cNvPr>
          <p:cNvSpPr/>
          <p:nvPr/>
        </p:nvSpPr>
        <p:spPr bwMode="auto">
          <a:xfrm>
            <a:off x="-1922574" y="3712307"/>
            <a:ext cx="1206407" cy="690702"/>
          </a:xfrm>
          <a:prstGeom prst="roundRect">
            <a:avLst>
              <a:gd name="adj" fmla="val 5329"/>
            </a:avLst>
          </a:prstGeom>
          <a:solidFill>
            <a:schemeClr val="bg1">
              <a:lumMod val="65000"/>
            </a:schemeClr>
          </a:solidFill>
          <a:ln w="12700" cap="flat" cmpd="sng" algn="ctr">
            <a:noFill/>
            <a:prstDash val="solid"/>
            <a:miter lim="400000"/>
            <a:headEnd type="none" w="med" len="med"/>
            <a:tailEnd type="none" w="med" len="med"/>
          </a:ln>
          <a:effectLst/>
        </p:spPr>
        <p:txBody>
          <a:bodyPr vert="horz" wrap="square" lIns="20002" tIns="20002" rIns="20002" bIns="20002" numCol="1" rtlCol="0" anchor="ctr" anchorCtr="0" compatLnSpc="1">
            <a:prstTxWarp prst="textNoShape">
              <a:avLst/>
            </a:prstTxWarp>
            <a:noAutofit/>
          </a:bodyPr>
          <a:lstStyle/>
          <a:p>
            <a:pPr algn="ctr" defTabSz="433340" fontAlgn="base" hangingPunct="0">
              <a:spcBef>
                <a:spcPct val="0"/>
              </a:spcBef>
              <a:spcAft>
                <a:spcPct val="0"/>
              </a:spcAft>
            </a:pPr>
            <a:r>
              <a:rPr lang="en-US" sz="1200" dirty="0">
                <a:solidFill>
                  <a:schemeClr val="bg1"/>
                </a:solidFill>
                <a:latin typeface="Arial" panose="020B0604020202020204" pitchFamily="34" charset="0"/>
                <a:ea typeface="Poppins" charset="0"/>
                <a:cs typeface="Arial" panose="020B0604020202020204" pitchFamily="34" charset="0"/>
                <a:sym typeface="Poppins" charset="0"/>
              </a:rPr>
              <a:t>Holistic Outcome Assessment</a:t>
            </a:r>
          </a:p>
        </p:txBody>
      </p:sp>
      <p:sp>
        <p:nvSpPr>
          <p:cNvPr id="24" name="Скругленный прямоугольник 7">
            <a:extLst>
              <a:ext uri="{FF2B5EF4-FFF2-40B4-BE49-F238E27FC236}">
                <a16:creationId xmlns:a16="http://schemas.microsoft.com/office/drawing/2014/main" id="{F46A391B-3B1B-B44A-AE1D-99F2DC85AB50}"/>
              </a:ext>
            </a:extLst>
          </p:cNvPr>
          <p:cNvSpPr/>
          <p:nvPr/>
        </p:nvSpPr>
        <p:spPr bwMode="auto">
          <a:xfrm>
            <a:off x="5375795" y="2680332"/>
            <a:ext cx="1206398" cy="690702"/>
          </a:xfrm>
          <a:prstGeom prst="roundRect">
            <a:avLst>
              <a:gd name="adj" fmla="val 5329"/>
            </a:avLst>
          </a:prstGeom>
          <a:solidFill>
            <a:srgbClr val="003963"/>
          </a:solidFill>
          <a:ln w="12700" cap="flat" cmpd="sng" algn="ctr">
            <a:noFill/>
            <a:prstDash val="solid"/>
            <a:miter lim="400000"/>
            <a:headEnd type="none" w="med" len="med"/>
            <a:tailEnd type="none" w="med" len="med"/>
          </a:ln>
          <a:effectLst/>
        </p:spPr>
        <p:txBody>
          <a:bodyPr vert="horz" wrap="square" lIns="20002" tIns="20002" rIns="20002" bIns="20002" numCol="1" rtlCol="0" anchor="ctr" anchorCtr="0" compatLnSpc="1">
            <a:prstTxWarp prst="textNoShape">
              <a:avLst/>
            </a:prstTxWarp>
            <a:noAutofit/>
          </a:bodyPr>
          <a:lstStyle/>
          <a:p>
            <a:pPr algn="ctr" defTabSz="433340" fontAlgn="base" hangingPunct="0">
              <a:spcBef>
                <a:spcPct val="0"/>
              </a:spcBef>
              <a:spcAft>
                <a:spcPct val="0"/>
              </a:spcAft>
            </a:pPr>
            <a:r>
              <a:rPr lang="en-US" sz="1200" dirty="0">
                <a:solidFill>
                  <a:schemeClr val="bg1"/>
                </a:solidFill>
                <a:latin typeface="Arial" panose="020B0604020202020204" pitchFamily="34" charset="0"/>
                <a:ea typeface="Poppins" charset="0"/>
                <a:cs typeface="Arial" panose="020B0604020202020204" pitchFamily="34" charset="0"/>
                <a:sym typeface="Poppins" charset="0"/>
              </a:rPr>
              <a:t>Proactive Interventions for Escalating Need</a:t>
            </a:r>
          </a:p>
        </p:txBody>
      </p:sp>
      <p:sp>
        <p:nvSpPr>
          <p:cNvPr id="25" name="Скругленный прямоугольник 7">
            <a:extLst>
              <a:ext uri="{FF2B5EF4-FFF2-40B4-BE49-F238E27FC236}">
                <a16:creationId xmlns:a16="http://schemas.microsoft.com/office/drawing/2014/main" id="{10EC55C4-EB1B-B443-BB5B-B90FFAFBEA3F}"/>
              </a:ext>
            </a:extLst>
          </p:cNvPr>
          <p:cNvSpPr/>
          <p:nvPr/>
        </p:nvSpPr>
        <p:spPr bwMode="auto">
          <a:xfrm>
            <a:off x="9003981" y="1961294"/>
            <a:ext cx="1206407" cy="690702"/>
          </a:xfrm>
          <a:prstGeom prst="roundRect">
            <a:avLst>
              <a:gd name="adj" fmla="val 5329"/>
            </a:avLst>
          </a:prstGeom>
          <a:solidFill>
            <a:srgbClr val="003963"/>
          </a:solidFill>
          <a:ln w="12700" cap="flat" cmpd="sng" algn="ctr">
            <a:noFill/>
            <a:prstDash val="solid"/>
            <a:miter lim="400000"/>
            <a:headEnd type="none" w="med" len="med"/>
            <a:tailEnd type="none" w="med" len="med"/>
          </a:ln>
          <a:effectLst/>
        </p:spPr>
        <p:txBody>
          <a:bodyPr vert="horz" wrap="square" lIns="20002" tIns="20002" rIns="20002" bIns="20002" numCol="1" rtlCol="0" anchor="ctr" anchorCtr="0" compatLnSpc="1">
            <a:prstTxWarp prst="textNoShape">
              <a:avLst/>
            </a:prstTxWarp>
            <a:noAutofit/>
          </a:bodyPr>
          <a:lstStyle/>
          <a:p>
            <a:pPr algn="ctr" defTabSz="433340" fontAlgn="base" hangingPunct="0">
              <a:spcBef>
                <a:spcPct val="0"/>
              </a:spcBef>
              <a:spcAft>
                <a:spcPct val="0"/>
              </a:spcAft>
            </a:pPr>
            <a:r>
              <a:rPr lang="en-US" sz="1200" dirty="0">
                <a:solidFill>
                  <a:schemeClr val="bg1"/>
                </a:solidFill>
                <a:latin typeface="Arial" panose="020B0604020202020204" pitchFamily="34" charset="0"/>
                <a:ea typeface="Poppins" charset="0"/>
                <a:cs typeface="Arial" panose="020B0604020202020204" pitchFamily="34" charset="0"/>
                <a:sym typeface="Poppins" charset="0"/>
              </a:rPr>
              <a:t>Flipping the Risk Problem</a:t>
            </a:r>
          </a:p>
        </p:txBody>
      </p:sp>
      <p:sp>
        <p:nvSpPr>
          <p:cNvPr id="28" name="TextBox 27">
            <a:extLst>
              <a:ext uri="{FF2B5EF4-FFF2-40B4-BE49-F238E27FC236}">
                <a16:creationId xmlns:a16="http://schemas.microsoft.com/office/drawing/2014/main" id="{A83FEB8F-8DD3-4D4F-9F4D-A928D3EF6D21}"/>
              </a:ext>
            </a:extLst>
          </p:cNvPr>
          <p:cNvSpPr txBox="1"/>
          <p:nvPr/>
        </p:nvSpPr>
        <p:spPr>
          <a:xfrm>
            <a:off x="2160647" y="6729787"/>
            <a:ext cx="1277914" cy="307777"/>
          </a:xfrm>
          <a:prstGeom prst="rect">
            <a:avLst/>
          </a:prstGeom>
          <a:noFill/>
        </p:spPr>
        <p:txBody>
          <a:bodyPr wrap="none" rtlCol="0" anchor="t" anchorCtr="0">
            <a:spAutoFit/>
          </a:bodyPr>
          <a:lstStyle/>
          <a:p>
            <a:r>
              <a:rPr lang="en-US" sz="1400" dirty="0">
                <a:solidFill>
                  <a:schemeClr val="bg1">
                    <a:lumMod val="50000"/>
                  </a:schemeClr>
                </a:solidFill>
                <a:latin typeface="Open Sans" panose="020B0606030504020204" pitchFamily="34" charset="0"/>
                <a:ea typeface="League Spartan" charset="0"/>
                <a:cs typeface="Poppins" pitchFamily="2" charset="77"/>
              </a:rPr>
              <a:t>Shorter-term</a:t>
            </a:r>
          </a:p>
        </p:txBody>
      </p:sp>
      <p:sp>
        <p:nvSpPr>
          <p:cNvPr id="30" name="TextBox 29">
            <a:extLst>
              <a:ext uri="{FF2B5EF4-FFF2-40B4-BE49-F238E27FC236}">
                <a16:creationId xmlns:a16="http://schemas.microsoft.com/office/drawing/2014/main" id="{04C4A40B-1336-A34C-A3D4-E8AF45136859}"/>
              </a:ext>
            </a:extLst>
          </p:cNvPr>
          <p:cNvSpPr txBox="1"/>
          <p:nvPr/>
        </p:nvSpPr>
        <p:spPr>
          <a:xfrm>
            <a:off x="9427721" y="6729787"/>
            <a:ext cx="1233030" cy="307777"/>
          </a:xfrm>
          <a:prstGeom prst="rect">
            <a:avLst/>
          </a:prstGeom>
          <a:noFill/>
        </p:spPr>
        <p:txBody>
          <a:bodyPr wrap="none" rtlCol="0" anchor="t" anchorCtr="0">
            <a:spAutoFit/>
          </a:bodyPr>
          <a:lstStyle/>
          <a:p>
            <a:r>
              <a:rPr lang="en-US" sz="1400" dirty="0">
                <a:solidFill>
                  <a:schemeClr val="bg1">
                    <a:lumMod val="50000"/>
                  </a:schemeClr>
                </a:solidFill>
                <a:latin typeface="Open Sans" panose="020B0606030504020204" pitchFamily="34" charset="0"/>
                <a:ea typeface="League Spartan" charset="0"/>
                <a:cs typeface="Poppins" pitchFamily="2" charset="77"/>
              </a:rPr>
              <a:t>Longer-term</a:t>
            </a:r>
          </a:p>
        </p:txBody>
      </p:sp>
      <p:sp>
        <p:nvSpPr>
          <p:cNvPr id="32" name="TextBox 31">
            <a:extLst>
              <a:ext uri="{FF2B5EF4-FFF2-40B4-BE49-F238E27FC236}">
                <a16:creationId xmlns:a16="http://schemas.microsoft.com/office/drawing/2014/main" id="{02F63772-79F4-B046-A005-17830F302256}"/>
              </a:ext>
            </a:extLst>
          </p:cNvPr>
          <p:cNvSpPr txBox="1"/>
          <p:nvPr/>
        </p:nvSpPr>
        <p:spPr>
          <a:xfrm>
            <a:off x="1638906" y="6299543"/>
            <a:ext cx="522515" cy="307777"/>
          </a:xfrm>
          <a:prstGeom prst="rect">
            <a:avLst/>
          </a:prstGeom>
          <a:noFill/>
        </p:spPr>
        <p:txBody>
          <a:bodyPr wrap="none" rtlCol="0" anchor="t" anchorCtr="0">
            <a:spAutoFit/>
          </a:bodyPr>
          <a:lstStyle/>
          <a:p>
            <a:r>
              <a:rPr lang="en-US" sz="1400" dirty="0">
                <a:solidFill>
                  <a:schemeClr val="bg1">
                    <a:lumMod val="50000"/>
                  </a:schemeClr>
                </a:solidFill>
                <a:latin typeface="Open Sans" panose="020B0606030504020204" pitchFamily="34" charset="0"/>
                <a:ea typeface="League Spartan" charset="0"/>
                <a:cs typeface="Poppins" pitchFamily="2" charset="77"/>
              </a:rPr>
              <a:t>Low</a:t>
            </a:r>
          </a:p>
        </p:txBody>
      </p:sp>
      <p:sp>
        <p:nvSpPr>
          <p:cNvPr id="33" name="TextBox 32">
            <a:extLst>
              <a:ext uri="{FF2B5EF4-FFF2-40B4-BE49-F238E27FC236}">
                <a16:creationId xmlns:a16="http://schemas.microsoft.com/office/drawing/2014/main" id="{7198640D-AB6A-6C42-8E99-34622A36A875}"/>
              </a:ext>
            </a:extLst>
          </p:cNvPr>
          <p:cNvSpPr txBox="1"/>
          <p:nvPr/>
        </p:nvSpPr>
        <p:spPr>
          <a:xfrm>
            <a:off x="1638906" y="1434935"/>
            <a:ext cx="570990" cy="307777"/>
          </a:xfrm>
          <a:prstGeom prst="rect">
            <a:avLst/>
          </a:prstGeom>
          <a:noFill/>
        </p:spPr>
        <p:txBody>
          <a:bodyPr wrap="none" rtlCol="0" anchor="t" anchorCtr="0">
            <a:spAutoFit/>
          </a:bodyPr>
          <a:lstStyle/>
          <a:p>
            <a:r>
              <a:rPr lang="en-US" sz="1400" dirty="0">
                <a:solidFill>
                  <a:schemeClr val="bg1">
                    <a:lumMod val="50000"/>
                  </a:schemeClr>
                </a:solidFill>
                <a:latin typeface="Open Sans" panose="020B0606030504020204" pitchFamily="34" charset="0"/>
                <a:ea typeface="League Spartan" charset="0"/>
                <a:cs typeface="Poppins" pitchFamily="2" charset="77"/>
              </a:rPr>
              <a:t>High</a:t>
            </a:r>
          </a:p>
        </p:txBody>
      </p:sp>
    </p:spTree>
    <p:extLst>
      <p:ext uri="{BB962C8B-B14F-4D97-AF65-F5344CB8AC3E}">
        <p14:creationId xmlns:p14="http://schemas.microsoft.com/office/powerpoint/2010/main" val="58838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1D74DBBB-E8C9-1F4E-965E-58A74944FB60}"/>
              </a:ext>
            </a:extLst>
          </p:cNvPr>
          <p:cNvSpPr>
            <a:spLocks noChangeArrowheads="1"/>
          </p:cNvSpPr>
          <p:nvPr/>
        </p:nvSpPr>
        <p:spPr bwMode="auto">
          <a:xfrm>
            <a:off x="1107220" y="3016077"/>
            <a:ext cx="1508828" cy="1508826"/>
          </a:xfrm>
          <a:custGeom>
            <a:avLst/>
            <a:gdLst>
              <a:gd name="T0" fmla="*/ 1883 w 1884"/>
              <a:gd name="T1" fmla="*/ 942 h 1885"/>
              <a:gd name="T2" fmla="*/ 942 w 1884"/>
              <a:gd name="T3" fmla="*/ 1884 h 1885"/>
              <a:gd name="T4" fmla="*/ 0 w 1884"/>
              <a:gd name="T5" fmla="*/ 942 h 1885"/>
              <a:gd name="T6" fmla="*/ 942 w 1884"/>
              <a:gd name="T7" fmla="*/ 0 h 1885"/>
              <a:gd name="T8" fmla="*/ 1883 w 1884"/>
              <a:gd name="T9" fmla="*/ 942 h 1885"/>
            </a:gdLst>
            <a:ahLst/>
            <a:cxnLst>
              <a:cxn ang="0">
                <a:pos x="T0" y="T1"/>
              </a:cxn>
              <a:cxn ang="0">
                <a:pos x="T2" y="T3"/>
              </a:cxn>
              <a:cxn ang="0">
                <a:pos x="T4" y="T5"/>
              </a:cxn>
              <a:cxn ang="0">
                <a:pos x="T6" y="T7"/>
              </a:cxn>
              <a:cxn ang="0">
                <a:pos x="T8" y="T9"/>
              </a:cxn>
            </a:cxnLst>
            <a:rect l="0" t="0" r="r" b="b"/>
            <a:pathLst>
              <a:path w="1884" h="1885">
                <a:moveTo>
                  <a:pt x="1883" y="942"/>
                </a:moveTo>
                <a:cubicBezTo>
                  <a:pt x="1883" y="1462"/>
                  <a:pt x="1462" y="1884"/>
                  <a:pt x="942" y="1884"/>
                </a:cubicBezTo>
                <a:cubicBezTo>
                  <a:pt x="421" y="1884"/>
                  <a:pt x="0" y="1462"/>
                  <a:pt x="0" y="942"/>
                </a:cubicBezTo>
                <a:cubicBezTo>
                  <a:pt x="0" y="422"/>
                  <a:pt x="421" y="0"/>
                  <a:pt x="942" y="0"/>
                </a:cubicBezTo>
                <a:cubicBezTo>
                  <a:pt x="1462" y="0"/>
                  <a:pt x="1883" y="422"/>
                  <a:pt x="1883" y="942"/>
                </a:cubicBezTo>
              </a:path>
            </a:pathLst>
          </a:custGeom>
          <a:solidFill>
            <a:schemeClr val="accent1"/>
          </a:solidFill>
          <a:ln>
            <a:noFill/>
          </a:ln>
          <a:effectLst/>
        </p:spPr>
        <p:txBody>
          <a:bodyPr wrap="none" anchor="ctr"/>
          <a:lstStyle/>
          <a:p>
            <a:endParaRPr lang="en-US" sz="1021">
              <a:latin typeface="+mj-lt"/>
            </a:endParaRPr>
          </a:p>
        </p:txBody>
      </p:sp>
      <p:sp>
        <p:nvSpPr>
          <p:cNvPr id="5" name="Freeform 3">
            <a:extLst>
              <a:ext uri="{FF2B5EF4-FFF2-40B4-BE49-F238E27FC236}">
                <a16:creationId xmlns:a16="http://schemas.microsoft.com/office/drawing/2014/main" id="{C3F2F0B0-92F6-0E49-BB12-242234F57226}"/>
              </a:ext>
            </a:extLst>
          </p:cNvPr>
          <p:cNvSpPr>
            <a:spLocks noChangeArrowheads="1"/>
          </p:cNvSpPr>
          <p:nvPr/>
        </p:nvSpPr>
        <p:spPr bwMode="auto">
          <a:xfrm>
            <a:off x="656694" y="2577948"/>
            <a:ext cx="2409881" cy="1204943"/>
          </a:xfrm>
          <a:custGeom>
            <a:avLst/>
            <a:gdLst>
              <a:gd name="T0" fmla="*/ 1503 w 3006"/>
              <a:gd name="T1" fmla="*/ 0 h 1503"/>
              <a:gd name="T2" fmla="*/ 0 w 3006"/>
              <a:gd name="T3" fmla="*/ 1502 h 1503"/>
              <a:gd name="T4" fmla="*/ 455 w 3006"/>
              <a:gd name="T5" fmla="*/ 1502 h 1503"/>
              <a:gd name="T6" fmla="*/ 1503 w 3006"/>
              <a:gd name="T7" fmla="*/ 455 h 1503"/>
              <a:gd name="T8" fmla="*/ 2549 w 3006"/>
              <a:gd name="T9" fmla="*/ 1502 h 1503"/>
              <a:gd name="T10" fmla="*/ 3005 w 3006"/>
              <a:gd name="T11" fmla="*/ 1502 h 1503"/>
              <a:gd name="T12" fmla="*/ 1503 w 3006"/>
              <a:gd name="T13" fmla="*/ 0 h 1503"/>
            </a:gdLst>
            <a:ahLst/>
            <a:cxnLst>
              <a:cxn ang="0">
                <a:pos x="T0" y="T1"/>
              </a:cxn>
              <a:cxn ang="0">
                <a:pos x="T2" y="T3"/>
              </a:cxn>
              <a:cxn ang="0">
                <a:pos x="T4" y="T5"/>
              </a:cxn>
              <a:cxn ang="0">
                <a:pos x="T6" y="T7"/>
              </a:cxn>
              <a:cxn ang="0">
                <a:pos x="T8" y="T9"/>
              </a:cxn>
              <a:cxn ang="0">
                <a:pos x="T10" y="T11"/>
              </a:cxn>
              <a:cxn ang="0">
                <a:pos x="T12" y="T13"/>
              </a:cxn>
            </a:cxnLst>
            <a:rect l="0" t="0" r="r" b="b"/>
            <a:pathLst>
              <a:path w="3006" h="1503">
                <a:moveTo>
                  <a:pt x="1503" y="0"/>
                </a:moveTo>
                <a:cubicBezTo>
                  <a:pt x="672" y="0"/>
                  <a:pt x="0" y="673"/>
                  <a:pt x="0" y="1502"/>
                </a:cubicBezTo>
                <a:lnTo>
                  <a:pt x="455" y="1502"/>
                </a:lnTo>
                <a:cubicBezTo>
                  <a:pt x="455" y="924"/>
                  <a:pt x="924" y="455"/>
                  <a:pt x="1503" y="455"/>
                </a:cubicBezTo>
                <a:cubicBezTo>
                  <a:pt x="2081" y="455"/>
                  <a:pt x="2549" y="924"/>
                  <a:pt x="2549" y="1502"/>
                </a:cubicBezTo>
                <a:lnTo>
                  <a:pt x="3005" y="1502"/>
                </a:lnTo>
                <a:cubicBezTo>
                  <a:pt x="3005" y="673"/>
                  <a:pt x="2332" y="0"/>
                  <a:pt x="1503" y="0"/>
                </a:cubicBezTo>
              </a:path>
            </a:pathLst>
          </a:custGeom>
          <a:solidFill>
            <a:schemeClr val="bg1">
              <a:lumMod val="75000"/>
            </a:schemeClr>
          </a:solidFill>
          <a:ln>
            <a:noFill/>
          </a:ln>
          <a:effectLst/>
        </p:spPr>
        <p:txBody>
          <a:bodyPr wrap="none" anchor="ctr"/>
          <a:lstStyle/>
          <a:p>
            <a:endParaRPr lang="en-US" sz="1021">
              <a:solidFill>
                <a:schemeClr val="bg2">
                  <a:lumMod val="75000"/>
                </a:schemeClr>
              </a:solidFill>
              <a:latin typeface="+mj-lt"/>
            </a:endParaRPr>
          </a:p>
        </p:txBody>
      </p:sp>
      <p:sp>
        <p:nvSpPr>
          <p:cNvPr id="6" name="Freeform 4">
            <a:extLst>
              <a:ext uri="{FF2B5EF4-FFF2-40B4-BE49-F238E27FC236}">
                <a16:creationId xmlns:a16="http://schemas.microsoft.com/office/drawing/2014/main" id="{BCBAB736-0344-A345-892B-F9D793A8493A}"/>
              </a:ext>
            </a:extLst>
          </p:cNvPr>
          <p:cNvSpPr>
            <a:spLocks noChangeArrowheads="1"/>
          </p:cNvSpPr>
          <p:nvPr/>
        </p:nvSpPr>
        <p:spPr bwMode="auto">
          <a:xfrm>
            <a:off x="3785617" y="3047976"/>
            <a:ext cx="1508828" cy="1508826"/>
          </a:xfrm>
          <a:custGeom>
            <a:avLst/>
            <a:gdLst>
              <a:gd name="T0" fmla="*/ 1884 w 1885"/>
              <a:gd name="T1" fmla="*/ 942 h 1885"/>
              <a:gd name="T2" fmla="*/ 942 w 1885"/>
              <a:gd name="T3" fmla="*/ 1884 h 1885"/>
              <a:gd name="T4" fmla="*/ 0 w 1885"/>
              <a:gd name="T5" fmla="*/ 942 h 1885"/>
              <a:gd name="T6" fmla="*/ 942 w 1885"/>
              <a:gd name="T7" fmla="*/ 0 h 1885"/>
              <a:gd name="T8" fmla="*/ 1884 w 1885"/>
              <a:gd name="T9" fmla="*/ 942 h 1885"/>
            </a:gdLst>
            <a:ahLst/>
            <a:cxnLst>
              <a:cxn ang="0">
                <a:pos x="T0" y="T1"/>
              </a:cxn>
              <a:cxn ang="0">
                <a:pos x="T2" y="T3"/>
              </a:cxn>
              <a:cxn ang="0">
                <a:pos x="T4" y="T5"/>
              </a:cxn>
              <a:cxn ang="0">
                <a:pos x="T6" y="T7"/>
              </a:cxn>
              <a:cxn ang="0">
                <a:pos x="T8" y="T9"/>
              </a:cxn>
            </a:cxnLst>
            <a:rect l="0" t="0" r="r" b="b"/>
            <a:pathLst>
              <a:path w="1885" h="1885">
                <a:moveTo>
                  <a:pt x="1884" y="942"/>
                </a:moveTo>
                <a:cubicBezTo>
                  <a:pt x="1884" y="1462"/>
                  <a:pt x="1462" y="1884"/>
                  <a:pt x="942" y="1884"/>
                </a:cubicBezTo>
                <a:cubicBezTo>
                  <a:pt x="421" y="1884"/>
                  <a:pt x="0" y="1462"/>
                  <a:pt x="0" y="942"/>
                </a:cubicBezTo>
                <a:cubicBezTo>
                  <a:pt x="0" y="422"/>
                  <a:pt x="421" y="0"/>
                  <a:pt x="942" y="0"/>
                </a:cubicBezTo>
                <a:cubicBezTo>
                  <a:pt x="1462" y="0"/>
                  <a:pt x="1884" y="422"/>
                  <a:pt x="1884" y="942"/>
                </a:cubicBezTo>
              </a:path>
            </a:pathLst>
          </a:custGeom>
          <a:solidFill>
            <a:schemeClr val="accent2"/>
          </a:solidFill>
          <a:ln>
            <a:noFill/>
          </a:ln>
          <a:effectLst/>
        </p:spPr>
        <p:txBody>
          <a:bodyPr wrap="none" anchor="ctr"/>
          <a:lstStyle/>
          <a:p>
            <a:endParaRPr lang="en-US" sz="1021">
              <a:latin typeface="+mj-lt"/>
            </a:endParaRPr>
          </a:p>
        </p:txBody>
      </p:sp>
      <p:sp>
        <p:nvSpPr>
          <p:cNvPr id="7" name="Freeform 5">
            <a:extLst>
              <a:ext uri="{FF2B5EF4-FFF2-40B4-BE49-F238E27FC236}">
                <a16:creationId xmlns:a16="http://schemas.microsoft.com/office/drawing/2014/main" id="{1B118C8D-D872-6D46-A14B-F7CDEE60EEBA}"/>
              </a:ext>
            </a:extLst>
          </p:cNvPr>
          <p:cNvSpPr>
            <a:spLocks noChangeArrowheads="1"/>
          </p:cNvSpPr>
          <p:nvPr/>
        </p:nvSpPr>
        <p:spPr bwMode="auto">
          <a:xfrm>
            <a:off x="3336858" y="3800621"/>
            <a:ext cx="2409881" cy="1204943"/>
          </a:xfrm>
          <a:custGeom>
            <a:avLst/>
            <a:gdLst>
              <a:gd name="T0" fmla="*/ 2550 w 3006"/>
              <a:gd name="T1" fmla="*/ 0 h 1504"/>
              <a:gd name="T2" fmla="*/ 1503 w 3006"/>
              <a:gd name="T3" fmla="*/ 1047 h 1504"/>
              <a:gd name="T4" fmla="*/ 456 w 3006"/>
              <a:gd name="T5" fmla="*/ 0 h 1504"/>
              <a:gd name="T6" fmla="*/ 0 w 3006"/>
              <a:gd name="T7" fmla="*/ 0 h 1504"/>
              <a:gd name="T8" fmla="*/ 1503 w 3006"/>
              <a:gd name="T9" fmla="*/ 1503 h 1504"/>
              <a:gd name="T10" fmla="*/ 3005 w 3006"/>
              <a:gd name="T11" fmla="*/ 0 h 1504"/>
              <a:gd name="T12" fmla="*/ 2550 w 3006"/>
              <a:gd name="T13" fmla="*/ 0 h 1504"/>
            </a:gdLst>
            <a:ahLst/>
            <a:cxnLst>
              <a:cxn ang="0">
                <a:pos x="T0" y="T1"/>
              </a:cxn>
              <a:cxn ang="0">
                <a:pos x="T2" y="T3"/>
              </a:cxn>
              <a:cxn ang="0">
                <a:pos x="T4" y="T5"/>
              </a:cxn>
              <a:cxn ang="0">
                <a:pos x="T6" y="T7"/>
              </a:cxn>
              <a:cxn ang="0">
                <a:pos x="T8" y="T9"/>
              </a:cxn>
              <a:cxn ang="0">
                <a:pos x="T10" y="T11"/>
              </a:cxn>
              <a:cxn ang="0">
                <a:pos x="T12" y="T13"/>
              </a:cxn>
            </a:cxnLst>
            <a:rect l="0" t="0" r="r" b="b"/>
            <a:pathLst>
              <a:path w="3006" h="1504">
                <a:moveTo>
                  <a:pt x="2550" y="0"/>
                </a:moveTo>
                <a:cubicBezTo>
                  <a:pt x="2550" y="578"/>
                  <a:pt x="2081" y="1047"/>
                  <a:pt x="1503" y="1047"/>
                </a:cubicBezTo>
                <a:cubicBezTo>
                  <a:pt x="924" y="1047"/>
                  <a:pt x="456" y="578"/>
                  <a:pt x="456" y="0"/>
                </a:cubicBezTo>
                <a:lnTo>
                  <a:pt x="0" y="0"/>
                </a:lnTo>
                <a:cubicBezTo>
                  <a:pt x="0" y="830"/>
                  <a:pt x="673" y="1503"/>
                  <a:pt x="1503" y="1503"/>
                </a:cubicBezTo>
                <a:cubicBezTo>
                  <a:pt x="2333" y="1503"/>
                  <a:pt x="3005" y="830"/>
                  <a:pt x="3005" y="0"/>
                </a:cubicBezTo>
                <a:lnTo>
                  <a:pt x="2550" y="0"/>
                </a:lnTo>
              </a:path>
            </a:pathLst>
          </a:custGeom>
          <a:solidFill>
            <a:schemeClr val="bg1">
              <a:lumMod val="75000"/>
            </a:schemeClr>
          </a:solidFill>
          <a:ln>
            <a:noFill/>
          </a:ln>
          <a:effectLst/>
        </p:spPr>
        <p:txBody>
          <a:bodyPr wrap="none" anchor="ctr"/>
          <a:lstStyle/>
          <a:p>
            <a:endParaRPr lang="en-US" sz="1021">
              <a:solidFill>
                <a:schemeClr val="bg2">
                  <a:lumMod val="75000"/>
                </a:schemeClr>
              </a:solidFill>
              <a:latin typeface="+mj-lt"/>
            </a:endParaRPr>
          </a:p>
        </p:txBody>
      </p:sp>
      <p:sp>
        <p:nvSpPr>
          <p:cNvPr id="8" name="Freeform 6">
            <a:extLst>
              <a:ext uri="{FF2B5EF4-FFF2-40B4-BE49-F238E27FC236}">
                <a16:creationId xmlns:a16="http://schemas.microsoft.com/office/drawing/2014/main" id="{9B4B962A-B756-0E4C-8BAB-F3935856E468}"/>
              </a:ext>
            </a:extLst>
          </p:cNvPr>
          <p:cNvSpPr>
            <a:spLocks noChangeArrowheads="1"/>
          </p:cNvSpPr>
          <p:nvPr/>
        </p:nvSpPr>
        <p:spPr bwMode="auto">
          <a:xfrm>
            <a:off x="5828009" y="3047976"/>
            <a:ext cx="1508828" cy="1508826"/>
          </a:xfrm>
          <a:custGeom>
            <a:avLst/>
            <a:gdLst>
              <a:gd name="T0" fmla="*/ 1884 w 1885"/>
              <a:gd name="T1" fmla="*/ 942 h 1885"/>
              <a:gd name="T2" fmla="*/ 942 w 1885"/>
              <a:gd name="T3" fmla="*/ 1884 h 1885"/>
              <a:gd name="T4" fmla="*/ 0 w 1885"/>
              <a:gd name="T5" fmla="*/ 942 h 1885"/>
              <a:gd name="T6" fmla="*/ 942 w 1885"/>
              <a:gd name="T7" fmla="*/ 0 h 1885"/>
              <a:gd name="T8" fmla="*/ 1884 w 1885"/>
              <a:gd name="T9" fmla="*/ 942 h 1885"/>
            </a:gdLst>
            <a:ahLst/>
            <a:cxnLst>
              <a:cxn ang="0">
                <a:pos x="T0" y="T1"/>
              </a:cxn>
              <a:cxn ang="0">
                <a:pos x="T2" y="T3"/>
              </a:cxn>
              <a:cxn ang="0">
                <a:pos x="T4" y="T5"/>
              </a:cxn>
              <a:cxn ang="0">
                <a:pos x="T6" y="T7"/>
              </a:cxn>
              <a:cxn ang="0">
                <a:pos x="T8" y="T9"/>
              </a:cxn>
            </a:cxnLst>
            <a:rect l="0" t="0" r="r" b="b"/>
            <a:pathLst>
              <a:path w="1885" h="1885">
                <a:moveTo>
                  <a:pt x="1884" y="942"/>
                </a:moveTo>
                <a:cubicBezTo>
                  <a:pt x="1884" y="1462"/>
                  <a:pt x="1463" y="1884"/>
                  <a:pt x="942" y="1884"/>
                </a:cubicBezTo>
                <a:cubicBezTo>
                  <a:pt x="422" y="1884"/>
                  <a:pt x="0" y="1462"/>
                  <a:pt x="0" y="942"/>
                </a:cubicBezTo>
                <a:cubicBezTo>
                  <a:pt x="0" y="422"/>
                  <a:pt x="422" y="0"/>
                  <a:pt x="942" y="0"/>
                </a:cubicBezTo>
                <a:cubicBezTo>
                  <a:pt x="1463" y="0"/>
                  <a:pt x="1884" y="422"/>
                  <a:pt x="1884" y="942"/>
                </a:cubicBezTo>
              </a:path>
            </a:pathLst>
          </a:custGeom>
          <a:solidFill>
            <a:schemeClr val="accent3"/>
          </a:solidFill>
          <a:ln>
            <a:noFill/>
          </a:ln>
          <a:effectLst/>
        </p:spPr>
        <p:txBody>
          <a:bodyPr wrap="none" anchor="ctr"/>
          <a:lstStyle/>
          <a:p>
            <a:endParaRPr lang="en-US" sz="1021">
              <a:latin typeface="+mj-lt"/>
            </a:endParaRPr>
          </a:p>
        </p:txBody>
      </p:sp>
      <p:sp>
        <p:nvSpPr>
          <p:cNvPr id="9" name="Freeform 7">
            <a:extLst>
              <a:ext uri="{FF2B5EF4-FFF2-40B4-BE49-F238E27FC236}">
                <a16:creationId xmlns:a16="http://schemas.microsoft.com/office/drawing/2014/main" id="{FFA0FCAE-AC70-5941-8A6D-4CF421A14DEA}"/>
              </a:ext>
            </a:extLst>
          </p:cNvPr>
          <p:cNvSpPr>
            <a:spLocks noChangeArrowheads="1"/>
          </p:cNvSpPr>
          <p:nvPr/>
        </p:nvSpPr>
        <p:spPr bwMode="auto">
          <a:xfrm>
            <a:off x="5379250" y="2599214"/>
            <a:ext cx="2409881" cy="1204943"/>
          </a:xfrm>
          <a:custGeom>
            <a:avLst/>
            <a:gdLst>
              <a:gd name="T0" fmla="*/ 1502 w 3006"/>
              <a:gd name="T1" fmla="*/ 0 h 1503"/>
              <a:gd name="T2" fmla="*/ 0 w 3006"/>
              <a:gd name="T3" fmla="*/ 1502 h 1503"/>
              <a:gd name="T4" fmla="*/ 456 w 3006"/>
              <a:gd name="T5" fmla="*/ 1502 h 1503"/>
              <a:gd name="T6" fmla="*/ 1503 w 3006"/>
              <a:gd name="T7" fmla="*/ 455 h 1503"/>
              <a:gd name="T8" fmla="*/ 2550 w 3006"/>
              <a:gd name="T9" fmla="*/ 1502 h 1503"/>
              <a:gd name="T10" fmla="*/ 3005 w 3006"/>
              <a:gd name="T11" fmla="*/ 1502 h 1503"/>
              <a:gd name="T12" fmla="*/ 1502 w 3006"/>
              <a:gd name="T13" fmla="*/ 0 h 1503"/>
            </a:gdLst>
            <a:ahLst/>
            <a:cxnLst>
              <a:cxn ang="0">
                <a:pos x="T0" y="T1"/>
              </a:cxn>
              <a:cxn ang="0">
                <a:pos x="T2" y="T3"/>
              </a:cxn>
              <a:cxn ang="0">
                <a:pos x="T4" y="T5"/>
              </a:cxn>
              <a:cxn ang="0">
                <a:pos x="T6" y="T7"/>
              </a:cxn>
              <a:cxn ang="0">
                <a:pos x="T8" y="T9"/>
              </a:cxn>
              <a:cxn ang="0">
                <a:pos x="T10" y="T11"/>
              </a:cxn>
              <a:cxn ang="0">
                <a:pos x="T12" y="T13"/>
              </a:cxn>
            </a:cxnLst>
            <a:rect l="0" t="0" r="r" b="b"/>
            <a:pathLst>
              <a:path w="3006" h="1503">
                <a:moveTo>
                  <a:pt x="1502" y="0"/>
                </a:moveTo>
                <a:cubicBezTo>
                  <a:pt x="673" y="0"/>
                  <a:pt x="0" y="673"/>
                  <a:pt x="0" y="1502"/>
                </a:cubicBezTo>
                <a:lnTo>
                  <a:pt x="456" y="1502"/>
                </a:lnTo>
                <a:cubicBezTo>
                  <a:pt x="456" y="924"/>
                  <a:pt x="924" y="455"/>
                  <a:pt x="1503" y="455"/>
                </a:cubicBezTo>
                <a:cubicBezTo>
                  <a:pt x="2081" y="455"/>
                  <a:pt x="2550" y="924"/>
                  <a:pt x="2550" y="1502"/>
                </a:cubicBezTo>
                <a:lnTo>
                  <a:pt x="3005" y="1502"/>
                </a:lnTo>
                <a:cubicBezTo>
                  <a:pt x="3005" y="673"/>
                  <a:pt x="2332" y="0"/>
                  <a:pt x="1502" y="0"/>
                </a:cubicBezTo>
              </a:path>
            </a:pathLst>
          </a:custGeom>
          <a:solidFill>
            <a:schemeClr val="bg1">
              <a:lumMod val="75000"/>
            </a:schemeClr>
          </a:solidFill>
          <a:ln>
            <a:noFill/>
          </a:ln>
          <a:effectLst/>
        </p:spPr>
        <p:txBody>
          <a:bodyPr wrap="none" anchor="ctr"/>
          <a:lstStyle/>
          <a:p>
            <a:endParaRPr lang="en-US" sz="1021">
              <a:solidFill>
                <a:schemeClr val="bg2">
                  <a:lumMod val="75000"/>
                </a:schemeClr>
              </a:solidFill>
              <a:latin typeface="+mj-lt"/>
            </a:endParaRPr>
          </a:p>
        </p:txBody>
      </p:sp>
      <p:sp>
        <p:nvSpPr>
          <p:cNvPr id="10" name="Freeform 8">
            <a:extLst>
              <a:ext uri="{FF2B5EF4-FFF2-40B4-BE49-F238E27FC236}">
                <a16:creationId xmlns:a16="http://schemas.microsoft.com/office/drawing/2014/main" id="{3BB63C2D-0683-1940-B68B-40AEBFA92BF4}"/>
              </a:ext>
            </a:extLst>
          </p:cNvPr>
          <p:cNvSpPr>
            <a:spLocks noChangeArrowheads="1"/>
          </p:cNvSpPr>
          <p:nvPr/>
        </p:nvSpPr>
        <p:spPr bwMode="auto">
          <a:xfrm>
            <a:off x="7438630" y="3875052"/>
            <a:ext cx="2409881" cy="1204943"/>
          </a:xfrm>
          <a:custGeom>
            <a:avLst/>
            <a:gdLst>
              <a:gd name="T0" fmla="*/ 2550 w 3006"/>
              <a:gd name="T1" fmla="*/ 0 h 1504"/>
              <a:gd name="T2" fmla="*/ 1503 w 3006"/>
              <a:gd name="T3" fmla="*/ 1047 h 1504"/>
              <a:gd name="T4" fmla="*/ 456 w 3006"/>
              <a:gd name="T5" fmla="*/ 0 h 1504"/>
              <a:gd name="T6" fmla="*/ 0 w 3006"/>
              <a:gd name="T7" fmla="*/ 0 h 1504"/>
              <a:gd name="T8" fmla="*/ 1503 w 3006"/>
              <a:gd name="T9" fmla="*/ 1503 h 1504"/>
              <a:gd name="T10" fmla="*/ 3005 w 3006"/>
              <a:gd name="T11" fmla="*/ 0 h 1504"/>
              <a:gd name="T12" fmla="*/ 2550 w 3006"/>
              <a:gd name="T13" fmla="*/ 0 h 1504"/>
            </a:gdLst>
            <a:ahLst/>
            <a:cxnLst>
              <a:cxn ang="0">
                <a:pos x="T0" y="T1"/>
              </a:cxn>
              <a:cxn ang="0">
                <a:pos x="T2" y="T3"/>
              </a:cxn>
              <a:cxn ang="0">
                <a:pos x="T4" y="T5"/>
              </a:cxn>
              <a:cxn ang="0">
                <a:pos x="T6" y="T7"/>
              </a:cxn>
              <a:cxn ang="0">
                <a:pos x="T8" y="T9"/>
              </a:cxn>
              <a:cxn ang="0">
                <a:pos x="T10" y="T11"/>
              </a:cxn>
              <a:cxn ang="0">
                <a:pos x="T12" y="T13"/>
              </a:cxn>
            </a:cxnLst>
            <a:rect l="0" t="0" r="r" b="b"/>
            <a:pathLst>
              <a:path w="3006" h="1504">
                <a:moveTo>
                  <a:pt x="2550" y="0"/>
                </a:moveTo>
                <a:cubicBezTo>
                  <a:pt x="2550" y="578"/>
                  <a:pt x="2081" y="1047"/>
                  <a:pt x="1503" y="1047"/>
                </a:cubicBezTo>
                <a:cubicBezTo>
                  <a:pt x="924" y="1047"/>
                  <a:pt x="456" y="578"/>
                  <a:pt x="456" y="0"/>
                </a:cubicBezTo>
                <a:lnTo>
                  <a:pt x="0" y="0"/>
                </a:lnTo>
                <a:cubicBezTo>
                  <a:pt x="0" y="830"/>
                  <a:pt x="673" y="1503"/>
                  <a:pt x="1503" y="1503"/>
                </a:cubicBezTo>
                <a:cubicBezTo>
                  <a:pt x="2333" y="1503"/>
                  <a:pt x="3005" y="830"/>
                  <a:pt x="3005" y="0"/>
                </a:cubicBezTo>
                <a:lnTo>
                  <a:pt x="2550" y="0"/>
                </a:lnTo>
              </a:path>
            </a:pathLst>
          </a:custGeom>
          <a:solidFill>
            <a:schemeClr val="bg1">
              <a:lumMod val="75000"/>
            </a:schemeClr>
          </a:solidFill>
          <a:ln>
            <a:noFill/>
          </a:ln>
          <a:effectLst/>
        </p:spPr>
        <p:txBody>
          <a:bodyPr wrap="none" anchor="ctr"/>
          <a:lstStyle/>
          <a:p>
            <a:endParaRPr lang="en-US" sz="1021">
              <a:solidFill>
                <a:schemeClr val="bg2">
                  <a:lumMod val="75000"/>
                </a:schemeClr>
              </a:solidFill>
              <a:latin typeface="+mj-lt"/>
            </a:endParaRPr>
          </a:p>
        </p:txBody>
      </p:sp>
      <p:sp>
        <p:nvSpPr>
          <p:cNvPr id="11" name="Freeform 9">
            <a:extLst>
              <a:ext uri="{FF2B5EF4-FFF2-40B4-BE49-F238E27FC236}">
                <a16:creationId xmlns:a16="http://schemas.microsoft.com/office/drawing/2014/main" id="{3BF8B743-F883-CE42-8217-04250D9889F3}"/>
              </a:ext>
            </a:extLst>
          </p:cNvPr>
          <p:cNvSpPr>
            <a:spLocks noChangeArrowheads="1"/>
          </p:cNvSpPr>
          <p:nvPr/>
        </p:nvSpPr>
        <p:spPr bwMode="auto">
          <a:xfrm>
            <a:off x="9933317" y="3122407"/>
            <a:ext cx="1508825" cy="1508826"/>
          </a:xfrm>
          <a:custGeom>
            <a:avLst/>
            <a:gdLst>
              <a:gd name="T0" fmla="*/ 1884 w 1885"/>
              <a:gd name="T1" fmla="*/ 942 h 1885"/>
              <a:gd name="T2" fmla="*/ 942 w 1885"/>
              <a:gd name="T3" fmla="*/ 1884 h 1885"/>
              <a:gd name="T4" fmla="*/ 0 w 1885"/>
              <a:gd name="T5" fmla="*/ 942 h 1885"/>
              <a:gd name="T6" fmla="*/ 942 w 1885"/>
              <a:gd name="T7" fmla="*/ 0 h 1885"/>
              <a:gd name="T8" fmla="*/ 1884 w 1885"/>
              <a:gd name="T9" fmla="*/ 942 h 1885"/>
            </a:gdLst>
            <a:ahLst/>
            <a:cxnLst>
              <a:cxn ang="0">
                <a:pos x="T0" y="T1"/>
              </a:cxn>
              <a:cxn ang="0">
                <a:pos x="T2" y="T3"/>
              </a:cxn>
              <a:cxn ang="0">
                <a:pos x="T4" y="T5"/>
              </a:cxn>
              <a:cxn ang="0">
                <a:pos x="T6" y="T7"/>
              </a:cxn>
              <a:cxn ang="0">
                <a:pos x="T8" y="T9"/>
              </a:cxn>
            </a:cxnLst>
            <a:rect l="0" t="0" r="r" b="b"/>
            <a:pathLst>
              <a:path w="1885" h="1885">
                <a:moveTo>
                  <a:pt x="1884" y="942"/>
                </a:moveTo>
                <a:cubicBezTo>
                  <a:pt x="1884" y="1462"/>
                  <a:pt x="1462" y="1884"/>
                  <a:pt x="942" y="1884"/>
                </a:cubicBezTo>
                <a:cubicBezTo>
                  <a:pt x="422" y="1884"/>
                  <a:pt x="0" y="1462"/>
                  <a:pt x="0" y="942"/>
                </a:cubicBezTo>
                <a:cubicBezTo>
                  <a:pt x="0" y="422"/>
                  <a:pt x="422" y="0"/>
                  <a:pt x="942" y="0"/>
                </a:cubicBezTo>
                <a:cubicBezTo>
                  <a:pt x="1462" y="0"/>
                  <a:pt x="1884" y="422"/>
                  <a:pt x="1884" y="942"/>
                </a:cubicBezTo>
              </a:path>
            </a:pathLst>
          </a:custGeom>
          <a:solidFill>
            <a:schemeClr val="accent5"/>
          </a:solidFill>
          <a:ln>
            <a:noFill/>
          </a:ln>
          <a:effectLst/>
        </p:spPr>
        <p:txBody>
          <a:bodyPr wrap="none" anchor="ctr"/>
          <a:lstStyle/>
          <a:p>
            <a:endParaRPr lang="en-US" sz="1021">
              <a:latin typeface="+mj-lt"/>
            </a:endParaRPr>
          </a:p>
        </p:txBody>
      </p:sp>
      <p:sp>
        <p:nvSpPr>
          <p:cNvPr id="12" name="Freeform 10">
            <a:extLst>
              <a:ext uri="{FF2B5EF4-FFF2-40B4-BE49-F238E27FC236}">
                <a16:creationId xmlns:a16="http://schemas.microsoft.com/office/drawing/2014/main" id="{6D9831C3-0ACE-A342-A9AB-BF50922FFC68}"/>
              </a:ext>
            </a:extLst>
          </p:cNvPr>
          <p:cNvSpPr>
            <a:spLocks noChangeArrowheads="1"/>
          </p:cNvSpPr>
          <p:nvPr/>
        </p:nvSpPr>
        <p:spPr bwMode="auto">
          <a:xfrm>
            <a:off x="9484555" y="2673645"/>
            <a:ext cx="2406349" cy="1204943"/>
          </a:xfrm>
          <a:custGeom>
            <a:avLst/>
            <a:gdLst>
              <a:gd name="T0" fmla="*/ 1502 w 3005"/>
              <a:gd name="T1" fmla="*/ 0 h 1503"/>
              <a:gd name="T2" fmla="*/ 0 w 3005"/>
              <a:gd name="T3" fmla="*/ 1502 h 1503"/>
              <a:gd name="T4" fmla="*/ 455 w 3005"/>
              <a:gd name="T5" fmla="*/ 1502 h 1503"/>
              <a:gd name="T6" fmla="*/ 1502 w 3005"/>
              <a:gd name="T7" fmla="*/ 455 h 1503"/>
              <a:gd name="T8" fmla="*/ 2549 w 3005"/>
              <a:gd name="T9" fmla="*/ 1502 h 1503"/>
              <a:gd name="T10" fmla="*/ 3004 w 3005"/>
              <a:gd name="T11" fmla="*/ 1502 h 1503"/>
              <a:gd name="T12" fmla="*/ 1502 w 3005"/>
              <a:gd name="T13" fmla="*/ 0 h 1503"/>
            </a:gdLst>
            <a:ahLst/>
            <a:cxnLst>
              <a:cxn ang="0">
                <a:pos x="T0" y="T1"/>
              </a:cxn>
              <a:cxn ang="0">
                <a:pos x="T2" y="T3"/>
              </a:cxn>
              <a:cxn ang="0">
                <a:pos x="T4" y="T5"/>
              </a:cxn>
              <a:cxn ang="0">
                <a:pos x="T6" y="T7"/>
              </a:cxn>
              <a:cxn ang="0">
                <a:pos x="T8" y="T9"/>
              </a:cxn>
              <a:cxn ang="0">
                <a:pos x="T10" y="T11"/>
              </a:cxn>
              <a:cxn ang="0">
                <a:pos x="T12" y="T13"/>
              </a:cxn>
            </a:cxnLst>
            <a:rect l="0" t="0" r="r" b="b"/>
            <a:pathLst>
              <a:path w="3005" h="1503">
                <a:moveTo>
                  <a:pt x="1502" y="0"/>
                </a:moveTo>
                <a:cubicBezTo>
                  <a:pt x="673" y="0"/>
                  <a:pt x="0" y="673"/>
                  <a:pt x="0" y="1502"/>
                </a:cubicBezTo>
                <a:lnTo>
                  <a:pt x="455" y="1502"/>
                </a:lnTo>
                <a:cubicBezTo>
                  <a:pt x="455" y="924"/>
                  <a:pt x="924" y="455"/>
                  <a:pt x="1502" y="455"/>
                </a:cubicBezTo>
                <a:cubicBezTo>
                  <a:pt x="2080" y="455"/>
                  <a:pt x="2549" y="924"/>
                  <a:pt x="2549" y="1502"/>
                </a:cubicBezTo>
                <a:lnTo>
                  <a:pt x="3004" y="1502"/>
                </a:lnTo>
                <a:cubicBezTo>
                  <a:pt x="3004" y="673"/>
                  <a:pt x="2332" y="0"/>
                  <a:pt x="1502" y="0"/>
                </a:cubicBezTo>
              </a:path>
            </a:pathLst>
          </a:custGeom>
          <a:solidFill>
            <a:schemeClr val="bg1">
              <a:lumMod val="75000"/>
            </a:schemeClr>
          </a:solidFill>
          <a:ln>
            <a:noFill/>
          </a:ln>
          <a:effectLst/>
        </p:spPr>
        <p:txBody>
          <a:bodyPr wrap="none" anchor="ctr"/>
          <a:lstStyle/>
          <a:p>
            <a:endParaRPr lang="en-US" sz="1021">
              <a:solidFill>
                <a:schemeClr val="bg2">
                  <a:lumMod val="75000"/>
                </a:schemeClr>
              </a:solidFill>
              <a:latin typeface="+mj-lt"/>
            </a:endParaRPr>
          </a:p>
        </p:txBody>
      </p:sp>
      <p:sp>
        <p:nvSpPr>
          <p:cNvPr id="13" name="Freeform 11">
            <a:extLst>
              <a:ext uri="{FF2B5EF4-FFF2-40B4-BE49-F238E27FC236}">
                <a16:creationId xmlns:a16="http://schemas.microsoft.com/office/drawing/2014/main" id="{EB47C18B-861E-FB4B-8941-81547D4EDA47}"/>
              </a:ext>
            </a:extLst>
          </p:cNvPr>
          <p:cNvSpPr>
            <a:spLocks noChangeArrowheads="1"/>
          </p:cNvSpPr>
          <p:nvPr/>
        </p:nvSpPr>
        <p:spPr bwMode="auto">
          <a:xfrm>
            <a:off x="7887390" y="3122407"/>
            <a:ext cx="1508828" cy="1508826"/>
          </a:xfrm>
          <a:custGeom>
            <a:avLst/>
            <a:gdLst>
              <a:gd name="T0" fmla="*/ 1883 w 1884"/>
              <a:gd name="T1" fmla="*/ 942 h 1885"/>
              <a:gd name="T2" fmla="*/ 942 w 1884"/>
              <a:gd name="T3" fmla="*/ 1884 h 1885"/>
              <a:gd name="T4" fmla="*/ 0 w 1884"/>
              <a:gd name="T5" fmla="*/ 942 h 1885"/>
              <a:gd name="T6" fmla="*/ 942 w 1884"/>
              <a:gd name="T7" fmla="*/ 0 h 1885"/>
              <a:gd name="T8" fmla="*/ 1883 w 1884"/>
              <a:gd name="T9" fmla="*/ 942 h 1885"/>
            </a:gdLst>
            <a:ahLst/>
            <a:cxnLst>
              <a:cxn ang="0">
                <a:pos x="T0" y="T1"/>
              </a:cxn>
              <a:cxn ang="0">
                <a:pos x="T2" y="T3"/>
              </a:cxn>
              <a:cxn ang="0">
                <a:pos x="T4" y="T5"/>
              </a:cxn>
              <a:cxn ang="0">
                <a:pos x="T6" y="T7"/>
              </a:cxn>
              <a:cxn ang="0">
                <a:pos x="T8" y="T9"/>
              </a:cxn>
            </a:cxnLst>
            <a:rect l="0" t="0" r="r" b="b"/>
            <a:pathLst>
              <a:path w="1884" h="1885">
                <a:moveTo>
                  <a:pt x="1883" y="942"/>
                </a:moveTo>
                <a:cubicBezTo>
                  <a:pt x="1883" y="1462"/>
                  <a:pt x="1462" y="1884"/>
                  <a:pt x="942" y="1884"/>
                </a:cubicBezTo>
                <a:cubicBezTo>
                  <a:pt x="421" y="1884"/>
                  <a:pt x="0" y="1462"/>
                  <a:pt x="0" y="942"/>
                </a:cubicBezTo>
                <a:cubicBezTo>
                  <a:pt x="0" y="422"/>
                  <a:pt x="421" y="0"/>
                  <a:pt x="942" y="0"/>
                </a:cubicBezTo>
                <a:cubicBezTo>
                  <a:pt x="1462" y="0"/>
                  <a:pt x="1883" y="422"/>
                  <a:pt x="1883" y="942"/>
                </a:cubicBezTo>
              </a:path>
            </a:pathLst>
          </a:custGeom>
          <a:solidFill>
            <a:schemeClr val="accent4"/>
          </a:solidFill>
          <a:ln>
            <a:noFill/>
          </a:ln>
          <a:effectLst/>
        </p:spPr>
        <p:txBody>
          <a:bodyPr wrap="none" anchor="ctr"/>
          <a:lstStyle/>
          <a:p>
            <a:endParaRPr lang="en-US" sz="1021">
              <a:latin typeface="+mj-lt"/>
            </a:endParaRPr>
          </a:p>
        </p:txBody>
      </p:sp>
      <p:sp>
        <p:nvSpPr>
          <p:cNvPr id="24" name="Subtitle 2">
            <a:extLst>
              <a:ext uri="{FF2B5EF4-FFF2-40B4-BE49-F238E27FC236}">
                <a16:creationId xmlns:a16="http://schemas.microsoft.com/office/drawing/2014/main" id="{58F07D01-4FDB-6B40-80A4-D55CC8B92827}"/>
              </a:ext>
            </a:extLst>
          </p:cNvPr>
          <p:cNvSpPr txBox="1">
            <a:spLocks/>
          </p:cNvSpPr>
          <p:nvPr/>
        </p:nvSpPr>
        <p:spPr>
          <a:xfrm>
            <a:off x="881365" y="5465425"/>
            <a:ext cx="2017448" cy="510152"/>
          </a:xfrm>
          <a:prstGeom prst="rect">
            <a:avLst/>
          </a:prstGeom>
        </p:spPr>
        <p:txBody>
          <a:bodyPr vert="horz" wrap="square" lIns="48019" tIns="24009" rIns="48019" bIns="24009"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838"/>
              </a:lnSpc>
            </a:pPr>
            <a:r>
              <a:rPr lang="en-US" sz="1600" dirty="0">
                <a:solidFill>
                  <a:schemeClr val="tx1"/>
                </a:solidFill>
                <a:latin typeface="+mj-lt"/>
                <a:ea typeface="Lato Light" panose="020F0502020204030203" pitchFamily="34" charset="0"/>
                <a:cs typeface="Mukta ExtraLight" panose="020B0000000000000000" pitchFamily="34" charset="77"/>
              </a:rPr>
              <a:t>Living with intent </a:t>
            </a:r>
            <a:br>
              <a:rPr lang="en-US" sz="1600" dirty="0">
                <a:solidFill>
                  <a:schemeClr val="tx1"/>
                </a:solidFill>
                <a:latin typeface="+mj-lt"/>
                <a:ea typeface="Lato Light" panose="020F0502020204030203" pitchFamily="34" charset="0"/>
                <a:cs typeface="Mukta ExtraLight" panose="020B0000000000000000" pitchFamily="34" charset="77"/>
              </a:rPr>
            </a:br>
            <a:r>
              <a:rPr lang="en-US" sz="1600" dirty="0">
                <a:solidFill>
                  <a:schemeClr val="tx1"/>
                </a:solidFill>
                <a:latin typeface="+mj-lt"/>
                <a:ea typeface="Lato Light" panose="020F0502020204030203" pitchFamily="34" charset="0"/>
                <a:cs typeface="Mukta ExtraLight" panose="020B0000000000000000" pitchFamily="34" charset="77"/>
              </a:rPr>
              <a:t>to stay well </a:t>
            </a:r>
          </a:p>
        </p:txBody>
      </p:sp>
      <p:sp>
        <p:nvSpPr>
          <p:cNvPr id="25" name="TextBox 24">
            <a:extLst>
              <a:ext uri="{FF2B5EF4-FFF2-40B4-BE49-F238E27FC236}">
                <a16:creationId xmlns:a16="http://schemas.microsoft.com/office/drawing/2014/main" id="{CEEB48F6-01DC-984D-BD4B-C5AE77847950}"/>
              </a:ext>
            </a:extLst>
          </p:cNvPr>
          <p:cNvSpPr txBox="1"/>
          <p:nvPr/>
        </p:nvSpPr>
        <p:spPr>
          <a:xfrm>
            <a:off x="1024928" y="5005254"/>
            <a:ext cx="1774845" cy="461665"/>
          </a:xfrm>
          <a:prstGeom prst="rect">
            <a:avLst/>
          </a:prstGeom>
          <a:noFill/>
        </p:spPr>
        <p:txBody>
          <a:bodyPr wrap="none" rtlCol="0" anchor="b" anchorCtr="0">
            <a:spAutoFit/>
          </a:bodyPr>
          <a:lstStyle/>
          <a:p>
            <a:pPr algn="ctr"/>
            <a:r>
              <a:rPr lang="en-US" sz="2400" b="1" dirty="0">
                <a:solidFill>
                  <a:srgbClr val="002060"/>
                </a:solidFill>
              </a:rPr>
              <a:t>Prevention</a:t>
            </a:r>
          </a:p>
        </p:txBody>
      </p:sp>
      <p:sp>
        <p:nvSpPr>
          <p:cNvPr id="26" name="Subtitle 2">
            <a:extLst>
              <a:ext uri="{FF2B5EF4-FFF2-40B4-BE49-F238E27FC236}">
                <a16:creationId xmlns:a16="http://schemas.microsoft.com/office/drawing/2014/main" id="{100DF682-58AB-7E4A-BA30-BD5E4B1EBBC5}"/>
              </a:ext>
            </a:extLst>
          </p:cNvPr>
          <p:cNvSpPr txBox="1">
            <a:spLocks/>
          </p:cNvSpPr>
          <p:nvPr/>
        </p:nvSpPr>
        <p:spPr>
          <a:xfrm>
            <a:off x="5567040" y="5401627"/>
            <a:ext cx="2029551" cy="510152"/>
          </a:xfrm>
          <a:prstGeom prst="rect">
            <a:avLst/>
          </a:prstGeom>
        </p:spPr>
        <p:txBody>
          <a:bodyPr vert="horz" wrap="square" lIns="48019" tIns="24009" rIns="48019" bIns="24009"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838"/>
              </a:lnSpc>
            </a:pPr>
            <a:r>
              <a:rPr lang="en-US" sz="1600" dirty="0">
                <a:solidFill>
                  <a:schemeClr val="tx1"/>
                </a:solidFill>
                <a:latin typeface="+mj-lt"/>
                <a:ea typeface="Lato Light" panose="020F0502020204030203" pitchFamily="34" charset="0"/>
                <a:cs typeface="Mukta ExtraLight" panose="020B0000000000000000" pitchFamily="34" charset="77"/>
              </a:rPr>
              <a:t>Seeking and pursuing care</a:t>
            </a:r>
          </a:p>
        </p:txBody>
      </p:sp>
      <p:sp>
        <p:nvSpPr>
          <p:cNvPr id="27" name="TextBox 26">
            <a:extLst>
              <a:ext uri="{FF2B5EF4-FFF2-40B4-BE49-F238E27FC236}">
                <a16:creationId xmlns:a16="http://schemas.microsoft.com/office/drawing/2014/main" id="{C0308527-309D-2146-914D-8631C2B058C1}"/>
              </a:ext>
            </a:extLst>
          </p:cNvPr>
          <p:cNvSpPr txBox="1"/>
          <p:nvPr/>
        </p:nvSpPr>
        <p:spPr>
          <a:xfrm>
            <a:off x="5735059" y="4941456"/>
            <a:ext cx="1672253" cy="461665"/>
          </a:xfrm>
          <a:prstGeom prst="rect">
            <a:avLst/>
          </a:prstGeom>
          <a:noFill/>
        </p:spPr>
        <p:txBody>
          <a:bodyPr wrap="none" rtlCol="0" anchor="b" anchorCtr="0">
            <a:spAutoFit/>
          </a:bodyPr>
          <a:lstStyle/>
          <a:p>
            <a:pPr algn="ctr"/>
            <a:r>
              <a:rPr lang="en-US" sz="2400" b="1" dirty="0">
                <a:solidFill>
                  <a:srgbClr val="002060"/>
                </a:solidFill>
              </a:rPr>
              <a:t>Activation</a:t>
            </a:r>
          </a:p>
        </p:txBody>
      </p:sp>
      <p:sp>
        <p:nvSpPr>
          <p:cNvPr id="28" name="Subtitle 2">
            <a:extLst>
              <a:ext uri="{FF2B5EF4-FFF2-40B4-BE49-F238E27FC236}">
                <a16:creationId xmlns:a16="http://schemas.microsoft.com/office/drawing/2014/main" id="{2327479B-1636-7C47-8183-6C295CA69305}"/>
              </a:ext>
            </a:extLst>
          </p:cNvPr>
          <p:cNvSpPr txBox="1">
            <a:spLocks/>
          </p:cNvSpPr>
          <p:nvPr/>
        </p:nvSpPr>
        <p:spPr>
          <a:xfrm>
            <a:off x="9584481" y="5401627"/>
            <a:ext cx="2153053" cy="510152"/>
          </a:xfrm>
          <a:prstGeom prst="rect">
            <a:avLst/>
          </a:prstGeom>
        </p:spPr>
        <p:txBody>
          <a:bodyPr vert="horz" wrap="square" lIns="48019" tIns="24009" rIns="48019" bIns="24009"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838"/>
              </a:lnSpc>
            </a:pPr>
            <a:r>
              <a:rPr lang="en-US" sz="1600" dirty="0">
                <a:solidFill>
                  <a:schemeClr val="tx1"/>
                </a:solidFill>
                <a:latin typeface="+mj-lt"/>
                <a:ea typeface="Lato Light" panose="020F0502020204030203" pitchFamily="34" charset="0"/>
                <a:cs typeface="Mukta ExtraLight" panose="020B0000000000000000" pitchFamily="34" charset="77"/>
              </a:rPr>
              <a:t>Managing ongoing wellness and recovery</a:t>
            </a:r>
          </a:p>
        </p:txBody>
      </p:sp>
      <p:sp>
        <p:nvSpPr>
          <p:cNvPr id="29" name="TextBox 28">
            <a:extLst>
              <a:ext uri="{FF2B5EF4-FFF2-40B4-BE49-F238E27FC236}">
                <a16:creationId xmlns:a16="http://schemas.microsoft.com/office/drawing/2014/main" id="{BC45D450-342E-074C-9945-DC84409AAA1E}"/>
              </a:ext>
            </a:extLst>
          </p:cNvPr>
          <p:cNvSpPr txBox="1"/>
          <p:nvPr/>
        </p:nvSpPr>
        <p:spPr>
          <a:xfrm>
            <a:off x="9609090" y="4941456"/>
            <a:ext cx="2066591" cy="461665"/>
          </a:xfrm>
          <a:prstGeom prst="rect">
            <a:avLst/>
          </a:prstGeom>
          <a:noFill/>
        </p:spPr>
        <p:txBody>
          <a:bodyPr wrap="none" rtlCol="0" anchor="b" anchorCtr="0">
            <a:spAutoFit/>
          </a:bodyPr>
          <a:lstStyle/>
          <a:p>
            <a:pPr algn="ctr"/>
            <a:r>
              <a:rPr lang="en-US" sz="2400" b="1" dirty="0">
                <a:solidFill>
                  <a:srgbClr val="002060"/>
                </a:solidFill>
              </a:rPr>
              <a:t>Management</a:t>
            </a:r>
          </a:p>
        </p:txBody>
      </p:sp>
      <p:sp>
        <p:nvSpPr>
          <p:cNvPr id="30" name="Subtitle 2">
            <a:extLst>
              <a:ext uri="{FF2B5EF4-FFF2-40B4-BE49-F238E27FC236}">
                <a16:creationId xmlns:a16="http://schemas.microsoft.com/office/drawing/2014/main" id="{59DAC168-E4A3-764C-B3D4-4D51A03DB541}"/>
              </a:ext>
            </a:extLst>
          </p:cNvPr>
          <p:cNvSpPr txBox="1">
            <a:spLocks/>
          </p:cNvSpPr>
          <p:nvPr/>
        </p:nvSpPr>
        <p:spPr>
          <a:xfrm>
            <a:off x="3494380" y="2187658"/>
            <a:ext cx="2043144" cy="510152"/>
          </a:xfrm>
          <a:prstGeom prst="rect">
            <a:avLst/>
          </a:prstGeom>
        </p:spPr>
        <p:txBody>
          <a:bodyPr vert="horz" wrap="square" lIns="48019" tIns="24009" rIns="48019" bIns="24009"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838"/>
              </a:lnSpc>
            </a:pPr>
            <a:r>
              <a:rPr lang="en-US" sz="1600" dirty="0">
                <a:solidFill>
                  <a:schemeClr val="tx1"/>
                </a:solidFill>
                <a:latin typeface="+mj-lt"/>
                <a:ea typeface="Lato Light" panose="020F0502020204030203" pitchFamily="34" charset="0"/>
                <a:cs typeface="Mukta ExtraLight" panose="020B0000000000000000" pitchFamily="34" charset="77"/>
              </a:rPr>
              <a:t>Becoming aware of the need for care</a:t>
            </a:r>
          </a:p>
        </p:txBody>
      </p:sp>
      <p:sp>
        <p:nvSpPr>
          <p:cNvPr id="31" name="TextBox 30">
            <a:extLst>
              <a:ext uri="{FF2B5EF4-FFF2-40B4-BE49-F238E27FC236}">
                <a16:creationId xmlns:a16="http://schemas.microsoft.com/office/drawing/2014/main" id="{3DE84B52-743E-3349-AE25-A59E1E226ECB}"/>
              </a:ext>
            </a:extLst>
          </p:cNvPr>
          <p:cNvSpPr txBox="1"/>
          <p:nvPr/>
        </p:nvSpPr>
        <p:spPr>
          <a:xfrm>
            <a:off x="3535555" y="1727487"/>
            <a:ext cx="1960794" cy="461665"/>
          </a:xfrm>
          <a:prstGeom prst="rect">
            <a:avLst/>
          </a:prstGeom>
          <a:noFill/>
        </p:spPr>
        <p:txBody>
          <a:bodyPr wrap="none" rtlCol="0" anchor="b" anchorCtr="0">
            <a:spAutoFit/>
          </a:bodyPr>
          <a:lstStyle/>
          <a:p>
            <a:pPr algn="ctr"/>
            <a:r>
              <a:rPr lang="en-US" sz="2400" b="1" dirty="0">
                <a:solidFill>
                  <a:srgbClr val="002060"/>
                </a:solidFill>
              </a:rPr>
              <a:t>Recognition</a:t>
            </a:r>
          </a:p>
        </p:txBody>
      </p:sp>
      <p:sp>
        <p:nvSpPr>
          <p:cNvPr id="32" name="Subtitle 2">
            <a:extLst>
              <a:ext uri="{FF2B5EF4-FFF2-40B4-BE49-F238E27FC236}">
                <a16:creationId xmlns:a16="http://schemas.microsoft.com/office/drawing/2014/main" id="{2E529C7E-7310-2646-8AF2-8F787C9D0E31}"/>
              </a:ext>
            </a:extLst>
          </p:cNvPr>
          <p:cNvSpPr txBox="1">
            <a:spLocks/>
          </p:cNvSpPr>
          <p:nvPr/>
        </p:nvSpPr>
        <p:spPr>
          <a:xfrm>
            <a:off x="7685875" y="2187658"/>
            <a:ext cx="1933848" cy="279319"/>
          </a:xfrm>
          <a:prstGeom prst="rect">
            <a:avLst/>
          </a:prstGeom>
        </p:spPr>
        <p:txBody>
          <a:bodyPr vert="horz" wrap="square" lIns="48019" tIns="24009" rIns="48019" bIns="24009"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ts val="1838"/>
              </a:lnSpc>
            </a:pPr>
            <a:r>
              <a:rPr lang="en-US" sz="1600" dirty="0">
                <a:solidFill>
                  <a:schemeClr val="tx1"/>
                </a:solidFill>
                <a:latin typeface="+mj-lt"/>
                <a:ea typeface="Lato Light" panose="020F0502020204030203" pitchFamily="34" charset="0"/>
                <a:cs typeface="Mukta ExtraLight" panose="020B0000000000000000" pitchFamily="34" charset="77"/>
              </a:rPr>
              <a:t>Participating in care</a:t>
            </a:r>
          </a:p>
        </p:txBody>
      </p:sp>
      <p:sp>
        <p:nvSpPr>
          <p:cNvPr id="33" name="TextBox 32">
            <a:extLst>
              <a:ext uri="{FF2B5EF4-FFF2-40B4-BE49-F238E27FC236}">
                <a16:creationId xmlns:a16="http://schemas.microsoft.com/office/drawing/2014/main" id="{A4DFD54C-A110-4748-AA74-DA4A83C48376}"/>
              </a:ext>
            </a:extLst>
          </p:cNvPr>
          <p:cNvSpPr txBox="1"/>
          <p:nvPr/>
        </p:nvSpPr>
        <p:spPr>
          <a:xfrm>
            <a:off x="7778661" y="1727487"/>
            <a:ext cx="1656864" cy="461665"/>
          </a:xfrm>
          <a:prstGeom prst="rect">
            <a:avLst/>
          </a:prstGeom>
          <a:noFill/>
        </p:spPr>
        <p:txBody>
          <a:bodyPr wrap="none" rtlCol="0" anchor="b" anchorCtr="0">
            <a:spAutoFit/>
          </a:bodyPr>
          <a:lstStyle/>
          <a:p>
            <a:pPr algn="ctr"/>
            <a:r>
              <a:rPr lang="en-US" sz="2400" b="1" dirty="0">
                <a:solidFill>
                  <a:srgbClr val="002060"/>
                </a:solidFill>
              </a:rPr>
              <a:t>Treatment</a:t>
            </a:r>
          </a:p>
        </p:txBody>
      </p:sp>
      <p:sp>
        <p:nvSpPr>
          <p:cNvPr id="34" name="TextBox 33">
            <a:extLst>
              <a:ext uri="{FF2B5EF4-FFF2-40B4-BE49-F238E27FC236}">
                <a16:creationId xmlns:a16="http://schemas.microsoft.com/office/drawing/2014/main" id="{61CB8CEE-E904-0E4F-B127-06B4B85FBAFC}"/>
              </a:ext>
            </a:extLst>
          </p:cNvPr>
          <p:cNvSpPr txBox="1"/>
          <p:nvPr/>
        </p:nvSpPr>
        <p:spPr>
          <a:xfrm>
            <a:off x="1600988" y="3364928"/>
            <a:ext cx="521297" cy="819583"/>
          </a:xfrm>
          <a:prstGeom prst="rect">
            <a:avLst/>
          </a:prstGeom>
          <a:noFill/>
        </p:spPr>
        <p:txBody>
          <a:bodyPr wrap="none" rtlCol="0" anchor="ctr">
            <a:spAutoFit/>
          </a:bodyPr>
          <a:lstStyle/>
          <a:p>
            <a:pPr algn="ctr"/>
            <a:r>
              <a:rPr lang="en-US" sz="4726" b="1" dirty="0">
                <a:solidFill>
                  <a:schemeClr val="bg1"/>
                </a:solidFill>
                <a:latin typeface="+mj-lt"/>
                <a:cs typeface="Poppins" pitchFamily="2" charset="77"/>
              </a:rPr>
              <a:t>1</a:t>
            </a:r>
          </a:p>
        </p:txBody>
      </p:sp>
      <p:sp>
        <p:nvSpPr>
          <p:cNvPr id="35" name="TextBox 34">
            <a:extLst>
              <a:ext uri="{FF2B5EF4-FFF2-40B4-BE49-F238E27FC236}">
                <a16:creationId xmlns:a16="http://schemas.microsoft.com/office/drawing/2014/main" id="{EAEE939D-FA88-ED4D-A8E5-488B13D9D631}"/>
              </a:ext>
            </a:extLst>
          </p:cNvPr>
          <p:cNvSpPr txBox="1"/>
          <p:nvPr/>
        </p:nvSpPr>
        <p:spPr>
          <a:xfrm>
            <a:off x="4279382" y="3396827"/>
            <a:ext cx="521297" cy="819583"/>
          </a:xfrm>
          <a:prstGeom prst="rect">
            <a:avLst/>
          </a:prstGeom>
          <a:noFill/>
        </p:spPr>
        <p:txBody>
          <a:bodyPr wrap="none" rtlCol="0" anchor="ctr">
            <a:spAutoFit/>
          </a:bodyPr>
          <a:lstStyle/>
          <a:p>
            <a:pPr algn="ctr"/>
            <a:r>
              <a:rPr lang="en-US" sz="4726" b="1" dirty="0">
                <a:solidFill>
                  <a:schemeClr val="bg1"/>
                </a:solidFill>
                <a:latin typeface="+mj-lt"/>
                <a:cs typeface="Poppins" pitchFamily="2" charset="77"/>
              </a:rPr>
              <a:t>2</a:t>
            </a:r>
          </a:p>
        </p:txBody>
      </p:sp>
      <p:sp>
        <p:nvSpPr>
          <p:cNvPr id="36" name="TextBox 35">
            <a:extLst>
              <a:ext uri="{FF2B5EF4-FFF2-40B4-BE49-F238E27FC236}">
                <a16:creationId xmlns:a16="http://schemas.microsoft.com/office/drawing/2014/main" id="{CEABA39B-5674-EB4B-9A35-B18B001EC8AF}"/>
              </a:ext>
            </a:extLst>
          </p:cNvPr>
          <p:cNvSpPr txBox="1"/>
          <p:nvPr/>
        </p:nvSpPr>
        <p:spPr>
          <a:xfrm>
            <a:off x="6320912" y="3396827"/>
            <a:ext cx="521297" cy="819583"/>
          </a:xfrm>
          <a:prstGeom prst="rect">
            <a:avLst/>
          </a:prstGeom>
          <a:noFill/>
        </p:spPr>
        <p:txBody>
          <a:bodyPr wrap="none" rtlCol="0" anchor="ctr">
            <a:spAutoFit/>
          </a:bodyPr>
          <a:lstStyle/>
          <a:p>
            <a:pPr algn="ctr"/>
            <a:r>
              <a:rPr lang="en-US" sz="4726" b="1" dirty="0">
                <a:solidFill>
                  <a:schemeClr val="bg1"/>
                </a:solidFill>
                <a:latin typeface="+mj-lt"/>
                <a:cs typeface="Poppins" pitchFamily="2" charset="77"/>
              </a:rPr>
              <a:t>3</a:t>
            </a:r>
          </a:p>
        </p:txBody>
      </p:sp>
      <p:sp>
        <p:nvSpPr>
          <p:cNvPr id="37" name="TextBox 36">
            <a:extLst>
              <a:ext uri="{FF2B5EF4-FFF2-40B4-BE49-F238E27FC236}">
                <a16:creationId xmlns:a16="http://schemas.microsoft.com/office/drawing/2014/main" id="{7599B2E7-EE4D-AA49-82A0-D7D788B1B3AF}"/>
              </a:ext>
            </a:extLst>
          </p:cNvPr>
          <p:cNvSpPr txBox="1"/>
          <p:nvPr/>
        </p:nvSpPr>
        <p:spPr>
          <a:xfrm>
            <a:off x="8381155" y="3471258"/>
            <a:ext cx="521297" cy="819583"/>
          </a:xfrm>
          <a:prstGeom prst="rect">
            <a:avLst/>
          </a:prstGeom>
          <a:noFill/>
        </p:spPr>
        <p:txBody>
          <a:bodyPr wrap="none" rtlCol="0" anchor="ctr">
            <a:spAutoFit/>
          </a:bodyPr>
          <a:lstStyle/>
          <a:p>
            <a:pPr algn="ctr"/>
            <a:r>
              <a:rPr lang="en-US" sz="4726" b="1" dirty="0">
                <a:solidFill>
                  <a:schemeClr val="bg1"/>
                </a:solidFill>
                <a:latin typeface="+mj-lt"/>
                <a:cs typeface="Poppins" pitchFamily="2" charset="77"/>
              </a:rPr>
              <a:t>4</a:t>
            </a:r>
          </a:p>
        </p:txBody>
      </p:sp>
      <p:sp>
        <p:nvSpPr>
          <p:cNvPr id="38" name="TextBox 37">
            <a:extLst>
              <a:ext uri="{FF2B5EF4-FFF2-40B4-BE49-F238E27FC236}">
                <a16:creationId xmlns:a16="http://schemas.microsoft.com/office/drawing/2014/main" id="{9437E644-02F3-D849-ACA1-218A219006A9}"/>
              </a:ext>
            </a:extLst>
          </p:cNvPr>
          <p:cNvSpPr txBox="1"/>
          <p:nvPr/>
        </p:nvSpPr>
        <p:spPr>
          <a:xfrm>
            <a:off x="10427081" y="3471258"/>
            <a:ext cx="521297" cy="819583"/>
          </a:xfrm>
          <a:prstGeom prst="rect">
            <a:avLst/>
          </a:prstGeom>
          <a:noFill/>
        </p:spPr>
        <p:txBody>
          <a:bodyPr wrap="none" rtlCol="0" anchor="ctr">
            <a:spAutoFit/>
          </a:bodyPr>
          <a:lstStyle/>
          <a:p>
            <a:pPr algn="ctr"/>
            <a:r>
              <a:rPr lang="en-US" sz="4726" b="1" dirty="0">
                <a:solidFill>
                  <a:schemeClr val="bg1"/>
                </a:solidFill>
                <a:latin typeface="+mj-lt"/>
                <a:cs typeface="Poppins" pitchFamily="2" charset="77"/>
              </a:rPr>
              <a:t>5</a:t>
            </a:r>
          </a:p>
        </p:txBody>
      </p:sp>
      <p:sp>
        <p:nvSpPr>
          <p:cNvPr id="44" name="Freeform 5">
            <a:extLst>
              <a:ext uri="{FF2B5EF4-FFF2-40B4-BE49-F238E27FC236}">
                <a16:creationId xmlns:a16="http://schemas.microsoft.com/office/drawing/2014/main" id="{ECA33C03-90BE-3340-A65F-25DF40756E2D}"/>
              </a:ext>
            </a:extLst>
          </p:cNvPr>
          <p:cNvSpPr>
            <a:spLocks noChangeArrowheads="1"/>
          </p:cNvSpPr>
          <p:nvPr/>
        </p:nvSpPr>
        <p:spPr bwMode="auto">
          <a:xfrm>
            <a:off x="657446" y="3789988"/>
            <a:ext cx="2409881" cy="1204943"/>
          </a:xfrm>
          <a:custGeom>
            <a:avLst/>
            <a:gdLst>
              <a:gd name="T0" fmla="*/ 2550 w 3006"/>
              <a:gd name="T1" fmla="*/ 0 h 1504"/>
              <a:gd name="T2" fmla="*/ 1503 w 3006"/>
              <a:gd name="T3" fmla="*/ 1047 h 1504"/>
              <a:gd name="T4" fmla="*/ 456 w 3006"/>
              <a:gd name="T5" fmla="*/ 0 h 1504"/>
              <a:gd name="T6" fmla="*/ 0 w 3006"/>
              <a:gd name="T7" fmla="*/ 0 h 1504"/>
              <a:gd name="T8" fmla="*/ 1503 w 3006"/>
              <a:gd name="T9" fmla="*/ 1503 h 1504"/>
              <a:gd name="T10" fmla="*/ 3005 w 3006"/>
              <a:gd name="T11" fmla="*/ 0 h 1504"/>
              <a:gd name="T12" fmla="*/ 2550 w 3006"/>
              <a:gd name="T13" fmla="*/ 0 h 1504"/>
            </a:gdLst>
            <a:ahLst/>
            <a:cxnLst>
              <a:cxn ang="0">
                <a:pos x="T0" y="T1"/>
              </a:cxn>
              <a:cxn ang="0">
                <a:pos x="T2" y="T3"/>
              </a:cxn>
              <a:cxn ang="0">
                <a:pos x="T4" y="T5"/>
              </a:cxn>
              <a:cxn ang="0">
                <a:pos x="T6" y="T7"/>
              </a:cxn>
              <a:cxn ang="0">
                <a:pos x="T8" y="T9"/>
              </a:cxn>
              <a:cxn ang="0">
                <a:pos x="T10" y="T11"/>
              </a:cxn>
              <a:cxn ang="0">
                <a:pos x="T12" y="T13"/>
              </a:cxn>
            </a:cxnLst>
            <a:rect l="0" t="0" r="r" b="b"/>
            <a:pathLst>
              <a:path w="3006" h="1504">
                <a:moveTo>
                  <a:pt x="2550" y="0"/>
                </a:moveTo>
                <a:cubicBezTo>
                  <a:pt x="2550" y="578"/>
                  <a:pt x="2081" y="1047"/>
                  <a:pt x="1503" y="1047"/>
                </a:cubicBezTo>
                <a:cubicBezTo>
                  <a:pt x="924" y="1047"/>
                  <a:pt x="456" y="578"/>
                  <a:pt x="456" y="0"/>
                </a:cubicBezTo>
                <a:lnTo>
                  <a:pt x="0" y="0"/>
                </a:lnTo>
                <a:cubicBezTo>
                  <a:pt x="0" y="830"/>
                  <a:pt x="673" y="1503"/>
                  <a:pt x="1503" y="1503"/>
                </a:cubicBezTo>
                <a:cubicBezTo>
                  <a:pt x="2333" y="1503"/>
                  <a:pt x="3005" y="830"/>
                  <a:pt x="3005" y="0"/>
                </a:cubicBezTo>
                <a:lnTo>
                  <a:pt x="2550" y="0"/>
                </a:lnTo>
              </a:path>
            </a:pathLst>
          </a:custGeom>
          <a:solidFill>
            <a:schemeClr val="bg1">
              <a:lumMod val="75000"/>
            </a:schemeClr>
          </a:solidFill>
          <a:ln>
            <a:noFill/>
          </a:ln>
          <a:effectLst/>
        </p:spPr>
        <p:txBody>
          <a:bodyPr wrap="none" anchor="ctr"/>
          <a:lstStyle/>
          <a:p>
            <a:endParaRPr lang="en-US" sz="1021">
              <a:solidFill>
                <a:schemeClr val="bg2">
                  <a:lumMod val="75000"/>
                </a:schemeClr>
              </a:solidFill>
              <a:latin typeface="+mj-lt"/>
            </a:endParaRPr>
          </a:p>
        </p:txBody>
      </p:sp>
    </p:spTree>
    <p:extLst>
      <p:ext uri="{BB962C8B-B14F-4D97-AF65-F5344CB8AC3E}">
        <p14:creationId xmlns:p14="http://schemas.microsoft.com/office/powerpoint/2010/main" val="850282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291994-35EB-E849-8F05-2F8B5FD87631}"/>
              </a:ext>
            </a:extLst>
          </p:cNvPr>
          <p:cNvSpPr/>
          <p:nvPr/>
        </p:nvSpPr>
        <p:spPr>
          <a:xfrm>
            <a:off x="682437" y="3322012"/>
            <a:ext cx="8033290" cy="434606"/>
          </a:xfrm>
          <a:prstGeom prst="rect">
            <a:avLst/>
          </a:prstGeom>
        </p:spPr>
        <p:txBody>
          <a:bodyPr wrap="square" anchor="t">
            <a:spAutoFit/>
          </a:bodyPr>
          <a:lstStyle/>
          <a:p>
            <a:r>
              <a:rPr lang="en-US" sz="2224" b="1" dirty="0">
                <a:solidFill>
                  <a:srgbClr val="003963"/>
                </a:solidFill>
              </a:rPr>
              <a:t>Original Opportunity Areas</a:t>
            </a:r>
          </a:p>
        </p:txBody>
      </p:sp>
    </p:spTree>
    <p:extLst>
      <p:ext uri="{BB962C8B-B14F-4D97-AF65-F5344CB8AC3E}">
        <p14:creationId xmlns:p14="http://schemas.microsoft.com/office/powerpoint/2010/main" val="3752245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1AEC8755-968C-E94A-B115-1636F814A717}"/>
              </a:ext>
            </a:extLst>
          </p:cNvPr>
          <p:cNvSpPr/>
          <p:nvPr/>
        </p:nvSpPr>
        <p:spPr>
          <a:xfrm>
            <a:off x="168964" y="-2218162"/>
            <a:ext cx="7549587" cy="1015663"/>
          </a:xfrm>
          <a:prstGeom prst="rect">
            <a:avLst/>
          </a:prstGeom>
        </p:spPr>
        <p:txBody>
          <a:bodyPr wrap="square" anchor="t">
            <a:spAutoFit/>
          </a:bodyPr>
          <a:lstStyle/>
          <a:p>
            <a:r>
              <a:rPr lang="en-US" sz="2400" b="1" dirty="0">
                <a:solidFill>
                  <a:srgbClr val="003963"/>
                </a:solidFill>
              </a:rPr>
              <a:t>The urgency is now: </a:t>
            </a:r>
          </a:p>
          <a:p>
            <a:r>
              <a:rPr lang="en-US" sz="1800" dirty="0">
                <a:solidFill>
                  <a:srgbClr val="00A2E2"/>
                </a:solidFill>
              </a:rPr>
              <a:t>How do we ensure we are addressing the critical issues and opportunities that are emerging in the Behavioral Health Epidemic </a:t>
            </a:r>
          </a:p>
        </p:txBody>
      </p:sp>
      <p:sp>
        <p:nvSpPr>
          <p:cNvPr id="12" name="Rectangle 11">
            <a:extLst>
              <a:ext uri="{FF2B5EF4-FFF2-40B4-BE49-F238E27FC236}">
                <a16:creationId xmlns:a16="http://schemas.microsoft.com/office/drawing/2014/main" id="{FF75D8D4-2E5B-8141-92F5-2E65763F210A}"/>
              </a:ext>
            </a:extLst>
          </p:cNvPr>
          <p:cNvSpPr/>
          <p:nvPr/>
        </p:nvSpPr>
        <p:spPr>
          <a:xfrm>
            <a:off x="9548037" y="0"/>
            <a:ext cx="3253563" cy="288950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3942695-DEE0-D342-9001-6E26D151834E}"/>
              </a:ext>
            </a:extLst>
          </p:cNvPr>
          <p:cNvSpPr/>
          <p:nvPr/>
        </p:nvSpPr>
        <p:spPr>
          <a:xfrm>
            <a:off x="9548037" y="369169"/>
            <a:ext cx="3253563" cy="338554"/>
          </a:xfrm>
          <a:prstGeom prst="rect">
            <a:avLst/>
          </a:prstGeom>
        </p:spPr>
        <p:txBody>
          <a:bodyPr wrap="square" anchor="t">
            <a:spAutoFit/>
          </a:bodyPr>
          <a:lstStyle/>
          <a:p>
            <a:pPr algn="ctr"/>
            <a:r>
              <a:rPr lang="en-US" sz="1600" b="1" dirty="0">
                <a:solidFill>
                  <a:schemeClr val="bg1"/>
                </a:solidFill>
              </a:rPr>
              <a:t>Critical Problems</a:t>
            </a:r>
          </a:p>
        </p:txBody>
      </p:sp>
      <p:grpSp>
        <p:nvGrpSpPr>
          <p:cNvPr id="5" name="Group 4">
            <a:extLst>
              <a:ext uri="{FF2B5EF4-FFF2-40B4-BE49-F238E27FC236}">
                <a16:creationId xmlns:a16="http://schemas.microsoft.com/office/drawing/2014/main" id="{4010EF52-C5D7-364A-9BFE-02E8D06E4633}"/>
              </a:ext>
            </a:extLst>
          </p:cNvPr>
          <p:cNvGrpSpPr/>
          <p:nvPr/>
        </p:nvGrpSpPr>
        <p:grpSpPr>
          <a:xfrm>
            <a:off x="10054011" y="824143"/>
            <a:ext cx="2241613" cy="1631010"/>
            <a:chOff x="1954883" y="224589"/>
            <a:chExt cx="9056437" cy="6589517"/>
          </a:xfrm>
        </p:grpSpPr>
        <p:sp>
          <p:nvSpPr>
            <p:cNvPr id="14" name="TextBox 13">
              <a:extLst>
                <a:ext uri="{FF2B5EF4-FFF2-40B4-BE49-F238E27FC236}">
                  <a16:creationId xmlns:a16="http://schemas.microsoft.com/office/drawing/2014/main" id="{B31051DD-EB23-794F-8BAD-F9F7F16AC8B0}"/>
                </a:ext>
              </a:extLst>
            </p:cNvPr>
            <p:cNvSpPr txBox="1"/>
            <p:nvPr/>
          </p:nvSpPr>
          <p:spPr>
            <a:xfrm>
              <a:off x="8244614" y="1587504"/>
              <a:ext cx="2766706"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Clinician </a:t>
              </a:r>
              <a:br>
                <a:rPr lang="en-US" sz="800" spc="-16" dirty="0">
                  <a:solidFill>
                    <a:schemeClr val="bg1"/>
                  </a:solidFill>
                  <a:latin typeface="+mj-lt"/>
                  <a:ea typeface="Source Sans Pro" panose="020B0503030403020204" pitchFamily="34" charset="0"/>
                </a:rPr>
              </a:br>
              <a:r>
                <a:rPr lang="en-US" sz="800" spc="-16" dirty="0">
                  <a:solidFill>
                    <a:schemeClr val="bg1"/>
                  </a:solidFill>
                  <a:latin typeface="+mj-lt"/>
                  <a:ea typeface="Source Sans Pro" panose="020B0503030403020204" pitchFamily="34" charset="0"/>
                </a:rPr>
                <a:t>Challenges </a:t>
              </a:r>
            </a:p>
          </p:txBody>
        </p:sp>
        <p:grpSp>
          <p:nvGrpSpPr>
            <p:cNvPr id="15" name="Group 14">
              <a:extLst>
                <a:ext uri="{FF2B5EF4-FFF2-40B4-BE49-F238E27FC236}">
                  <a16:creationId xmlns:a16="http://schemas.microsoft.com/office/drawing/2014/main" id="{6EE47F6B-8362-8A4F-9C3C-2F4D7C87260E}"/>
                </a:ext>
              </a:extLst>
            </p:cNvPr>
            <p:cNvGrpSpPr/>
            <p:nvPr/>
          </p:nvGrpSpPr>
          <p:grpSpPr>
            <a:xfrm>
              <a:off x="4052176" y="1748893"/>
              <a:ext cx="4821704" cy="4098144"/>
              <a:chOff x="3467290" y="2108319"/>
              <a:chExt cx="5867022" cy="4986598"/>
            </a:xfrm>
          </p:grpSpPr>
          <p:sp>
            <p:nvSpPr>
              <p:cNvPr id="16" name="Freeform 176">
                <a:extLst>
                  <a:ext uri="{FF2B5EF4-FFF2-40B4-BE49-F238E27FC236}">
                    <a16:creationId xmlns:a16="http://schemas.microsoft.com/office/drawing/2014/main" id="{172F5DE8-A200-9A4A-AC04-67E7077393A6}"/>
                  </a:ext>
                </a:extLst>
              </p:cNvPr>
              <p:cNvSpPr>
                <a:spLocks/>
              </p:cNvSpPr>
              <p:nvPr/>
            </p:nvSpPr>
            <p:spPr bwMode="auto">
              <a:xfrm>
                <a:off x="4932533" y="4553045"/>
                <a:ext cx="2933511" cy="2541872"/>
              </a:xfrm>
              <a:custGeom>
                <a:avLst/>
                <a:gdLst>
                  <a:gd name="T0" fmla="*/ 1540102 w 4486"/>
                  <a:gd name="T1" fmla="*/ 0 h 3885"/>
                  <a:gd name="T2" fmla="*/ 0 w 4486"/>
                  <a:gd name="T3" fmla="*/ 2667613 h 3885"/>
                  <a:gd name="T4" fmla="*/ 3079517 w 4486"/>
                  <a:gd name="T5" fmla="*/ 2667613 h 3885"/>
                  <a:gd name="T6" fmla="*/ 1540102 w 4486"/>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5">
                    <a:moveTo>
                      <a:pt x="2243" y="0"/>
                    </a:moveTo>
                    <a:lnTo>
                      <a:pt x="0" y="3884"/>
                    </a:lnTo>
                    <a:lnTo>
                      <a:pt x="4485" y="3884"/>
                    </a:lnTo>
                    <a:lnTo>
                      <a:pt x="2243" y="0"/>
                    </a:lnTo>
                  </a:path>
                </a:pathLst>
              </a:custGeom>
              <a:solidFill>
                <a:schemeClr val="accent1"/>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0" name="Freeform 179">
                <a:extLst>
                  <a:ext uri="{FF2B5EF4-FFF2-40B4-BE49-F238E27FC236}">
                    <a16:creationId xmlns:a16="http://schemas.microsoft.com/office/drawing/2014/main" id="{AF6AA1F1-DB5D-6B48-A577-74C17CE1EC12}"/>
                  </a:ext>
                </a:extLst>
              </p:cNvPr>
              <p:cNvSpPr>
                <a:spLocks/>
              </p:cNvSpPr>
              <p:nvPr/>
            </p:nvSpPr>
            <p:spPr bwMode="auto">
              <a:xfrm>
                <a:off x="6400801" y="4553045"/>
                <a:ext cx="2933511" cy="2541872"/>
              </a:xfrm>
              <a:custGeom>
                <a:avLst/>
                <a:gdLst>
                  <a:gd name="T0" fmla="*/ 0 w 4485"/>
                  <a:gd name="T1" fmla="*/ 0 h 3885"/>
                  <a:gd name="T2" fmla="*/ 1539760 w 4485"/>
                  <a:gd name="T3" fmla="*/ 2667613 h 3885"/>
                  <a:gd name="T4" fmla="*/ 3079519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2"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4" name="Freeform 181">
                <a:extLst>
                  <a:ext uri="{FF2B5EF4-FFF2-40B4-BE49-F238E27FC236}">
                    <a16:creationId xmlns:a16="http://schemas.microsoft.com/office/drawing/2014/main" id="{78693D03-3054-3D4E-9627-E0A7EA652F9E}"/>
                  </a:ext>
                </a:extLst>
              </p:cNvPr>
              <p:cNvSpPr>
                <a:spLocks/>
              </p:cNvSpPr>
              <p:nvPr/>
            </p:nvSpPr>
            <p:spPr bwMode="auto">
              <a:xfrm>
                <a:off x="3467290" y="4553045"/>
                <a:ext cx="2933511" cy="2541872"/>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5" name="TextBox 24">
                <a:extLst>
                  <a:ext uri="{FF2B5EF4-FFF2-40B4-BE49-F238E27FC236}">
                    <a16:creationId xmlns:a16="http://schemas.microsoft.com/office/drawing/2014/main" id="{A4E847B4-3DF6-0346-9E09-2E13EF18D004}"/>
                  </a:ext>
                </a:extLst>
              </p:cNvPr>
              <p:cNvSpPr txBox="1"/>
              <p:nvPr/>
            </p:nvSpPr>
            <p:spPr>
              <a:xfrm>
                <a:off x="4236225" y="2994644"/>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6</a:t>
                </a:r>
              </a:p>
            </p:txBody>
          </p:sp>
          <p:sp>
            <p:nvSpPr>
              <p:cNvPr id="26" name="TextBox 25">
                <a:extLst>
                  <a:ext uri="{FF2B5EF4-FFF2-40B4-BE49-F238E27FC236}">
                    <a16:creationId xmlns:a16="http://schemas.microsoft.com/office/drawing/2014/main" id="{56403C62-669F-FE41-9934-55C0554EAD79}"/>
                  </a:ext>
                </a:extLst>
              </p:cNvPr>
              <p:cNvSpPr txBox="1"/>
              <p:nvPr/>
            </p:nvSpPr>
            <p:spPr>
              <a:xfrm>
                <a:off x="5765762" y="2108319"/>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1</a:t>
                </a:r>
              </a:p>
            </p:txBody>
          </p:sp>
          <p:sp>
            <p:nvSpPr>
              <p:cNvPr id="28" name="TextBox 27">
                <a:extLst>
                  <a:ext uri="{FF2B5EF4-FFF2-40B4-BE49-F238E27FC236}">
                    <a16:creationId xmlns:a16="http://schemas.microsoft.com/office/drawing/2014/main" id="{DA2C1947-9098-DD4B-9FC7-5226288B9885}"/>
                  </a:ext>
                </a:extLst>
              </p:cNvPr>
              <p:cNvSpPr txBox="1"/>
              <p:nvPr/>
            </p:nvSpPr>
            <p:spPr>
              <a:xfrm>
                <a:off x="7228912" y="2999201"/>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2</a:t>
                </a:r>
              </a:p>
            </p:txBody>
          </p:sp>
          <p:sp>
            <p:nvSpPr>
              <p:cNvPr id="30" name="TextBox 29">
                <a:extLst>
                  <a:ext uri="{FF2B5EF4-FFF2-40B4-BE49-F238E27FC236}">
                    <a16:creationId xmlns:a16="http://schemas.microsoft.com/office/drawing/2014/main" id="{A3167FD0-F83D-DD4A-A72D-90405E017D57}"/>
                  </a:ext>
                </a:extLst>
              </p:cNvPr>
              <p:cNvSpPr txBox="1"/>
              <p:nvPr/>
            </p:nvSpPr>
            <p:spPr>
              <a:xfrm>
                <a:off x="7247451" y="475574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3</a:t>
                </a:r>
              </a:p>
            </p:txBody>
          </p:sp>
          <p:sp>
            <p:nvSpPr>
              <p:cNvPr id="31" name="TextBox 30">
                <a:extLst>
                  <a:ext uri="{FF2B5EF4-FFF2-40B4-BE49-F238E27FC236}">
                    <a16:creationId xmlns:a16="http://schemas.microsoft.com/office/drawing/2014/main" id="{CB32858F-D284-8944-839E-5211D8180EC0}"/>
                  </a:ext>
                </a:extLst>
              </p:cNvPr>
              <p:cNvSpPr txBox="1"/>
              <p:nvPr/>
            </p:nvSpPr>
            <p:spPr>
              <a:xfrm>
                <a:off x="5737804" y="5556748"/>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4</a:t>
                </a:r>
              </a:p>
            </p:txBody>
          </p:sp>
          <p:sp>
            <p:nvSpPr>
              <p:cNvPr id="32" name="TextBox 31">
                <a:extLst>
                  <a:ext uri="{FF2B5EF4-FFF2-40B4-BE49-F238E27FC236}">
                    <a16:creationId xmlns:a16="http://schemas.microsoft.com/office/drawing/2014/main" id="{BC7732BD-8AE6-2D4C-8A49-D027171EBC73}"/>
                  </a:ext>
                </a:extLst>
              </p:cNvPr>
              <p:cNvSpPr txBox="1"/>
              <p:nvPr/>
            </p:nvSpPr>
            <p:spPr>
              <a:xfrm>
                <a:off x="4199291" y="472471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5</a:t>
                </a:r>
              </a:p>
            </p:txBody>
          </p:sp>
        </p:grpSp>
        <p:sp>
          <p:nvSpPr>
            <p:cNvPr id="35" name="TextBox 34">
              <a:extLst>
                <a:ext uri="{FF2B5EF4-FFF2-40B4-BE49-F238E27FC236}">
                  <a16:creationId xmlns:a16="http://schemas.microsoft.com/office/drawing/2014/main" id="{A3FF2667-46B6-7849-BE43-553064687CB0}"/>
                </a:ext>
              </a:extLst>
            </p:cNvPr>
            <p:cNvSpPr txBox="1"/>
            <p:nvPr/>
          </p:nvSpPr>
          <p:spPr>
            <a:xfrm>
              <a:off x="5048505" y="224589"/>
              <a:ext cx="2778629"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Value Barriers </a:t>
              </a:r>
            </a:p>
          </p:txBody>
        </p:sp>
        <p:sp>
          <p:nvSpPr>
            <p:cNvPr id="36" name="TextBox 35">
              <a:extLst>
                <a:ext uri="{FF2B5EF4-FFF2-40B4-BE49-F238E27FC236}">
                  <a16:creationId xmlns:a16="http://schemas.microsoft.com/office/drawing/2014/main" id="{76B013F0-AD86-4544-B3B2-B9249653EBF8}"/>
                </a:ext>
              </a:extLst>
            </p:cNvPr>
            <p:cNvSpPr txBox="1"/>
            <p:nvPr/>
          </p:nvSpPr>
          <p:spPr>
            <a:xfrm>
              <a:off x="5204003" y="5943681"/>
              <a:ext cx="2623132"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Proactivity</a:t>
              </a:r>
            </a:p>
          </p:txBody>
        </p:sp>
        <p:sp>
          <p:nvSpPr>
            <p:cNvPr id="37" name="TextBox 36">
              <a:extLst>
                <a:ext uri="{FF2B5EF4-FFF2-40B4-BE49-F238E27FC236}">
                  <a16:creationId xmlns:a16="http://schemas.microsoft.com/office/drawing/2014/main" id="{14359635-1856-764D-AC49-97EC9113F864}"/>
                </a:ext>
              </a:extLst>
            </p:cNvPr>
            <p:cNvSpPr txBox="1"/>
            <p:nvPr/>
          </p:nvSpPr>
          <p:spPr>
            <a:xfrm>
              <a:off x="1954883" y="1624544"/>
              <a:ext cx="280492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Cultural Challenges</a:t>
              </a:r>
            </a:p>
          </p:txBody>
        </p:sp>
        <p:sp>
          <p:nvSpPr>
            <p:cNvPr id="39" name="TextBox 38">
              <a:extLst>
                <a:ext uri="{FF2B5EF4-FFF2-40B4-BE49-F238E27FC236}">
                  <a16:creationId xmlns:a16="http://schemas.microsoft.com/office/drawing/2014/main" id="{5EE6B582-A5AD-7742-A3DB-35B94D69E389}"/>
                </a:ext>
              </a:extLst>
            </p:cNvPr>
            <p:cNvSpPr txBox="1"/>
            <p:nvPr/>
          </p:nvSpPr>
          <p:spPr>
            <a:xfrm>
              <a:off x="2108449" y="4579118"/>
              <a:ext cx="2714734"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Prevention</a:t>
              </a:r>
            </a:p>
          </p:txBody>
        </p:sp>
        <p:sp>
          <p:nvSpPr>
            <p:cNvPr id="40" name="TextBox 39">
              <a:extLst>
                <a:ext uri="{FF2B5EF4-FFF2-40B4-BE49-F238E27FC236}">
                  <a16:creationId xmlns:a16="http://schemas.microsoft.com/office/drawing/2014/main" id="{7842DDC4-618C-EB49-8D92-CC6E8D06A27F}"/>
                </a:ext>
              </a:extLst>
            </p:cNvPr>
            <p:cNvSpPr txBox="1"/>
            <p:nvPr/>
          </p:nvSpPr>
          <p:spPr>
            <a:xfrm>
              <a:off x="8202257" y="4539642"/>
              <a:ext cx="273486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Need/Care Match</a:t>
              </a:r>
            </a:p>
          </p:txBody>
        </p:sp>
      </p:grpSp>
      <p:sp>
        <p:nvSpPr>
          <p:cNvPr id="42" name="Rectangle 41">
            <a:extLst>
              <a:ext uri="{FF2B5EF4-FFF2-40B4-BE49-F238E27FC236}">
                <a16:creationId xmlns:a16="http://schemas.microsoft.com/office/drawing/2014/main" id="{CED96D22-0F74-AF48-B854-0CE3DF5BC976}"/>
              </a:ext>
            </a:extLst>
          </p:cNvPr>
          <p:cNvSpPr/>
          <p:nvPr/>
        </p:nvSpPr>
        <p:spPr>
          <a:xfrm>
            <a:off x="9548037" y="2944368"/>
            <a:ext cx="3253563" cy="4828032"/>
          </a:xfrm>
          <a:prstGeom prst="rect">
            <a:avLst/>
          </a:prstGeom>
          <a:solidFill>
            <a:srgbClr val="0039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BEF1FE83-BF87-1E40-BFFF-5C9604484C0C}"/>
              </a:ext>
            </a:extLst>
          </p:cNvPr>
          <p:cNvSpPr/>
          <p:nvPr/>
        </p:nvSpPr>
        <p:spPr>
          <a:xfrm>
            <a:off x="9548037" y="3094081"/>
            <a:ext cx="3253563" cy="584775"/>
          </a:xfrm>
          <a:prstGeom prst="rect">
            <a:avLst/>
          </a:prstGeom>
        </p:spPr>
        <p:txBody>
          <a:bodyPr wrap="square" anchor="t">
            <a:spAutoFit/>
          </a:bodyPr>
          <a:lstStyle/>
          <a:p>
            <a:pPr algn="ctr"/>
            <a:r>
              <a:rPr lang="en-US" sz="1600" b="1" dirty="0">
                <a:solidFill>
                  <a:schemeClr val="bg1"/>
                </a:solidFill>
              </a:rPr>
              <a:t>Competitive / Startup </a:t>
            </a:r>
            <a:br>
              <a:rPr lang="en-US" sz="1600" b="1" dirty="0">
                <a:solidFill>
                  <a:schemeClr val="bg1"/>
                </a:solidFill>
              </a:rPr>
            </a:br>
            <a:r>
              <a:rPr lang="en-US" sz="1600" b="1" dirty="0">
                <a:solidFill>
                  <a:schemeClr val="bg1"/>
                </a:solidFill>
              </a:rPr>
              <a:t>Landscape</a:t>
            </a:r>
          </a:p>
        </p:txBody>
      </p:sp>
      <p:sp>
        <p:nvSpPr>
          <p:cNvPr id="38" name="Rectangle 37">
            <a:extLst>
              <a:ext uri="{FF2B5EF4-FFF2-40B4-BE49-F238E27FC236}">
                <a16:creationId xmlns:a16="http://schemas.microsoft.com/office/drawing/2014/main" id="{AAB95A38-1BBA-E14E-B7BC-BD8984EB3ACC}"/>
              </a:ext>
            </a:extLst>
          </p:cNvPr>
          <p:cNvSpPr/>
          <p:nvPr/>
        </p:nvSpPr>
        <p:spPr>
          <a:xfrm>
            <a:off x="13171481" y="3828569"/>
            <a:ext cx="2716185" cy="3557897"/>
          </a:xfrm>
          <a:prstGeom prst="rect">
            <a:avLst/>
          </a:prstGeom>
          <a:ln>
            <a:noFill/>
          </a:ln>
        </p:spPr>
        <p:txBody>
          <a:bodyPr wrap="square">
            <a:spAutoFit/>
          </a:bodyPr>
          <a:lstStyle/>
          <a:p>
            <a:pPr defTabSz="914378">
              <a:lnSpc>
                <a:spcPct val="95000"/>
              </a:lnSpc>
              <a:spcBef>
                <a:spcPts val="200"/>
              </a:spcBef>
              <a:spcAft>
                <a:spcPts val="200"/>
              </a:spcAft>
            </a:pPr>
            <a:r>
              <a:rPr lang="en-US" sz="1200" b="1" kern="0" dirty="0">
                <a:solidFill>
                  <a:srgbClr val="B1E2FF"/>
                </a:solidFill>
                <a:latin typeface="Arial Narrow" pitchFamily="34" charset="0"/>
              </a:rPr>
              <a:t>Cigna</a:t>
            </a:r>
            <a:r>
              <a:rPr lang="en-US" sz="1200" b="1" kern="0" dirty="0">
                <a:solidFill>
                  <a:srgbClr val="0070C0"/>
                </a:solidFill>
                <a:latin typeface="Arial Narrow" pitchFamily="34" charset="0"/>
              </a:rPr>
              <a:t> </a:t>
            </a:r>
          </a:p>
          <a:p>
            <a:pPr defTabSz="914378">
              <a:lnSpc>
                <a:spcPct val="95000"/>
              </a:lnSpc>
              <a:spcBef>
                <a:spcPts val="200"/>
              </a:spcBef>
              <a:spcAft>
                <a:spcPts val="200"/>
              </a:spcAft>
            </a:pPr>
            <a:r>
              <a:rPr lang="en-US" sz="1200" b="1" kern="0" dirty="0">
                <a:solidFill>
                  <a:schemeClr val="bg1"/>
                </a:solidFill>
                <a:latin typeface="Arial Narrow" pitchFamily="34" charset="0"/>
              </a:rPr>
              <a:t>Collaborative Care (CCC) Program: </a:t>
            </a:r>
            <a:r>
              <a:rPr lang="en-US" sz="1200" kern="0" dirty="0">
                <a:solidFill>
                  <a:schemeClr val="bg1"/>
                </a:solidFill>
                <a:latin typeface="Arial Narrow" pitchFamily="34" charset="0"/>
              </a:rPr>
              <a:t>Enrolled physicians are in value-based arrangements with behavioral health quality measures such as depression screening in value-based cardiology; and maternal mental health screening in value-based OB/GYN.</a:t>
            </a:r>
          </a:p>
          <a:p>
            <a:pPr defTabSz="914378">
              <a:lnSpc>
                <a:spcPct val="95000"/>
              </a:lnSpc>
              <a:spcBef>
                <a:spcPts val="200"/>
              </a:spcBef>
              <a:spcAft>
                <a:spcPts val="200"/>
              </a:spcAft>
            </a:pPr>
            <a:endParaRPr lang="en-US" sz="1200" kern="0" dirty="0">
              <a:solidFill>
                <a:schemeClr val="bg1"/>
              </a:solidFill>
              <a:latin typeface="Arial Narrow" pitchFamily="34" charset="0"/>
            </a:endParaRPr>
          </a:p>
          <a:p>
            <a:pPr defTabSz="914378">
              <a:lnSpc>
                <a:spcPct val="95000"/>
              </a:lnSpc>
              <a:spcBef>
                <a:spcPts val="200"/>
              </a:spcBef>
              <a:spcAft>
                <a:spcPts val="200"/>
              </a:spcAft>
            </a:pPr>
            <a:r>
              <a:rPr lang="en-US" sz="1200" b="1" kern="0" dirty="0">
                <a:solidFill>
                  <a:srgbClr val="B1E2FF"/>
                </a:solidFill>
                <a:latin typeface="Arial Narrow" pitchFamily="34" charset="0"/>
              </a:rPr>
              <a:t>Aetna</a:t>
            </a:r>
          </a:p>
          <a:p>
            <a:pPr defTabSz="914378">
              <a:lnSpc>
                <a:spcPct val="95000"/>
              </a:lnSpc>
              <a:spcBef>
                <a:spcPts val="200"/>
              </a:spcBef>
              <a:spcAft>
                <a:spcPts val="200"/>
              </a:spcAft>
            </a:pPr>
            <a:r>
              <a:rPr lang="en-US" sz="1200" b="1" kern="0" dirty="0">
                <a:solidFill>
                  <a:schemeClr val="bg1"/>
                </a:solidFill>
                <a:latin typeface="Arial Narrow" pitchFamily="34" charset="0"/>
              </a:rPr>
              <a:t>Medicaid outcomes-based model for members with intellectual and development disabilities (IDD): </a:t>
            </a:r>
            <a:r>
              <a:rPr lang="en-US" sz="1200" kern="0" dirty="0">
                <a:solidFill>
                  <a:schemeClr val="bg1"/>
                </a:solidFill>
                <a:latin typeface="Arial Narrow" pitchFamily="34" charset="0"/>
              </a:rPr>
              <a:t>Connects members with an Aetna IDD coordinator who facilities community resources, innovative practices, and technology tools to promote meaningful quality of life. </a:t>
            </a:r>
          </a:p>
          <a:p>
            <a:pPr defTabSz="914378">
              <a:lnSpc>
                <a:spcPct val="95000"/>
              </a:lnSpc>
              <a:spcBef>
                <a:spcPts val="200"/>
              </a:spcBef>
              <a:spcAft>
                <a:spcPts val="200"/>
              </a:spcAft>
            </a:pPr>
            <a:endParaRPr lang="en-US" sz="1200" kern="0" dirty="0">
              <a:solidFill>
                <a:schemeClr val="bg1"/>
              </a:solidFill>
              <a:latin typeface="Arial Narrow" pitchFamily="34" charset="0"/>
            </a:endParaRPr>
          </a:p>
          <a:p>
            <a:pPr defTabSz="914378">
              <a:lnSpc>
                <a:spcPct val="95000"/>
              </a:lnSpc>
              <a:spcBef>
                <a:spcPts val="200"/>
              </a:spcBef>
              <a:spcAft>
                <a:spcPts val="200"/>
              </a:spcAft>
            </a:pPr>
            <a:endParaRPr lang="en-US" sz="1200" kern="0" dirty="0">
              <a:solidFill>
                <a:schemeClr val="bg1"/>
              </a:solidFill>
              <a:latin typeface="Arial Narrow" pitchFamily="34" charset="0"/>
            </a:endParaRPr>
          </a:p>
        </p:txBody>
      </p:sp>
      <p:grpSp>
        <p:nvGrpSpPr>
          <p:cNvPr id="2" name="Group 1">
            <a:extLst>
              <a:ext uri="{FF2B5EF4-FFF2-40B4-BE49-F238E27FC236}">
                <a16:creationId xmlns:a16="http://schemas.microsoft.com/office/drawing/2014/main" id="{6DD96758-7CE9-C74C-9589-97D64D80F70D}"/>
              </a:ext>
            </a:extLst>
          </p:cNvPr>
          <p:cNvGrpSpPr/>
          <p:nvPr/>
        </p:nvGrpSpPr>
        <p:grpSpPr>
          <a:xfrm>
            <a:off x="190828" y="534035"/>
            <a:ext cx="9309713" cy="7047291"/>
            <a:chOff x="190828" y="534035"/>
            <a:chExt cx="9347272" cy="7047291"/>
          </a:xfrm>
        </p:grpSpPr>
        <p:sp>
          <p:nvSpPr>
            <p:cNvPr id="4" name="Rectangle 3">
              <a:extLst>
                <a:ext uri="{FF2B5EF4-FFF2-40B4-BE49-F238E27FC236}">
                  <a16:creationId xmlns:a16="http://schemas.microsoft.com/office/drawing/2014/main" id="{50818B1C-7512-BF4C-A24D-63537D0ED002}"/>
                </a:ext>
              </a:extLst>
            </p:cNvPr>
            <p:cNvSpPr/>
            <p:nvPr/>
          </p:nvSpPr>
          <p:spPr>
            <a:xfrm>
              <a:off x="190828" y="848530"/>
              <a:ext cx="9066848" cy="461665"/>
            </a:xfrm>
            <a:prstGeom prst="rect">
              <a:avLst/>
            </a:prstGeom>
          </p:spPr>
          <p:txBody>
            <a:bodyPr wrap="square">
              <a:spAutoFit/>
            </a:bodyPr>
            <a:lstStyle/>
            <a:p>
              <a:r>
                <a:rPr lang="en-US" sz="2400" b="1" dirty="0">
                  <a:solidFill>
                    <a:srgbClr val="002060"/>
                  </a:solidFill>
                </a:rPr>
                <a:t>Proactive Interventions for Escalating Need</a:t>
              </a:r>
            </a:p>
          </p:txBody>
        </p:sp>
        <p:sp>
          <p:nvSpPr>
            <p:cNvPr id="43" name="Rectangle 42">
              <a:extLst>
                <a:ext uri="{FF2B5EF4-FFF2-40B4-BE49-F238E27FC236}">
                  <a16:creationId xmlns:a16="http://schemas.microsoft.com/office/drawing/2014/main" id="{613CF5FB-EA21-2E43-8223-310323F91EEC}"/>
                </a:ext>
              </a:extLst>
            </p:cNvPr>
            <p:cNvSpPr/>
            <p:nvPr/>
          </p:nvSpPr>
          <p:spPr>
            <a:xfrm>
              <a:off x="228600" y="534035"/>
              <a:ext cx="6764994" cy="338554"/>
            </a:xfrm>
            <a:prstGeom prst="rect">
              <a:avLst/>
            </a:prstGeom>
          </p:spPr>
          <p:txBody>
            <a:bodyPr wrap="square" anchor="t">
              <a:spAutoFit/>
            </a:bodyPr>
            <a:lstStyle/>
            <a:p>
              <a:r>
                <a:rPr lang="en-US" sz="1600" b="1" dirty="0">
                  <a:solidFill>
                    <a:srgbClr val="00A2E2"/>
                  </a:solidFill>
                </a:rPr>
                <a:t>Identifying Opportunities</a:t>
              </a:r>
            </a:p>
          </p:txBody>
        </p:sp>
        <p:sp>
          <p:nvSpPr>
            <p:cNvPr id="41" name="Rectangle 40">
              <a:extLst>
                <a:ext uri="{FF2B5EF4-FFF2-40B4-BE49-F238E27FC236}">
                  <a16:creationId xmlns:a16="http://schemas.microsoft.com/office/drawing/2014/main" id="{E11BF3BD-C614-444D-B302-F8AFD54BAEB6}"/>
                </a:ext>
              </a:extLst>
            </p:cNvPr>
            <p:cNvSpPr/>
            <p:nvPr/>
          </p:nvSpPr>
          <p:spPr>
            <a:xfrm>
              <a:off x="5047488" y="2072126"/>
              <a:ext cx="4490612" cy="5509200"/>
            </a:xfrm>
            <a:prstGeom prst="rect">
              <a:avLst/>
            </a:prstGeom>
          </p:spPr>
          <p:txBody>
            <a:bodyPr wrap="square">
              <a:spAutoFit/>
            </a:bodyPr>
            <a:lstStyle/>
            <a:p>
              <a:pPr>
                <a:spcAft>
                  <a:spcPts val="600"/>
                </a:spcAft>
              </a:pPr>
              <a:r>
                <a:rPr lang="en-US" sz="1800" b="1" dirty="0">
                  <a:solidFill>
                    <a:srgbClr val="003963"/>
                  </a:solidFill>
                </a:rPr>
                <a:t>Next Steps</a:t>
              </a:r>
            </a:p>
            <a:p>
              <a:pPr marL="285750" indent="-285750">
                <a:spcAft>
                  <a:spcPts val="600"/>
                </a:spcAft>
                <a:buFont typeface="Arial" panose="020B0604020202020204" pitchFamily="34" charset="0"/>
                <a:buChar char="•"/>
              </a:pPr>
              <a:r>
                <a:rPr lang="en-US" sz="1600" dirty="0">
                  <a:solidFill>
                    <a:srgbClr val="003963"/>
                  </a:solidFill>
                </a:rPr>
                <a:t>Complete research with clinicians and customers to understand needs around early intervention</a:t>
              </a:r>
            </a:p>
            <a:p>
              <a:pPr marL="285750" indent="-285750">
                <a:spcAft>
                  <a:spcPts val="600"/>
                </a:spcAft>
                <a:buFont typeface="Arial" panose="020B0604020202020204" pitchFamily="34" charset="0"/>
                <a:buChar char="•"/>
              </a:pPr>
              <a:r>
                <a:rPr lang="en-US" sz="1600" dirty="0">
                  <a:solidFill>
                    <a:srgbClr val="003963"/>
                  </a:solidFill>
                </a:rPr>
                <a:t>Analyze current care options based on evidence-based practice, condition applicability, acuity, and care delivery channels</a:t>
              </a:r>
            </a:p>
            <a:p>
              <a:pPr marL="285750" indent="-285750">
                <a:spcAft>
                  <a:spcPts val="600"/>
                </a:spcAft>
                <a:buFont typeface="Arial" panose="020B0604020202020204" pitchFamily="34" charset="0"/>
                <a:buChar char="•"/>
              </a:pPr>
              <a:r>
                <a:rPr lang="en-US" sz="1600" dirty="0">
                  <a:solidFill>
                    <a:srgbClr val="003963"/>
                  </a:solidFill>
                </a:rPr>
                <a:t>Identify gaps, especially with early interventions, and recommend solutions to align the right level of condition with the right level of care</a:t>
              </a:r>
            </a:p>
            <a:p>
              <a:pPr marL="285750" indent="-285750">
                <a:spcAft>
                  <a:spcPts val="600"/>
                </a:spcAft>
                <a:buFont typeface="Arial" panose="020B0604020202020204" pitchFamily="34" charset="0"/>
                <a:buChar char="•"/>
              </a:pPr>
              <a:r>
                <a:rPr lang="en-US" sz="1600" dirty="0">
                  <a:solidFill>
                    <a:srgbClr val="003963"/>
                  </a:solidFill>
                </a:rPr>
                <a:t>Determine cohorts for pilot and rollout and create initial plan that includes collecting data and assess outcomes to pivot and optimize our offerings</a:t>
              </a:r>
            </a:p>
            <a:p>
              <a:pPr marL="285750" indent="-285750">
                <a:spcAft>
                  <a:spcPts val="600"/>
                </a:spcAft>
                <a:buFont typeface="Arial" panose="020B0604020202020204" pitchFamily="34" charset="0"/>
                <a:buChar char="•"/>
              </a:pPr>
              <a:r>
                <a:rPr lang="en-US" sz="1600" dirty="0">
                  <a:solidFill>
                    <a:srgbClr val="003963"/>
                  </a:solidFill>
                </a:rPr>
                <a:t>Fully scope opportunity and provide business case with estimates for overall cost and timing, and planned design and development details</a:t>
              </a:r>
            </a:p>
          </p:txBody>
        </p:sp>
        <p:sp>
          <p:nvSpPr>
            <p:cNvPr id="45" name="Rectangle 44">
              <a:extLst>
                <a:ext uri="{FF2B5EF4-FFF2-40B4-BE49-F238E27FC236}">
                  <a16:creationId xmlns:a16="http://schemas.microsoft.com/office/drawing/2014/main" id="{3DF5AF01-2516-C644-A77F-55D0C8703EF3}"/>
                </a:ext>
              </a:extLst>
            </p:cNvPr>
            <p:cNvSpPr/>
            <p:nvPr/>
          </p:nvSpPr>
          <p:spPr>
            <a:xfrm>
              <a:off x="228600" y="2081988"/>
              <a:ext cx="4775665" cy="4785926"/>
            </a:xfrm>
            <a:prstGeom prst="rect">
              <a:avLst/>
            </a:prstGeom>
          </p:spPr>
          <p:txBody>
            <a:bodyPr wrap="square">
              <a:spAutoFit/>
            </a:bodyPr>
            <a:lstStyle/>
            <a:p>
              <a:pPr>
                <a:spcAft>
                  <a:spcPts val="600"/>
                </a:spcAft>
              </a:pPr>
              <a:r>
                <a:rPr lang="en-US" sz="1800" b="1" dirty="0">
                  <a:solidFill>
                    <a:srgbClr val="003963"/>
                  </a:solidFill>
                </a:rPr>
                <a:t>Summary of Opportunity </a:t>
              </a:r>
            </a:p>
            <a:p>
              <a:pPr>
                <a:spcAft>
                  <a:spcPts val="600"/>
                </a:spcAft>
              </a:pPr>
              <a:r>
                <a:rPr lang="en-US" sz="1600" dirty="0">
                  <a:solidFill>
                    <a:srgbClr val="003963"/>
                  </a:solidFill>
                </a:rPr>
                <a:t>To stop conditions before they escalate, we should identify those at risk earlier, intervene before acute conditions develop, and align with the right treatments and levels of care. If done well, this can simultaneously optimize our investment and drive desired health outcomes. </a:t>
              </a:r>
            </a:p>
            <a:p>
              <a:pPr marL="285750" indent="-285750">
                <a:spcAft>
                  <a:spcPts val="600"/>
                </a:spcAft>
                <a:buFont typeface="Arial" panose="020B0604020202020204" pitchFamily="34" charset="0"/>
                <a:buChar char="•"/>
              </a:pPr>
              <a:r>
                <a:rPr lang="en-US" sz="1600" dirty="0">
                  <a:solidFill>
                    <a:srgbClr val="003963"/>
                  </a:solidFill>
                </a:rPr>
                <a:t>To address the shortage of BH clinical resources, we should align lower acuity conditions with evidence-based, appropriate, and lower cost treatment channels.</a:t>
              </a:r>
            </a:p>
            <a:p>
              <a:pPr marL="285750" indent="-285750">
                <a:spcAft>
                  <a:spcPts val="600"/>
                </a:spcAft>
                <a:buFont typeface="Arial" panose="020B0604020202020204" pitchFamily="34" charset="0"/>
                <a:buChar char="•"/>
              </a:pPr>
              <a:r>
                <a:rPr lang="en-US" sz="1600" dirty="0">
                  <a:solidFill>
                    <a:srgbClr val="003963"/>
                  </a:solidFill>
                </a:rPr>
                <a:t>To complement traditional therapy and reduce care costs, we must explore new channels of behavioral health encounters, including those delivered via telemedicine, peer-to-peer connections, behavioral health coaching (both digital and non-digital), and community resources.</a:t>
              </a:r>
            </a:p>
          </p:txBody>
        </p:sp>
        <p:sp>
          <p:nvSpPr>
            <p:cNvPr id="46" name="Rectangle 45">
              <a:extLst>
                <a:ext uri="{FF2B5EF4-FFF2-40B4-BE49-F238E27FC236}">
                  <a16:creationId xmlns:a16="http://schemas.microsoft.com/office/drawing/2014/main" id="{3E6984A4-862A-1040-BCAD-1784109DCF84}"/>
                </a:ext>
              </a:extLst>
            </p:cNvPr>
            <p:cNvSpPr/>
            <p:nvPr/>
          </p:nvSpPr>
          <p:spPr>
            <a:xfrm>
              <a:off x="190828" y="1294053"/>
              <a:ext cx="8808666" cy="584775"/>
            </a:xfrm>
            <a:prstGeom prst="rect">
              <a:avLst/>
            </a:prstGeom>
          </p:spPr>
          <p:txBody>
            <a:bodyPr wrap="square">
              <a:spAutoFit/>
            </a:bodyPr>
            <a:lstStyle/>
            <a:p>
              <a:pPr>
                <a:defRPr/>
              </a:pPr>
              <a:r>
                <a:rPr lang="en-US" sz="1600" dirty="0">
                  <a:solidFill>
                    <a:srgbClr val="003963"/>
                  </a:solidFill>
                </a:rPr>
                <a:t>In an environment with so much unmet need, we must get ahead of the BH curve to prevent the future impact of escalating BH population size, condition acuity, and cost.</a:t>
              </a:r>
              <a:endParaRPr lang="en-US" sz="1200" dirty="0">
                <a:solidFill>
                  <a:srgbClr val="003963"/>
                </a:solidFill>
              </a:endParaRPr>
            </a:p>
          </p:txBody>
        </p:sp>
      </p:grpSp>
    </p:spTree>
    <p:extLst>
      <p:ext uri="{BB962C8B-B14F-4D97-AF65-F5344CB8AC3E}">
        <p14:creationId xmlns:p14="http://schemas.microsoft.com/office/powerpoint/2010/main" val="1347263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F75D8D4-2E5B-8141-92F5-2E65763F210A}"/>
              </a:ext>
            </a:extLst>
          </p:cNvPr>
          <p:cNvSpPr/>
          <p:nvPr/>
        </p:nvSpPr>
        <p:spPr>
          <a:xfrm>
            <a:off x="9548037" y="0"/>
            <a:ext cx="3253563" cy="288950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176">
            <a:extLst>
              <a:ext uri="{FF2B5EF4-FFF2-40B4-BE49-F238E27FC236}">
                <a16:creationId xmlns:a16="http://schemas.microsoft.com/office/drawing/2014/main" id="{3CBF17AC-B56C-ED4F-AB97-8B276E91F193}"/>
              </a:ext>
            </a:extLst>
          </p:cNvPr>
          <p:cNvSpPr>
            <a:spLocks/>
          </p:cNvSpPr>
          <p:nvPr/>
        </p:nvSpPr>
        <p:spPr bwMode="auto">
          <a:xfrm>
            <a:off x="10871180" y="1698729"/>
            <a:ext cx="596725" cy="517059"/>
          </a:xfrm>
          <a:custGeom>
            <a:avLst/>
            <a:gdLst>
              <a:gd name="T0" fmla="*/ 1540102 w 4486"/>
              <a:gd name="T1" fmla="*/ 0 h 3885"/>
              <a:gd name="T2" fmla="*/ 0 w 4486"/>
              <a:gd name="T3" fmla="*/ 2667613 h 3885"/>
              <a:gd name="T4" fmla="*/ 3079517 w 4486"/>
              <a:gd name="T5" fmla="*/ 2667613 h 3885"/>
              <a:gd name="T6" fmla="*/ 1540102 w 4486"/>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5">
                <a:moveTo>
                  <a:pt x="2243" y="0"/>
                </a:moveTo>
                <a:lnTo>
                  <a:pt x="0" y="3884"/>
                </a:lnTo>
                <a:lnTo>
                  <a:pt x="4485" y="3884"/>
                </a:lnTo>
                <a:lnTo>
                  <a:pt x="2243" y="0"/>
                </a:lnTo>
              </a:path>
            </a:pathLst>
          </a:custGeom>
          <a:solidFill>
            <a:schemeClr val="accent1"/>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33" name="Freeform 181">
            <a:extLst>
              <a:ext uri="{FF2B5EF4-FFF2-40B4-BE49-F238E27FC236}">
                <a16:creationId xmlns:a16="http://schemas.microsoft.com/office/drawing/2014/main" id="{78693D03-3054-3D4E-9627-E0A7EA652F9E}"/>
              </a:ext>
            </a:extLst>
          </p:cNvPr>
          <p:cNvSpPr>
            <a:spLocks/>
          </p:cNvSpPr>
          <p:nvPr/>
        </p:nvSpPr>
        <p:spPr bwMode="auto">
          <a:xfrm>
            <a:off x="10869862" y="1169711"/>
            <a:ext cx="596725" cy="517059"/>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47" name="Rectangle 46">
            <a:extLst>
              <a:ext uri="{FF2B5EF4-FFF2-40B4-BE49-F238E27FC236}">
                <a16:creationId xmlns:a16="http://schemas.microsoft.com/office/drawing/2014/main" id="{1AEC8755-968C-E94A-B115-1636F814A717}"/>
              </a:ext>
            </a:extLst>
          </p:cNvPr>
          <p:cNvSpPr/>
          <p:nvPr/>
        </p:nvSpPr>
        <p:spPr>
          <a:xfrm>
            <a:off x="168964" y="-2218162"/>
            <a:ext cx="7549587" cy="1015663"/>
          </a:xfrm>
          <a:prstGeom prst="rect">
            <a:avLst/>
          </a:prstGeom>
        </p:spPr>
        <p:txBody>
          <a:bodyPr wrap="square" anchor="t">
            <a:spAutoFit/>
          </a:bodyPr>
          <a:lstStyle/>
          <a:p>
            <a:r>
              <a:rPr lang="en-US" sz="2400" b="1" dirty="0">
                <a:solidFill>
                  <a:srgbClr val="003963"/>
                </a:solidFill>
              </a:rPr>
              <a:t>The urgency is now: </a:t>
            </a:r>
          </a:p>
          <a:p>
            <a:r>
              <a:rPr lang="en-US" sz="1800" dirty="0">
                <a:solidFill>
                  <a:srgbClr val="00A2E2"/>
                </a:solidFill>
              </a:rPr>
              <a:t>How do we ensure we are addressing the critical issues and opportunities that are emerging in the Behavioral Health Epidemic </a:t>
            </a:r>
          </a:p>
        </p:txBody>
      </p:sp>
      <p:sp>
        <p:nvSpPr>
          <p:cNvPr id="4" name="Rectangle 3">
            <a:extLst>
              <a:ext uri="{FF2B5EF4-FFF2-40B4-BE49-F238E27FC236}">
                <a16:creationId xmlns:a16="http://schemas.microsoft.com/office/drawing/2014/main" id="{50818B1C-7512-BF4C-A24D-63537D0ED002}"/>
              </a:ext>
            </a:extLst>
          </p:cNvPr>
          <p:cNvSpPr/>
          <p:nvPr/>
        </p:nvSpPr>
        <p:spPr>
          <a:xfrm>
            <a:off x="172899" y="845649"/>
            <a:ext cx="9066848" cy="461665"/>
          </a:xfrm>
          <a:prstGeom prst="rect">
            <a:avLst/>
          </a:prstGeom>
        </p:spPr>
        <p:txBody>
          <a:bodyPr wrap="square">
            <a:spAutoFit/>
          </a:bodyPr>
          <a:lstStyle/>
          <a:p>
            <a:r>
              <a:rPr lang="en-US" sz="2400" b="1" dirty="0">
                <a:solidFill>
                  <a:srgbClr val="002060"/>
                </a:solidFill>
              </a:rPr>
              <a:t>Clinicians as Whole-Health Practitioners</a:t>
            </a:r>
          </a:p>
        </p:txBody>
      </p:sp>
      <p:sp>
        <p:nvSpPr>
          <p:cNvPr id="13" name="Rectangle 12">
            <a:extLst>
              <a:ext uri="{FF2B5EF4-FFF2-40B4-BE49-F238E27FC236}">
                <a16:creationId xmlns:a16="http://schemas.microsoft.com/office/drawing/2014/main" id="{83942695-DEE0-D342-9001-6E26D151834E}"/>
              </a:ext>
            </a:extLst>
          </p:cNvPr>
          <p:cNvSpPr/>
          <p:nvPr/>
        </p:nvSpPr>
        <p:spPr>
          <a:xfrm>
            <a:off x="9548037" y="369169"/>
            <a:ext cx="3253563" cy="338554"/>
          </a:xfrm>
          <a:prstGeom prst="rect">
            <a:avLst/>
          </a:prstGeom>
        </p:spPr>
        <p:txBody>
          <a:bodyPr wrap="square" anchor="t">
            <a:spAutoFit/>
          </a:bodyPr>
          <a:lstStyle/>
          <a:p>
            <a:pPr algn="ctr"/>
            <a:r>
              <a:rPr lang="en-US" sz="1600" b="1" dirty="0">
                <a:solidFill>
                  <a:schemeClr val="bg1"/>
                </a:solidFill>
              </a:rPr>
              <a:t>Critical Problems</a:t>
            </a:r>
          </a:p>
        </p:txBody>
      </p:sp>
      <p:grpSp>
        <p:nvGrpSpPr>
          <p:cNvPr id="5" name="Group 4">
            <a:extLst>
              <a:ext uri="{FF2B5EF4-FFF2-40B4-BE49-F238E27FC236}">
                <a16:creationId xmlns:a16="http://schemas.microsoft.com/office/drawing/2014/main" id="{4010EF52-C5D7-364A-9BFE-02E8D06E4633}"/>
              </a:ext>
            </a:extLst>
          </p:cNvPr>
          <p:cNvGrpSpPr/>
          <p:nvPr/>
        </p:nvGrpSpPr>
        <p:grpSpPr>
          <a:xfrm>
            <a:off x="10054011" y="824143"/>
            <a:ext cx="2241613" cy="1631010"/>
            <a:chOff x="1954883" y="224589"/>
            <a:chExt cx="9056437" cy="6589517"/>
          </a:xfrm>
        </p:grpSpPr>
        <p:sp>
          <p:nvSpPr>
            <p:cNvPr id="14" name="TextBox 13">
              <a:extLst>
                <a:ext uri="{FF2B5EF4-FFF2-40B4-BE49-F238E27FC236}">
                  <a16:creationId xmlns:a16="http://schemas.microsoft.com/office/drawing/2014/main" id="{B31051DD-EB23-794F-8BAD-F9F7F16AC8B0}"/>
                </a:ext>
              </a:extLst>
            </p:cNvPr>
            <p:cNvSpPr txBox="1"/>
            <p:nvPr/>
          </p:nvSpPr>
          <p:spPr>
            <a:xfrm>
              <a:off x="8244614" y="1587504"/>
              <a:ext cx="2766706"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Clinician </a:t>
              </a:r>
              <a:br>
                <a:rPr lang="en-US" sz="800" spc="-16" dirty="0">
                  <a:solidFill>
                    <a:schemeClr val="bg1"/>
                  </a:solidFill>
                  <a:latin typeface="+mj-lt"/>
                  <a:ea typeface="Source Sans Pro" panose="020B0503030403020204" pitchFamily="34" charset="0"/>
                </a:rPr>
              </a:br>
              <a:r>
                <a:rPr lang="en-US" sz="800" spc="-16" dirty="0">
                  <a:solidFill>
                    <a:schemeClr val="bg1"/>
                  </a:solidFill>
                  <a:latin typeface="+mj-lt"/>
                  <a:ea typeface="Source Sans Pro" panose="020B0503030403020204" pitchFamily="34" charset="0"/>
                </a:rPr>
                <a:t>Challenges </a:t>
              </a:r>
            </a:p>
          </p:txBody>
        </p:sp>
        <p:grpSp>
          <p:nvGrpSpPr>
            <p:cNvPr id="15" name="Group 14">
              <a:extLst>
                <a:ext uri="{FF2B5EF4-FFF2-40B4-BE49-F238E27FC236}">
                  <a16:creationId xmlns:a16="http://schemas.microsoft.com/office/drawing/2014/main" id="{6EE47F6B-8362-8A4F-9C3C-2F4D7C87260E}"/>
                </a:ext>
              </a:extLst>
            </p:cNvPr>
            <p:cNvGrpSpPr/>
            <p:nvPr/>
          </p:nvGrpSpPr>
          <p:grpSpPr>
            <a:xfrm>
              <a:off x="4052176" y="1669056"/>
              <a:ext cx="4821704" cy="4177981"/>
              <a:chOff x="3467290" y="2011174"/>
              <a:chExt cx="5867022" cy="5083743"/>
            </a:xfrm>
          </p:grpSpPr>
          <p:sp>
            <p:nvSpPr>
              <p:cNvPr id="18" name="Freeform 177">
                <a:extLst>
                  <a:ext uri="{FF2B5EF4-FFF2-40B4-BE49-F238E27FC236}">
                    <a16:creationId xmlns:a16="http://schemas.microsoft.com/office/drawing/2014/main" id="{973F8BCD-381C-554A-88BC-12252EE97DCC}"/>
                  </a:ext>
                </a:extLst>
              </p:cNvPr>
              <p:cNvSpPr>
                <a:spLocks/>
              </p:cNvSpPr>
              <p:nvPr/>
            </p:nvSpPr>
            <p:spPr bwMode="auto">
              <a:xfrm>
                <a:off x="6400801" y="2011174"/>
                <a:ext cx="2933511" cy="2541871"/>
              </a:xfrm>
              <a:custGeom>
                <a:avLst/>
                <a:gdLst>
                  <a:gd name="T0" fmla="*/ 1539760 w 4485"/>
                  <a:gd name="T1" fmla="*/ 0 h 3884"/>
                  <a:gd name="T2" fmla="*/ 0 w 4485"/>
                  <a:gd name="T3" fmla="*/ 2667611 h 3884"/>
                  <a:gd name="T4" fmla="*/ 3079519 w 4485"/>
                  <a:gd name="T5" fmla="*/ 2667611 h 3884"/>
                  <a:gd name="T6" fmla="*/ 1539760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2" y="0"/>
                    </a:moveTo>
                    <a:lnTo>
                      <a:pt x="0" y="3883"/>
                    </a:lnTo>
                    <a:lnTo>
                      <a:pt x="4484" y="3883"/>
                    </a:lnTo>
                    <a:lnTo>
                      <a:pt x="2242" y="0"/>
                    </a:lnTo>
                  </a:path>
                </a:pathLst>
              </a:custGeom>
              <a:solidFill>
                <a:schemeClr val="accent1"/>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0" name="Freeform 179">
                <a:extLst>
                  <a:ext uri="{FF2B5EF4-FFF2-40B4-BE49-F238E27FC236}">
                    <a16:creationId xmlns:a16="http://schemas.microsoft.com/office/drawing/2014/main" id="{AF6AA1F1-DB5D-6B48-A577-74C17CE1EC12}"/>
                  </a:ext>
                </a:extLst>
              </p:cNvPr>
              <p:cNvSpPr>
                <a:spLocks/>
              </p:cNvSpPr>
              <p:nvPr/>
            </p:nvSpPr>
            <p:spPr bwMode="auto">
              <a:xfrm>
                <a:off x="6400801" y="4553045"/>
                <a:ext cx="2933511" cy="2541872"/>
              </a:xfrm>
              <a:custGeom>
                <a:avLst/>
                <a:gdLst>
                  <a:gd name="T0" fmla="*/ 0 w 4485"/>
                  <a:gd name="T1" fmla="*/ 0 h 3885"/>
                  <a:gd name="T2" fmla="*/ 1539760 w 4485"/>
                  <a:gd name="T3" fmla="*/ 2667613 h 3885"/>
                  <a:gd name="T4" fmla="*/ 3079519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2"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4" name="Freeform 181">
                <a:extLst>
                  <a:ext uri="{FF2B5EF4-FFF2-40B4-BE49-F238E27FC236}">
                    <a16:creationId xmlns:a16="http://schemas.microsoft.com/office/drawing/2014/main" id="{78693D03-3054-3D4E-9627-E0A7EA652F9E}"/>
                  </a:ext>
                </a:extLst>
              </p:cNvPr>
              <p:cNvSpPr>
                <a:spLocks/>
              </p:cNvSpPr>
              <p:nvPr/>
            </p:nvSpPr>
            <p:spPr bwMode="auto">
              <a:xfrm>
                <a:off x="3467290" y="4553045"/>
                <a:ext cx="2933511" cy="2541872"/>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5" name="TextBox 24">
                <a:extLst>
                  <a:ext uri="{FF2B5EF4-FFF2-40B4-BE49-F238E27FC236}">
                    <a16:creationId xmlns:a16="http://schemas.microsoft.com/office/drawing/2014/main" id="{A4E847B4-3DF6-0346-9E09-2E13EF18D004}"/>
                  </a:ext>
                </a:extLst>
              </p:cNvPr>
              <p:cNvSpPr txBox="1"/>
              <p:nvPr/>
            </p:nvSpPr>
            <p:spPr>
              <a:xfrm>
                <a:off x="4236225" y="2994644"/>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6</a:t>
                </a:r>
              </a:p>
            </p:txBody>
          </p:sp>
          <p:sp>
            <p:nvSpPr>
              <p:cNvPr id="28" name="TextBox 27">
                <a:extLst>
                  <a:ext uri="{FF2B5EF4-FFF2-40B4-BE49-F238E27FC236}">
                    <a16:creationId xmlns:a16="http://schemas.microsoft.com/office/drawing/2014/main" id="{DA2C1947-9098-DD4B-9FC7-5226288B9885}"/>
                  </a:ext>
                </a:extLst>
              </p:cNvPr>
              <p:cNvSpPr txBox="1"/>
              <p:nvPr/>
            </p:nvSpPr>
            <p:spPr>
              <a:xfrm>
                <a:off x="7228912" y="2999201"/>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2</a:t>
                </a:r>
              </a:p>
            </p:txBody>
          </p:sp>
          <p:sp>
            <p:nvSpPr>
              <p:cNvPr id="30" name="TextBox 29">
                <a:extLst>
                  <a:ext uri="{FF2B5EF4-FFF2-40B4-BE49-F238E27FC236}">
                    <a16:creationId xmlns:a16="http://schemas.microsoft.com/office/drawing/2014/main" id="{A3167FD0-F83D-DD4A-A72D-90405E017D57}"/>
                  </a:ext>
                </a:extLst>
              </p:cNvPr>
              <p:cNvSpPr txBox="1"/>
              <p:nvPr/>
            </p:nvSpPr>
            <p:spPr>
              <a:xfrm>
                <a:off x="7247451" y="475574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3</a:t>
                </a:r>
              </a:p>
            </p:txBody>
          </p:sp>
          <p:sp>
            <p:nvSpPr>
              <p:cNvPr id="31" name="TextBox 30">
                <a:extLst>
                  <a:ext uri="{FF2B5EF4-FFF2-40B4-BE49-F238E27FC236}">
                    <a16:creationId xmlns:a16="http://schemas.microsoft.com/office/drawing/2014/main" id="{CB32858F-D284-8944-839E-5211D8180EC0}"/>
                  </a:ext>
                </a:extLst>
              </p:cNvPr>
              <p:cNvSpPr txBox="1"/>
              <p:nvPr/>
            </p:nvSpPr>
            <p:spPr>
              <a:xfrm>
                <a:off x="5737804" y="5556748"/>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4</a:t>
                </a:r>
              </a:p>
            </p:txBody>
          </p:sp>
          <p:sp>
            <p:nvSpPr>
              <p:cNvPr id="32" name="TextBox 31">
                <a:extLst>
                  <a:ext uri="{FF2B5EF4-FFF2-40B4-BE49-F238E27FC236}">
                    <a16:creationId xmlns:a16="http://schemas.microsoft.com/office/drawing/2014/main" id="{BC7732BD-8AE6-2D4C-8A49-D027171EBC73}"/>
                  </a:ext>
                </a:extLst>
              </p:cNvPr>
              <p:cNvSpPr txBox="1"/>
              <p:nvPr/>
            </p:nvSpPr>
            <p:spPr>
              <a:xfrm>
                <a:off x="4199291" y="472471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5</a:t>
                </a:r>
              </a:p>
            </p:txBody>
          </p:sp>
          <p:sp>
            <p:nvSpPr>
              <p:cNvPr id="26" name="TextBox 25">
                <a:extLst>
                  <a:ext uri="{FF2B5EF4-FFF2-40B4-BE49-F238E27FC236}">
                    <a16:creationId xmlns:a16="http://schemas.microsoft.com/office/drawing/2014/main" id="{56403C62-669F-FE41-9934-55C0554EAD79}"/>
                  </a:ext>
                </a:extLst>
              </p:cNvPr>
              <p:cNvSpPr txBox="1"/>
              <p:nvPr/>
            </p:nvSpPr>
            <p:spPr>
              <a:xfrm>
                <a:off x="5707197" y="2306224"/>
                <a:ext cx="1229659" cy="1361733"/>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1</a:t>
                </a:r>
              </a:p>
            </p:txBody>
          </p:sp>
        </p:grpSp>
        <p:sp>
          <p:nvSpPr>
            <p:cNvPr id="35" name="TextBox 34">
              <a:extLst>
                <a:ext uri="{FF2B5EF4-FFF2-40B4-BE49-F238E27FC236}">
                  <a16:creationId xmlns:a16="http://schemas.microsoft.com/office/drawing/2014/main" id="{A3FF2667-46B6-7849-BE43-553064687CB0}"/>
                </a:ext>
              </a:extLst>
            </p:cNvPr>
            <p:cNvSpPr txBox="1"/>
            <p:nvPr/>
          </p:nvSpPr>
          <p:spPr>
            <a:xfrm>
              <a:off x="5048505" y="224589"/>
              <a:ext cx="2778629"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Value Barriers </a:t>
              </a:r>
            </a:p>
          </p:txBody>
        </p:sp>
        <p:sp>
          <p:nvSpPr>
            <p:cNvPr id="36" name="TextBox 35">
              <a:extLst>
                <a:ext uri="{FF2B5EF4-FFF2-40B4-BE49-F238E27FC236}">
                  <a16:creationId xmlns:a16="http://schemas.microsoft.com/office/drawing/2014/main" id="{76B013F0-AD86-4544-B3B2-B9249653EBF8}"/>
                </a:ext>
              </a:extLst>
            </p:cNvPr>
            <p:cNvSpPr txBox="1"/>
            <p:nvPr/>
          </p:nvSpPr>
          <p:spPr>
            <a:xfrm>
              <a:off x="5204003" y="5943681"/>
              <a:ext cx="2623132"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Proactivity</a:t>
              </a:r>
            </a:p>
          </p:txBody>
        </p:sp>
        <p:sp>
          <p:nvSpPr>
            <p:cNvPr id="37" name="TextBox 36">
              <a:extLst>
                <a:ext uri="{FF2B5EF4-FFF2-40B4-BE49-F238E27FC236}">
                  <a16:creationId xmlns:a16="http://schemas.microsoft.com/office/drawing/2014/main" id="{14359635-1856-764D-AC49-97EC9113F864}"/>
                </a:ext>
              </a:extLst>
            </p:cNvPr>
            <p:cNvSpPr txBox="1"/>
            <p:nvPr/>
          </p:nvSpPr>
          <p:spPr>
            <a:xfrm>
              <a:off x="1954883" y="1624544"/>
              <a:ext cx="280492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Cultural Challenges</a:t>
              </a:r>
            </a:p>
          </p:txBody>
        </p:sp>
        <p:sp>
          <p:nvSpPr>
            <p:cNvPr id="39" name="TextBox 38">
              <a:extLst>
                <a:ext uri="{FF2B5EF4-FFF2-40B4-BE49-F238E27FC236}">
                  <a16:creationId xmlns:a16="http://schemas.microsoft.com/office/drawing/2014/main" id="{5EE6B582-A5AD-7742-A3DB-35B94D69E389}"/>
                </a:ext>
              </a:extLst>
            </p:cNvPr>
            <p:cNvSpPr txBox="1"/>
            <p:nvPr/>
          </p:nvSpPr>
          <p:spPr>
            <a:xfrm>
              <a:off x="2108449" y="4579118"/>
              <a:ext cx="2714734"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Prevention</a:t>
              </a:r>
            </a:p>
          </p:txBody>
        </p:sp>
        <p:sp>
          <p:nvSpPr>
            <p:cNvPr id="40" name="TextBox 39">
              <a:extLst>
                <a:ext uri="{FF2B5EF4-FFF2-40B4-BE49-F238E27FC236}">
                  <a16:creationId xmlns:a16="http://schemas.microsoft.com/office/drawing/2014/main" id="{7842DDC4-618C-EB49-8D92-CC6E8D06A27F}"/>
                </a:ext>
              </a:extLst>
            </p:cNvPr>
            <p:cNvSpPr txBox="1"/>
            <p:nvPr/>
          </p:nvSpPr>
          <p:spPr>
            <a:xfrm>
              <a:off x="8202257" y="4539642"/>
              <a:ext cx="273486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Need/Care Match</a:t>
              </a:r>
            </a:p>
          </p:txBody>
        </p:sp>
      </p:grpSp>
      <p:sp>
        <p:nvSpPr>
          <p:cNvPr id="42" name="Rectangle 41">
            <a:extLst>
              <a:ext uri="{FF2B5EF4-FFF2-40B4-BE49-F238E27FC236}">
                <a16:creationId xmlns:a16="http://schemas.microsoft.com/office/drawing/2014/main" id="{CED96D22-0F74-AF48-B854-0CE3DF5BC976}"/>
              </a:ext>
            </a:extLst>
          </p:cNvPr>
          <p:cNvSpPr/>
          <p:nvPr/>
        </p:nvSpPr>
        <p:spPr>
          <a:xfrm>
            <a:off x="9548037" y="2944368"/>
            <a:ext cx="3253563" cy="4828032"/>
          </a:xfrm>
          <a:prstGeom prst="rect">
            <a:avLst/>
          </a:prstGeom>
          <a:solidFill>
            <a:srgbClr val="0039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13CF5FB-EA21-2E43-8223-310323F91EEC}"/>
              </a:ext>
            </a:extLst>
          </p:cNvPr>
          <p:cNvSpPr/>
          <p:nvPr/>
        </p:nvSpPr>
        <p:spPr>
          <a:xfrm>
            <a:off x="228600" y="534035"/>
            <a:ext cx="6764994" cy="338554"/>
          </a:xfrm>
          <a:prstGeom prst="rect">
            <a:avLst/>
          </a:prstGeom>
        </p:spPr>
        <p:txBody>
          <a:bodyPr wrap="square" anchor="t">
            <a:spAutoFit/>
          </a:bodyPr>
          <a:lstStyle/>
          <a:p>
            <a:r>
              <a:rPr lang="en-US" sz="1600" b="1" dirty="0">
                <a:solidFill>
                  <a:srgbClr val="00A2E2"/>
                </a:solidFill>
              </a:rPr>
              <a:t>Identifying Opportunities</a:t>
            </a:r>
          </a:p>
        </p:txBody>
      </p:sp>
      <p:sp>
        <p:nvSpPr>
          <p:cNvPr id="44" name="Rectangle 43">
            <a:extLst>
              <a:ext uri="{FF2B5EF4-FFF2-40B4-BE49-F238E27FC236}">
                <a16:creationId xmlns:a16="http://schemas.microsoft.com/office/drawing/2014/main" id="{BEF1FE83-BF87-1E40-BFFF-5C9604484C0C}"/>
              </a:ext>
            </a:extLst>
          </p:cNvPr>
          <p:cNvSpPr/>
          <p:nvPr/>
        </p:nvSpPr>
        <p:spPr>
          <a:xfrm>
            <a:off x="9548037" y="3094081"/>
            <a:ext cx="3253563" cy="584775"/>
          </a:xfrm>
          <a:prstGeom prst="rect">
            <a:avLst/>
          </a:prstGeom>
        </p:spPr>
        <p:txBody>
          <a:bodyPr wrap="square" anchor="t">
            <a:spAutoFit/>
          </a:bodyPr>
          <a:lstStyle/>
          <a:p>
            <a:pPr algn="ctr"/>
            <a:r>
              <a:rPr lang="en-US" sz="1600" b="1" dirty="0">
                <a:solidFill>
                  <a:schemeClr val="bg1"/>
                </a:solidFill>
              </a:rPr>
              <a:t>Competitive / Startup </a:t>
            </a:r>
            <a:br>
              <a:rPr lang="en-US" sz="1600" b="1" dirty="0">
                <a:solidFill>
                  <a:schemeClr val="bg1"/>
                </a:solidFill>
              </a:rPr>
            </a:br>
            <a:r>
              <a:rPr lang="en-US" sz="1600" b="1" dirty="0">
                <a:solidFill>
                  <a:schemeClr val="bg1"/>
                </a:solidFill>
              </a:rPr>
              <a:t>Landscape</a:t>
            </a:r>
          </a:p>
        </p:txBody>
      </p:sp>
      <p:sp>
        <p:nvSpPr>
          <p:cNvPr id="38" name="Rectangle 37">
            <a:extLst>
              <a:ext uri="{FF2B5EF4-FFF2-40B4-BE49-F238E27FC236}">
                <a16:creationId xmlns:a16="http://schemas.microsoft.com/office/drawing/2014/main" id="{AAB95A38-1BBA-E14E-B7BC-BD8984EB3ACC}"/>
              </a:ext>
            </a:extLst>
          </p:cNvPr>
          <p:cNvSpPr/>
          <p:nvPr/>
        </p:nvSpPr>
        <p:spPr>
          <a:xfrm>
            <a:off x="13171481" y="3828569"/>
            <a:ext cx="2716185" cy="3557897"/>
          </a:xfrm>
          <a:prstGeom prst="rect">
            <a:avLst/>
          </a:prstGeom>
          <a:ln>
            <a:noFill/>
          </a:ln>
        </p:spPr>
        <p:txBody>
          <a:bodyPr wrap="square">
            <a:spAutoFit/>
          </a:bodyPr>
          <a:lstStyle/>
          <a:p>
            <a:pPr defTabSz="914378">
              <a:lnSpc>
                <a:spcPct val="95000"/>
              </a:lnSpc>
              <a:spcBef>
                <a:spcPts val="200"/>
              </a:spcBef>
              <a:spcAft>
                <a:spcPts val="200"/>
              </a:spcAft>
            </a:pPr>
            <a:r>
              <a:rPr lang="en-US" sz="1200" b="1" kern="0" dirty="0">
                <a:solidFill>
                  <a:srgbClr val="B1E2FF"/>
                </a:solidFill>
                <a:latin typeface="Arial Narrow" pitchFamily="34" charset="0"/>
              </a:rPr>
              <a:t>Cigna</a:t>
            </a:r>
            <a:r>
              <a:rPr lang="en-US" sz="1200" b="1" kern="0" dirty="0">
                <a:solidFill>
                  <a:srgbClr val="0070C0"/>
                </a:solidFill>
                <a:latin typeface="Arial Narrow" pitchFamily="34" charset="0"/>
              </a:rPr>
              <a:t> </a:t>
            </a:r>
          </a:p>
          <a:p>
            <a:pPr defTabSz="914378">
              <a:lnSpc>
                <a:spcPct val="95000"/>
              </a:lnSpc>
              <a:spcBef>
                <a:spcPts val="200"/>
              </a:spcBef>
              <a:spcAft>
                <a:spcPts val="200"/>
              </a:spcAft>
            </a:pPr>
            <a:r>
              <a:rPr lang="en-US" sz="1200" b="1" kern="0" dirty="0">
                <a:solidFill>
                  <a:schemeClr val="bg1"/>
                </a:solidFill>
                <a:latin typeface="Arial Narrow" pitchFamily="34" charset="0"/>
              </a:rPr>
              <a:t>Collaborative Care (CCC) Program: </a:t>
            </a:r>
            <a:r>
              <a:rPr lang="en-US" sz="1200" kern="0" dirty="0">
                <a:solidFill>
                  <a:schemeClr val="bg1"/>
                </a:solidFill>
                <a:latin typeface="Arial Narrow" pitchFamily="34" charset="0"/>
              </a:rPr>
              <a:t>Enrolled physicians are in value-based arrangements with behavioral health quality measures such as depression screening in value-based cardiology; and maternal mental health screening in value-based OB/GYN.</a:t>
            </a:r>
          </a:p>
          <a:p>
            <a:pPr defTabSz="914378">
              <a:lnSpc>
                <a:spcPct val="95000"/>
              </a:lnSpc>
              <a:spcBef>
                <a:spcPts val="200"/>
              </a:spcBef>
              <a:spcAft>
                <a:spcPts val="200"/>
              </a:spcAft>
            </a:pPr>
            <a:endParaRPr lang="en-US" sz="1200" kern="0" dirty="0">
              <a:solidFill>
                <a:schemeClr val="bg1"/>
              </a:solidFill>
              <a:latin typeface="Arial Narrow" pitchFamily="34" charset="0"/>
            </a:endParaRPr>
          </a:p>
          <a:p>
            <a:pPr defTabSz="914378">
              <a:lnSpc>
                <a:spcPct val="95000"/>
              </a:lnSpc>
              <a:spcBef>
                <a:spcPts val="200"/>
              </a:spcBef>
              <a:spcAft>
                <a:spcPts val="200"/>
              </a:spcAft>
            </a:pPr>
            <a:r>
              <a:rPr lang="en-US" sz="1200" b="1" kern="0" dirty="0">
                <a:solidFill>
                  <a:srgbClr val="B1E2FF"/>
                </a:solidFill>
                <a:latin typeface="Arial Narrow" pitchFamily="34" charset="0"/>
              </a:rPr>
              <a:t>Aetna</a:t>
            </a:r>
          </a:p>
          <a:p>
            <a:pPr defTabSz="914378">
              <a:lnSpc>
                <a:spcPct val="95000"/>
              </a:lnSpc>
              <a:spcBef>
                <a:spcPts val="200"/>
              </a:spcBef>
              <a:spcAft>
                <a:spcPts val="200"/>
              </a:spcAft>
            </a:pPr>
            <a:r>
              <a:rPr lang="en-US" sz="1200" b="1" kern="0" dirty="0">
                <a:solidFill>
                  <a:schemeClr val="bg1"/>
                </a:solidFill>
                <a:latin typeface="Arial Narrow" pitchFamily="34" charset="0"/>
              </a:rPr>
              <a:t>Medicaid outcomes-based model for members with intellectual and development disabilities (IDD): </a:t>
            </a:r>
            <a:r>
              <a:rPr lang="en-US" sz="1200" kern="0" dirty="0">
                <a:solidFill>
                  <a:schemeClr val="bg1"/>
                </a:solidFill>
                <a:latin typeface="Arial Narrow" pitchFamily="34" charset="0"/>
              </a:rPr>
              <a:t>Connects members with an Aetna IDD coordinator who facilities community resources, innovative practices, and technology tools to promote meaningful quality of life. </a:t>
            </a:r>
          </a:p>
          <a:p>
            <a:pPr defTabSz="914378">
              <a:lnSpc>
                <a:spcPct val="95000"/>
              </a:lnSpc>
              <a:spcBef>
                <a:spcPts val="200"/>
              </a:spcBef>
              <a:spcAft>
                <a:spcPts val="200"/>
              </a:spcAft>
            </a:pPr>
            <a:endParaRPr lang="en-US" sz="1200" kern="0" dirty="0">
              <a:solidFill>
                <a:schemeClr val="bg1"/>
              </a:solidFill>
              <a:latin typeface="Arial Narrow" pitchFamily="34" charset="0"/>
            </a:endParaRPr>
          </a:p>
          <a:p>
            <a:pPr defTabSz="914378">
              <a:lnSpc>
                <a:spcPct val="95000"/>
              </a:lnSpc>
              <a:spcBef>
                <a:spcPts val="200"/>
              </a:spcBef>
              <a:spcAft>
                <a:spcPts val="200"/>
              </a:spcAft>
            </a:pPr>
            <a:endParaRPr lang="en-US" sz="1200" kern="0" dirty="0">
              <a:solidFill>
                <a:schemeClr val="bg1"/>
              </a:solidFill>
              <a:latin typeface="Arial Narrow" pitchFamily="34" charset="0"/>
            </a:endParaRPr>
          </a:p>
        </p:txBody>
      </p:sp>
      <p:sp>
        <p:nvSpPr>
          <p:cNvPr id="41" name="Rectangle 40">
            <a:extLst>
              <a:ext uri="{FF2B5EF4-FFF2-40B4-BE49-F238E27FC236}">
                <a16:creationId xmlns:a16="http://schemas.microsoft.com/office/drawing/2014/main" id="{E11BF3BD-C614-444D-B302-F8AFD54BAEB6}"/>
              </a:ext>
            </a:extLst>
          </p:cNvPr>
          <p:cNvSpPr/>
          <p:nvPr/>
        </p:nvSpPr>
        <p:spPr>
          <a:xfrm>
            <a:off x="5047488" y="2080538"/>
            <a:ext cx="4210188" cy="3554819"/>
          </a:xfrm>
          <a:prstGeom prst="rect">
            <a:avLst/>
          </a:prstGeom>
        </p:spPr>
        <p:txBody>
          <a:bodyPr wrap="square">
            <a:spAutoFit/>
          </a:bodyPr>
          <a:lstStyle/>
          <a:p>
            <a:pPr>
              <a:spcAft>
                <a:spcPts val="600"/>
              </a:spcAft>
            </a:pPr>
            <a:r>
              <a:rPr lang="en-US" sz="1800" b="1" dirty="0">
                <a:solidFill>
                  <a:srgbClr val="003963"/>
                </a:solidFill>
              </a:rPr>
              <a:t>Next Steps</a:t>
            </a:r>
          </a:p>
          <a:p>
            <a:pPr marL="285750" indent="-285750">
              <a:spcAft>
                <a:spcPts val="600"/>
              </a:spcAft>
              <a:buFont typeface="Arial" panose="020B0604020202020204" pitchFamily="34" charset="0"/>
              <a:buChar char="•"/>
            </a:pPr>
            <a:r>
              <a:rPr lang="en-US" sz="1600" dirty="0">
                <a:solidFill>
                  <a:srgbClr val="003963"/>
                </a:solidFill>
              </a:rPr>
              <a:t>Complete more in-depth primary research with clinicians to understand current needs/challenges and develop potential solutions</a:t>
            </a:r>
          </a:p>
          <a:p>
            <a:pPr marL="285750" indent="-285750">
              <a:spcAft>
                <a:spcPts val="600"/>
              </a:spcAft>
              <a:buFont typeface="Arial" panose="020B0604020202020204" pitchFamily="34" charset="0"/>
              <a:buChar char="•"/>
            </a:pPr>
            <a:r>
              <a:rPr lang="en-US" sz="1600" dirty="0">
                <a:solidFill>
                  <a:srgbClr val="003963"/>
                </a:solidFill>
              </a:rPr>
              <a:t>Glean lessons learned from integrated practices and external leaders in clinician training and education to understand potential approaches and partners</a:t>
            </a:r>
          </a:p>
          <a:p>
            <a:pPr marL="285750" indent="-285750">
              <a:spcAft>
                <a:spcPts val="600"/>
              </a:spcAft>
              <a:buFont typeface="Arial" panose="020B0604020202020204" pitchFamily="34" charset="0"/>
              <a:buChar char="•"/>
            </a:pPr>
            <a:r>
              <a:rPr lang="en-US" sz="1600" dirty="0">
                <a:solidFill>
                  <a:srgbClr val="003963"/>
                </a:solidFill>
              </a:rPr>
              <a:t>Fully scope opportunity and provide business case with estimates for overall cost and timing, and planned design and development details</a:t>
            </a:r>
          </a:p>
        </p:txBody>
      </p:sp>
      <p:sp>
        <p:nvSpPr>
          <p:cNvPr id="45" name="Rectangle 44">
            <a:extLst>
              <a:ext uri="{FF2B5EF4-FFF2-40B4-BE49-F238E27FC236}">
                <a16:creationId xmlns:a16="http://schemas.microsoft.com/office/drawing/2014/main" id="{3DF5AF01-2516-C644-A77F-55D0C8703EF3}"/>
              </a:ext>
            </a:extLst>
          </p:cNvPr>
          <p:cNvSpPr/>
          <p:nvPr/>
        </p:nvSpPr>
        <p:spPr>
          <a:xfrm>
            <a:off x="228601" y="2080554"/>
            <a:ext cx="4818888" cy="5109091"/>
          </a:xfrm>
          <a:prstGeom prst="rect">
            <a:avLst/>
          </a:prstGeom>
        </p:spPr>
        <p:txBody>
          <a:bodyPr wrap="square">
            <a:spAutoFit/>
          </a:bodyPr>
          <a:lstStyle/>
          <a:p>
            <a:pPr>
              <a:spcAft>
                <a:spcPts val="600"/>
              </a:spcAft>
            </a:pPr>
            <a:r>
              <a:rPr lang="en-US" sz="1800" b="1" dirty="0">
                <a:solidFill>
                  <a:srgbClr val="003963"/>
                </a:solidFill>
              </a:rPr>
              <a:t>Summary of Opportunity </a:t>
            </a:r>
          </a:p>
          <a:p>
            <a:pPr>
              <a:spcAft>
                <a:spcPts val="600"/>
              </a:spcAft>
            </a:pPr>
            <a:r>
              <a:rPr lang="en-US" sz="1600" dirty="0">
                <a:solidFill>
                  <a:srgbClr val="003963"/>
                </a:solidFill>
              </a:rPr>
              <a:t>We aim to expand the role of non-BH specialists to “whole-health practitioners,” clinicians who address the unmet demand for Behavioral Health care by considering its role in wellness in all clinical settings.</a:t>
            </a:r>
          </a:p>
          <a:p>
            <a:pPr marL="285750" indent="-285750">
              <a:spcAft>
                <a:spcPts val="600"/>
              </a:spcAft>
              <a:buFont typeface="Arial" panose="020B0604020202020204" pitchFamily="34" charset="0"/>
              <a:buChar char="•"/>
            </a:pPr>
            <a:r>
              <a:rPr lang="en-US" sz="1600" dirty="0">
                <a:solidFill>
                  <a:srgbClr val="003963"/>
                </a:solidFill>
              </a:rPr>
              <a:t>We should enable all clinicians (and potentially non-clinical staff) to confidently and meaningfully engage patients about Behavioral and Physical Health wellness without adding administrative burden.</a:t>
            </a:r>
          </a:p>
          <a:p>
            <a:pPr marL="285750" indent="-285750">
              <a:spcAft>
                <a:spcPts val="600"/>
              </a:spcAft>
              <a:buFont typeface="Arial" panose="020B0604020202020204" pitchFamily="34" charset="0"/>
              <a:buChar char="•"/>
            </a:pPr>
            <a:r>
              <a:rPr lang="en-US" sz="1600" dirty="0">
                <a:solidFill>
                  <a:srgbClr val="003963"/>
                </a:solidFill>
              </a:rPr>
              <a:t>By offering clinicians BH training with less administrative burden and more resource support, we can encourage BH advocacy and allow clinicians to better identify, treat, refer, and deliver BH patient outcomes.</a:t>
            </a:r>
          </a:p>
          <a:p>
            <a:pPr marL="285750" indent="-285750">
              <a:spcAft>
                <a:spcPts val="600"/>
              </a:spcAft>
              <a:buFont typeface="Arial" panose="020B0604020202020204" pitchFamily="34" charset="0"/>
              <a:buChar char="•"/>
            </a:pPr>
            <a:r>
              <a:rPr lang="en-US" sz="1600" dirty="0">
                <a:solidFill>
                  <a:srgbClr val="003963"/>
                </a:solidFill>
              </a:rPr>
              <a:t>Through training and awareness, we can also reduce or remove clinical bias and stigma, which are common barriers to care.</a:t>
            </a:r>
          </a:p>
        </p:txBody>
      </p:sp>
      <p:sp>
        <p:nvSpPr>
          <p:cNvPr id="46" name="Rectangle 45">
            <a:extLst>
              <a:ext uri="{FF2B5EF4-FFF2-40B4-BE49-F238E27FC236}">
                <a16:creationId xmlns:a16="http://schemas.microsoft.com/office/drawing/2014/main" id="{3E6984A4-862A-1040-BCAD-1784109DCF84}"/>
              </a:ext>
            </a:extLst>
          </p:cNvPr>
          <p:cNvSpPr/>
          <p:nvPr/>
        </p:nvSpPr>
        <p:spPr>
          <a:xfrm>
            <a:off x="172899" y="1291022"/>
            <a:ext cx="9166940" cy="584775"/>
          </a:xfrm>
          <a:prstGeom prst="rect">
            <a:avLst/>
          </a:prstGeom>
        </p:spPr>
        <p:txBody>
          <a:bodyPr wrap="square">
            <a:spAutoFit/>
          </a:bodyPr>
          <a:lstStyle/>
          <a:p>
            <a:pPr>
              <a:defRPr/>
            </a:pPr>
            <a:r>
              <a:rPr lang="en-US" sz="1600" dirty="0">
                <a:solidFill>
                  <a:srgbClr val="003963"/>
                </a:solidFill>
              </a:rPr>
              <a:t>As we continue to face more demand than supply for BH services, let’s create capacity by empowering our current clinical workforce to become “whole-health” practitioners.</a:t>
            </a:r>
            <a:endParaRPr lang="en-US" sz="1200" dirty="0">
              <a:solidFill>
                <a:srgbClr val="003963"/>
              </a:solidFill>
            </a:endParaRPr>
          </a:p>
        </p:txBody>
      </p:sp>
    </p:spTree>
    <p:extLst>
      <p:ext uri="{BB962C8B-B14F-4D97-AF65-F5344CB8AC3E}">
        <p14:creationId xmlns:p14="http://schemas.microsoft.com/office/powerpoint/2010/main" val="1590780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F75D8D4-2E5B-8141-92F5-2E65763F210A}"/>
              </a:ext>
            </a:extLst>
          </p:cNvPr>
          <p:cNvSpPr/>
          <p:nvPr/>
        </p:nvSpPr>
        <p:spPr>
          <a:xfrm>
            <a:off x="9548037" y="0"/>
            <a:ext cx="3253563" cy="288950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181">
            <a:extLst>
              <a:ext uri="{FF2B5EF4-FFF2-40B4-BE49-F238E27FC236}">
                <a16:creationId xmlns:a16="http://schemas.microsoft.com/office/drawing/2014/main" id="{78693D03-3054-3D4E-9627-E0A7EA652F9E}"/>
              </a:ext>
            </a:extLst>
          </p:cNvPr>
          <p:cNvSpPr>
            <a:spLocks/>
          </p:cNvSpPr>
          <p:nvPr/>
        </p:nvSpPr>
        <p:spPr bwMode="auto">
          <a:xfrm rot="3607213">
            <a:off x="10492445" y="1311232"/>
            <a:ext cx="596725" cy="517059"/>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47" name="Rectangle 46">
            <a:extLst>
              <a:ext uri="{FF2B5EF4-FFF2-40B4-BE49-F238E27FC236}">
                <a16:creationId xmlns:a16="http://schemas.microsoft.com/office/drawing/2014/main" id="{1AEC8755-968C-E94A-B115-1636F814A717}"/>
              </a:ext>
            </a:extLst>
          </p:cNvPr>
          <p:cNvSpPr/>
          <p:nvPr/>
        </p:nvSpPr>
        <p:spPr>
          <a:xfrm>
            <a:off x="168964" y="-2218162"/>
            <a:ext cx="7549587" cy="1015663"/>
          </a:xfrm>
          <a:prstGeom prst="rect">
            <a:avLst/>
          </a:prstGeom>
        </p:spPr>
        <p:txBody>
          <a:bodyPr wrap="square" anchor="t">
            <a:spAutoFit/>
          </a:bodyPr>
          <a:lstStyle/>
          <a:p>
            <a:r>
              <a:rPr lang="en-US" sz="2400" b="1" dirty="0">
                <a:solidFill>
                  <a:srgbClr val="003963"/>
                </a:solidFill>
              </a:rPr>
              <a:t>The urgency is now: </a:t>
            </a:r>
          </a:p>
          <a:p>
            <a:r>
              <a:rPr lang="en-US" sz="1800" dirty="0">
                <a:solidFill>
                  <a:srgbClr val="00A2E2"/>
                </a:solidFill>
              </a:rPr>
              <a:t>How do we ensure we are addressing the critical issues and opportunities that are emerging in the Behavioral Health Epidemic </a:t>
            </a:r>
          </a:p>
        </p:txBody>
      </p:sp>
      <p:sp>
        <p:nvSpPr>
          <p:cNvPr id="4" name="Rectangle 3">
            <a:extLst>
              <a:ext uri="{FF2B5EF4-FFF2-40B4-BE49-F238E27FC236}">
                <a16:creationId xmlns:a16="http://schemas.microsoft.com/office/drawing/2014/main" id="{50818B1C-7512-BF4C-A24D-63537D0ED002}"/>
              </a:ext>
            </a:extLst>
          </p:cNvPr>
          <p:cNvSpPr/>
          <p:nvPr/>
        </p:nvSpPr>
        <p:spPr>
          <a:xfrm>
            <a:off x="208757" y="840459"/>
            <a:ext cx="9066848" cy="461665"/>
          </a:xfrm>
          <a:prstGeom prst="rect">
            <a:avLst/>
          </a:prstGeom>
        </p:spPr>
        <p:txBody>
          <a:bodyPr wrap="square">
            <a:spAutoFit/>
          </a:bodyPr>
          <a:lstStyle/>
          <a:p>
            <a:r>
              <a:rPr lang="en-US" sz="2400" b="1" dirty="0">
                <a:solidFill>
                  <a:srgbClr val="002060"/>
                </a:solidFill>
              </a:rPr>
              <a:t>Communities as Caregivers</a:t>
            </a:r>
          </a:p>
        </p:txBody>
      </p:sp>
      <p:sp>
        <p:nvSpPr>
          <p:cNvPr id="13" name="Rectangle 12">
            <a:extLst>
              <a:ext uri="{FF2B5EF4-FFF2-40B4-BE49-F238E27FC236}">
                <a16:creationId xmlns:a16="http://schemas.microsoft.com/office/drawing/2014/main" id="{83942695-DEE0-D342-9001-6E26D151834E}"/>
              </a:ext>
            </a:extLst>
          </p:cNvPr>
          <p:cNvSpPr/>
          <p:nvPr/>
        </p:nvSpPr>
        <p:spPr>
          <a:xfrm>
            <a:off x="9548037" y="369169"/>
            <a:ext cx="3253563" cy="338554"/>
          </a:xfrm>
          <a:prstGeom prst="rect">
            <a:avLst/>
          </a:prstGeom>
        </p:spPr>
        <p:txBody>
          <a:bodyPr wrap="square" anchor="t">
            <a:spAutoFit/>
          </a:bodyPr>
          <a:lstStyle/>
          <a:p>
            <a:pPr algn="ctr"/>
            <a:r>
              <a:rPr lang="en-US" sz="1600" b="1" dirty="0">
                <a:solidFill>
                  <a:schemeClr val="bg1"/>
                </a:solidFill>
              </a:rPr>
              <a:t>Critical Problems</a:t>
            </a:r>
          </a:p>
        </p:txBody>
      </p:sp>
      <p:grpSp>
        <p:nvGrpSpPr>
          <p:cNvPr id="5" name="Group 4">
            <a:extLst>
              <a:ext uri="{FF2B5EF4-FFF2-40B4-BE49-F238E27FC236}">
                <a16:creationId xmlns:a16="http://schemas.microsoft.com/office/drawing/2014/main" id="{4010EF52-C5D7-364A-9BFE-02E8D06E4633}"/>
              </a:ext>
            </a:extLst>
          </p:cNvPr>
          <p:cNvGrpSpPr/>
          <p:nvPr/>
        </p:nvGrpSpPr>
        <p:grpSpPr>
          <a:xfrm>
            <a:off x="10054011" y="824143"/>
            <a:ext cx="2241613" cy="1631010"/>
            <a:chOff x="1954883" y="224589"/>
            <a:chExt cx="9056437" cy="6589517"/>
          </a:xfrm>
        </p:grpSpPr>
        <p:sp>
          <p:nvSpPr>
            <p:cNvPr id="14" name="TextBox 13">
              <a:extLst>
                <a:ext uri="{FF2B5EF4-FFF2-40B4-BE49-F238E27FC236}">
                  <a16:creationId xmlns:a16="http://schemas.microsoft.com/office/drawing/2014/main" id="{B31051DD-EB23-794F-8BAD-F9F7F16AC8B0}"/>
                </a:ext>
              </a:extLst>
            </p:cNvPr>
            <p:cNvSpPr txBox="1"/>
            <p:nvPr/>
          </p:nvSpPr>
          <p:spPr>
            <a:xfrm>
              <a:off x="8244614" y="1587504"/>
              <a:ext cx="2766706"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Clinician </a:t>
              </a:r>
              <a:br>
                <a:rPr lang="en-US" sz="800" spc="-16" dirty="0">
                  <a:solidFill>
                    <a:schemeClr val="bg1"/>
                  </a:solidFill>
                  <a:latin typeface="+mj-lt"/>
                  <a:ea typeface="Source Sans Pro" panose="020B0503030403020204" pitchFamily="34" charset="0"/>
                </a:rPr>
              </a:br>
              <a:r>
                <a:rPr lang="en-US" sz="800" spc="-16" dirty="0">
                  <a:solidFill>
                    <a:schemeClr val="bg1"/>
                  </a:solidFill>
                  <a:latin typeface="+mj-lt"/>
                  <a:ea typeface="Source Sans Pro" panose="020B0503030403020204" pitchFamily="34" charset="0"/>
                </a:rPr>
                <a:t>Challenges </a:t>
              </a:r>
            </a:p>
          </p:txBody>
        </p:sp>
        <p:grpSp>
          <p:nvGrpSpPr>
            <p:cNvPr id="15" name="Group 14">
              <a:extLst>
                <a:ext uri="{FF2B5EF4-FFF2-40B4-BE49-F238E27FC236}">
                  <a16:creationId xmlns:a16="http://schemas.microsoft.com/office/drawing/2014/main" id="{6EE47F6B-8362-8A4F-9C3C-2F4D7C87260E}"/>
                </a:ext>
              </a:extLst>
            </p:cNvPr>
            <p:cNvGrpSpPr/>
            <p:nvPr/>
          </p:nvGrpSpPr>
          <p:grpSpPr>
            <a:xfrm>
              <a:off x="4052176" y="1748893"/>
              <a:ext cx="4821704" cy="4098144"/>
              <a:chOff x="3467290" y="2108319"/>
              <a:chExt cx="5867022" cy="4986598"/>
            </a:xfrm>
          </p:grpSpPr>
          <p:sp>
            <p:nvSpPr>
              <p:cNvPr id="16" name="Freeform 176">
                <a:extLst>
                  <a:ext uri="{FF2B5EF4-FFF2-40B4-BE49-F238E27FC236}">
                    <a16:creationId xmlns:a16="http://schemas.microsoft.com/office/drawing/2014/main" id="{172F5DE8-A200-9A4A-AC04-67E7077393A6}"/>
                  </a:ext>
                </a:extLst>
              </p:cNvPr>
              <p:cNvSpPr>
                <a:spLocks/>
              </p:cNvSpPr>
              <p:nvPr/>
            </p:nvSpPr>
            <p:spPr bwMode="auto">
              <a:xfrm>
                <a:off x="4932533" y="4553045"/>
                <a:ext cx="2933511" cy="2541872"/>
              </a:xfrm>
              <a:custGeom>
                <a:avLst/>
                <a:gdLst>
                  <a:gd name="T0" fmla="*/ 1540102 w 4486"/>
                  <a:gd name="T1" fmla="*/ 0 h 3885"/>
                  <a:gd name="T2" fmla="*/ 0 w 4486"/>
                  <a:gd name="T3" fmla="*/ 2667613 h 3885"/>
                  <a:gd name="T4" fmla="*/ 3079517 w 4486"/>
                  <a:gd name="T5" fmla="*/ 2667613 h 3885"/>
                  <a:gd name="T6" fmla="*/ 1540102 w 4486"/>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5">
                    <a:moveTo>
                      <a:pt x="2243" y="0"/>
                    </a:moveTo>
                    <a:lnTo>
                      <a:pt x="0" y="3884"/>
                    </a:lnTo>
                    <a:lnTo>
                      <a:pt x="4485" y="3884"/>
                    </a:lnTo>
                    <a:lnTo>
                      <a:pt x="2243" y="0"/>
                    </a:lnTo>
                  </a:path>
                </a:pathLst>
              </a:custGeom>
              <a:solidFill>
                <a:schemeClr val="accent1"/>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0" name="Freeform 179">
                <a:extLst>
                  <a:ext uri="{FF2B5EF4-FFF2-40B4-BE49-F238E27FC236}">
                    <a16:creationId xmlns:a16="http://schemas.microsoft.com/office/drawing/2014/main" id="{AF6AA1F1-DB5D-6B48-A577-74C17CE1EC12}"/>
                  </a:ext>
                </a:extLst>
              </p:cNvPr>
              <p:cNvSpPr>
                <a:spLocks/>
              </p:cNvSpPr>
              <p:nvPr/>
            </p:nvSpPr>
            <p:spPr bwMode="auto">
              <a:xfrm>
                <a:off x="6400801" y="4553045"/>
                <a:ext cx="2933511" cy="2541872"/>
              </a:xfrm>
              <a:custGeom>
                <a:avLst/>
                <a:gdLst>
                  <a:gd name="T0" fmla="*/ 0 w 4485"/>
                  <a:gd name="T1" fmla="*/ 0 h 3885"/>
                  <a:gd name="T2" fmla="*/ 1539760 w 4485"/>
                  <a:gd name="T3" fmla="*/ 2667613 h 3885"/>
                  <a:gd name="T4" fmla="*/ 3079519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2"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4" name="Freeform 181">
                <a:extLst>
                  <a:ext uri="{FF2B5EF4-FFF2-40B4-BE49-F238E27FC236}">
                    <a16:creationId xmlns:a16="http://schemas.microsoft.com/office/drawing/2014/main" id="{78693D03-3054-3D4E-9627-E0A7EA652F9E}"/>
                  </a:ext>
                </a:extLst>
              </p:cNvPr>
              <p:cNvSpPr>
                <a:spLocks/>
              </p:cNvSpPr>
              <p:nvPr/>
            </p:nvSpPr>
            <p:spPr bwMode="auto">
              <a:xfrm>
                <a:off x="3467290" y="4553045"/>
                <a:ext cx="2933511" cy="2541872"/>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5" name="TextBox 24">
                <a:extLst>
                  <a:ext uri="{FF2B5EF4-FFF2-40B4-BE49-F238E27FC236}">
                    <a16:creationId xmlns:a16="http://schemas.microsoft.com/office/drawing/2014/main" id="{A4E847B4-3DF6-0346-9E09-2E13EF18D004}"/>
                  </a:ext>
                </a:extLst>
              </p:cNvPr>
              <p:cNvSpPr txBox="1"/>
              <p:nvPr/>
            </p:nvSpPr>
            <p:spPr>
              <a:xfrm>
                <a:off x="4236225" y="2994644"/>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6</a:t>
                </a:r>
              </a:p>
            </p:txBody>
          </p:sp>
          <p:sp>
            <p:nvSpPr>
              <p:cNvPr id="26" name="TextBox 25">
                <a:extLst>
                  <a:ext uri="{FF2B5EF4-FFF2-40B4-BE49-F238E27FC236}">
                    <a16:creationId xmlns:a16="http://schemas.microsoft.com/office/drawing/2014/main" id="{56403C62-669F-FE41-9934-55C0554EAD79}"/>
                  </a:ext>
                </a:extLst>
              </p:cNvPr>
              <p:cNvSpPr txBox="1"/>
              <p:nvPr/>
            </p:nvSpPr>
            <p:spPr>
              <a:xfrm>
                <a:off x="5765762" y="2108319"/>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1</a:t>
                </a:r>
              </a:p>
            </p:txBody>
          </p:sp>
          <p:sp>
            <p:nvSpPr>
              <p:cNvPr id="28" name="TextBox 27">
                <a:extLst>
                  <a:ext uri="{FF2B5EF4-FFF2-40B4-BE49-F238E27FC236}">
                    <a16:creationId xmlns:a16="http://schemas.microsoft.com/office/drawing/2014/main" id="{DA2C1947-9098-DD4B-9FC7-5226288B9885}"/>
                  </a:ext>
                </a:extLst>
              </p:cNvPr>
              <p:cNvSpPr txBox="1"/>
              <p:nvPr/>
            </p:nvSpPr>
            <p:spPr>
              <a:xfrm>
                <a:off x="7228912" y="2999201"/>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2</a:t>
                </a:r>
              </a:p>
            </p:txBody>
          </p:sp>
          <p:sp>
            <p:nvSpPr>
              <p:cNvPr id="30" name="TextBox 29">
                <a:extLst>
                  <a:ext uri="{FF2B5EF4-FFF2-40B4-BE49-F238E27FC236}">
                    <a16:creationId xmlns:a16="http://schemas.microsoft.com/office/drawing/2014/main" id="{A3167FD0-F83D-DD4A-A72D-90405E017D57}"/>
                  </a:ext>
                </a:extLst>
              </p:cNvPr>
              <p:cNvSpPr txBox="1"/>
              <p:nvPr/>
            </p:nvSpPr>
            <p:spPr>
              <a:xfrm>
                <a:off x="7247451" y="475574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3</a:t>
                </a:r>
              </a:p>
            </p:txBody>
          </p:sp>
          <p:sp>
            <p:nvSpPr>
              <p:cNvPr id="31" name="TextBox 30">
                <a:extLst>
                  <a:ext uri="{FF2B5EF4-FFF2-40B4-BE49-F238E27FC236}">
                    <a16:creationId xmlns:a16="http://schemas.microsoft.com/office/drawing/2014/main" id="{CB32858F-D284-8944-839E-5211D8180EC0}"/>
                  </a:ext>
                </a:extLst>
              </p:cNvPr>
              <p:cNvSpPr txBox="1"/>
              <p:nvPr/>
            </p:nvSpPr>
            <p:spPr>
              <a:xfrm>
                <a:off x="5737804" y="5556748"/>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4</a:t>
                </a:r>
              </a:p>
            </p:txBody>
          </p:sp>
          <p:sp>
            <p:nvSpPr>
              <p:cNvPr id="32" name="TextBox 31">
                <a:extLst>
                  <a:ext uri="{FF2B5EF4-FFF2-40B4-BE49-F238E27FC236}">
                    <a16:creationId xmlns:a16="http://schemas.microsoft.com/office/drawing/2014/main" id="{BC7732BD-8AE6-2D4C-8A49-D027171EBC73}"/>
                  </a:ext>
                </a:extLst>
              </p:cNvPr>
              <p:cNvSpPr txBox="1"/>
              <p:nvPr/>
            </p:nvSpPr>
            <p:spPr>
              <a:xfrm>
                <a:off x="4199291" y="472471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5</a:t>
                </a:r>
              </a:p>
            </p:txBody>
          </p:sp>
        </p:grpSp>
        <p:sp>
          <p:nvSpPr>
            <p:cNvPr id="35" name="TextBox 34">
              <a:extLst>
                <a:ext uri="{FF2B5EF4-FFF2-40B4-BE49-F238E27FC236}">
                  <a16:creationId xmlns:a16="http://schemas.microsoft.com/office/drawing/2014/main" id="{A3FF2667-46B6-7849-BE43-553064687CB0}"/>
                </a:ext>
              </a:extLst>
            </p:cNvPr>
            <p:cNvSpPr txBox="1"/>
            <p:nvPr/>
          </p:nvSpPr>
          <p:spPr>
            <a:xfrm>
              <a:off x="5048505" y="224589"/>
              <a:ext cx="2778629"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Value Barriers </a:t>
              </a:r>
            </a:p>
          </p:txBody>
        </p:sp>
        <p:sp>
          <p:nvSpPr>
            <p:cNvPr id="36" name="TextBox 35">
              <a:extLst>
                <a:ext uri="{FF2B5EF4-FFF2-40B4-BE49-F238E27FC236}">
                  <a16:creationId xmlns:a16="http://schemas.microsoft.com/office/drawing/2014/main" id="{76B013F0-AD86-4544-B3B2-B9249653EBF8}"/>
                </a:ext>
              </a:extLst>
            </p:cNvPr>
            <p:cNvSpPr txBox="1"/>
            <p:nvPr/>
          </p:nvSpPr>
          <p:spPr>
            <a:xfrm>
              <a:off x="5204003" y="5943681"/>
              <a:ext cx="2623132"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Proactivity</a:t>
              </a:r>
            </a:p>
          </p:txBody>
        </p:sp>
        <p:sp>
          <p:nvSpPr>
            <p:cNvPr id="37" name="TextBox 36">
              <a:extLst>
                <a:ext uri="{FF2B5EF4-FFF2-40B4-BE49-F238E27FC236}">
                  <a16:creationId xmlns:a16="http://schemas.microsoft.com/office/drawing/2014/main" id="{14359635-1856-764D-AC49-97EC9113F864}"/>
                </a:ext>
              </a:extLst>
            </p:cNvPr>
            <p:cNvSpPr txBox="1"/>
            <p:nvPr/>
          </p:nvSpPr>
          <p:spPr>
            <a:xfrm>
              <a:off x="1954883" y="1624544"/>
              <a:ext cx="280492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Cultural Challenges</a:t>
              </a:r>
            </a:p>
          </p:txBody>
        </p:sp>
        <p:sp>
          <p:nvSpPr>
            <p:cNvPr id="39" name="TextBox 38">
              <a:extLst>
                <a:ext uri="{FF2B5EF4-FFF2-40B4-BE49-F238E27FC236}">
                  <a16:creationId xmlns:a16="http://schemas.microsoft.com/office/drawing/2014/main" id="{5EE6B582-A5AD-7742-A3DB-35B94D69E389}"/>
                </a:ext>
              </a:extLst>
            </p:cNvPr>
            <p:cNvSpPr txBox="1"/>
            <p:nvPr/>
          </p:nvSpPr>
          <p:spPr>
            <a:xfrm>
              <a:off x="2108449" y="4579118"/>
              <a:ext cx="2714734"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Prevention</a:t>
              </a:r>
            </a:p>
          </p:txBody>
        </p:sp>
        <p:sp>
          <p:nvSpPr>
            <p:cNvPr id="40" name="TextBox 39">
              <a:extLst>
                <a:ext uri="{FF2B5EF4-FFF2-40B4-BE49-F238E27FC236}">
                  <a16:creationId xmlns:a16="http://schemas.microsoft.com/office/drawing/2014/main" id="{7842DDC4-618C-EB49-8D92-CC6E8D06A27F}"/>
                </a:ext>
              </a:extLst>
            </p:cNvPr>
            <p:cNvSpPr txBox="1"/>
            <p:nvPr/>
          </p:nvSpPr>
          <p:spPr>
            <a:xfrm>
              <a:off x="8202257" y="4539642"/>
              <a:ext cx="273486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Need/Care Match</a:t>
              </a:r>
            </a:p>
          </p:txBody>
        </p:sp>
      </p:grpSp>
      <p:sp>
        <p:nvSpPr>
          <p:cNvPr id="42" name="Rectangle 41">
            <a:extLst>
              <a:ext uri="{FF2B5EF4-FFF2-40B4-BE49-F238E27FC236}">
                <a16:creationId xmlns:a16="http://schemas.microsoft.com/office/drawing/2014/main" id="{CED96D22-0F74-AF48-B854-0CE3DF5BC976}"/>
              </a:ext>
            </a:extLst>
          </p:cNvPr>
          <p:cNvSpPr/>
          <p:nvPr/>
        </p:nvSpPr>
        <p:spPr>
          <a:xfrm>
            <a:off x="9548037" y="2944368"/>
            <a:ext cx="3253563" cy="4828032"/>
          </a:xfrm>
          <a:prstGeom prst="rect">
            <a:avLst/>
          </a:prstGeom>
          <a:solidFill>
            <a:srgbClr val="0039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13CF5FB-EA21-2E43-8223-310323F91EEC}"/>
              </a:ext>
            </a:extLst>
          </p:cNvPr>
          <p:cNvSpPr/>
          <p:nvPr/>
        </p:nvSpPr>
        <p:spPr>
          <a:xfrm>
            <a:off x="228600" y="534035"/>
            <a:ext cx="6764994" cy="338554"/>
          </a:xfrm>
          <a:prstGeom prst="rect">
            <a:avLst/>
          </a:prstGeom>
        </p:spPr>
        <p:txBody>
          <a:bodyPr wrap="square" anchor="t">
            <a:spAutoFit/>
          </a:bodyPr>
          <a:lstStyle/>
          <a:p>
            <a:r>
              <a:rPr lang="en-US" sz="1600" b="1">
                <a:solidFill>
                  <a:srgbClr val="00A2E2"/>
                </a:solidFill>
              </a:rPr>
              <a:t>Identifying Opportunities</a:t>
            </a:r>
            <a:endParaRPr lang="en-US" sz="1600" b="1" dirty="0">
              <a:solidFill>
                <a:srgbClr val="00A2E2"/>
              </a:solidFill>
            </a:endParaRPr>
          </a:p>
        </p:txBody>
      </p:sp>
      <p:sp>
        <p:nvSpPr>
          <p:cNvPr id="44" name="Rectangle 43">
            <a:extLst>
              <a:ext uri="{FF2B5EF4-FFF2-40B4-BE49-F238E27FC236}">
                <a16:creationId xmlns:a16="http://schemas.microsoft.com/office/drawing/2014/main" id="{BEF1FE83-BF87-1E40-BFFF-5C9604484C0C}"/>
              </a:ext>
            </a:extLst>
          </p:cNvPr>
          <p:cNvSpPr/>
          <p:nvPr/>
        </p:nvSpPr>
        <p:spPr>
          <a:xfrm>
            <a:off x="9548037" y="3094081"/>
            <a:ext cx="3253563" cy="584775"/>
          </a:xfrm>
          <a:prstGeom prst="rect">
            <a:avLst/>
          </a:prstGeom>
        </p:spPr>
        <p:txBody>
          <a:bodyPr wrap="square" anchor="t">
            <a:spAutoFit/>
          </a:bodyPr>
          <a:lstStyle/>
          <a:p>
            <a:pPr algn="ctr"/>
            <a:r>
              <a:rPr lang="en-US" sz="1600" b="1" dirty="0">
                <a:solidFill>
                  <a:schemeClr val="bg1"/>
                </a:solidFill>
              </a:rPr>
              <a:t>Competitive / Startup </a:t>
            </a:r>
            <a:br>
              <a:rPr lang="en-US" sz="1600" b="1" dirty="0">
                <a:solidFill>
                  <a:schemeClr val="bg1"/>
                </a:solidFill>
              </a:rPr>
            </a:br>
            <a:r>
              <a:rPr lang="en-US" sz="1600" b="1" dirty="0">
                <a:solidFill>
                  <a:schemeClr val="bg1"/>
                </a:solidFill>
              </a:rPr>
              <a:t>Landscape</a:t>
            </a:r>
          </a:p>
        </p:txBody>
      </p:sp>
      <p:sp>
        <p:nvSpPr>
          <p:cNvPr id="38" name="Rectangle 37">
            <a:extLst>
              <a:ext uri="{FF2B5EF4-FFF2-40B4-BE49-F238E27FC236}">
                <a16:creationId xmlns:a16="http://schemas.microsoft.com/office/drawing/2014/main" id="{AAB95A38-1BBA-E14E-B7BC-BD8984EB3ACC}"/>
              </a:ext>
            </a:extLst>
          </p:cNvPr>
          <p:cNvSpPr/>
          <p:nvPr/>
        </p:nvSpPr>
        <p:spPr>
          <a:xfrm>
            <a:off x="13171481" y="3828569"/>
            <a:ext cx="2716185" cy="3557897"/>
          </a:xfrm>
          <a:prstGeom prst="rect">
            <a:avLst/>
          </a:prstGeom>
          <a:ln>
            <a:noFill/>
          </a:ln>
        </p:spPr>
        <p:txBody>
          <a:bodyPr wrap="square">
            <a:spAutoFit/>
          </a:bodyPr>
          <a:lstStyle/>
          <a:p>
            <a:pPr defTabSz="914378">
              <a:lnSpc>
                <a:spcPct val="95000"/>
              </a:lnSpc>
              <a:spcBef>
                <a:spcPts val="200"/>
              </a:spcBef>
              <a:spcAft>
                <a:spcPts val="200"/>
              </a:spcAft>
            </a:pPr>
            <a:r>
              <a:rPr lang="en-US" sz="1200" b="1" kern="0" dirty="0">
                <a:solidFill>
                  <a:srgbClr val="B1E2FF"/>
                </a:solidFill>
                <a:latin typeface="Arial Narrow" pitchFamily="34" charset="0"/>
              </a:rPr>
              <a:t>Cigna</a:t>
            </a:r>
            <a:r>
              <a:rPr lang="en-US" sz="1200" b="1" kern="0" dirty="0">
                <a:solidFill>
                  <a:srgbClr val="0070C0"/>
                </a:solidFill>
                <a:latin typeface="Arial Narrow" pitchFamily="34" charset="0"/>
              </a:rPr>
              <a:t> </a:t>
            </a:r>
          </a:p>
          <a:p>
            <a:pPr defTabSz="914378">
              <a:lnSpc>
                <a:spcPct val="95000"/>
              </a:lnSpc>
              <a:spcBef>
                <a:spcPts val="200"/>
              </a:spcBef>
              <a:spcAft>
                <a:spcPts val="200"/>
              </a:spcAft>
            </a:pPr>
            <a:r>
              <a:rPr lang="en-US" sz="1200" b="1" kern="0" dirty="0">
                <a:solidFill>
                  <a:schemeClr val="bg1"/>
                </a:solidFill>
                <a:latin typeface="Arial Narrow" pitchFamily="34" charset="0"/>
              </a:rPr>
              <a:t>Collaborative Care (CCC) Program: </a:t>
            </a:r>
            <a:r>
              <a:rPr lang="en-US" sz="1200" kern="0" dirty="0">
                <a:solidFill>
                  <a:schemeClr val="bg1"/>
                </a:solidFill>
                <a:latin typeface="Arial Narrow" pitchFamily="34" charset="0"/>
              </a:rPr>
              <a:t>Enrolled physicians are in value-based arrangements with behavioral health quality measures such as depression screening in value-based cardiology; and maternal mental health screening in value-based OB/GYN.</a:t>
            </a:r>
          </a:p>
          <a:p>
            <a:pPr defTabSz="914378">
              <a:lnSpc>
                <a:spcPct val="95000"/>
              </a:lnSpc>
              <a:spcBef>
                <a:spcPts val="200"/>
              </a:spcBef>
              <a:spcAft>
                <a:spcPts val="200"/>
              </a:spcAft>
            </a:pPr>
            <a:endParaRPr lang="en-US" sz="1200" kern="0" dirty="0">
              <a:solidFill>
                <a:schemeClr val="bg1"/>
              </a:solidFill>
              <a:latin typeface="Arial Narrow" pitchFamily="34" charset="0"/>
            </a:endParaRPr>
          </a:p>
          <a:p>
            <a:pPr defTabSz="914378">
              <a:lnSpc>
                <a:spcPct val="95000"/>
              </a:lnSpc>
              <a:spcBef>
                <a:spcPts val="200"/>
              </a:spcBef>
              <a:spcAft>
                <a:spcPts val="200"/>
              </a:spcAft>
            </a:pPr>
            <a:r>
              <a:rPr lang="en-US" sz="1200" b="1" kern="0" dirty="0">
                <a:solidFill>
                  <a:srgbClr val="B1E2FF"/>
                </a:solidFill>
                <a:latin typeface="Arial Narrow" pitchFamily="34" charset="0"/>
              </a:rPr>
              <a:t>Aetna</a:t>
            </a:r>
          </a:p>
          <a:p>
            <a:pPr defTabSz="914378">
              <a:lnSpc>
                <a:spcPct val="95000"/>
              </a:lnSpc>
              <a:spcBef>
                <a:spcPts val="200"/>
              </a:spcBef>
              <a:spcAft>
                <a:spcPts val="200"/>
              </a:spcAft>
            </a:pPr>
            <a:r>
              <a:rPr lang="en-US" sz="1200" b="1" kern="0" dirty="0">
                <a:solidFill>
                  <a:schemeClr val="bg1"/>
                </a:solidFill>
                <a:latin typeface="Arial Narrow" pitchFamily="34" charset="0"/>
              </a:rPr>
              <a:t>Medicaid outcomes-based model for members with intellectual and development disabilities (IDD): </a:t>
            </a:r>
            <a:r>
              <a:rPr lang="en-US" sz="1200" kern="0" dirty="0">
                <a:solidFill>
                  <a:schemeClr val="bg1"/>
                </a:solidFill>
                <a:latin typeface="Arial Narrow" pitchFamily="34" charset="0"/>
              </a:rPr>
              <a:t>Connects members with an Aetna IDD coordinator who facilities community resources, innovative practices, and technology tools to promote meaningful quality of life. </a:t>
            </a:r>
          </a:p>
          <a:p>
            <a:pPr defTabSz="914378">
              <a:lnSpc>
                <a:spcPct val="95000"/>
              </a:lnSpc>
              <a:spcBef>
                <a:spcPts val="200"/>
              </a:spcBef>
              <a:spcAft>
                <a:spcPts val="200"/>
              </a:spcAft>
            </a:pPr>
            <a:endParaRPr lang="en-US" sz="1200" kern="0" dirty="0">
              <a:solidFill>
                <a:schemeClr val="bg1"/>
              </a:solidFill>
              <a:latin typeface="Arial Narrow" pitchFamily="34" charset="0"/>
            </a:endParaRPr>
          </a:p>
          <a:p>
            <a:pPr defTabSz="914378">
              <a:lnSpc>
                <a:spcPct val="95000"/>
              </a:lnSpc>
              <a:spcBef>
                <a:spcPts val="200"/>
              </a:spcBef>
              <a:spcAft>
                <a:spcPts val="200"/>
              </a:spcAft>
            </a:pPr>
            <a:endParaRPr lang="en-US" sz="1200" kern="0" dirty="0">
              <a:solidFill>
                <a:schemeClr val="bg1"/>
              </a:solidFill>
              <a:latin typeface="Arial Narrow" pitchFamily="34" charset="0"/>
            </a:endParaRPr>
          </a:p>
        </p:txBody>
      </p:sp>
      <p:sp>
        <p:nvSpPr>
          <p:cNvPr id="41" name="Rectangle 40">
            <a:extLst>
              <a:ext uri="{FF2B5EF4-FFF2-40B4-BE49-F238E27FC236}">
                <a16:creationId xmlns:a16="http://schemas.microsoft.com/office/drawing/2014/main" id="{E11BF3BD-C614-444D-B302-F8AFD54BAEB6}"/>
              </a:ext>
            </a:extLst>
          </p:cNvPr>
          <p:cNvSpPr/>
          <p:nvPr/>
        </p:nvSpPr>
        <p:spPr>
          <a:xfrm>
            <a:off x="5107448" y="2081988"/>
            <a:ext cx="4352383" cy="4939814"/>
          </a:xfrm>
          <a:prstGeom prst="rect">
            <a:avLst/>
          </a:prstGeom>
        </p:spPr>
        <p:txBody>
          <a:bodyPr wrap="square">
            <a:spAutoFit/>
          </a:bodyPr>
          <a:lstStyle/>
          <a:p>
            <a:pPr>
              <a:spcAft>
                <a:spcPts val="600"/>
              </a:spcAft>
            </a:pPr>
            <a:r>
              <a:rPr lang="en-US" sz="1800" b="1" dirty="0">
                <a:solidFill>
                  <a:srgbClr val="003963"/>
                </a:solidFill>
              </a:rPr>
              <a:t>Next Steps</a:t>
            </a:r>
          </a:p>
          <a:p>
            <a:pPr marL="285750" indent="-285750">
              <a:spcAft>
                <a:spcPts val="600"/>
              </a:spcAft>
              <a:buFont typeface="Arial" panose="020B0604020202020204" pitchFamily="34" charset="0"/>
              <a:buChar char="•"/>
            </a:pPr>
            <a:r>
              <a:rPr lang="en-US" sz="1600" dirty="0">
                <a:solidFill>
                  <a:srgbClr val="003963"/>
                </a:solidFill>
              </a:rPr>
              <a:t>Perform research with community service providers, at-risk populations, and support networks to understand current challenges to inform potential solutions &amp; campaigns</a:t>
            </a:r>
          </a:p>
          <a:p>
            <a:pPr marL="285750" indent="-285750">
              <a:spcAft>
                <a:spcPts val="600"/>
              </a:spcAft>
              <a:buFont typeface="Arial" panose="020B0604020202020204" pitchFamily="34" charset="0"/>
              <a:buChar char="•"/>
            </a:pPr>
            <a:r>
              <a:rPr lang="en-US" sz="1600" dirty="0">
                <a:solidFill>
                  <a:srgbClr val="003963"/>
                </a:solidFill>
              </a:rPr>
              <a:t>Analyze at-risk communities through on-site study, data, and internal/external SME interviews</a:t>
            </a:r>
          </a:p>
          <a:p>
            <a:pPr marL="285750" indent="-285750">
              <a:spcAft>
                <a:spcPts val="600"/>
              </a:spcAft>
              <a:buFont typeface="Arial" panose="020B0604020202020204" pitchFamily="34" charset="0"/>
              <a:buChar char="•"/>
            </a:pPr>
            <a:r>
              <a:rPr lang="en-US" sz="1600" dirty="0">
                <a:solidFill>
                  <a:srgbClr val="003963"/>
                </a:solidFill>
              </a:rPr>
              <a:t>Leverage insights from in-market solutions (e.g., CHILL) to inform approach and consider expansion opportunities</a:t>
            </a:r>
          </a:p>
          <a:p>
            <a:pPr marL="285750" indent="-285750">
              <a:spcAft>
                <a:spcPts val="600"/>
              </a:spcAft>
              <a:buFont typeface="Arial" panose="020B0604020202020204" pitchFamily="34" charset="0"/>
              <a:buChar char="•"/>
            </a:pPr>
            <a:r>
              <a:rPr lang="en-US" sz="1600" dirty="0">
                <a:solidFill>
                  <a:srgbClr val="003963"/>
                </a:solidFill>
              </a:rPr>
              <a:t>Map the landscape of community needs, and identify gaps &amp; potential partnerships/concepts</a:t>
            </a:r>
          </a:p>
          <a:p>
            <a:pPr marL="285750" indent="-285750">
              <a:spcAft>
                <a:spcPts val="600"/>
              </a:spcAft>
              <a:buFont typeface="Arial" panose="020B0604020202020204" pitchFamily="34" charset="0"/>
              <a:buChar char="•"/>
            </a:pPr>
            <a:r>
              <a:rPr lang="en-US" sz="1600" dirty="0">
                <a:solidFill>
                  <a:srgbClr val="003963"/>
                </a:solidFill>
              </a:rPr>
              <a:t>Fully scope opportunity and provide business case with estimates for overall cost and timing, and planned design and development details</a:t>
            </a:r>
          </a:p>
        </p:txBody>
      </p:sp>
      <p:sp>
        <p:nvSpPr>
          <p:cNvPr id="45" name="Rectangle 44">
            <a:extLst>
              <a:ext uri="{FF2B5EF4-FFF2-40B4-BE49-F238E27FC236}">
                <a16:creationId xmlns:a16="http://schemas.microsoft.com/office/drawing/2014/main" id="{3DF5AF01-2516-C644-A77F-55D0C8703EF3}"/>
              </a:ext>
            </a:extLst>
          </p:cNvPr>
          <p:cNvSpPr/>
          <p:nvPr/>
        </p:nvSpPr>
        <p:spPr>
          <a:xfrm>
            <a:off x="228600" y="2072126"/>
            <a:ext cx="5006340" cy="5224507"/>
          </a:xfrm>
          <a:prstGeom prst="rect">
            <a:avLst/>
          </a:prstGeom>
        </p:spPr>
        <p:txBody>
          <a:bodyPr wrap="square">
            <a:spAutoFit/>
          </a:bodyPr>
          <a:lstStyle/>
          <a:p>
            <a:pPr>
              <a:spcAft>
                <a:spcPts val="600"/>
              </a:spcAft>
            </a:pPr>
            <a:r>
              <a:rPr lang="en-US" sz="1800" b="1" dirty="0">
                <a:solidFill>
                  <a:srgbClr val="003963"/>
                </a:solidFill>
              </a:rPr>
              <a:t>Summary of Opportunity </a:t>
            </a:r>
          </a:p>
          <a:p>
            <a:pPr>
              <a:spcBef>
                <a:spcPts val="300"/>
              </a:spcBef>
              <a:spcAft>
                <a:spcPts val="300"/>
              </a:spcAft>
            </a:pPr>
            <a:r>
              <a:rPr lang="en-US" sz="1600" dirty="0">
                <a:solidFill>
                  <a:srgbClr val="003963"/>
                </a:solidFill>
              </a:rPr>
              <a:t>Leverage the momentum for community-based solutions and maximize their ability to help individuals through times of episodic and chronic need.</a:t>
            </a:r>
          </a:p>
          <a:p>
            <a:pPr marL="285750" indent="-285750">
              <a:spcBef>
                <a:spcPts val="300"/>
              </a:spcBef>
              <a:spcAft>
                <a:spcPts val="300"/>
              </a:spcAft>
              <a:buFont typeface="Arial" panose="020B0604020202020204" pitchFamily="34" charset="0"/>
              <a:buChar char="•"/>
            </a:pPr>
            <a:r>
              <a:rPr lang="en-US" sz="1600" dirty="0">
                <a:solidFill>
                  <a:srgbClr val="003963"/>
                </a:solidFill>
              </a:rPr>
              <a:t>Help families and friends of those at risk to be the first line of defense: identify emerging BH needs, understand how best to intervene and provide ongoing support.</a:t>
            </a:r>
          </a:p>
          <a:p>
            <a:pPr marL="285750" indent="-285750">
              <a:spcBef>
                <a:spcPts val="300"/>
              </a:spcBef>
              <a:spcAft>
                <a:spcPts val="300"/>
              </a:spcAft>
              <a:buFont typeface="Arial" panose="020B0604020202020204" pitchFamily="34" charset="0"/>
              <a:buChar char="•"/>
            </a:pPr>
            <a:r>
              <a:rPr lang="en-US" sz="1600" dirty="0">
                <a:solidFill>
                  <a:srgbClr val="003963"/>
                </a:solidFill>
              </a:rPr>
              <a:t>Partner with schools, community groups and </a:t>
            </a:r>
            <a:br>
              <a:rPr lang="en-US" sz="1600" dirty="0">
                <a:solidFill>
                  <a:srgbClr val="003963"/>
                </a:solidFill>
              </a:rPr>
            </a:br>
            <a:r>
              <a:rPr lang="en-US" sz="1600" dirty="0">
                <a:solidFill>
                  <a:srgbClr val="003963"/>
                </a:solidFill>
              </a:rPr>
              <a:t>non-profits to help identify and provide programming for people with BH conditions.</a:t>
            </a:r>
          </a:p>
          <a:p>
            <a:pPr marL="285750" indent="-285750">
              <a:spcBef>
                <a:spcPts val="300"/>
              </a:spcBef>
              <a:spcAft>
                <a:spcPts val="300"/>
              </a:spcAft>
              <a:buFont typeface="Arial" panose="020B0604020202020204" pitchFamily="34" charset="0"/>
              <a:buChar char="•"/>
            </a:pPr>
            <a:r>
              <a:rPr lang="en-US" sz="1600" dirty="0">
                <a:solidFill>
                  <a:srgbClr val="003963"/>
                </a:solidFill>
              </a:rPr>
              <a:t>Community partnerships can also help to change stigmatized mindsets, normalize BH care, and encourage mental health hygiene.</a:t>
            </a:r>
          </a:p>
          <a:p>
            <a:pPr marL="285750" indent="-285750">
              <a:spcBef>
                <a:spcPts val="300"/>
              </a:spcBef>
              <a:spcAft>
                <a:spcPts val="300"/>
              </a:spcAft>
              <a:buFont typeface="Arial" panose="020B0604020202020204" pitchFamily="34" charset="0"/>
              <a:buChar char="•"/>
            </a:pPr>
            <a:r>
              <a:rPr lang="en-US" sz="1600" dirty="0">
                <a:solidFill>
                  <a:srgbClr val="003963"/>
                </a:solidFill>
              </a:rPr>
              <a:t>Focus on cultivating a system of employers, families, community organizations and other social networks to serve in coordinated support of BH care—with a concentration on communities most at-risk. </a:t>
            </a:r>
          </a:p>
        </p:txBody>
      </p:sp>
      <p:sp>
        <p:nvSpPr>
          <p:cNvPr id="46" name="Rectangle 45">
            <a:extLst>
              <a:ext uri="{FF2B5EF4-FFF2-40B4-BE49-F238E27FC236}">
                <a16:creationId xmlns:a16="http://schemas.microsoft.com/office/drawing/2014/main" id="{3E6984A4-862A-1040-BCAD-1784109DCF84}"/>
              </a:ext>
            </a:extLst>
          </p:cNvPr>
          <p:cNvSpPr/>
          <p:nvPr/>
        </p:nvSpPr>
        <p:spPr>
          <a:xfrm>
            <a:off x="208757" y="1302134"/>
            <a:ext cx="8808666" cy="584775"/>
          </a:xfrm>
          <a:prstGeom prst="rect">
            <a:avLst/>
          </a:prstGeom>
        </p:spPr>
        <p:txBody>
          <a:bodyPr wrap="square">
            <a:spAutoFit/>
          </a:bodyPr>
          <a:lstStyle/>
          <a:p>
            <a:pPr>
              <a:spcBef>
                <a:spcPts val="300"/>
              </a:spcBef>
              <a:spcAft>
                <a:spcPts val="300"/>
              </a:spcAft>
            </a:pPr>
            <a:r>
              <a:rPr lang="en-US" sz="1600" dirty="0">
                <a:solidFill>
                  <a:srgbClr val="003963"/>
                </a:solidFill>
              </a:rPr>
              <a:t>By leveraging community resources as an extension of care delivery, we can expand our capacity to deliver care and solutions at a lower cost.</a:t>
            </a:r>
          </a:p>
        </p:txBody>
      </p:sp>
    </p:spTree>
    <p:extLst>
      <p:ext uri="{BB962C8B-B14F-4D97-AF65-F5344CB8AC3E}">
        <p14:creationId xmlns:p14="http://schemas.microsoft.com/office/powerpoint/2010/main" val="27942395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F75D8D4-2E5B-8141-92F5-2E65763F210A}"/>
              </a:ext>
            </a:extLst>
          </p:cNvPr>
          <p:cNvSpPr/>
          <p:nvPr/>
        </p:nvSpPr>
        <p:spPr>
          <a:xfrm>
            <a:off x="9548037" y="0"/>
            <a:ext cx="3253563" cy="288950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179">
            <a:extLst>
              <a:ext uri="{FF2B5EF4-FFF2-40B4-BE49-F238E27FC236}">
                <a16:creationId xmlns:a16="http://schemas.microsoft.com/office/drawing/2014/main" id="{DDD18BAC-9072-C743-89B2-E015D24A9D43}"/>
              </a:ext>
            </a:extLst>
          </p:cNvPr>
          <p:cNvSpPr>
            <a:spLocks/>
          </p:cNvSpPr>
          <p:nvPr/>
        </p:nvSpPr>
        <p:spPr bwMode="auto">
          <a:xfrm>
            <a:off x="11169850" y="1698729"/>
            <a:ext cx="596725" cy="517059"/>
          </a:xfrm>
          <a:custGeom>
            <a:avLst/>
            <a:gdLst>
              <a:gd name="T0" fmla="*/ 0 w 4485"/>
              <a:gd name="T1" fmla="*/ 0 h 3885"/>
              <a:gd name="T2" fmla="*/ 1539760 w 4485"/>
              <a:gd name="T3" fmla="*/ 2667613 h 3885"/>
              <a:gd name="T4" fmla="*/ 3079519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2"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48" name="Freeform 177">
            <a:extLst>
              <a:ext uri="{FF2B5EF4-FFF2-40B4-BE49-F238E27FC236}">
                <a16:creationId xmlns:a16="http://schemas.microsoft.com/office/drawing/2014/main" id="{B7C104D8-0581-5846-A3D3-88AC3C629AE3}"/>
              </a:ext>
            </a:extLst>
          </p:cNvPr>
          <p:cNvSpPr>
            <a:spLocks/>
          </p:cNvSpPr>
          <p:nvPr/>
        </p:nvSpPr>
        <p:spPr bwMode="auto">
          <a:xfrm>
            <a:off x="11169850" y="1181671"/>
            <a:ext cx="596725" cy="517058"/>
          </a:xfrm>
          <a:custGeom>
            <a:avLst/>
            <a:gdLst>
              <a:gd name="T0" fmla="*/ 1539760 w 4485"/>
              <a:gd name="T1" fmla="*/ 0 h 3884"/>
              <a:gd name="T2" fmla="*/ 0 w 4485"/>
              <a:gd name="T3" fmla="*/ 2667611 h 3884"/>
              <a:gd name="T4" fmla="*/ 3079519 w 4485"/>
              <a:gd name="T5" fmla="*/ 2667611 h 3884"/>
              <a:gd name="T6" fmla="*/ 1539760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2" y="0"/>
                </a:moveTo>
                <a:lnTo>
                  <a:pt x="0" y="3883"/>
                </a:lnTo>
                <a:lnTo>
                  <a:pt x="4484" y="3883"/>
                </a:lnTo>
                <a:lnTo>
                  <a:pt x="2242" y="0"/>
                </a:lnTo>
              </a:path>
            </a:pathLst>
          </a:custGeom>
          <a:solidFill>
            <a:schemeClr val="accent1"/>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34" name="Freeform 181">
            <a:extLst>
              <a:ext uri="{FF2B5EF4-FFF2-40B4-BE49-F238E27FC236}">
                <a16:creationId xmlns:a16="http://schemas.microsoft.com/office/drawing/2014/main" id="{F3D8705E-2709-F14F-A02A-24F6C5BC7FB2}"/>
              </a:ext>
            </a:extLst>
          </p:cNvPr>
          <p:cNvSpPr>
            <a:spLocks/>
          </p:cNvSpPr>
          <p:nvPr/>
        </p:nvSpPr>
        <p:spPr bwMode="auto">
          <a:xfrm>
            <a:off x="10869862" y="1169711"/>
            <a:ext cx="596725" cy="517059"/>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33" name="Freeform 181">
            <a:extLst>
              <a:ext uri="{FF2B5EF4-FFF2-40B4-BE49-F238E27FC236}">
                <a16:creationId xmlns:a16="http://schemas.microsoft.com/office/drawing/2014/main" id="{78693D03-3054-3D4E-9627-E0A7EA652F9E}"/>
              </a:ext>
            </a:extLst>
          </p:cNvPr>
          <p:cNvSpPr>
            <a:spLocks/>
          </p:cNvSpPr>
          <p:nvPr/>
        </p:nvSpPr>
        <p:spPr bwMode="auto">
          <a:xfrm rot="3607213">
            <a:off x="10492445" y="1311232"/>
            <a:ext cx="596725" cy="517059"/>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chemeClr val="accent2">
              <a:lumMod val="75000"/>
            </a:schemeClr>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47" name="Rectangle 46">
            <a:extLst>
              <a:ext uri="{FF2B5EF4-FFF2-40B4-BE49-F238E27FC236}">
                <a16:creationId xmlns:a16="http://schemas.microsoft.com/office/drawing/2014/main" id="{1AEC8755-968C-E94A-B115-1636F814A717}"/>
              </a:ext>
            </a:extLst>
          </p:cNvPr>
          <p:cNvSpPr/>
          <p:nvPr/>
        </p:nvSpPr>
        <p:spPr>
          <a:xfrm>
            <a:off x="168964" y="-2218162"/>
            <a:ext cx="7549587" cy="1015663"/>
          </a:xfrm>
          <a:prstGeom prst="rect">
            <a:avLst/>
          </a:prstGeom>
        </p:spPr>
        <p:txBody>
          <a:bodyPr wrap="square" anchor="t">
            <a:spAutoFit/>
          </a:bodyPr>
          <a:lstStyle/>
          <a:p>
            <a:r>
              <a:rPr lang="en-US" sz="2400" b="1" dirty="0">
                <a:solidFill>
                  <a:srgbClr val="003963"/>
                </a:solidFill>
              </a:rPr>
              <a:t>The urgency is now: </a:t>
            </a:r>
          </a:p>
          <a:p>
            <a:r>
              <a:rPr lang="en-US" sz="1800" dirty="0">
                <a:solidFill>
                  <a:srgbClr val="00A2E2"/>
                </a:solidFill>
              </a:rPr>
              <a:t>How do we ensure we are addressing the critical issues and opportunities that are emerging in the Behavioral Health Epidemic </a:t>
            </a:r>
          </a:p>
        </p:txBody>
      </p:sp>
      <p:sp>
        <p:nvSpPr>
          <p:cNvPr id="4" name="Rectangle 3">
            <a:extLst>
              <a:ext uri="{FF2B5EF4-FFF2-40B4-BE49-F238E27FC236}">
                <a16:creationId xmlns:a16="http://schemas.microsoft.com/office/drawing/2014/main" id="{50818B1C-7512-BF4C-A24D-63537D0ED002}"/>
              </a:ext>
            </a:extLst>
          </p:cNvPr>
          <p:cNvSpPr/>
          <p:nvPr/>
        </p:nvSpPr>
        <p:spPr>
          <a:xfrm>
            <a:off x="197067" y="850301"/>
            <a:ext cx="9066848" cy="461665"/>
          </a:xfrm>
          <a:prstGeom prst="rect">
            <a:avLst/>
          </a:prstGeom>
        </p:spPr>
        <p:txBody>
          <a:bodyPr wrap="square">
            <a:spAutoFit/>
          </a:bodyPr>
          <a:lstStyle/>
          <a:p>
            <a:r>
              <a:rPr lang="en-US" sz="2400" b="1" dirty="0">
                <a:solidFill>
                  <a:srgbClr val="002060"/>
                </a:solidFill>
              </a:rPr>
              <a:t>Flipping the Risk Problem</a:t>
            </a:r>
          </a:p>
        </p:txBody>
      </p:sp>
      <p:sp>
        <p:nvSpPr>
          <p:cNvPr id="13" name="Rectangle 12">
            <a:extLst>
              <a:ext uri="{FF2B5EF4-FFF2-40B4-BE49-F238E27FC236}">
                <a16:creationId xmlns:a16="http://schemas.microsoft.com/office/drawing/2014/main" id="{83942695-DEE0-D342-9001-6E26D151834E}"/>
              </a:ext>
            </a:extLst>
          </p:cNvPr>
          <p:cNvSpPr/>
          <p:nvPr/>
        </p:nvSpPr>
        <p:spPr>
          <a:xfrm>
            <a:off x="9548037" y="369169"/>
            <a:ext cx="3253563" cy="338554"/>
          </a:xfrm>
          <a:prstGeom prst="rect">
            <a:avLst/>
          </a:prstGeom>
        </p:spPr>
        <p:txBody>
          <a:bodyPr wrap="square" anchor="t">
            <a:spAutoFit/>
          </a:bodyPr>
          <a:lstStyle/>
          <a:p>
            <a:pPr algn="ctr"/>
            <a:r>
              <a:rPr lang="en-US" sz="1600" b="1" dirty="0">
                <a:solidFill>
                  <a:schemeClr val="bg1"/>
                </a:solidFill>
              </a:rPr>
              <a:t>Critical Problems</a:t>
            </a:r>
          </a:p>
        </p:txBody>
      </p:sp>
      <p:grpSp>
        <p:nvGrpSpPr>
          <p:cNvPr id="5" name="Group 4">
            <a:extLst>
              <a:ext uri="{FF2B5EF4-FFF2-40B4-BE49-F238E27FC236}">
                <a16:creationId xmlns:a16="http://schemas.microsoft.com/office/drawing/2014/main" id="{4010EF52-C5D7-364A-9BFE-02E8D06E4633}"/>
              </a:ext>
            </a:extLst>
          </p:cNvPr>
          <p:cNvGrpSpPr/>
          <p:nvPr/>
        </p:nvGrpSpPr>
        <p:grpSpPr>
          <a:xfrm>
            <a:off x="10054011" y="824143"/>
            <a:ext cx="2241613" cy="1631010"/>
            <a:chOff x="1954883" y="224589"/>
            <a:chExt cx="9056437" cy="6589517"/>
          </a:xfrm>
        </p:grpSpPr>
        <p:sp>
          <p:nvSpPr>
            <p:cNvPr id="14" name="TextBox 13">
              <a:extLst>
                <a:ext uri="{FF2B5EF4-FFF2-40B4-BE49-F238E27FC236}">
                  <a16:creationId xmlns:a16="http://schemas.microsoft.com/office/drawing/2014/main" id="{B31051DD-EB23-794F-8BAD-F9F7F16AC8B0}"/>
                </a:ext>
              </a:extLst>
            </p:cNvPr>
            <p:cNvSpPr txBox="1"/>
            <p:nvPr/>
          </p:nvSpPr>
          <p:spPr>
            <a:xfrm>
              <a:off x="8244614" y="1587504"/>
              <a:ext cx="2766706"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Clinician </a:t>
              </a:r>
              <a:br>
                <a:rPr lang="en-US" sz="800" spc="-16" dirty="0">
                  <a:solidFill>
                    <a:schemeClr val="bg1"/>
                  </a:solidFill>
                  <a:latin typeface="+mj-lt"/>
                  <a:ea typeface="Source Sans Pro" panose="020B0503030403020204" pitchFamily="34" charset="0"/>
                </a:rPr>
              </a:br>
              <a:r>
                <a:rPr lang="en-US" sz="800" spc="-16" dirty="0">
                  <a:solidFill>
                    <a:schemeClr val="bg1"/>
                  </a:solidFill>
                  <a:latin typeface="+mj-lt"/>
                  <a:ea typeface="Source Sans Pro" panose="020B0503030403020204" pitchFamily="34" charset="0"/>
                </a:rPr>
                <a:t>Challenges </a:t>
              </a:r>
            </a:p>
          </p:txBody>
        </p:sp>
        <p:grpSp>
          <p:nvGrpSpPr>
            <p:cNvPr id="15" name="Group 14">
              <a:extLst>
                <a:ext uri="{FF2B5EF4-FFF2-40B4-BE49-F238E27FC236}">
                  <a16:creationId xmlns:a16="http://schemas.microsoft.com/office/drawing/2014/main" id="{6EE47F6B-8362-8A4F-9C3C-2F4D7C87260E}"/>
                </a:ext>
              </a:extLst>
            </p:cNvPr>
            <p:cNvGrpSpPr/>
            <p:nvPr/>
          </p:nvGrpSpPr>
          <p:grpSpPr>
            <a:xfrm>
              <a:off x="4052176" y="1748893"/>
              <a:ext cx="4117228" cy="4098144"/>
              <a:chOff x="3467290" y="2108319"/>
              <a:chExt cx="5009820" cy="4986598"/>
            </a:xfrm>
          </p:grpSpPr>
          <p:sp>
            <p:nvSpPr>
              <p:cNvPr id="16" name="Freeform 176">
                <a:extLst>
                  <a:ext uri="{FF2B5EF4-FFF2-40B4-BE49-F238E27FC236}">
                    <a16:creationId xmlns:a16="http://schemas.microsoft.com/office/drawing/2014/main" id="{172F5DE8-A200-9A4A-AC04-67E7077393A6}"/>
                  </a:ext>
                </a:extLst>
              </p:cNvPr>
              <p:cNvSpPr>
                <a:spLocks/>
              </p:cNvSpPr>
              <p:nvPr/>
            </p:nvSpPr>
            <p:spPr bwMode="auto">
              <a:xfrm>
                <a:off x="4932533" y="4553045"/>
                <a:ext cx="2933511" cy="2541872"/>
              </a:xfrm>
              <a:custGeom>
                <a:avLst/>
                <a:gdLst>
                  <a:gd name="T0" fmla="*/ 1540102 w 4486"/>
                  <a:gd name="T1" fmla="*/ 0 h 3885"/>
                  <a:gd name="T2" fmla="*/ 0 w 4486"/>
                  <a:gd name="T3" fmla="*/ 2667613 h 3885"/>
                  <a:gd name="T4" fmla="*/ 3079517 w 4486"/>
                  <a:gd name="T5" fmla="*/ 2667613 h 3885"/>
                  <a:gd name="T6" fmla="*/ 1540102 w 4486"/>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5">
                    <a:moveTo>
                      <a:pt x="2243" y="0"/>
                    </a:moveTo>
                    <a:lnTo>
                      <a:pt x="0" y="3884"/>
                    </a:lnTo>
                    <a:lnTo>
                      <a:pt x="4485" y="3884"/>
                    </a:lnTo>
                    <a:lnTo>
                      <a:pt x="2243" y="0"/>
                    </a:lnTo>
                  </a:path>
                </a:pathLst>
              </a:custGeom>
              <a:solidFill>
                <a:schemeClr val="accent2">
                  <a:lumMod val="75000"/>
                </a:schemeClr>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4" name="Freeform 181">
                <a:extLst>
                  <a:ext uri="{FF2B5EF4-FFF2-40B4-BE49-F238E27FC236}">
                    <a16:creationId xmlns:a16="http://schemas.microsoft.com/office/drawing/2014/main" id="{78693D03-3054-3D4E-9627-E0A7EA652F9E}"/>
                  </a:ext>
                </a:extLst>
              </p:cNvPr>
              <p:cNvSpPr>
                <a:spLocks/>
              </p:cNvSpPr>
              <p:nvPr/>
            </p:nvSpPr>
            <p:spPr bwMode="auto">
              <a:xfrm>
                <a:off x="3467290" y="4553045"/>
                <a:ext cx="2933511" cy="2541872"/>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chemeClr val="accent2">
                  <a:lumMod val="75000"/>
                </a:schemeClr>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5" name="TextBox 24">
                <a:extLst>
                  <a:ext uri="{FF2B5EF4-FFF2-40B4-BE49-F238E27FC236}">
                    <a16:creationId xmlns:a16="http://schemas.microsoft.com/office/drawing/2014/main" id="{A4E847B4-3DF6-0346-9E09-2E13EF18D004}"/>
                  </a:ext>
                </a:extLst>
              </p:cNvPr>
              <p:cNvSpPr txBox="1"/>
              <p:nvPr/>
            </p:nvSpPr>
            <p:spPr>
              <a:xfrm>
                <a:off x="4236225" y="2994644"/>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6</a:t>
                </a:r>
              </a:p>
            </p:txBody>
          </p:sp>
          <p:sp>
            <p:nvSpPr>
              <p:cNvPr id="26" name="TextBox 25">
                <a:extLst>
                  <a:ext uri="{FF2B5EF4-FFF2-40B4-BE49-F238E27FC236}">
                    <a16:creationId xmlns:a16="http://schemas.microsoft.com/office/drawing/2014/main" id="{56403C62-669F-FE41-9934-55C0554EAD79}"/>
                  </a:ext>
                </a:extLst>
              </p:cNvPr>
              <p:cNvSpPr txBox="1"/>
              <p:nvPr/>
            </p:nvSpPr>
            <p:spPr>
              <a:xfrm>
                <a:off x="5765762" y="2108319"/>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1</a:t>
                </a:r>
              </a:p>
            </p:txBody>
          </p:sp>
          <p:sp>
            <p:nvSpPr>
              <p:cNvPr id="28" name="TextBox 27">
                <a:extLst>
                  <a:ext uri="{FF2B5EF4-FFF2-40B4-BE49-F238E27FC236}">
                    <a16:creationId xmlns:a16="http://schemas.microsoft.com/office/drawing/2014/main" id="{DA2C1947-9098-DD4B-9FC7-5226288B9885}"/>
                  </a:ext>
                </a:extLst>
              </p:cNvPr>
              <p:cNvSpPr txBox="1"/>
              <p:nvPr/>
            </p:nvSpPr>
            <p:spPr>
              <a:xfrm>
                <a:off x="7228912" y="2999201"/>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2</a:t>
                </a:r>
              </a:p>
            </p:txBody>
          </p:sp>
          <p:sp>
            <p:nvSpPr>
              <p:cNvPr id="30" name="TextBox 29">
                <a:extLst>
                  <a:ext uri="{FF2B5EF4-FFF2-40B4-BE49-F238E27FC236}">
                    <a16:creationId xmlns:a16="http://schemas.microsoft.com/office/drawing/2014/main" id="{A3167FD0-F83D-DD4A-A72D-90405E017D57}"/>
                  </a:ext>
                </a:extLst>
              </p:cNvPr>
              <p:cNvSpPr txBox="1"/>
              <p:nvPr/>
            </p:nvSpPr>
            <p:spPr>
              <a:xfrm>
                <a:off x="7247451" y="475574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3</a:t>
                </a:r>
              </a:p>
            </p:txBody>
          </p:sp>
          <p:sp>
            <p:nvSpPr>
              <p:cNvPr id="31" name="TextBox 30">
                <a:extLst>
                  <a:ext uri="{FF2B5EF4-FFF2-40B4-BE49-F238E27FC236}">
                    <a16:creationId xmlns:a16="http://schemas.microsoft.com/office/drawing/2014/main" id="{CB32858F-D284-8944-839E-5211D8180EC0}"/>
                  </a:ext>
                </a:extLst>
              </p:cNvPr>
              <p:cNvSpPr txBox="1"/>
              <p:nvPr/>
            </p:nvSpPr>
            <p:spPr>
              <a:xfrm>
                <a:off x="5737804" y="5556748"/>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4</a:t>
                </a:r>
              </a:p>
            </p:txBody>
          </p:sp>
          <p:sp>
            <p:nvSpPr>
              <p:cNvPr id="32" name="TextBox 31">
                <a:extLst>
                  <a:ext uri="{FF2B5EF4-FFF2-40B4-BE49-F238E27FC236}">
                    <a16:creationId xmlns:a16="http://schemas.microsoft.com/office/drawing/2014/main" id="{BC7732BD-8AE6-2D4C-8A49-D027171EBC73}"/>
                  </a:ext>
                </a:extLst>
              </p:cNvPr>
              <p:cNvSpPr txBox="1"/>
              <p:nvPr/>
            </p:nvSpPr>
            <p:spPr>
              <a:xfrm>
                <a:off x="4199291" y="472471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5</a:t>
                </a:r>
              </a:p>
            </p:txBody>
          </p:sp>
        </p:grpSp>
        <p:sp>
          <p:nvSpPr>
            <p:cNvPr id="35" name="TextBox 34">
              <a:extLst>
                <a:ext uri="{FF2B5EF4-FFF2-40B4-BE49-F238E27FC236}">
                  <a16:creationId xmlns:a16="http://schemas.microsoft.com/office/drawing/2014/main" id="{A3FF2667-46B6-7849-BE43-553064687CB0}"/>
                </a:ext>
              </a:extLst>
            </p:cNvPr>
            <p:cNvSpPr txBox="1"/>
            <p:nvPr/>
          </p:nvSpPr>
          <p:spPr>
            <a:xfrm>
              <a:off x="5048505" y="224589"/>
              <a:ext cx="2778629"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Value Barriers </a:t>
              </a:r>
            </a:p>
          </p:txBody>
        </p:sp>
        <p:sp>
          <p:nvSpPr>
            <p:cNvPr id="36" name="TextBox 35">
              <a:extLst>
                <a:ext uri="{FF2B5EF4-FFF2-40B4-BE49-F238E27FC236}">
                  <a16:creationId xmlns:a16="http://schemas.microsoft.com/office/drawing/2014/main" id="{76B013F0-AD86-4544-B3B2-B9249653EBF8}"/>
                </a:ext>
              </a:extLst>
            </p:cNvPr>
            <p:cNvSpPr txBox="1"/>
            <p:nvPr/>
          </p:nvSpPr>
          <p:spPr>
            <a:xfrm>
              <a:off x="5204003" y="5943681"/>
              <a:ext cx="2623132"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Proactivity</a:t>
              </a:r>
            </a:p>
          </p:txBody>
        </p:sp>
        <p:sp>
          <p:nvSpPr>
            <p:cNvPr id="37" name="TextBox 36">
              <a:extLst>
                <a:ext uri="{FF2B5EF4-FFF2-40B4-BE49-F238E27FC236}">
                  <a16:creationId xmlns:a16="http://schemas.microsoft.com/office/drawing/2014/main" id="{14359635-1856-764D-AC49-97EC9113F864}"/>
                </a:ext>
              </a:extLst>
            </p:cNvPr>
            <p:cNvSpPr txBox="1"/>
            <p:nvPr/>
          </p:nvSpPr>
          <p:spPr>
            <a:xfrm>
              <a:off x="1954883" y="1624544"/>
              <a:ext cx="280492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Cultural Challenges</a:t>
              </a:r>
            </a:p>
          </p:txBody>
        </p:sp>
        <p:sp>
          <p:nvSpPr>
            <p:cNvPr id="39" name="TextBox 38">
              <a:extLst>
                <a:ext uri="{FF2B5EF4-FFF2-40B4-BE49-F238E27FC236}">
                  <a16:creationId xmlns:a16="http://schemas.microsoft.com/office/drawing/2014/main" id="{5EE6B582-A5AD-7742-A3DB-35B94D69E389}"/>
                </a:ext>
              </a:extLst>
            </p:cNvPr>
            <p:cNvSpPr txBox="1"/>
            <p:nvPr/>
          </p:nvSpPr>
          <p:spPr>
            <a:xfrm>
              <a:off x="2108449" y="4579118"/>
              <a:ext cx="2714734"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Prevention</a:t>
              </a:r>
            </a:p>
          </p:txBody>
        </p:sp>
        <p:sp>
          <p:nvSpPr>
            <p:cNvPr id="40" name="TextBox 39">
              <a:extLst>
                <a:ext uri="{FF2B5EF4-FFF2-40B4-BE49-F238E27FC236}">
                  <a16:creationId xmlns:a16="http://schemas.microsoft.com/office/drawing/2014/main" id="{7842DDC4-618C-EB49-8D92-CC6E8D06A27F}"/>
                </a:ext>
              </a:extLst>
            </p:cNvPr>
            <p:cNvSpPr txBox="1"/>
            <p:nvPr/>
          </p:nvSpPr>
          <p:spPr>
            <a:xfrm>
              <a:off x="8202257" y="4539642"/>
              <a:ext cx="273486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Need/Care Match</a:t>
              </a:r>
            </a:p>
          </p:txBody>
        </p:sp>
      </p:grpSp>
      <p:sp>
        <p:nvSpPr>
          <p:cNvPr id="42" name="Rectangle 41">
            <a:extLst>
              <a:ext uri="{FF2B5EF4-FFF2-40B4-BE49-F238E27FC236}">
                <a16:creationId xmlns:a16="http://schemas.microsoft.com/office/drawing/2014/main" id="{CED96D22-0F74-AF48-B854-0CE3DF5BC976}"/>
              </a:ext>
            </a:extLst>
          </p:cNvPr>
          <p:cNvSpPr/>
          <p:nvPr/>
        </p:nvSpPr>
        <p:spPr>
          <a:xfrm>
            <a:off x="9548037" y="2944368"/>
            <a:ext cx="3253563" cy="4828032"/>
          </a:xfrm>
          <a:prstGeom prst="rect">
            <a:avLst/>
          </a:prstGeom>
          <a:solidFill>
            <a:srgbClr val="0039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13CF5FB-EA21-2E43-8223-310323F91EEC}"/>
              </a:ext>
            </a:extLst>
          </p:cNvPr>
          <p:cNvSpPr/>
          <p:nvPr/>
        </p:nvSpPr>
        <p:spPr>
          <a:xfrm>
            <a:off x="228600" y="534035"/>
            <a:ext cx="6764994" cy="338554"/>
          </a:xfrm>
          <a:prstGeom prst="rect">
            <a:avLst/>
          </a:prstGeom>
        </p:spPr>
        <p:txBody>
          <a:bodyPr wrap="square" anchor="t">
            <a:spAutoFit/>
          </a:bodyPr>
          <a:lstStyle/>
          <a:p>
            <a:r>
              <a:rPr lang="en-US" sz="1600" b="1" dirty="0">
                <a:solidFill>
                  <a:srgbClr val="00A2E2"/>
                </a:solidFill>
              </a:rPr>
              <a:t>Identifying Issues and Opportunities</a:t>
            </a:r>
          </a:p>
        </p:txBody>
      </p:sp>
      <p:sp>
        <p:nvSpPr>
          <p:cNvPr id="44" name="Rectangle 43">
            <a:extLst>
              <a:ext uri="{FF2B5EF4-FFF2-40B4-BE49-F238E27FC236}">
                <a16:creationId xmlns:a16="http://schemas.microsoft.com/office/drawing/2014/main" id="{BEF1FE83-BF87-1E40-BFFF-5C9604484C0C}"/>
              </a:ext>
            </a:extLst>
          </p:cNvPr>
          <p:cNvSpPr/>
          <p:nvPr/>
        </p:nvSpPr>
        <p:spPr>
          <a:xfrm>
            <a:off x="9548037" y="3094081"/>
            <a:ext cx="3253563" cy="584775"/>
          </a:xfrm>
          <a:prstGeom prst="rect">
            <a:avLst/>
          </a:prstGeom>
        </p:spPr>
        <p:txBody>
          <a:bodyPr wrap="square" anchor="t">
            <a:spAutoFit/>
          </a:bodyPr>
          <a:lstStyle/>
          <a:p>
            <a:pPr algn="ctr"/>
            <a:r>
              <a:rPr lang="en-US" sz="1600" b="1" dirty="0">
                <a:solidFill>
                  <a:schemeClr val="bg1"/>
                </a:solidFill>
              </a:rPr>
              <a:t>Competitive / Startup </a:t>
            </a:r>
            <a:br>
              <a:rPr lang="en-US" sz="1600" b="1" dirty="0">
                <a:solidFill>
                  <a:schemeClr val="bg1"/>
                </a:solidFill>
              </a:rPr>
            </a:br>
            <a:r>
              <a:rPr lang="en-US" sz="1600" b="1" dirty="0">
                <a:solidFill>
                  <a:schemeClr val="bg1"/>
                </a:solidFill>
              </a:rPr>
              <a:t>Landscape</a:t>
            </a:r>
          </a:p>
        </p:txBody>
      </p:sp>
      <p:sp>
        <p:nvSpPr>
          <p:cNvPr id="38" name="Rectangle 37">
            <a:extLst>
              <a:ext uri="{FF2B5EF4-FFF2-40B4-BE49-F238E27FC236}">
                <a16:creationId xmlns:a16="http://schemas.microsoft.com/office/drawing/2014/main" id="{AAB95A38-1BBA-E14E-B7BC-BD8984EB3ACC}"/>
              </a:ext>
            </a:extLst>
          </p:cNvPr>
          <p:cNvSpPr/>
          <p:nvPr/>
        </p:nvSpPr>
        <p:spPr>
          <a:xfrm>
            <a:off x="13171481" y="3828569"/>
            <a:ext cx="2716185" cy="3557897"/>
          </a:xfrm>
          <a:prstGeom prst="rect">
            <a:avLst/>
          </a:prstGeom>
          <a:ln>
            <a:noFill/>
          </a:ln>
        </p:spPr>
        <p:txBody>
          <a:bodyPr wrap="square">
            <a:spAutoFit/>
          </a:bodyPr>
          <a:lstStyle/>
          <a:p>
            <a:pPr defTabSz="914378">
              <a:lnSpc>
                <a:spcPct val="95000"/>
              </a:lnSpc>
              <a:spcBef>
                <a:spcPts val="200"/>
              </a:spcBef>
              <a:spcAft>
                <a:spcPts val="200"/>
              </a:spcAft>
            </a:pPr>
            <a:r>
              <a:rPr lang="en-US" sz="1200" b="1" kern="0" dirty="0">
                <a:solidFill>
                  <a:srgbClr val="B1E2FF"/>
                </a:solidFill>
                <a:latin typeface="Arial Narrow" pitchFamily="34" charset="0"/>
              </a:rPr>
              <a:t>Cigna</a:t>
            </a:r>
            <a:r>
              <a:rPr lang="en-US" sz="1200" b="1" kern="0" dirty="0">
                <a:solidFill>
                  <a:srgbClr val="0070C0"/>
                </a:solidFill>
                <a:latin typeface="Arial Narrow" pitchFamily="34" charset="0"/>
              </a:rPr>
              <a:t> </a:t>
            </a:r>
          </a:p>
          <a:p>
            <a:pPr defTabSz="914378">
              <a:lnSpc>
                <a:spcPct val="95000"/>
              </a:lnSpc>
              <a:spcBef>
                <a:spcPts val="200"/>
              </a:spcBef>
              <a:spcAft>
                <a:spcPts val="200"/>
              </a:spcAft>
            </a:pPr>
            <a:r>
              <a:rPr lang="en-US" sz="1200" b="1" kern="0" dirty="0">
                <a:solidFill>
                  <a:schemeClr val="bg1"/>
                </a:solidFill>
                <a:latin typeface="Arial Narrow" pitchFamily="34" charset="0"/>
              </a:rPr>
              <a:t>Collaborative Care (CCC) Program: </a:t>
            </a:r>
            <a:r>
              <a:rPr lang="en-US" sz="1200" kern="0" dirty="0">
                <a:solidFill>
                  <a:schemeClr val="bg1"/>
                </a:solidFill>
                <a:latin typeface="Arial Narrow" pitchFamily="34" charset="0"/>
              </a:rPr>
              <a:t>Enrolled physicians are in value-based arrangements with behavioral health quality measures such as depression screening in value-based cardiology; and maternal mental health screening in value-based OB/GYN.</a:t>
            </a:r>
          </a:p>
          <a:p>
            <a:pPr defTabSz="914378">
              <a:lnSpc>
                <a:spcPct val="95000"/>
              </a:lnSpc>
              <a:spcBef>
                <a:spcPts val="200"/>
              </a:spcBef>
              <a:spcAft>
                <a:spcPts val="200"/>
              </a:spcAft>
            </a:pPr>
            <a:endParaRPr lang="en-US" sz="1200" kern="0" dirty="0">
              <a:solidFill>
                <a:schemeClr val="bg1"/>
              </a:solidFill>
              <a:latin typeface="Arial Narrow" pitchFamily="34" charset="0"/>
            </a:endParaRPr>
          </a:p>
          <a:p>
            <a:pPr defTabSz="914378">
              <a:lnSpc>
                <a:spcPct val="95000"/>
              </a:lnSpc>
              <a:spcBef>
                <a:spcPts val="200"/>
              </a:spcBef>
              <a:spcAft>
                <a:spcPts val="200"/>
              </a:spcAft>
            </a:pPr>
            <a:r>
              <a:rPr lang="en-US" sz="1200" b="1" kern="0" dirty="0">
                <a:solidFill>
                  <a:srgbClr val="B1E2FF"/>
                </a:solidFill>
                <a:latin typeface="Arial Narrow" pitchFamily="34" charset="0"/>
              </a:rPr>
              <a:t>Aetna</a:t>
            </a:r>
          </a:p>
          <a:p>
            <a:pPr defTabSz="914378">
              <a:lnSpc>
                <a:spcPct val="95000"/>
              </a:lnSpc>
              <a:spcBef>
                <a:spcPts val="200"/>
              </a:spcBef>
              <a:spcAft>
                <a:spcPts val="200"/>
              </a:spcAft>
            </a:pPr>
            <a:r>
              <a:rPr lang="en-US" sz="1200" b="1" kern="0" dirty="0">
                <a:solidFill>
                  <a:schemeClr val="bg1"/>
                </a:solidFill>
                <a:latin typeface="Arial Narrow" pitchFamily="34" charset="0"/>
              </a:rPr>
              <a:t>Medicaid outcomes-based model for members with intellectual and development disabilities (IDD): </a:t>
            </a:r>
            <a:r>
              <a:rPr lang="en-US" sz="1200" kern="0" dirty="0">
                <a:solidFill>
                  <a:schemeClr val="bg1"/>
                </a:solidFill>
                <a:latin typeface="Arial Narrow" pitchFamily="34" charset="0"/>
              </a:rPr>
              <a:t>Connects members with an Aetna IDD coordinator who facilities community resources, innovative practices, and technology tools to promote meaningful quality of life. </a:t>
            </a:r>
          </a:p>
          <a:p>
            <a:pPr defTabSz="914378">
              <a:lnSpc>
                <a:spcPct val="95000"/>
              </a:lnSpc>
              <a:spcBef>
                <a:spcPts val="200"/>
              </a:spcBef>
              <a:spcAft>
                <a:spcPts val="200"/>
              </a:spcAft>
            </a:pPr>
            <a:endParaRPr lang="en-US" sz="1200" kern="0" dirty="0">
              <a:solidFill>
                <a:schemeClr val="bg1"/>
              </a:solidFill>
              <a:latin typeface="Arial Narrow" pitchFamily="34" charset="0"/>
            </a:endParaRPr>
          </a:p>
          <a:p>
            <a:pPr defTabSz="914378">
              <a:lnSpc>
                <a:spcPct val="95000"/>
              </a:lnSpc>
              <a:spcBef>
                <a:spcPts val="200"/>
              </a:spcBef>
              <a:spcAft>
                <a:spcPts val="200"/>
              </a:spcAft>
            </a:pPr>
            <a:endParaRPr lang="en-US" sz="1200" kern="0" dirty="0">
              <a:solidFill>
                <a:schemeClr val="bg1"/>
              </a:solidFill>
              <a:latin typeface="Arial Narrow" pitchFamily="34" charset="0"/>
            </a:endParaRPr>
          </a:p>
        </p:txBody>
      </p:sp>
      <p:sp>
        <p:nvSpPr>
          <p:cNvPr id="41" name="Rectangle 40">
            <a:extLst>
              <a:ext uri="{FF2B5EF4-FFF2-40B4-BE49-F238E27FC236}">
                <a16:creationId xmlns:a16="http://schemas.microsoft.com/office/drawing/2014/main" id="{E11BF3BD-C614-444D-B302-F8AFD54BAEB6}"/>
              </a:ext>
            </a:extLst>
          </p:cNvPr>
          <p:cNvSpPr/>
          <p:nvPr/>
        </p:nvSpPr>
        <p:spPr>
          <a:xfrm>
            <a:off x="5050253" y="2074764"/>
            <a:ext cx="4213662" cy="4124206"/>
          </a:xfrm>
          <a:prstGeom prst="rect">
            <a:avLst/>
          </a:prstGeom>
        </p:spPr>
        <p:txBody>
          <a:bodyPr wrap="square">
            <a:spAutoFit/>
          </a:bodyPr>
          <a:lstStyle/>
          <a:p>
            <a:pPr>
              <a:spcAft>
                <a:spcPts val="600"/>
              </a:spcAft>
            </a:pPr>
            <a:r>
              <a:rPr lang="en-US" sz="1800" b="1" dirty="0">
                <a:solidFill>
                  <a:srgbClr val="003963"/>
                </a:solidFill>
              </a:rPr>
              <a:t>Next Steps</a:t>
            </a:r>
          </a:p>
          <a:p>
            <a:pPr marL="285750" indent="-285750">
              <a:spcAft>
                <a:spcPts val="600"/>
              </a:spcAft>
              <a:buFont typeface="Arial" panose="020B0604020202020204" pitchFamily="34" charset="0"/>
              <a:buChar char="•"/>
            </a:pPr>
            <a:r>
              <a:rPr lang="en-US" sz="1600" dirty="0">
                <a:solidFill>
                  <a:srgbClr val="003963"/>
                </a:solidFill>
              </a:rPr>
              <a:t>Analyze alternative models from inside and outside healthcare for ideas and insights</a:t>
            </a:r>
          </a:p>
          <a:p>
            <a:pPr marL="285750" indent="-285750">
              <a:spcAft>
                <a:spcPts val="600"/>
              </a:spcAft>
              <a:buFont typeface="Arial" panose="020B0604020202020204" pitchFamily="34" charset="0"/>
              <a:buChar char="•"/>
            </a:pPr>
            <a:r>
              <a:rPr lang="en-US" sz="1600" dirty="0">
                <a:solidFill>
                  <a:srgbClr val="003963"/>
                </a:solidFill>
              </a:rPr>
              <a:t>Collaborate with payer and provider SMEs for feasibility of new delivery models</a:t>
            </a:r>
          </a:p>
          <a:p>
            <a:pPr marL="285750" indent="-285750">
              <a:spcAft>
                <a:spcPts val="600"/>
              </a:spcAft>
              <a:buFont typeface="Arial" panose="020B0604020202020204" pitchFamily="34" charset="0"/>
              <a:buChar char="•"/>
            </a:pPr>
            <a:r>
              <a:rPr lang="en-US" sz="1600" dirty="0">
                <a:solidFill>
                  <a:srgbClr val="003963"/>
                </a:solidFill>
              </a:rPr>
              <a:t>Perform primary research with customers to understand their point of view on potential new types of engagement for BH coverage and care</a:t>
            </a:r>
          </a:p>
          <a:p>
            <a:pPr marL="285750" indent="-285750">
              <a:spcAft>
                <a:spcPts val="600"/>
              </a:spcAft>
              <a:buFont typeface="Arial" panose="020B0604020202020204" pitchFamily="34" charset="0"/>
              <a:buChar char="•"/>
            </a:pPr>
            <a:r>
              <a:rPr lang="en-US" sz="1600" dirty="0">
                <a:solidFill>
                  <a:srgbClr val="003963"/>
                </a:solidFill>
              </a:rPr>
              <a:t>Fully scope opportunity and provide business case with estimates for overall cost and timing, and planned design and development details</a:t>
            </a:r>
          </a:p>
        </p:txBody>
      </p:sp>
      <p:sp>
        <p:nvSpPr>
          <p:cNvPr id="45" name="Rectangle 44">
            <a:extLst>
              <a:ext uri="{FF2B5EF4-FFF2-40B4-BE49-F238E27FC236}">
                <a16:creationId xmlns:a16="http://schemas.microsoft.com/office/drawing/2014/main" id="{3DF5AF01-2516-C644-A77F-55D0C8703EF3}"/>
              </a:ext>
            </a:extLst>
          </p:cNvPr>
          <p:cNvSpPr/>
          <p:nvPr/>
        </p:nvSpPr>
        <p:spPr>
          <a:xfrm>
            <a:off x="226990" y="2081988"/>
            <a:ext cx="4763628" cy="4785926"/>
          </a:xfrm>
          <a:prstGeom prst="rect">
            <a:avLst/>
          </a:prstGeom>
        </p:spPr>
        <p:txBody>
          <a:bodyPr wrap="square">
            <a:spAutoFit/>
          </a:bodyPr>
          <a:lstStyle/>
          <a:p>
            <a:pPr>
              <a:spcAft>
                <a:spcPts val="600"/>
              </a:spcAft>
            </a:pPr>
            <a:r>
              <a:rPr lang="en-US" sz="1800" b="1" dirty="0">
                <a:solidFill>
                  <a:srgbClr val="003963"/>
                </a:solidFill>
              </a:rPr>
              <a:t>Summary of Opportunity </a:t>
            </a:r>
          </a:p>
          <a:p>
            <a:pPr>
              <a:spcAft>
                <a:spcPts val="600"/>
              </a:spcAft>
            </a:pPr>
            <a:r>
              <a:rPr lang="en-US" sz="1600" dirty="0">
                <a:solidFill>
                  <a:srgbClr val="003963"/>
                </a:solidFill>
              </a:rPr>
              <a:t>Our organization has a bias toward investing in opportunities with proven short-term returns, which can make the longer-term impact of BH care feel like a higher-risk investment. </a:t>
            </a:r>
          </a:p>
          <a:p>
            <a:pPr marL="285750" indent="-285750">
              <a:spcAft>
                <a:spcPts val="600"/>
              </a:spcAft>
              <a:buFont typeface="Arial" panose="020B0604020202020204" pitchFamily="34" charset="0"/>
              <a:buChar char="•"/>
            </a:pPr>
            <a:r>
              <a:rPr lang="en-US" sz="1600" dirty="0">
                <a:solidFill>
                  <a:srgbClr val="003963"/>
                </a:solidFill>
              </a:rPr>
              <a:t>BH has the potential for returns through reduced care costs—especially when BH conditions are comorbid with Chronic Conditions. Industry challenges, including timing in the marketplace and member retention, make realizing those gains a higher-risk bet.</a:t>
            </a:r>
          </a:p>
          <a:p>
            <a:pPr marL="285750" indent="-285750">
              <a:spcAft>
                <a:spcPts val="600"/>
              </a:spcAft>
              <a:buFont typeface="Arial" panose="020B0604020202020204" pitchFamily="34" charset="0"/>
              <a:buChar char="•"/>
            </a:pPr>
            <a:r>
              <a:rPr lang="en-US" sz="1600" dirty="0">
                <a:solidFill>
                  <a:srgbClr val="003963"/>
                </a:solidFill>
              </a:rPr>
              <a:t>Alternative business models that consider different forms of revenue and cost savings, risk mitigation, or completely new models of partnership, clinician reimbursement or insurance might be required to achieve the future state of BH value.</a:t>
            </a:r>
          </a:p>
        </p:txBody>
      </p:sp>
      <p:sp>
        <p:nvSpPr>
          <p:cNvPr id="46" name="Rectangle 45">
            <a:extLst>
              <a:ext uri="{FF2B5EF4-FFF2-40B4-BE49-F238E27FC236}">
                <a16:creationId xmlns:a16="http://schemas.microsoft.com/office/drawing/2014/main" id="{3E6984A4-862A-1040-BCAD-1784109DCF84}"/>
              </a:ext>
            </a:extLst>
          </p:cNvPr>
          <p:cNvSpPr/>
          <p:nvPr/>
        </p:nvSpPr>
        <p:spPr>
          <a:xfrm>
            <a:off x="184589" y="1294053"/>
            <a:ext cx="8808666" cy="584775"/>
          </a:xfrm>
          <a:prstGeom prst="rect">
            <a:avLst/>
          </a:prstGeom>
        </p:spPr>
        <p:txBody>
          <a:bodyPr wrap="square">
            <a:spAutoFit/>
          </a:bodyPr>
          <a:lstStyle/>
          <a:p>
            <a:r>
              <a:rPr lang="en-US" sz="1600" dirty="0">
                <a:solidFill>
                  <a:srgbClr val="003963"/>
                </a:solidFill>
              </a:rPr>
              <a:t>Reframe the risk discussion by considering new payer/provider business models that allow us to realize the longer-term value of BH care and outcomes.</a:t>
            </a:r>
          </a:p>
        </p:txBody>
      </p:sp>
    </p:spTree>
    <p:extLst>
      <p:ext uri="{BB962C8B-B14F-4D97-AF65-F5344CB8AC3E}">
        <p14:creationId xmlns:p14="http://schemas.microsoft.com/office/powerpoint/2010/main" val="4256209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1AEC8755-968C-E94A-B115-1636F814A717}"/>
              </a:ext>
            </a:extLst>
          </p:cNvPr>
          <p:cNvSpPr/>
          <p:nvPr/>
        </p:nvSpPr>
        <p:spPr>
          <a:xfrm>
            <a:off x="228600" y="534035"/>
            <a:ext cx="3872669" cy="338554"/>
          </a:xfrm>
          <a:prstGeom prst="rect">
            <a:avLst/>
          </a:prstGeom>
        </p:spPr>
        <p:txBody>
          <a:bodyPr wrap="square" anchor="t">
            <a:spAutoFit/>
          </a:bodyPr>
          <a:lstStyle/>
          <a:p>
            <a:r>
              <a:rPr lang="en-US" sz="1600" b="1" dirty="0">
                <a:solidFill>
                  <a:srgbClr val="00A2E2"/>
                </a:solidFill>
              </a:rPr>
              <a:t>Identifying Issues and Opportunities</a:t>
            </a:r>
          </a:p>
        </p:txBody>
      </p:sp>
      <p:sp>
        <p:nvSpPr>
          <p:cNvPr id="5" name="Rectangle 4">
            <a:extLst>
              <a:ext uri="{FF2B5EF4-FFF2-40B4-BE49-F238E27FC236}">
                <a16:creationId xmlns:a16="http://schemas.microsoft.com/office/drawing/2014/main" id="{42067984-2A6E-FF4E-B70F-63ACA1AFF1C8}"/>
              </a:ext>
            </a:extLst>
          </p:cNvPr>
          <p:cNvSpPr/>
          <p:nvPr/>
        </p:nvSpPr>
        <p:spPr>
          <a:xfrm>
            <a:off x="13644880" y="1637817"/>
            <a:ext cx="6400800" cy="1323439"/>
          </a:xfrm>
          <a:prstGeom prst="rect">
            <a:avLst/>
          </a:prstGeom>
        </p:spPr>
        <p:txBody>
          <a:bodyPr>
            <a:spAutoFit/>
          </a:bodyPr>
          <a:lstStyle/>
          <a:p>
            <a:r>
              <a:rPr lang="en-US" sz="2000" b="1" dirty="0"/>
              <a:t>Holistic View:</a:t>
            </a:r>
            <a:r>
              <a:rPr lang="en-US" sz="2000" dirty="0"/>
              <a:t> Change clinical education so that physicians of all types see BH as central to health and feel empowered to engage with their patients about BH?</a:t>
            </a:r>
          </a:p>
        </p:txBody>
      </p:sp>
      <p:graphicFrame>
        <p:nvGraphicFramePr>
          <p:cNvPr id="10" name="Table 9">
            <a:extLst>
              <a:ext uri="{FF2B5EF4-FFF2-40B4-BE49-F238E27FC236}">
                <a16:creationId xmlns:a16="http://schemas.microsoft.com/office/drawing/2014/main" id="{0D859194-210F-EE43-85D7-AB0B94E7DF67}"/>
              </a:ext>
            </a:extLst>
          </p:cNvPr>
          <p:cNvGraphicFramePr>
            <a:graphicFrameLocks noGrp="1"/>
          </p:cNvGraphicFramePr>
          <p:nvPr>
            <p:extLst>
              <p:ext uri="{D42A27DB-BD31-4B8C-83A1-F6EECF244321}">
                <p14:modId xmlns:p14="http://schemas.microsoft.com/office/powerpoint/2010/main" val="1119017659"/>
              </p:ext>
            </p:extLst>
          </p:nvPr>
        </p:nvGraphicFramePr>
        <p:xfrm>
          <a:off x="325121" y="1086941"/>
          <a:ext cx="5328687" cy="6131560"/>
        </p:xfrm>
        <a:graphic>
          <a:graphicData uri="http://schemas.openxmlformats.org/drawingml/2006/table">
            <a:tbl>
              <a:tblPr firstRow="1" bandRow="1">
                <a:tableStyleId>{21E4AEA4-8DFA-4A89-87EB-49C32662AFE0}</a:tableStyleId>
              </a:tblPr>
              <a:tblGrid>
                <a:gridCol w="3460298">
                  <a:extLst>
                    <a:ext uri="{9D8B030D-6E8A-4147-A177-3AD203B41FA5}">
                      <a16:colId xmlns:a16="http://schemas.microsoft.com/office/drawing/2014/main" val="4287445226"/>
                    </a:ext>
                  </a:extLst>
                </a:gridCol>
                <a:gridCol w="875071">
                  <a:extLst>
                    <a:ext uri="{9D8B030D-6E8A-4147-A177-3AD203B41FA5}">
                      <a16:colId xmlns:a16="http://schemas.microsoft.com/office/drawing/2014/main" val="1632366525"/>
                    </a:ext>
                  </a:extLst>
                </a:gridCol>
                <a:gridCol w="993318">
                  <a:extLst>
                    <a:ext uri="{9D8B030D-6E8A-4147-A177-3AD203B41FA5}">
                      <a16:colId xmlns:a16="http://schemas.microsoft.com/office/drawing/2014/main" val="188751882"/>
                    </a:ext>
                  </a:extLst>
                </a:gridCol>
              </a:tblGrid>
              <a:tr h="370840">
                <a:tc>
                  <a:txBody>
                    <a:bodyPr/>
                    <a:lstStyle/>
                    <a:p>
                      <a:r>
                        <a:rPr lang="en-US" sz="1200" dirty="0"/>
                        <a:t>Issue/Opportunity</a:t>
                      </a:r>
                    </a:p>
                  </a:txBody>
                  <a:tcPr/>
                </a:tc>
                <a:tc>
                  <a:txBody>
                    <a:bodyPr/>
                    <a:lstStyle/>
                    <a:p>
                      <a:r>
                        <a:rPr lang="en-US" sz="1200" dirty="0"/>
                        <a:t>Business</a:t>
                      </a:r>
                    </a:p>
                  </a:txBody>
                  <a:tcPr/>
                </a:tc>
                <a:tc>
                  <a:txBody>
                    <a:bodyPr/>
                    <a:lstStyle/>
                    <a:p>
                      <a:r>
                        <a:rPr lang="en-US" sz="1200" dirty="0"/>
                        <a:t>Innovation</a:t>
                      </a:r>
                    </a:p>
                  </a:txBody>
                  <a:tcPr/>
                </a:tc>
                <a:extLst>
                  <a:ext uri="{0D108BD9-81ED-4DB2-BD59-A6C34878D82A}">
                    <a16:rowId xmlns:a16="http://schemas.microsoft.com/office/drawing/2014/main" val="2489571478"/>
                  </a:ext>
                </a:extLst>
              </a:tr>
              <a:tr h="370840">
                <a:tc>
                  <a:txBody>
                    <a:bodyPr/>
                    <a:lstStyle/>
                    <a:p>
                      <a:r>
                        <a:rPr lang="en-US" sz="1200" b="1" dirty="0"/>
                        <a:t>Realign and Champion for Whole-Health: </a:t>
                      </a:r>
                      <a:r>
                        <a:rPr lang="en-US" sz="1200" dirty="0"/>
                        <a:t>Be industry leaders in revolutionizing health by doubling-down on integrating behavioral and physical care practices as a mandate for our organization and clinical networks. </a:t>
                      </a:r>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4181788030"/>
                  </a:ext>
                </a:extLst>
              </a:tr>
              <a:tr h="370840">
                <a:tc>
                  <a:txBody>
                    <a:bodyPr/>
                    <a:lstStyle/>
                    <a:p>
                      <a:pPr marL="0" marR="0" lvl="0" indent="0" algn="l" defTabSz="960120" rtl="0" eaLnBrk="1" fontAlgn="auto" latinLnBrk="0" hangingPunct="1">
                        <a:lnSpc>
                          <a:spcPct val="100000"/>
                        </a:lnSpc>
                        <a:spcBef>
                          <a:spcPts val="0"/>
                        </a:spcBef>
                        <a:spcAft>
                          <a:spcPts val="0"/>
                        </a:spcAft>
                        <a:buClrTx/>
                        <a:buSzTx/>
                        <a:buFontTx/>
                        <a:buNone/>
                        <a:tabLst/>
                        <a:defRPr/>
                      </a:pPr>
                      <a:r>
                        <a:rPr lang="en-US" sz="1200" b="1" dirty="0"/>
                        <a:t>Use Data for Insights and Action: </a:t>
                      </a:r>
                      <a:r>
                        <a:rPr lang="en-US" sz="1200" dirty="0"/>
                        <a:t>Purposefully collect and analyze clinical and business data to understand trends, generate ongoing insights, and understand the outcomes of BH interventions to support decision making and realize both short and long term value of BH and PH-integrated interventions.</a:t>
                      </a:r>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701764177"/>
                  </a:ext>
                </a:extLst>
              </a:tr>
              <a:tr h="370840">
                <a:tc>
                  <a:txBody>
                    <a:bodyPr/>
                    <a:lstStyle/>
                    <a:p>
                      <a:pPr marL="0" marR="0" lvl="0" indent="0" algn="l" defTabSz="960120" rtl="0" eaLnBrk="1" fontAlgn="auto" latinLnBrk="0" hangingPunct="1">
                        <a:lnSpc>
                          <a:spcPct val="100000"/>
                        </a:lnSpc>
                        <a:spcBef>
                          <a:spcPts val="0"/>
                        </a:spcBef>
                        <a:spcAft>
                          <a:spcPts val="0"/>
                        </a:spcAft>
                        <a:buClrTx/>
                        <a:buSzTx/>
                        <a:buFont typeface="+mj-lt"/>
                        <a:buNone/>
                        <a:tabLst/>
                        <a:defRPr/>
                      </a:pPr>
                      <a:r>
                        <a:rPr lang="en-US" sz="1200" b="1" dirty="0"/>
                        <a:t>Use Holistic Outcome Assessments: </a:t>
                      </a:r>
                      <a:r>
                        <a:rPr lang="en-US" sz="1200" dirty="0"/>
                        <a:t>Establish a BH outcome-assessment which uses multi-faceted criteria, accounts for complex cases, and measures the progress made toward shared clinician and patient goals as a more accurate form of outcome measurement.</a:t>
                      </a:r>
                    </a:p>
                  </a:txBody>
                  <a:tcPr/>
                </a:tc>
                <a:tc>
                  <a:txBody>
                    <a:bodyPr/>
                    <a:lstStyle/>
                    <a:p>
                      <a:endParaRPr lang="en-US" sz="1200"/>
                    </a:p>
                  </a:txBody>
                  <a:tcPr/>
                </a:tc>
                <a:tc>
                  <a:txBody>
                    <a:bodyPr/>
                    <a:lstStyle/>
                    <a:p>
                      <a:endParaRPr lang="en-US" sz="1200" dirty="0"/>
                    </a:p>
                  </a:txBody>
                  <a:tcPr/>
                </a:tc>
                <a:extLst>
                  <a:ext uri="{0D108BD9-81ED-4DB2-BD59-A6C34878D82A}">
                    <a16:rowId xmlns:a16="http://schemas.microsoft.com/office/drawing/2014/main" val="154372444"/>
                  </a:ext>
                </a:extLst>
              </a:tr>
              <a:tr h="370840">
                <a:tc>
                  <a:txBody>
                    <a:bodyPr/>
                    <a:lstStyle/>
                    <a:p>
                      <a:pPr marL="0" marR="0" lvl="0" indent="0" algn="l" defTabSz="960120" rtl="0" eaLnBrk="1" fontAlgn="auto" latinLnBrk="0" hangingPunct="1">
                        <a:lnSpc>
                          <a:spcPct val="100000"/>
                        </a:lnSpc>
                        <a:spcBef>
                          <a:spcPts val="0"/>
                        </a:spcBef>
                        <a:spcAft>
                          <a:spcPts val="0"/>
                        </a:spcAft>
                        <a:buClrTx/>
                        <a:buSzTx/>
                        <a:buFontTx/>
                        <a:buNone/>
                        <a:tabLst/>
                        <a:defRPr/>
                      </a:pPr>
                      <a:r>
                        <a:rPr lang="en-US" sz="1200" b="1" dirty="0"/>
                        <a:t>Develop Complimentary Reimbursement and Care Models: </a:t>
                      </a:r>
                      <a:r>
                        <a:rPr lang="en-US" sz="1200" dirty="0"/>
                        <a:t>Align incentives and care outcomes through a Value Based model that allows clinicians to deliver the best care, run financially viable practices, and meet the demand created through coordinated utilization.</a:t>
                      </a:r>
                    </a:p>
                  </a:txBody>
                  <a:tcPr/>
                </a:tc>
                <a:tc>
                  <a:txBody>
                    <a:bodyPr/>
                    <a:lstStyle/>
                    <a:p>
                      <a:endParaRPr lang="en-US" sz="1200"/>
                    </a:p>
                  </a:txBody>
                  <a:tcPr/>
                </a:tc>
                <a:tc>
                  <a:txBody>
                    <a:bodyPr/>
                    <a:lstStyle/>
                    <a:p>
                      <a:endParaRPr lang="en-US" sz="1200" dirty="0"/>
                    </a:p>
                  </a:txBody>
                  <a:tcPr/>
                </a:tc>
                <a:extLst>
                  <a:ext uri="{0D108BD9-81ED-4DB2-BD59-A6C34878D82A}">
                    <a16:rowId xmlns:a16="http://schemas.microsoft.com/office/drawing/2014/main" val="1663330169"/>
                  </a:ext>
                </a:extLst>
              </a:tr>
              <a:tr h="370840">
                <a:tc>
                  <a:txBody>
                    <a:bodyPr/>
                    <a:lstStyle/>
                    <a:p>
                      <a:pPr marL="0" marR="0" lvl="0" indent="0" algn="l" defTabSz="960120" rtl="0" eaLnBrk="1" fontAlgn="auto" latinLnBrk="0" hangingPunct="1">
                        <a:lnSpc>
                          <a:spcPct val="100000"/>
                        </a:lnSpc>
                        <a:spcBef>
                          <a:spcPts val="0"/>
                        </a:spcBef>
                        <a:spcAft>
                          <a:spcPts val="0"/>
                        </a:spcAft>
                        <a:buClrTx/>
                        <a:buSzTx/>
                        <a:buFontTx/>
                        <a:buNone/>
                        <a:tabLst/>
                        <a:defRPr/>
                      </a:pPr>
                      <a:r>
                        <a:rPr lang="en-US" sz="1200" b="1" dirty="0"/>
                        <a:t>Respond to COVID-19 BH Needs: </a:t>
                      </a:r>
                      <a:r>
                        <a:rPr lang="en-US" sz="1200" dirty="0"/>
                        <a:t>Address the wave of emerging and exacerbated Behavioral Health conditions that are a result of the COVID-19 crisis to address community needs and avoid longer-term costs of acute care.</a:t>
                      </a:r>
                      <a:endParaRPr lang="en-US" sz="1200" b="1" dirty="0"/>
                    </a:p>
                  </a:txBody>
                  <a:tcPr/>
                </a:tc>
                <a:tc>
                  <a:txBody>
                    <a:bodyPr/>
                    <a:lstStyle/>
                    <a:p>
                      <a:endParaRPr lang="en-US" sz="1200"/>
                    </a:p>
                  </a:txBody>
                  <a:tcPr/>
                </a:tc>
                <a:tc>
                  <a:txBody>
                    <a:bodyPr/>
                    <a:lstStyle/>
                    <a:p>
                      <a:endParaRPr lang="en-US" sz="1200" dirty="0"/>
                    </a:p>
                  </a:txBody>
                  <a:tcPr/>
                </a:tc>
                <a:extLst>
                  <a:ext uri="{0D108BD9-81ED-4DB2-BD59-A6C34878D82A}">
                    <a16:rowId xmlns:a16="http://schemas.microsoft.com/office/drawing/2014/main" val="1235476167"/>
                  </a:ext>
                </a:extLst>
              </a:tr>
            </a:tbl>
          </a:graphicData>
        </a:graphic>
      </p:graphicFrame>
      <p:graphicFrame>
        <p:nvGraphicFramePr>
          <p:cNvPr id="8" name="Table 7">
            <a:extLst>
              <a:ext uri="{FF2B5EF4-FFF2-40B4-BE49-F238E27FC236}">
                <a16:creationId xmlns:a16="http://schemas.microsoft.com/office/drawing/2014/main" id="{60E7C486-54EB-A849-B7DB-024005945DD8}"/>
              </a:ext>
            </a:extLst>
          </p:cNvPr>
          <p:cNvGraphicFramePr>
            <a:graphicFrameLocks noGrp="1"/>
          </p:cNvGraphicFramePr>
          <p:nvPr>
            <p:extLst>
              <p:ext uri="{D42A27DB-BD31-4B8C-83A1-F6EECF244321}">
                <p14:modId xmlns:p14="http://schemas.microsoft.com/office/powerpoint/2010/main" val="3193736270"/>
              </p:ext>
            </p:extLst>
          </p:nvPr>
        </p:nvGraphicFramePr>
        <p:xfrm>
          <a:off x="5830529" y="1086941"/>
          <a:ext cx="6750342" cy="6226456"/>
        </p:xfrm>
        <a:graphic>
          <a:graphicData uri="http://schemas.openxmlformats.org/drawingml/2006/table">
            <a:tbl>
              <a:tblPr firstRow="1" bandRow="1">
                <a:tableStyleId>{21E4AEA4-8DFA-4A89-87EB-49C32662AFE0}</a:tableStyleId>
              </a:tblPr>
              <a:tblGrid>
                <a:gridCol w="518160">
                  <a:extLst>
                    <a:ext uri="{9D8B030D-6E8A-4147-A177-3AD203B41FA5}">
                      <a16:colId xmlns:a16="http://schemas.microsoft.com/office/drawing/2014/main" val="132737475"/>
                    </a:ext>
                  </a:extLst>
                </a:gridCol>
                <a:gridCol w="4368472">
                  <a:extLst>
                    <a:ext uri="{9D8B030D-6E8A-4147-A177-3AD203B41FA5}">
                      <a16:colId xmlns:a16="http://schemas.microsoft.com/office/drawing/2014/main" val="4287445226"/>
                    </a:ext>
                  </a:extLst>
                </a:gridCol>
                <a:gridCol w="884904">
                  <a:extLst>
                    <a:ext uri="{9D8B030D-6E8A-4147-A177-3AD203B41FA5}">
                      <a16:colId xmlns:a16="http://schemas.microsoft.com/office/drawing/2014/main" val="1632366525"/>
                    </a:ext>
                  </a:extLst>
                </a:gridCol>
                <a:gridCol w="978806">
                  <a:extLst>
                    <a:ext uri="{9D8B030D-6E8A-4147-A177-3AD203B41FA5}">
                      <a16:colId xmlns:a16="http://schemas.microsoft.com/office/drawing/2014/main" val="188751882"/>
                    </a:ext>
                  </a:extLst>
                </a:gridCol>
              </a:tblGrid>
              <a:tr h="370840">
                <a:tc>
                  <a:txBody>
                    <a:bodyPr/>
                    <a:lstStyle/>
                    <a:p>
                      <a:endParaRPr lang="en-US" sz="1200" dirty="0"/>
                    </a:p>
                  </a:txBody>
                  <a:tcPr/>
                </a:tc>
                <a:tc>
                  <a:txBody>
                    <a:bodyPr/>
                    <a:lstStyle/>
                    <a:p>
                      <a:r>
                        <a:rPr lang="en-US" sz="1200" dirty="0"/>
                        <a:t>Issue/Opportunity</a:t>
                      </a:r>
                    </a:p>
                  </a:txBody>
                  <a:tcPr/>
                </a:tc>
                <a:tc>
                  <a:txBody>
                    <a:bodyPr/>
                    <a:lstStyle/>
                    <a:p>
                      <a:r>
                        <a:rPr lang="en-US" sz="1200" dirty="0"/>
                        <a:t>Business</a:t>
                      </a:r>
                    </a:p>
                  </a:txBody>
                  <a:tcPr/>
                </a:tc>
                <a:tc>
                  <a:txBody>
                    <a:bodyPr/>
                    <a:lstStyle/>
                    <a:p>
                      <a:r>
                        <a:rPr lang="en-US" sz="1200" dirty="0"/>
                        <a:t>Innovation</a:t>
                      </a:r>
                    </a:p>
                  </a:txBody>
                  <a:tcPr/>
                </a:tc>
                <a:extLst>
                  <a:ext uri="{0D108BD9-81ED-4DB2-BD59-A6C34878D82A}">
                    <a16:rowId xmlns:a16="http://schemas.microsoft.com/office/drawing/2014/main" val="2489571478"/>
                  </a:ext>
                </a:extLst>
              </a:tr>
              <a:tr h="370840">
                <a:tc>
                  <a:txBody>
                    <a:bodyPr/>
                    <a:lstStyle/>
                    <a:p>
                      <a:pPr marL="0" marR="0" lvl="0" indent="0" algn="l" defTabSz="96012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l" defTabSz="960120" rtl="0" eaLnBrk="1" fontAlgn="auto" latinLnBrk="0" hangingPunct="1">
                        <a:lnSpc>
                          <a:spcPct val="100000"/>
                        </a:lnSpc>
                        <a:spcBef>
                          <a:spcPts val="0"/>
                        </a:spcBef>
                        <a:spcAft>
                          <a:spcPts val="0"/>
                        </a:spcAft>
                        <a:buClrTx/>
                        <a:buSzTx/>
                        <a:buFontTx/>
                        <a:buNone/>
                        <a:tabLst/>
                        <a:defRPr/>
                      </a:pPr>
                      <a:r>
                        <a:rPr lang="en-US" sz="1200" b="1" dirty="0"/>
                        <a:t>BH Clinical Best-Practice: </a:t>
                      </a:r>
                      <a:r>
                        <a:rPr lang="en-US" sz="1200" dirty="0"/>
                        <a:t>Empower clinicians to keep up with the rapidly evolving breadth of BH knowledge suitable to their role and train them in best practices to help improve their performance and patient outcomes.</a:t>
                      </a:r>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4181788030"/>
                  </a:ext>
                </a:extLst>
              </a:tr>
              <a:tr h="370840">
                <a:tc>
                  <a:txBody>
                    <a:bodyPr/>
                    <a:lstStyle/>
                    <a:p>
                      <a:endParaRPr lang="en-US" sz="1200" dirty="0"/>
                    </a:p>
                  </a:txBody>
                  <a:tcPr/>
                </a:tc>
                <a:tc>
                  <a:txBody>
                    <a:bodyPr/>
                    <a:lstStyle/>
                    <a:p>
                      <a:r>
                        <a:rPr lang="en-US" sz="1200" b="1" dirty="0"/>
                        <a:t>Identify and Improve: </a:t>
                      </a:r>
                      <a:r>
                        <a:rPr lang="en-US" sz="1200" dirty="0"/>
                        <a:t>Identify individuals who are not receiving the most effective or optimal care today and revise their treatment for better outcomes.</a:t>
                      </a:r>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1362597845"/>
                  </a:ext>
                </a:extLst>
              </a:tr>
              <a:tr h="370840">
                <a:tc rowSpan="2">
                  <a:txBody>
                    <a:bodyPr/>
                    <a:lstStyle/>
                    <a:p>
                      <a:r>
                        <a:rPr lang="en-US" sz="1100" dirty="0">
                          <a:solidFill>
                            <a:schemeClr val="bg1"/>
                          </a:solidFill>
                        </a:rPr>
                        <a:t>Proactive Intervention </a:t>
                      </a:r>
                      <a:br>
                        <a:rPr lang="en-US" sz="1100" dirty="0">
                          <a:solidFill>
                            <a:schemeClr val="bg1"/>
                          </a:solidFill>
                        </a:rPr>
                      </a:br>
                      <a:r>
                        <a:rPr lang="en-US" sz="1100" dirty="0">
                          <a:solidFill>
                            <a:schemeClr val="bg1"/>
                          </a:solidFill>
                        </a:rPr>
                        <a:t>for Escalating Need</a:t>
                      </a:r>
                    </a:p>
                  </a:txBody>
                  <a:tcPr vert="vert270">
                    <a:solidFill>
                      <a:schemeClr val="accent2">
                        <a:lumMod val="75000"/>
                      </a:schemeClr>
                    </a:solidFill>
                  </a:tcPr>
                </a:tc>
                <a:tc>
                  <a:txBody>
                    <a:bodyPr/>
                    <a:lstStyle/>
                    <a:p>
                      <a:r>
                        <a:rPr lang="en-US" sz="1200" b="1" dirty="0"/>
                        <a:t>Identify and Prevent: </a:t>
                      </a:r>
                      <a:r>
                        <a:rPr lang="en-US" sz="1200" dirty="0"/>
                        <a:t>Identify individuals (e.g. actively through identification or passively through education/awareness) with BH conditions in order to prevent undiagnosed chronic BH conditions which lead to complex care and high costs.</a:t>
                      </a:r>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701764177"/>
                  </a:ext>
                </a:extLst>
              </a:tr>
              <a:tr h="370840">
                <a:tc vMerge="1">
                  <a:txBody>
                    <a:bodyPr/>
                    <a:lstStyle/>
                    <a:p>
                      <a:pPr marL="0" marR="0" lvl="0" indent="0" algn="l" defTabSz="960120" rtl="0" eaLnBrk="1" fontAlgn="auto" latinLnBrk="0" hangingPunct="1">
                        <a:lnSpc>
                          <a:spcPct val="100000"/>
                        </a:lnSpc>
                        <a:spcBef>
                          <a:spcPts val="0"/>
                        </a:spcBef>
                        <a:spcAft>
                          <a:spcPts val="0"/>
                        </a:spcAft>
                        <a:buClrTx/>
                        <a:buSzTx/>
                        <a:buFontTx/>
                        <a:buNone/>
                        <a:tabLst/>
                        <a:defRPr/>
                      </a:pPr>
                      <a:endParaRPr lang="en-US" sz="1200" dirty="0"/>
                    </a:p>
                  </a:txBody>
                  <a:tcPr>
                    <a:solidFill>
                      <a:schemeClr val="accent2">
                        <a:lumMod val="75000"/>
                      </a:schemeClr>
                    </a:solidFill>
                  </a:tcPr>
                </a:tc>
                <a:tc>
                  <a:txBody>
                    <a:bodyPr/>
                    <a:lstStyle/>
                    <a:p>
                      <a:pPr marL="0" marR="0" lvl="0" indent="0" algn="l" defTabSz="960120" rtl="0" eaLnBrk="1" fontAlgn="auto" latinLnBrk="0" hangingPunct="1">
                        <a:lnSpc>
                          <a:spcPct val="100000"/>
                        </a:lnSpc>
                        <a:spcBef>
                          <a:spcPts val="0"/>
                        </a:spcBef>
                        <a:spcAft>
                          <a:spcPts val="0"/>
                        </a:spcAft>
                        <a:buClrTx/>
                        <a:buSzTx/>
                        <a:buFontTx/>
                        <a:buNone/>
                        <a:tabLst/>
                        <a:defRPr/>
                      </a:pPr>
                      <a:r>
                        <a:rPr lang="en-US" sz="1200" b="1" dirty="0"/>
                        <a:t>Resiliency and Wellness: </a:t>
                      </a:r>
                      <a:r>
                        <a:rPr lang="en-US" sz="1200" b="0" dirty="0"/>
                        <a:t>Normalize mental health hygiene, mindfulness practice and resiliency </a:t>
                      </a:r>
                      <a:r>
                        <a:rPr lang="en-US" sz="1200" dirty="0"/>
                        <a:t>building tools for everyone, with focus on communities most at-risk</a:t>
                      </a:r>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873546887"/>
                  </a:ext>
                </a:extLst>
              </a:tr>
              <a:tr h="370840">
                <a:tc>
                  <a:txBody>
                    <a:bodyPr/>
                    <a:lstStyle/>
                    <a:p>
                      <a:pPr marL="0" marR="0" lvl="0" indent="0" algn="l" defTabSz="960120" rtl="0" eaLnBrk="1" fontAlgn="auto" latinLnBrk="0" hangingPunct="1">
                        <a:lnSpc>
                          <a:spcPct val="100000"/>
                        </a:lnSpc>
                        <a:spcBef>
                          <a:spcPts val="0"/>
                        </a:spcBef>
                        <a:spcAft>
                          <a:spcPts val="0"/>
                        </a:spcAft>
                        <a:buClrTx/>
                        <a:buSzTx/>
                        <a:buFontTx/>
                        <a:buNone/>
                        <a:tabLst/>
                        <a:defRPr/>
                      </a:pPr>
                      <a:r>
                        <a:rPr lang="en-US" sz="1100" kern="1200" dirty="0">
                          <a:solidFill>
                            <a:schemeClr val="bg1"/>
                          </a:solidFill>
                          <a:latin typeface="+mn-lt"/>
                          <a:ea typeface="+mn-ea"/>
                          <a:cs typeface="+mn-cs"/>
                        </a:rPr>
                        <a:t>Clinicians as WHP</a:t>
                      </a:r>
                    </a:p>
                  </a:txBody>
                  <a:tcPr vert="vert270">
                    <a:solidFill>
                      <a:schemeClr val="accent2">
                        <a:lumMod val="75000"/>
                      </a:schemeClr>
                    </a:solidFill>
                  </a:tcPr>
                </a:tc>
                <a:tc>
                  <a:txBody>
                    <a:bodyPr/>
                    <a:lstStyle/>
                    <a:p>
                      <a:r>
                        <a:rPr lang="en-US" sz="1200" b="1" dirty="0"/>
                        <a:t>Clinicians as Whole-Health Practitioners: </a:t>
                      </a:r>
                      <a:r>
                        <a:rPr lang="en-US" sz="1200" dirty="0"/>
                        <a:t>As we continue to face more demand than supply for BH services, let’s create capacity by empowering our current clinical workforce to become “whole-health” practitioners.</a:t>
                      </a:r>
                    </a:p>
                  </a:txBody>
                  <a:tcPr/>
                </a:tc>
                <a:tc>
                  <a:txBody>
                    <a:bodyPr/>
                    <a:lstStyle/>
                    <a:p>
                      <a:endParaRPr lang="en-US" sz="1200"/>
                    </a:p>
                  </a:txBody>
                  <a:tcPr/>
                </a:tc>
                <a:tc>
                  <a:txBody>
                    <a:bodyPr/>
                    <a:lstStyle/>
                    <a:p>
                      <a:endParaRPr lang="en-US" sz="1200" dirty="0"/>
                    </a:p>
                  </a:txBody>
                  <a:tcPr/>
                </a:tc>
                <a:extLst>
                  <a:ext uri="{0D108BD9-81ED-4DB2-BD59-A6C34878D82A}">
                    <a16:rowId xmlns:a16="http://schemas.microsoft.com/office/drawing/2014/main" val="1663330169"/>
                  </a:ext>
                </a:extLst>
              </a:tr>
              <a:tr h="370840">
                <a:tc rowSpan="3">
                  <a:txBody>
                    <a:bodyPr/>
                    <a:lstStyle/>
                    <a:p>
                      <a:pPr marL="0" algn="l" defTabSz="960120" rtl="0" eaLnBrk="1" latinLnBrk="0" hangingPunct="1"/>
                      <a:r>
                        <a:rPr lang="en-US" sz="1100" kern="1200" dirty="0">
                          <a:solidFill>
                            <a:schemeClr val="bg1"/>
                          </a:solidFill>
                          <a:latin typeface="+mn-lt"/>
                          <a:ea typeface="+mn-ea"/>
                          <a:cs typeface="+mn-cs"/>
                        </a:rPr>
                        <a:t>Communities as Caregivers</a:t>
                      </a:r>
                    </a:p>
                  </a:txBody>
                  <a:tcPr vert="vert270">
                    <a:solidFill>
                      <a:schemeClr val="accent2">
                        <a:lumMod val="75000"/>
                      </a:schemeClr>
                    </a:solidFill>
                  </a:tcPr>
                </a:tc>
                <a:tc>
                  <a:txBody>
                    <a:bodyPr/>
                    <a:lstStyle/>
                    <a:p>
                      <a:r>
                        <a:rPr lang="en-US" sz="1200" b="1" dirty="0"/>
                        <a:t>SDOH and Stigma: </a:t>
                      </a:r>
                      <a:r>
                        <a:rPr lang="en-US" sz="1200" dirty="0"/>
                        <a:t>Remove barriers caused by socio-economic factors, societal stigma, or cultural biases through screenings and outreach</a:t>
                      </a:r>
                    </a:p>
                  </a:txBody>
                  <a:tcPr/>
                </a:tc>
                <a:tc>
                  <a:txBody>
                    <a:bodyPr/>
                    <a:lstStyle/>
                    <a:p>
                      <a:endParaRPr lang="en-US" sz="1200"/>
                    </a:p>
                  </a:txBody>
                  <a:tcPr/>
                </a:tc>
                <a:tc>
                  <a:txBody>
                    <a:bodyPr/>
                    <a:lstStyle/>
                    <a:p>
                      <a:endParaRPr lang="en-US" sz="1200" dirty="0"/>
                    </a:p>
                  </a:txBody>
                  <a:tcPr/>
                </a:tc>
                <a:extLst>
                  <a:ext uri="{0D108BD9-81ED-4DB2-BD59-A6C34878D82A}">
                    <a16:rowId xmlns:a16="http://schemas.microsoft.com/office/drawing/2014/main" val="1235476167"/>
                  </a:ext>
                </a:extLst>
              </a:tr>
              <a:tr h="370840">
                <a:tc vMerge="1">
                  <a:txBody>
                    <a:bodyPr/>
                    <a:lstStyle/>
                    <a:p>
                      <a:endParaRPr lang="en-US" sz="1200" dirty="0"/>
                    </a:p>
                  </a:txBody>
                  <a:tcPr>
                    <a:solidFill>
                      <a:schemeClr val="accent2">
                        <a:lumMod val="75000"/>
                      </a:schemeClr>
                    </a:solidFill>
                  </a:tcPr>
                </a:tc>
                <a:tc>
                  <a:txBody>
                    <a:bodyPr/>
                    <a:lstStyle/>
                    <a:p>
                      <a:r>
                        <a:rPr lang="en-US" sz="1200" b="1" dirty="0"/>
                        <a:t>Non-clinical Support Network: </a:t>
                      </a:r>
                      <a:r>
                        <a:rPr lang="en-US" sz="1200" dirty="0"/>
                        <a:t>Leverage employers, families, and other social networks so that they serve as structure supportive of BH care</a:t>
                      </a:r>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2333208060"/>
                  </a:ext>
                </a:extLst>
              </a:tr>
              <a:tr h="643536">
                <a:tc vMerge="1">
                  <a:txBody>
                    <a:bodyPr/>
                    <a:lstStyle/>
                    <a:p>
                      <a:pPr marL="0" marR="0" lvl="0" indent="0" algn="l" defTabSz="960120" rtl="0" eaLnBrk="1" fontAlgn="auto" latinLnBrk="0" hangingPunct="1">
                        <a:lnSpc>
                          <a:spcPct val="100000"/>
                        </a:lnSpc>
                        <a:spcBef>
                          <a:spcPts val="0"/>
                        </a:spcBef>
                        <a:spcAft>
                          <a:spcPts val="0"/>
                        </a:spcAft>
                        <a:buClrTx/>
                        <a:buSzTx/>
                        <a:buFontTx/>
                        <a:buNone/>
                        <a:tabLst/>
                        <a:defRPr/>
                      </a:pPr>
                      <a:endParaRPr lang="en-US" sz="1200" dirty="0"/>
                    </a:p>
                  </a:txBody>
                  <a:tcPr>
                    <a:solidFill>
                      <a:schemeClr val="accent2">
                        <a:lumMod val="75000"/>
                      </a:schemeClr>
                    </a:solidFill>
                  </a:tcPr>
                </a:tc>
                <a:tc>
                  <a:txBody>
                    <a:bodyPr/>
                    <a:lstStyle/>
                    <a:p>
                      <a:pPr marL="0" marR="0" lvl="0" indent="0" algn="l" defTabSz="960120" rtl="0" eaLnBrk="1" fontAlgn="auto" latinLnBrk="0" hangingPunct="1">
                        <a:lnSpc>
                          <a:spcPct val="100000"/>
                        </a:lnSpc>
                        <a:spcBef>
                          <a:spcPts val="0"/>
                        </a:spcBef>
                        <a:spcAft>
                          <a:spcPts val="0"/>
                        </a:spcAft>
                        <a:buClrTx/>
                        <a:buSzTx/>
                        <a:buFontTx/>
                        <a:buNone/>
                        <a:tabLst/>
                        <a:defRPr/>
                      </a:pPr>
                      <a:r>
                        <a:rPr lang="en-US" sz="1200" b="1" dirty="0"/>
                        <a:t>Open Resources for All: </a:t>
                      </a:r>
                      <a:r>
                        <a:rPr lang="en-US" sz="1200" dirty="0"/>
                        <a:t>Scale BH resources so that everyone who needs BH help can receive it</a:t>
                      </a:r>
                    </a:p>
                  </a:txBody>
                  <a:tcPr/>
                </a:tc>
                <a:tc>
                  <a:txBody>
                    <a:bodyPr/>
                    <a:lstStyle/>
                    <a:p>
                      <a:endParaRPr lang="en-US" sz="1200"/>
                    </a:p>
                  </a:txBody>
                  <a:tcPr/>
                </a:tc>
                <a:tc>
                  <a:txBody>
                    <a:bodyPr/>
                    <a:lstStyle/>
                    <a:p>
                      <a:endParaRPr lang="en-US" sz="1200" dirty="0"/>
                    </a:p>
                  </a:txBody>
                  <a:tcPr/>
                </a:tc>
                <a:extLst>
                  <a:ext uri="{0D108BD9-81ED-4DB2-BD59-A6C34878D82A}">
                    <a16:rowId xmlns:a16="http://schemas.microsoft.com/office/drawing/2014/main" val="3152752365"/>
                  </a:ext>
                </a:extLst>
              </a:tr>
            </a:tbl>
          </a:graphicData>
        </a:graphic>
      </p:graphicFrame>
      <p:grpSp>
        <p:nvGrpSpPr>
          <p:cNvPr id="9" name="Group 8">
            <a:extLst>
              <a:ext uri="{FF2B5EF4-FFF2-40B4-BE49-F238E27FC236}">
                <a16:creationId xmlns:a16="http://schemas.microsoft.com/office/drawing/2014/main" id="{4A80ECEA-F2E7-CA4B-9544-9BF1FFC76B42}"/>
              </a:ext>
            </a:extLst>
          </p:cNvPr>
          <p:cNvGrpSpPr/>
          <p:nvPr/>
        </p:nvGrpSpPr>
        <p:grpSpPr>
          <a:xfrm>
            <a:off x="4035707" y="1734331"/>
            <a:ext cx="397348" cy="397348"/>
            <a:chOff x="3433764" y="1371600"/>
            <a:chExt cx="317500" cy="317500"/>
          </a:xfrm>
          <a:solidFill>
            <a:srgbClr val="00A2E2"/>
          </a:solidFill>
        </p:grpSpPr>
        <p:sp>
          <p:nvSpPr>
            <p:cNvPr id="11" name="Freeform 13">
              <a:extLst>
                <a:ext uri="{FF2B5EF4-FFF2-40B4-BE49-F238E27FC236}">
                  <a16:creationId xmlns:a16="http://schemas.microsoft.com/office/drawing/2014/main" id="{D0289142-A38E-3B40-9FCF-C33017335531}"/>
                </a:ext>
              </a:extLst>
            </p:cNvPr>
            <p:cNvSpPr>
              <a:spLocks noEditPoints="1"/>
            </p:cNvSpPr>
            <p:nvPr/>
          </p:nvSpPr>
          <p:spPr bwMode="auto">
            <a:xfrm>
              <a:off x="3433764" y="1371600"/>
              <a:ext cx="317500" cy="317500"/>
            </a:xfrm>
            <a:custGeom>
              <a:avLst/>
              <a:gdLst>
                <a:gd name="T0" fmla="*/ 108 w 215"/>
                <a:gd name="T1" fmla="*/ 215 h 215"/>
                <a:gd name="T2" fmla="*/ 184 w 215"/>
                <a:gd name="T3" fmla="*/ 183 h 215"/>
                <a:gd name="T4" fmla="*/ 215 w 215"/>
                <a:gd name="T5" fmla="*/ 108 h 215"/>
                <a:gd name="T6" fmla="*/ 184 w 215"/>
                <a:gd name="T7" fmla="*/ 32 h 215"/>
                <a:gd name="T8" fmla="*/ 108 w 215"/>
                <a:gd name="T9" fmla="*/ 0 h 215"/>
                <a:gd name="T10" fmla="*/ 32 w 215"/>
                <a:gd name="T11" fmla="*/ 32 h 215"/>
                <a:gd name="T12" fmla="*/ 0 w 215"/>
                <a:gd name="T13" fmla="*/ 108 h 215"/>
                <a:gd name="T14" fmla="*/ 32 w 215"/>
                <a:gd name="T15" fmla="*/ 183 h 215"/>
                <a:gd name="T16" fmla="*/ 108 w 215"/>
                <a:gd name="T17" fmla="*/ 215 h 215"/>
                <a:gd name="T18" fmla="*/ 41 w 215"/>
                <a:gd name="T19" fmla="*/ 41 h 215"/>
                <a:gd name="T20" fmla="*/ 108 w 215"/>
                <a:gd name="T21" fmla="*/ 14 h 215"/>
                <a:gd name="T22" fmla="*/ 174 w 215"/>
                <a:gd name="T23" fmla="*/ 41 h 215"/>
                <a:gd name="T24" fmla="*/ 202 w 215"/>
                <a:gd name="T25" fmla="*/ 108 h 215"/>
                <a:gd name="T26" fmla="*/ 174 w 215"/>
                <a:gd name="T27" fmla="*/ 174 h 215"/>
                <a:gd name="T28" fmla="*/ 108 w 215"/>
                <a:gd name="T29" fmla="*/ 202 h 215"/>
                <a:gd name="T30" fmla="*/ 41 w 215"/>
                <a:gd name="T31" fmla="*/ 174 h 215"/>
                <a:gd name="T32" fmla="*/ 14 w 215"/>
                <a:gd name="T33" fmla="*/ 108 h 215"/>
                <a:gd name="T34" fmla="*/ 41 w 215"/>
                <a:gd name="T35" fmla="*/ 4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15">
                  <a:moveTo>
                    <a:pt x="108" y="215"/>
                  </a:moveTo>
                  <a:cubicBezTo>
                    <a:pt x="136" y="215"/>
                    <a:pt x="163" y="204"/>
                    <a:pt x="184" y="183"/>
                  </a:cubicBezTo>
                  <a:cubicBezTo>
                    <a:pt x="204" y="163"/>
                    <a:pt x="215" y="136"/>
                    <a:pt x="215" y="108"/>
                  </a:cubicBezTo>
                  <a:cubicBezTo>
                    <a:pt x="215" y="79"/>
                    <a:pt x="204" y="52"/>
                    <a:pt x="184" y="32"/>
                  </a:cubicBezTo>
                  <a:cubicBezTo>
                    <a:pt x="163" y="11"/>
                    <a:pt x="136" y="0"/>
                    <a:pt x="108" y="0"/>
                  </a:cubicBezTo>
                  <a:cubicBezTo>
                    <a:pt x="79" y="0"/>
                    <a:pt x="52" y="11"/>
                    <a:pt x="32" y="32"/>
                  </a:cubicBezTo>
                  <a:cubicBezTo>
                    <a:pt x="12" y="52"/>
                    <a:pt x="0" y="79"/>
                    <a:pt x="0" y="108"/>
                  </a:cubicBezTo>
                  <a:cubicBezTo>
                    <a:pt x="0" y="136"/>
                    <a:pt x="12" y="163"/>
                    <a:pt x="32" y="183"/>
                  </a:cubicBezTo>
                  <a:cubicBezTo>
                    <a:pt x="52" y="204"/>
                    <a:pt x="79" y="215"/>
                    <a:pt x="108" y="215"/>
                  </a:cubicBezTo>
                  <a:close/>
                  <a:moveTo>
                    <a:pt x="41" y="41"/>
                  </a:moveTo>
                  <a:cubicBezTo>
                    <a:pt x="59" y="23"/>
                    <a:pt x="83" y="14"/>
                    <a:pt x="108" y="14"/>
                  </a:cubicBezTo>
                  <a:cubicBezTo>
                    <a:pt x="133" y="14"/>
                    <a:pt x="156" y="23"/>
                    <a:pt x="174" y="41"/>
                  </a:cubicBezTo>
                  <a:cubicBezTo>
                    <a:pt x="192" y="59"/>
                    <a:pt x="202" y="83"/>
                    <a:pt x="202" y="108"/>
                  </a:cubicBezTo>
                  <a:cubicBezTo>
                    <a:pt x="202" y="133"/>
                    <a:pt x="192" y="156"/>
                    <a:pt x="174" y="174"/>
                  </a:cubicBezTo>
                  <a:cubicBezTo>
                    <a:pt x="156" y="192"/>
                    <a:pt x="133" y="202"/>
                    <a:pt x="108" y="202"/>
                  </a:cubicBezTo>
                  <a:cubicBezTo>
                    <a:pt x="83" y="202"/>
                    <a:pt x="59" y="192"/>
                    <a:pt x="41" y="174"/>
                  </a:cubicBezTo>
                  <a:cubicBezTo>
                    <a:pt x="24" y="156"/>
                    <a:pt x="14" y="133"/>
                    <a:pt x="14" y="108"/>
                  </a:cubicBezTo>
                  <a:cubicBezTo>
                    <a:pt x="14" y="83"/>
                    <a:pt x="24" y="59"/>
                    <a:pt x="41"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sp>
          <p:nvSpPr>
            <p:cNvPr id="12" name="Freeform 14">
              <a:extLst>
                <a:ext uri="{FF2B5EF4-FFF2-40B4-BE49-F238E27FC236}">
                  <a16:creationId xmlns:a16="http://schemas.microsoft.com/office/drawing/2014/main" id="{065181D1-CC65-974F-861D-18AD8E3EF4E2}"/>
                </a:ext>
              </a:extLst>
            </p:cNvPr>
            <p:cNvSpPr>
              <a:spLocks/>
            </p:cNvSpPr>
            <p:nvPr/>
          </p:nvSpPr>
          <p:spPr bwMode="auto">
            <a:xfrm>
              <a:off x="3486151" y="1460500"/>
              <a:ext cx="201613" cy="149225"/>
            </a:xfrm>
            <a:custGeom>
              <a:avLst/>
              <a:gdLst>
                <a:gd name="T0" fmla="*/ 45 w 136"/>
                <a:gd name="T1" fmla="*/ 101 h 101"/>
                <a:gd name="T2" fmla="*/ 45 w 136"/>
                <a:gd name="T3" fmla="*/ 101 h 101"/>
                <a:gd name="T4" fmla="*/ 50 w 136"/>
                <a:gd name="T5" fmla="*/ 99 h 101"/>
                <a:gd name="T6" fmla="*/ 134 w 136"/>
                <a:gd name="T7" fmla="*/ 12 h 101"/>
                <a:gd name="T8" fmla="*/ 133 w 136"/>
                <a:gd name="T9" fmla="*/ 3 h 101"/>
                <a:gd name="T10" fmla="*/ 124 w 136"/>
                <a:gd name="T11" fmla="*/ 3 h 101"/>
                <a:gd name="T12" fmla="*/ 45 w 136"/>
                <a:gd name="T13" fmla="*/ 85 h 101"/>
                <a:gd name="T14" fmla="*/ 13 w 136"/>
                <a:gd name="T15" fmla="*/ 47 h 101"/>
                <a:gd name="T16" fmla="*/ 4 w 136"/>
                <a:gd name="T17" fmla="*/ 46 h 101"/>
                <a:gd name="T18" fmla="*/ 3 w 136"/>
                <a:gd name="T19" fmla="*/ 55 h 101"/>
                <a:gd name="T20" fmla="*/ 40 w 136"/>
                <a:gd name="T21" fmla="*/ 99 h 101"/>
                <a:gd name="T22" fmla="*/ 45 w 136"/>
                <a:gd name="T23"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6" h="101">
                  <a:moveTo>
                    <a:pt x="45" y="101"/>
                  </a:moveTo>
                  <a:cubicBezTo>
                    <a:pt x="45" y="101"/>
                    <a:pt x="45" y="101"/>
                    <a:pt x="45" y="101"/>
                  </a:cubicBezTo>
                  <a:cubicBezTo>
                    <a:pt x="47" y="101"/>
                    <a:pt x="48" y="101"/>
                    <a:pt x="50" y="99"/>
                  </a:cubicBezTo>
                  <a:cubicBezTo>
                    <a:pt x="134" y="12"/>
                    <a:pt x="134" y="12"/>
                    <a:pt x="134" y="12"/>
                  </a:cubicBezTo>
                  <a:cubicBezTo>
                    <a:pt x="136" y="9"/>
                    <a:pt x="136" y="5"/>
                    <a:pt x="133" y="3"/>
                  </a:cubicBezTo>
                  <a:cubicBezTo>
                    <a:pt x="131" y="0"/>
                    <a:pt x="126" y="0"/>
                    <a:pt x="124" y="3"/>
                  </a:cubicBezTo>
                  <a:cubicBezTo>
                    <a:pt x="45" y="85"/>
                    <a:pt x="45" y="85"/>
                    <a:pt x="45" y="85"/>
                  </a:cubicBezTo>
                  <a:cubicBezTo>
                    <a:pt x="13" y="47"/>
                    <a:pt x="13" y="47"/>
                    <a:pt x="13" y="47"/>
                  </a:cubicBezTo>
                  <a:cubicBezTo>
                    <a:pt x="11" y="44"/>
                    <a:pt x="6" y="43"/>
                    <a:pt x="4" y="46"/>
                  </a:cubicBezTo>
                  <a:cubicBezTo>
                    <a:pt x="1" y="48"/>
                    <a:pt x="0" y="52"/>
                    <a:pt x="3" y="55"/>
                  </a:cubicBezTo>
                  <a:cubicBezTo>
                    <a:pt x="40" y="99"/>
                    <a:pt x="40" y="99"/>
                    <a:pt x="40" y="99"/>
                  </a:cubicBezTo>
                  <a:cubicBezTo>
                    <a:pt x="41" y="100"/>
                    <a:pt x="43" y="101"/>
                    <a:pt x="45"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grpSp>
      <p:grpSp>
        <p:nvGrpSpPr>
          <p:cNvPr id="16" name="Group 15">
            <a:extLst>
              <a:ext uri="{FF2B5EF4-FFF2-40B4-BE49-F238E27FC236}">
                <a16:creationId xmlns:a16="http://schemas.microsoft.com/office/drawing/2014/main" id="{A6F44BA8-5527-084E-B80F-A3A4FFE7C50E}"/>
              </a:ext>
            </a:extLst>
          </p:cNvPr>
          <p:cNvGrpSpPr/>
          <p:nvPr/>
        </p:nvGrpSpPr>
        <p:grpSpPr>
          <a:xfrm>
            <a:off x="4035707" y="2926523"/>
            <a:ext cx="397348" cy="397348"/>
            <a:chOff x="3433764" y="1371600"/>
            <a:chExt cx="317500" cy="317500"/>
          </a:xfrm>
          <a:solidFill>
            <a:srgbClr val="00A2E2"/>
          </a:solidFill>
        </p:grpSpPr>
        <p:sp>
          <p:nvSpPr>
            <p:cNvPr id="17" name="Freeform 13">
              <a:extLst>
                <a:ext uri="{FF2B5EF4-FFF2-40B4-BE49-F238E27FC236}">
                  <a16:creationId xmlns:a16="http://schemas.microsoft.com/office/drawing/2014/main" id="{9E8C6E41-5045-DF4F-98D1-3390818F2A4A}"/>
                </a:ext>
              </a:extLst>
            </p:cNvPr>
            <p:cNvSpPr>
              <a:spLocks noEditPoints="1"/>
            </p:cNvSpPr>
            <p:nvPr/>
          </p:nvSpPr>
          <p:spPr bwMode="auto">
            <a:xfrm>
              <a:off x="3433764" y="1371600"/>
              <a:ext cx="317500" cy="317500"/>
            </a:xfrm>
            <a:custGeom>
              <a:avLst/>
              <a:gdLst>
                <a:gd name="T0" fmla="*/ 108 w 215"/>
                <a:gd name="T1" fmla="*/ 215 h 215"/>
                <a:gd name="T2" fmla="*/ 184 w 215"/>
                <a:gd name="T3" fmla="*/ 183 h 215"/>
                <a:gd name="T4" fmla="*/ 215 w 215"/>
                <a:gd name="T5" fmla="*/ 108 h 215"/>
                <a:gd name="T6" fmla="*/ 184 w 215"/>
                <a:gd name="T7" fmla="*/ 32 h 215"/>
                <a:gd name="T8" fmla="*/ 108 w 215"/>
                <a:gd name="T9" fmla="*/ 0 h 215"/>
                <a:gd name="T10" fmla="*/ 32 w 215"/>
                <a:gd name="T11" fmla="*/ 32 h 215"/>
                <a:gd name="T12" fmla="*/ 0 w 215"/>
                <a:gd name="T13" fmla="*/ 108 h 215"/>
                <a:gd name="T14" fmla="*/ 32 w 215"/>
                <a:gd name="T15" fmla="*/ 183 h 215"/>
                <a:gd name="T16" fmla="*/ 108 w 215"/>
                <a:gd name="T17" fmla="*/ 215 h 215"/>
                <a:gd name="T18" fmla="*/ 41 w 215"/>
                <a:gd name="T19" fmla="*/ 41 h 215"/>
                <a:gd name="T20" fmla="*/ 108 w 215"/>
                <a:gd name="T21" fmla="*/ 14 h 215"/>
                <a:gd name="T22" fmla="*/ 174 w 215"/>
                <a:gd name="T23" fmla="*/ 41 h 215"/>
                <a:gd name="T24" fmla="*/ 202 w 215"/>
                <a:gd name="T25" fmla="*/ 108 h 215"/>
                <a:gd name="T26" fmla="*/ 174 w 215"/>
                <a:gd name="T27" fmla="*/ 174 h 215"/>
                <a:gd name="T28" fmla="*/ 108 w 215"/>
                <a:gd name="T29" fmla="*/ 202 h 215"/>
                <a:gd name="T30" fmla="*/ 41 w 215"/>
                <a:gd name="T31" fmla="*/ 174 h 215"/>
                <a:gd name="T32" fmla="*/ 14 w 215"/>
                <a:gd name="T33" fmla="*/ 108 h 215"/>
                <a:gd name="T34" fmla="*/ 41 w 215"/>
                <a:gd name="T35" fmla="*/ 4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15">
                  <a:moveTo>
                    <a:pt x="108" y="215"/>
                  </a:moveTo>
                  <a:cubicBezTo>
                    <a:pt x="136" y="215"/>
                    <a:pt x="163" y="204"/>
                    <a:pt x="184" y="183"/>
                  </a:cubicBezTo>
                  <a:cubicBezTo>
                    <a:pt x="204" y="163"/>
                    <a:pt x="215" y="136"/>
                    <a:pt x="215" y="108"/>
                  </a:cubicBezTo>
                  <a:cubicBezTo>
                    <a:pt x="215" y="79"/>
                    <a:pt x="204" y="52"/>
                    <a:pt x="184" y="32"/>
                  </a:cubicBezTo>
                  <a:cubicBezTo>
                    <a:pt x="163" y="11"/>
                    <a:pt x="136" y="0"/>
                    <a:pt x="108" y="0"/>
                  </a:cubicBezTo>
                  <a:cubicBezTo>
                    <a:pt x="79" y="0"/>
                    <a:pt x="52" y="11"/>
                    <a:pt x="32" y="32"/>
                  </a:cubicBezTo>
                  <a:cubicBezTo>
                    <a:pt x="12" y="52"/>
                    <a:pt x="0" y="79"/>
                    <a:pt x="0" y="108"/>
                  </a:cubicBezTo>
                  <a:cubicBezTo>
                    <a:pt x="0" y="136"/>
                    <a:pt x="12" y="163"/>
                    <a:pt x="32" y="183"/>
                  </a:cubicBezTo>
                  <a:cubicBezTo>
                    <a:pt x="52" y="204"/>
                    <a:pt x="79" y="215"/>
                    <a:pt x="108" y="215"/>
                  </a:cubicBezTo>
                  <a:close/>
                  <a:moveTo>
                    <a:pt x="41" y="41"/>
                  </a:moveTo>
                  <a:cubicBezTo>
                    <a:pt x="59" y="23"/>
                    <a:pt x="83" y="14"/>
                    <a:pt x="108" y="14"/>
                  </a:cubicBezTo>
                  <a:cubicBezTo>
                    <a:pt x="133" y="14"/>
                    <a:pt x="156" y="23"/>
                    <a:pt x="174" y="41"/>
                  </a:cubicBezTo>
                  <a:cubicBezTo>
                    <a:pt x="192" y="59"/>
                    <a:pt x="202" y="83"/>
                    <a:pt x="202" y="108"/>
                  </a:cubicBezTo>
                  <a:cubicBezTo>
                    <a:pt x="202" y="133"/>
                    <a:pt x="192" y="156"/>
                    <a:pt x="174" y="174"/>
                  </a:cubicBezTo>
                  <a:cubicBezTo>
                    <a:pt x="156" y="192"/>
                    <a:pt x="133" y="202"/>
                    <a:pt x="108" y="202"/>
                  </a:cubicBezTo>
                  <a:cubicBezTo>
                    <a:pt x="83" y="202"/>
                    <a:pt x="59" y="192"/>
                    <a:pt x="41" y="174"/>
                  </a:cubicBezTo>
                  <a:cubicBezTo>
                    <a:pt x="24" y="156"/>
                    <a:pt x="14" y="133"/>
                    <a:pt x="14" y="108"/>
                  </a:cubicBezTo>
                  <a:cubicBezTo>
                    <a:pt x="14" y="83"/>
                    <a:pt x="24" y="59"/>
                    <a:pt x="41"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sp>
          <p:nvSpPr>
            <p:cNvPr id="18" name="Freeform 14">
              <a:extLst>
                <a:ext uri="{FF2B5EF4-FFF2-40B4-BE49-F238E27FC236}">
                  <a16:creationId xmlns:a16="http://schemas.microsoft.com/office/drawing/2014/main" id="{02AB9C2C-3B4E-B54B-93B9-D85C243B22AD}"/>
                </a:ext>
              </a:extLst>
            </p:cNvPr>
            <p:cNvSpPr>
              <a:spLocks/>
            </p:cNvSpPr>
            <p:nvPr/>
          </p:nvSpPr>
          <p:spPr bwMode="auto">
            <a:xfrm>
              <a:off x="3486151" y="1460500"/>
              <a:ext cx="201613" cy="149225"/>
            </a:xfrm>
            <a:custGeom>
              <a:avLst/>
              <a:gdLst>
                <a:gd name="T0" fmla="*/ 45 w 136"/>
                <a:gd name="T1" fmla="*/ 101 h 101"/>
                <a:gd name="T2" fmla="*/ 45 w 136"/>
                <a:gd name="T3" fmla="*/ 101 h 101"/>
                <a:gd name="T4" fmla="*/ 50 w 136"/>
                <a:gd name="T5" fmla="*/ 99 h 101"/>
                <a:gd name="T6" fmla="*/ 134 w 136"/>
                <a:gd name="T7" fmla="*/ 12 h 101"/>
                <a:gd name="T8" fmla="*/ 133 w 136"/>
                <a:gd name="T9" fmla="*/ 3 h 101"/>
                <a:gd name="T10" fmla="*/ 124 w 136"/>
                <a:gd name="T11" fmla="*/ 3 h 101"/>
                <a:gd name="T12" fmla="*/ 45 w 136"/>
                <a:gd name="T13" fmla="*/ 85 h 101"/>
                <a:gd name="T14" fmla="*/ 13 w 136"/>
                <a:gd name="T15" fmla="*/ 47 h 101"/>
                <a:gd name="T16" fmla="*/ 4 w 136"/>
                <a:gd name="T17" fmla="*/ 46 h 101"/>
                <a:gd name="T18" fmla="*/ 3 w 136"/>
                <a:gd name="T19" fmla="*/ 55 h 101"/>
                <a:gd name="T20" fmla="*/ 40 w 136"/>
                <a:gd name="T21" fmla="*/ 99 h 101"/>
                <a:gd name="T22" fmla="*/ 45 w 136"/>
                <a:gd name="T23"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6" h="101">
                  <a:moveTo>
                    <a:pt x="45" y="101"/>
                  </a:moveTo>
                  <a:cubicBezTo>
                    <a:pt x="45" y="101"/>
                    <a:pt x="45" y="101"/>
                    <a:pt x="45" y="101"/>
                  </a:cubicBezTo>
                  <a:cubicBezTo>
                    <a:pt x="47" y="101"/>
                    <a:pt x="48" y="101"/>
                    <a:pt x="50" y="99"/>
                  </a:cubicBezTo>
                  <a:cubicBezTo>
                    <a:pt x="134" y="12"/>
                    <a:pt x="134" y="12"/>
                    <a:pt x="134" y="12"/>
                  </a:cubicBezTo>
                  <a:cubicBezTo>
                    <a:pt x="136" y="9"/>
                    <a:pt x="136" y="5"/>
                    <a:pt x="133" y="3"/>
                  </a:cubicBezTo>
                  <a:cubicBezTo>
                    <a:pt x="131" y="0"/>
                    <a:pt x="126" y="0"/>
                    <a:pt x="124" y="3"/>
                  </a:cubicBezTo>
                  <a:cubicBezTo>
                    <a:pt x="45" y="85"/>
                    <a:pt x="45" y="85"/>
                    <a:pt x="45" y="85"/>
                  </a:cubicBezTo>
                  <a:cubicBezTo>
                    <a:pt x="13" y="47"/>
                    <a:pt x="13" y="47"/>
                    <a:pt x="13" y="47"/>
                  </a:cubicBezTo>
                  <a:cubicBezTo>
                    <a:pt x="11" y="44"/>
                    <a:pt x="6" y="43"/>
                    <a:pt x="4" y="46"/>
                  </a:cubicBezTo>
                  <a:cubicBezTo>
                    <a:pt x="1" y="48"/>
                    <a:pt x="0" y="52"/>
                    <a:pt x="3" y="55"/>
                  </a:cubicBezTo>
                  <a:cubicBezTo>
                    <a:pt x="40" y="99"/>
                    <a:pt x="40" y="99"/>
                    <a:pt x="40" y="99"/>
                  </a:cubicBezTo>
                  <a:cubicBezTo>
                    <a:pt x="41" y="100"/>
                    <a:pt x="43" y="101"/>
                    <a:pt x="45"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grpSp>
      <p:grpSp>
        <p:nvGrpSpPr>
          <p:cNvPr id="22" name="Group 21">
            <a:extLst>
              <a:ext uri="{FF2B5EF4-FFF2-40B4-BE49-F238E27FC236}">
                <a16:creationId xmlns:a16="http://schemas.microsoft.com/office/drawing/2014/main" id="{E4A2E819-5DA0-514A-A69E-D0611905E446}"/>
              </a:ext>
            </a:extLst>
          </p:cNvPr>
          <p:cNvGrpSpPr/>
          <p:nvPr/>
        </p:nvGrpSpPr>
        <p:grpSpPr>
          <a:xfrm>
            <a:off x="4035707" y="4188163"/>
            <a:ext cx="397348" cy="397348"/>
            <a:chOff x="3433764" y="1371600"/>
            <a:chExt cx="317500" cy="317500"/>
          </a:xfrm>
          <a:solidFill>
            <a:srgbClr val="00A2E2"/>
          </a:solidFill>
        </p:grpSpPr>
        <p:sp>
          <p:nvSpPr>
            <p:cNvPr id="23" name="Freeform 13">
              <a:extLst>
                <a:ext uri="{FF2B5EF4-FFF2-40B4-BE49-F238E27FC236}">
                  <a16:creationId xmlns:a16="http://schemas.microsoft.com/office/drawing/2014/main" id="{2A9A0187-EA79-454F-AAE2-E21F46F8EBE2}"/>
                </a:ext>
              </a:extLst>
            </p:cNvPr>
            <p:cNvSpPr>
              <a:spLocks noEditPoints="1"/>
            </p:cNvSpPr>
            <p:nvPr/>
          </p:nvSpPr>
          <p:spPr bwMode="auto">
            <a:xfrm>
              <a:off x="3433764" y="1371600"/>
              <a:ext cx="317500" cy="317500"/>
            </a:xfrm>
            <a:custGeom>
              <a:avLst/>
              <a:gdLst>
                <a:gd name="T0" fmla="*/ 108 w 215"/>
                <a:gd name="T1" fmla="*/ 215 h 215"/>
                <a:gd name="T2" fmla="*/ 184 w 215"/>
                <a:gd name="T3" fmla="*/ 183 h 215"/>
                <a:gd name="T4" fmla="*/ 215 w 215"/>
                <a:gd name="T5" fmla="*/ 108 h 215"/>
                <a:gd name="T6" fmla="*/ 184 w 215"/>
                <a:gd name="T7" fmla="*/ 32 h 215"/>
                <a:gd name="T8" fmla="*/ 108 w 215"/>
                <a:gd name="T9" fmla="*/ 0 h 215"/>
                <a:gd name="T10" fmla="*/ 32 w 215"/>
                <a:gd name="T11" fmla="*/ 32 h 215"/>
                <a:gd name="T12" fmla="*/ 0 w 215"/>
                <a:gd name="T13" fmla="*/ 108 h 215"/>
                <a:gd name="T14" fmla="*/ 32 w 215"/>
                <a:gd name="T15" fmla="*/ 183 h 215"/>
                <a:gd name="T16" fmla="*/ 108 w 215"/>
                <a:gd name="T17" fmla="*/ 215 h 215"/>
                <a:gd name="T18" fmla="*/ 41 w 215"/>
                <a:gd name="T19" fmla="*/ 41 h 215"/>
                <a:gd name="T20" fmla="*/ 108 w 215"/>
                <a:gd name="T21" fmla="*/ 14 h 215"/>
                <a:gd name="T22" fmla="*/ 174 w 215"/>
                <a:gd name="T23" fmla="*/ 41 h 215"/>
                <a:gd name="T24" fmla="*/ 202 w 215"/>
                <a:gd name="T25" fmla="*/ 108 h 215"/>
                <a:gd name="T26" fmla="*/ 174 w 215"/>
                <a:gd name="T27" fmla="*/ 174 h 215"/>
                <a:gd name="T28" fmla="*/ 108 w 215"/>
                <a:gd name="T29" fmla="*/ 202 h 215"/>
                <a:gd name="T30" fmla="*/ 41 w 215"/>
                <a:gd name="T31" fmla="*/ 174 h 215"/>
                <a:gd name="T32" fmla="*/ 14 w 215"/>
                <a:gd name="T33" fmla="*/ 108 h 215"/>
                <a:gd name="T34" fmla="*/ 41 w 215"/>
                <a:gd name="T35" fmla="*/ 4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15">
                  <a:moveTo>
                    <a:pt x="108" y="215"/>
                  </a:moveTo>
                  <a:cubicBezTo>
                    <a:pt x="136" y="215"/>
                    <a:pt x="163" y="204"/>
                    <a:pt x="184" y="183"/>
                  </a:cubicBezTo>
                  <a:cubicBezTo>
                    <a:pt x="204" y="163"/>
                    <a:pt x="215" y="136"/>
                    <a:pt x="215" y="108"/>
                  </a:cubicBezTo>
                  <a:cubicBezTo>
                    <a:pt x="215" y="79"/>
                    <a:pt x="204" y="52"/>
                    <a:pt x="184" y="32"/>
                  </a:cubicBezTo>
                  <a:cubicBezTo>
                    <a:pt x="163" y="11"/>
                    <a:pt x="136" y="0"/>
                    <a:pt x="108" y="0"/>
                  </a:cubicBezTo>
                  <a:cubicBezTo>
                    <a:pt x="79" y="0"/>
                    <a:pt x="52" y="11"/>
                    <a:pt x="32" y="32"/>
                  </a:cubicBezTo>
                  <a:cubicBezTo>
                    <a:pt x="12" y="52"/>
                    <a:pt x="0" y="79"/>
                    <a:pt x="0" y="108"/>
                  </a:cubicBezTo>
                  <a:cubicBezTo>
                    <a:pt x="0" y="136"/>
                    <a:pt x="12" y="163"/>
                    <a:pt x="32" y="183"/>
                  </a:cubicBezTo>
                  <a:cubicBezTo>
                    <a:pt x="52" y="204"/>
                    <a:pt x="79" y="215"/>
                    <a:pt x="108" y="215"/>
                  </a:cubicBezTo>
                  <a:close/>
                  <a:moveTo>
                    <a:pt x="41" y="41"/>
                  </a:moveTo>
                  <a:cubicBezTo>
                    <a:pt x="59" y="23"/>
                    <a:pt x="83" y="14"/>
                    <a:pt x="108" y="14"/>
                  </a:cubicBezTo>
                  <a:cubicBezTo>
                    <a:pt x="133" y="14"/>
                    <a:pt x="156" y="23"/>
                    <a:pt x="174" y="41"/>
                  </a:cubicBezTo>
                  <a:cubicBezTo>
                    <a:pt x="192" y="59"/>
                    <a:pt x="202" y="83"/>
                    <a:pt x="202" y="108"/>
                  </a:cubicBezTo>
                  <a:cubicBezTo>
                    <a:pt x="202" y="133"/>
                    <a:pt x="192" y="156"/>
                    <a:pt x="174" y="174"/>
                  </a:cubicBezTo>
                  <a:cubicBezTo>
                    <a:pt x="156" y="192"/>
                    <a:pt x="133" y="202"/>
                    <a:pt x="108" y="202"/>
                  </a:cubicBezTo>
                  <a:cubicBezTo>
                    <a:pt x="83" y="202"/>
                    <a:pt x="59" y="192"/>
                    <a:pt x="41" y="174"/>
                  </a:cubicBezTo>
                  <a:cubicBezTo>
                    <a:pt x="24" y="156"/>
                    <a:pt x="14" y="133"/>
                    <a:pt x="14" y="108"/>
                  </a:cubicBezTo>
                  <a:cubicBezTo>
                    <a:pt x="14" y="83"/>
                    <a:pt x="24" y="59"/>
                    <a:pt x="41"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sp>
          <p:nvSpPr>
            <p:cNvPr id="24" name="Freeform 14">
              <a:extLst>
                <a:ext uri="{FF2B5EF4-FFF2-40B4-BE49-F238E27FC236}">
                  <a16:creationId xmlns:a16="http://schemas.microsoft.com/office/drawing/2014/main" id="{DFF6EC8E-F5E8-B447-B895-F9FA8EC385AD}"/>
                </a:ext>
              </a:extLst>
            </p:cNvPr>
            <p:cNvSpPr>
              <a:spLocks/>
            </p:cNvSpPr>
            <p:nvPr/>
          </p:nvSpPr>
          <p:spPr bwMode="auto">
            <a:xfrm>
              <a:off x="3486151" y="1460500"/>
              <a:ext cx="201613" cy="149225"/>
            </a:xfrm>
            <a:custGeom>
              <a:avLst/>
              <a:gdLst>
                <a:gd name="T0" fmla="*/ 45 w 136"/>
                <a:gd name="T1" fmla="*/ 101 h 101"/>
                <a:gd name="T2" fmla="*/ 45 w 136"/>
                <a:gd name="T3" fmla="*/ 101 h 101"/>
                <a:gd name="T4" fmla="*/ 50 w 136"/>
                <a:gd name="T5" fmla="*/ 99 h 101"/>
                <a:gd name="T6" fmla="*/ 134 w 136"/>
                <a:gd name="T7" fmla="*/ 12 h 101"/>
                <a:gd name="T8" fmla="*/ 133 w 136"/>
                <a:gd name="T9" fmla="*/ 3 h 101"/>
                <a:gd name="T10" fmla="*/ 124 w 136"/>
                <a:gd name="T11" fmla="*/ 3 h 101"/>
                <a:gd name="T12" fmla="*/ 45 w 136"/>
                <a:gd name="T13" fmla="*/ 85 h 101"/>
                <a:gd name="T14" fmla="*/ 13 w 136"/>
                <a:gd name="T15" fmla="*/ 47 h 101"/>
                <a:gd name="T16" fmla="*/ 4 w 136"/>
                <a:gd name="T17" fmla="*/ 46 h 101"/>
                <a:gd name="T18" fmla="*/ 3 w 136"/>
                <a:gd name="T19" fmla="*/ 55 h 101"/>
                <a:gd name="T20" fmla="*/ 40 w 136"/>
                <a:gd name="T21" fmla="*/ 99 h 101"/>
                <a:gd name="T22" fmla="*/ 45 w 136"/>
                <a:gd name="T23"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6" h="101">
                  <a:moveTo>
                    <a:pt x="45" y="101"/>
                  </a:moveTo>
                  <a:cubicBezTo>
                    <a:pt x="45" y="101"/>
                    <a:pt x="45" y="101"/>
                    <a:pt x="45" y="101"/>
                  </a:cubicBezTo>
                  <a:cubicBezTo>
                    <a:pt x="47" y="101"/>
                    <a:pt x="48" y="101"/>
                    <a:pt x="50" y="99"/>
                  </a:cubicBezTo>
                  <a:cubicBezTo>
                    <a:pt x="134" y="12"/>
                    <a:pt x="134" y="12"/>
                    <a:pt x="134" y="12"/>
                  </a:cubicBezTo>
                  <a:cubicBezTo>
                    <a:pt x="136" y="9"/>
                    <a:pt x="136" y="5"/>
                    <a:pt x="133" y="3"/>
                  </a:cubicBezTo>
                  <a:cubicBezTo>
                    <a:pt x="131" y="0"/>
                    <a:pt x="126" y="0"/>
                    <a:pt x="124" y="3"/>
                  </a:cubicBezTo>
                  <a:cubicBezTo>
                    <a:pt x="45" y="85"/>
                    <a:pt x="45" y="85"/>
                    <a:pt x="45" y="85"/>
                  </a:cubicBezTo>
                  <a:cubicBezTo>
                    <a:pt x="13" y="47"/>
                    <a:pt x="13" y="47"/>
                    <a:pt x="13" y="47"/>
                  </a:cubicBezTo>
                  <a:cubicBezTo>
                    <a:pt x="11" y="44"/>
                    <a:pt x="6" y="43"/>
                    <a:pt x="4" y="46"/>
                  </a:cubicBezTo>
                  <a:cubicBezTo>
                    <a:pt x="1" y="48"/>
                    <a:pt x="0" y="52"/>
                    <a:pt x="3" y="55"/>
                  </a:cubicBezTo>
                  <a:cubicBezTo>
                    <a:pt x="40" y="99"/>
                    <a:pt x="40" y="99"/>
                    <a:pt x="40" y="99"/>
                  </a:cubicBezTo>
                  <a:cubicBezTo>
                    <a:pt x="41" y="100"/>
                    <a:pt x="43" y="101"/>
                    <a:pt x="45"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grpSp>
      <p:grpSp>
        <p:nvGrpSpPr>
          <p:cNvPr id="28" name="Group 27">
            <a:extLst>
              <a:ext uri="{FF2B5EF4-FFF2-40B4-BE49-F238E27FC236}">
                <a16:creationId xmlns:a16="http://schemas.microsoft.com/office/drawing/2014/main" id="{3250D37C-99D4-5642-A128-1789C53682E3}"/>
              </a:ext>
            </a:extLst>
          </p:cNvPr>
          <p:cNvGrpSpPr/>
          <p:nvPr/>
        </p:nvGrpSpPr>
        <p:grpSpPr>
          <a:xfrm>
            <a:off x="4035707" y="5403504"/>
            <a:ext cx="397348" cy="397348"/>
            <a:chOff x="3433764" y="1371600"/>
            <a:chExt cx="317500" cy="317500"/>
          </a:xfrm>
          <a:solidFill>
            <a:srgbClr val="00A2E2"/>
          </a:solidFill>
        </p:grpSpPr>
        <p:sp>
          <p:nvSpPr>
            <p:cNvPr id="29" name="Freeform 13">
              <a:extLst>
                <a:ext uri="{FF2B5EF4-FFF2-40B4-BE49-F238E27FC236}">
                  <a16:creationId xmlns:a16="http://schemas.microsoft.com/office/drawing/2014/main" id="{E328DE08-9AF1-524A-ABE9-B5DCA72C9ECA}"/>
                </a:ext>
              </a:extLst>
            </p:cNvPr>
            <p:cNvSpPr>
              <a:spLocks noEditPoints="1"/>
            </p:cNvSpPr>
            <p:nvPr/>
          </p:nvSpPr>
          <p:spPr bwMode="auto">
            <a:xfrm>
              <a:off x="3433764" y="1371600"/>
              <a:ext cx="317500" cy="317500"/>
            </a:xfrm>
            <a:custGeom>
              <a:avLst/>
              <a:gdLst>
                <a:gd name="T0" fmla="*/ 108 w 215"/>
                <a:gd name="T1" fmla="*/ 215 h 215"/>
                <a:gd name="T2" fmla="*/ 184 w 215"/>
                <a:gd name="T3" fmla="*/ 183 h 215"/>
                <a:gd name="T4" fmla="*/ 215 w 215"/>
                <a:gd name="T5" fmla="*/ 108 h 215"/>
                <a:gd name="T6" fmla="*/ 184 w 215"/>
                <a:gd name="T7" fmla="*/ 32 h 215"/>
                <a:gd name="T8" fmla="*/ 108 w 215"/>
                <a:gd name="T9" fmla="*/ 0 h 215"/>
                <a:gd name="T10" fmla="*/ 32 w 215"/>
                <a:gd name="T11" fmla="*/ 32 h 215"/>
                <a:gd name="T12" fmla="*/ 0 w 215"/>
                <a:gd name="T13" fmla="*/ 108 h 215"/>
                <a:gd name="T14" fmla="*/ 32 w 215"/>
                <a:gd name="T15" fmla="*/ 183 h 215"/>
                <a:gd name="T16" fmla="*/ 108 w 215"/>
                <a:gd name="T17" fmla="*/ 215 h 215"/>
                <a:gd name="T18" fmla="*/ 41 w 215"/>
                <a:gd name="T19" fmla="*/ 41 h 215"/>
                <a:gd name="T20" fmla="*/ 108 w 215"/>
                <a:gd name="T21" fmla="*/ 14 h 215"/>
                <a:gd name="T22" fmla="*/ 174 w 215"/>
                <a:gd name="T23" fmla="*/ 41 h 215"/>
                <a:gd name="T24" fmla="*/ 202 w 215"/>
                <a:gd name="T25" fmla="*/ 108 h 215"/>
                <a:gd name="T26" fmla="*/ 174 w 215"/>
                <a:gd name="T27" fmla="*/ 174 h 215"/>
                <a:gd name="T28" fmla="*/ 108 w 215"/>
                <a:gd name="T29" fmla="*/ 202 h 215"/>
                <a:gd name="T30" fmla="*/ 41 w 215"/>
                <a:gd name="T31" fmla="*/ 174 h 215"/>
                <a:gd name="T32" fmla="*/ 14 w 215"/>
                <a:gd name="T33" fmla="*/ 108 h 215"/>
                <a:gd name="T34" fmla="*/ 41 w 215"/>
                <a:gd name="T35" fmla="*/ 4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15">
                  <a:moveTo>
                    <a:pt x="108" y="215"/>
                  </a:moveTo>
                  <a:cubicBezTo>
                    <a:pt x="136" y="215"/>
                    <a:pt x="163" y="204"/>
                    <a:pt x="184" y="183"/>
                  </a:cubicBezTo>
                  <a:cubicBezTo>
                    <a:pt x="204" y="163"/>
                    <a:pt x="215" y="136"/>
                    <a:pt x="215" y="108"/>
                  </a:cubicBezTo>
                  <a:cubicBezTo>
                    <a:pt x="215" y="79"/>
                    <a:pt x="204" y="52"/>
                    <a:pt x="184" y="32"/>
                  </a:cubicBezTo>
                  <a:cubicBezTo>
                    <a:pt x="163" y="11"/>
                    <a:pt x="136" y="0"/>
                    <a:pt x="108" y="0"/>
                  </a:cubicBezTo>
                  <a:cubicBezTo>
                    <a:pt x="79" y="0"/>
                    <a:pt x="52" y="11"/>
                    <a:pt x="32" y="32"/>
                  </a:cubicBezTo>
                  <a:cubicBezTo>
                    <a:pt x="12" y="52"/>
                    <a:pt x="0" y="79"/>
                    <a:pt x="0" y="108"/>
                  </a:cubicBezTo>
                  <a:cubicBezTo>
                    <a:pt x="0" y="136"/>
                    <a:pt x="12" y="163"/>
                    <a:pt x="32" y="183"/>
                  </a:cubicBezTo>
                  <a:cubicBezTo>
                    <a:pt x="52" y="204"/>
                    <a:pt x="79" y="215"/>
                    <a:pt x="108" y="215"/>
                  </a:cubicBezTo>
                  <a:close/>
                  <a:moveTo>
                    <a:pt x="41" y="41"/>
                  </a:moveTo>
                  <a:cubicBezTo>
                    <a:pt x="59" y="23"/>
                    <a:pt x="83" y="14"/>
                    <a:pt x="108" y="14"/>
                  </a:cubicBezTo>
                  <a:cubicBezTo>
                    <a:pt x="133" y="14"/>
                    <a:pt x="156" y="23"/>
                    <a:pt x="174" y="41"/>
                  </a:cubicBezTo>
                  <a:cubicBezTo>
                    <a:pt x="192" y="59"/>
                    <a:pt x="202" y="83"/>
                    <a:pt x="202" y="108"/>
                  </a:cubicBezTo>
                  <a:cubicBezTo>
                    <a:pt x="202" y="133"/>
                    <a:pt x="192" y="156"/>
                    <a:pt x="174" y="174"/>
                  </a:cubicBezTo>
                  <a:cubicBezTo>
                    <a:pt x="156" y="192"/>
                    <a:pt x="133" y="202"/>
                    <a:pt x="108" y="202"/>
                  </a:cubicBezTo>
                  <a:cubicBezTo>
                    <a:pt x="83" y="202"/>
                    <a:pt x="59" y="192"/>
                    <a:pt x="41" y="174"/>
                  </a:cubicBezTo>
                  <a:cubicBezTo>
                    <a:pt x="24" y="156"/>
                    <a:pt x="14" y="133"/>
                    <a:pt x="14" y="108"/>
                  </a:cubicBezTo>
                  <a:cubicBezTo>
                    <a:pt x="14" y="83"/>
                    <a:pt x="24" y="59"/>
                    <a:pt x="41"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sp>
          <p:nvSpPr>
            <p:cNvPr id="30" name="Freeform 14">
              <a:extLst>
                <a:ext uri="{FF2B5EF4-FFF2-40B4-BE49-F238E27FC236}">
                  <a16:creationId xmlns:a16="http://schemas.microsoft.com/office/drawing/2014/main" id="{5499BDA8-DD75-A543-B1FA-6F5143D1C1E4}"/>
                </a:ext>
              </a:extLst>
            </p:cNvPr>
            <p:cNvSpPr>
              <a:spLocks/>
            </p:cNvSpPr>
            <p:nvPr/>
          </p:nvSpPr>
          <p:spPr bwMode="auto">
            <a:xfrm>
              <a:off x="3486151" y="1460500"/>
              <a:ext cx="201613" cy="149225"/>
            </a:xfrm>
            <a:custGeom>
              <a:avLst/>
              <a:gdLst>
                <a:gd name="T0" fmla="*/ 45 w 136"/>
                <a:gd name="T1" fmla="*/ 101 h 101"/>
                <a:gd name="T2" fmla="*/ 45 w 136"/>
                <a:gd name="T3" fmla="*/ 101 h 101"/>
                <a:gd name="T4" fmla="*/ 50 w 136"/>
                <a:gd name="T5" fmla="*/ 99 h 101"/>
                <a:gd name="T6" fmla="*/ 134 w 136"/>
                <a:gd name="T7" fmla="*/ 12 h 101"/>
                <a:gd name="T8" fmla="*/ 133 w 136"/>
                <a:gd name="T9" fmla="*/ 3 h 101"/>
                <a:gd name="T10" fmla="*/ 124 w 136"/>
                <a:gd name="T11" fmla="*/ 3 h 101"/>
                <a:gd name="T12" fmla="*/ 45 w 136"/>
                <a:gd name="T13" fmla="*/ 85 h 101"/>
                <a:gd name="T14" fmla="*/ 13 w 136"/>
                <a:gd name="T15" fmla="*/ 47 h 101"/>
                <a:gd name="T16" fmla="*/ 4 w 136"/>
                <a:gd name="T17" fmla="*/ 46 h 101"/>
                <a:gd name="T18" fmla="*/ 3 w 136"/>
                <a:gd name="T19" fmla="*/ 55 h 101"/>
                <a:gd name="T20" fmla="*/ 40 w 136"/>
                <a:gd name="T21" fmla="*/ 99 h 101"/>
                <a:gd name="T22" fmla="*/ 45 w 136"/>
                <a:gd name="T23"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6" h="101">
                  <a:moveTo>
                    <a:pt x="45" y="101"/>
                  </a:moveTo>
                  <a:cubicBezTo>
                    <a:pt x="45" y="101"/>
                    <a:pt x="45" y="101"/>
                    <a:pt x="45" y="101"/>
                  </a:cubicBezTo>
                  <a:cubicBezTo>
                    <a:pt x="47" y="101"/>
                    <a:pt x="48" y="101"/>
                    <a:pt x="50" y="99"/>
                  </a:cubicBezTo>
                  <a:cubicBezTo>
                    <a:pt x="134" y="12"/>
                    <a:pt x="134" y="12"/>
                    <a:pt x="134" y="12"/>
                  </a:cubicBezTo>
                  <a:cubicBezTo>
                    <a:pt x="136" y="9"/>
                    <a:pt x="136" y="5"/>
                    <a:pt x="133" y="3"/>
                  </a:cubicBezTo>
                  <a:cubicBezTo>
                    <a:pt x="131" y="0"/>
                    <a:pt x="126" y="0"/>
                    <a:pt x="124" y="3"/>
                  </a:cubicBezTo>
                  <a:cubicBezTo>
                    <a:pt x="45" y="85"/>
                    <a:pt x="45" y="85"/>
                    <a:pt x="45" y="85"/>
                  </a:cubicBezTo>
                  <a:cubicBezTo>
                    <a:pt x="13" y="47"/>
                    <a:pt x="13" y="47"/>
                    <a:pt x="13" y="47"/>
                  </a:cubicBezTo>
                  <a:cubicBezTo>
                    <a:pt x="11" y="44"/>
                    <a:pt x="6" y="43"/>
                    <a:pt x="4" y="46"/>
                  </a:cubicBezTo>
                  <a:cubicBezTo>
                    <a:pt x="1" y="48"/>
                    <a:pt x="0" y="52"/>
                    <a:pt x="3" y="55"/>
                  </a:cubicBezTo>
                  <a:cubicBezTo>
                    <a:pt x="40" y="99"/>
                    <a:pt x="40" y="99"/>
                    <a:pt x="40" y="99"/>
                  </a:cubicBezTo>
                  <a:cubicBezTo>
                    <a:pt x="41" y="100"/>
                    <a:pt x="43" y="101"/>
                    <a:pt x="45"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grpSp>
      <p:grpSp>
        <p:nvGrpSpPr>
          <p:cNvPr id="34" name="Group 33">
            <a:extLst>
              <a:ext uri="{FF2B5EF4-FFF2-40B4-BE49-F238E27FC236}">
                <a16:creationId xmlns:a16="http://schemas.microsoft.com/office/drawing/2014/main" id="{E5B02646-3640-CA47-B2E4-BCC2E776D828}"/>
              </a:ext>
            </a:extLst>
          </p:cNvPr>
          <p:cNvGrpSpPr/>
          <p:nvPr/>
        </p:nvGrpSpPr>
        <p:grpSpPr>
          <a:xfrm>
            <a:off x="4035707" y="6514674"/>
            <a:ext cx="397348" cy="397348"/>
            <a:chOff x="3433764" y="1371600"/>
            <a:chExt cx="317500" cy="317500"/>
          </a:xfrm>
          <a:solidFill>
            <a:srgbClr val="00A2E2"/>
          </a:solidFill>
        </p:grpSpPr>
        <p:sp>
          <p:nvSpPr>
            <p:cNvPr id="35" name="Freeform 13">
              <a:extLst>
                <a:ext uri="{FF2B5EF4-FFF2-40B4-BE49-F238E27FC236}">
                  <a16:creationId xmlns:a16="http://schemas.microsoft.com/office/drawing/2014/main" id="{11CB9C06-D62A-9F47-8ABF-6E85F63643DD}"/>
                </a:ext>
              </a:extLst>
            </p:cNvPr>
            <p:cNvSpPr>
              <a:spLocks noEditPoints="1"/>
            </p:cNvSpPr>
            <p:nvPr/>
          </p:nvSpPr>
          <p:spPr bwMode="auto">
            <a:xfrm>
              <a:off x="3433764" y="1371600"/>
              <a:ext cx="317500" cy="317500"/>
            </a:xfrm>
            <a:custGeom>
              <a:avLst/>
              <a:gdLst>
                <a:gd name="T0" fmla="*/ 108 w 215"/>
                <a:gd name="T1" fmla="*/ 215 h 215"/>
                <a:gd name="T2" fmla="*/ 184 w 215"/>
                <a:gd name="T3" fmla="*/ 183 h 215"/>
                <a:gd name="T4" fmla="*/ 215 w 215"/>
                <a:gd name="T5" fmla="*/ 108 h 215"/>
                <a:gd name="T6" fmla="*/ 184 w 215"/>
                <a:gd name="T7" fmla="*/ 32 h 215"/>
                <a:gd name="T8" fmla="*/ 108 w 215"/>
                <a:gd name="T9" fmla="*/ 0 h 215"/>
                <a:gd name="T10" fmla="*/ 32 w 215"/>
                <a:gd name="T11" fmla="*/ 32 h 215"/>
                <a:gd name="T12" fmla="*/ 0 w 215"/>
                <a:gd name="T13" fmla="*/ 108 h 215"/>
                <a:gd name="T14" fmla="*/ 32 w 215"/>
                <a:gd name="T15" fmla="*/ 183 h 215"/>
                <a:gd name="T16" fmla="*/ 108 w 215"/>
                <a:gd name="T17" fmla="*/ 215 h 215"/>
                <a:gd name="T18" fmla="*/ 41 w 215"/>
                <a:gd name="T19" fmla="*/ 41 h 215"/>
                <a:gd name="T20" fmla="*/ 108 w 215"/>
                <a:gd name="T21" fmla="*/ 14 h 215"/>
                <a:gd name="T22" fmla="*/ 174 w 215"/>
                <a:gd name="T23" fmla="*/ 41 h 215"/>
                <a:gd name="T24" fmla="*/ 202 w 215"/>
                <a:gd name="T25" fmla="*/ 108 h 215"/>
                <a:gd name="T26" fmla="*/ 174 w 215"/>
                <a:gd name="T27" fmla="*/ 174 h 215"/>
                <a:gd name="T28" fmla="*/ 108 w 215"/>
                <a:gd name="T29" fmla="*/ 202 h 215"/>
                <a:gd name="T30" fmla="*/ 41 w 215"/>
                <a:gd name="T31" fmla="*/ 174 h 215"/>
                <a:gd name="T32" fmla="*/ 14 w 215"/>
                <a:gd name="T33" fmla="*/ 108 h 215"/>
                <a:gd name="T34" fmla="*/ 41 w 215"/>
                <a:gd name="T35" fmla="*/ 4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15">
                  <a:moveTo>
                    <a:pt x="108" y="215"/>
                  </a:moveTo>
                  <a:cubicBezTo>
                    <a:pt x="136" y="215"/>
                    <a:pt x="163" y="204"/>
                    <a:pt x="184" y="183"/>
                  </a:cubicBezTo>
                  <a:cubicBezTo>
                    <a:pt x="204" y="163"/>
                    <a:pt x="215" y="136"/>
                    <a:pt x="215" y="108"/>
                  </a:cubicBezTo>
                  <a:cubicBezTo>
                    <a:pt x="215" y="79"/>
                    <a:pt x="204" y="52"/>
                    <a:pt x="184" y="32"/>
                  </a:cubicBezTo>
                  <a:cubicBezTo>
                    <a:pt x="163" y="11"/>
                    <a:pt x="136" y="0"/>
                    <a:pt x="108" y="0"/>
                  </a:cubicBezTo>
                  <a:cubicBezTo>
                    <a:pt x="79" y="0"/>
                    <a:pt x="52" y="11"/>
                    <a:pt x="32" y="32"/>
                  </a:cubicBezTo>
                  <a:cubicBezTo>
                    <a:pt x="12" y="52"/>
                    <a:pt x="0" y="79"/>
                    <a:pt x="0" y="108"/>
                  </a:cubicBezTo>
                  <a:cubicBezTo>
                    <a:pt x="0" y="136"/>
                    <a:pt x="12" y="163"/>
                    <a:pt x="32" y="183"/>
                  </a:cubicBezTo>
                  <a:cubicBezTo>
                    <a:pt x="52" y="204"/>
                    <a:pt x="79" y="215"/>
                    <a:pt x="108" y="215"/>
                  </a:cubicBezTo>
                  <a:close/>
                  <a:moveTo>
                    <a:pt x="41" y="41"/>
                  </a:moveTo>
                  <a:cubicBezTo>
                    <a:pt x="59" y="23"/>
                    <a:pt x="83" y="14"/>
                    <a:pt x="108" y="14"/>
                  </a:cubicBezTo>
                  <a:cubicBezTo>
                    <a:pt x="133" y="14"/>
                    <a:pt x="156" y="23"/>
                    <a:pt x="174" y="41"/>
                  </a:cubicBezTo>
                  <a:cubicBezTo>
                    <a:pt x="192" y="59"/>
                    <a:pt x="202" y="83"/>
                    <a:pt x="202" y="108"/>
                  </a:cubicBezTo>
                  <a:cubicBezTo>
                    <a:pt x="202" y="133"/>
                    <a:pt x="192" y="156"/>
                    <a:pt x="174" y="174"/>
                  </a:cubicBezTo>
                  <a:cubicBezTo>
                    <a:pt x="156" y="192"/>
                    <a:pt x="133" y="202"/>
                    <a:pt x="108" y="202"/>
                  </a:cubicBezTo>
                  <a:cubicBezTo>
                    <a:pt x="83" y="202"/>
                    <a:pt x="59" y="192"/>
                    <a:pt x="41" y="174"/>
                  </a:cubicBezTo>
                  <a:cubicBezTo>
                    <a:pt x="24" y="156"/>
                    <a:pt x="14" y="133"/>
                    <a:pt x="14" y="108"/>
                  </a:cubicBezTo>
                  <a:cubicBezTo>
                    <a:pt x="14" y="83"/>
                    <a:pt x="24" y="59"/>
                    <a:pt x="41"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sp>
          <p:nvSpPr>
            <p:cNvPr id="36" name="Freeform 14">
              <a:extLst>
                <a:ext uri="{FF2B5EF4-FFF2-40B4-BE49-F238E27FC236}">
                  <a16:creationId xmlns:a16="http://schemas.microsoft.com/office/drawing/2014/main" id="{B2EC124B-B3D8-744E-AA5D-F8A08DDB4DDC}"/>
                </a:ext>
              </a:extLst>
            </p:cNvPr>
            <p:cNvSpPr>
              <a:spLocks/>
            </p:cNvSpPr>
            <p:nvPr/>
          </p:nvSpPr>
          <p:spPr bwMode="auto">
            <a:xfrm>
              <a:off x="3486151" y="1460500"/>
              <a:ext cx="201613" cy="149225"/>
            </a:xfrm>
            <a:custGeom>
              <a:avLst/>
              <a:gdLst>
                <a:gd name="T0" fmla="*/ 45 w 136"/>
                <a:gd name="T1" fmla="*/ 101 h 101"/>
                <a:gd name="T2" fmla="*/ 45 w 136"/>
                <a:gd name="T3" fmla="*/ 101 h 101"/>
                <a:gd name="T4" fmla="*/ 50 w 136"/>
                <a:gd name="T5" fmla="*/ 99 h 101"/>
                <a:gd name="T6" fmla="*/ 134 w 136"/>
                <a:gd name="T7" fmla="*/ 12 h 101"/>
                <a:gd name="T8" fmla="*/ 133 w 136"/>
                <a:gd name="T9" fmla="*/ 3 h 101"/>
                <a:gd name="T10" fmla="*/ 124 w 136"/>
                <a:gd name="T11" fmla="*/ 3 h 101"/>
                <a:gd name="T12" fmla="*/ 45 w 136"/>
                <a:gd name="T13" fmla="*/ 85 h 101"/>
                <a:gd name="T14" fmla="*/ 13 w 136"/>
                <a:gd name="T15" fmla="*/ 47 h 101"/>
                <a:gd name="T16" fmla="*/ 4 w 136"/>
                <a:gd name="T17" fmla="*/ 46 h 101"/>
                <a:gd name="T18" fmla="*/ 3 w 136"/>
                <a:gd name="T19" fmla="*/ 55 h 101"/>
                <a:gd name="T20" fmla="*/ 40 w 136"/>
                <a:gd name="T21" fmla="*/ 99 h 101"/>
                <a:gd name="T22" fmla="*/ 45 w 136"/>
                <a:gd name="T23"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6" h="101">
                  <a:moveTo>
                    <a:pt x="45" y="101"/>
                  </a:moveTo>
                  <a:cubicBezTo>
                    <a:pt x="45" y="101"/>
                    <a:pt x="45" y="101"/>
                    <a:pt x="45" y="101"/>
                  </a:cubicBezTo>
                  <a:cubicBezTo>
                    <a:pt x="47" y="101"/>
                    <a:pt x="48" y="101"/>
                    <a:pt x="50" y="99"/>
                  </a:cubicBezTo>
                  <a:cubicBezTo>
                    <a:pt x="134" y="12"/>
                    <a:pt x="134" y="12"/>
                    <a:pt x="134" y="12"/>
                  </a:cubicBezTo>
                  <a:cubicBezTo>
                    <a:pt x="136" y="9"/>
                    <a:pt x="136" y="5"/>
                    <a:pt x="133" y="3"/>
                  </a:cubicBezTo>
                  <a:cubicBezTo>
                    <a:pt x="131" y="0"/>
                    <a:pt x="126" y="0"/>
                    <a:pt x="124" y="3"/>
                  </a:cubicBezTo>
                  <a:cubicBezTo>
                    <a:pt x="45" y="85"/>
                    <a:pt x="45" y="85"/>
                    <a:pt x="45" y="85"/>
                  </a:cubicBezTo>
                  <a:cubicBezTo>
                    <a:pt x="13" y="47"/>
                    <a:pt x="13" y="47"/>
                    <a:pt x="13" y="47"/>
                  </a:cubicBezTo>
                  <a:cubicBezTo>
                    <a:pt x="11" y="44"/>
                    <a:pt x="6" y="43"/>
                    <a:pt x="4" y="46"/>
                  </a:cubicBezTo>
                  <a:cubicBezTo>
                    <a:pt x="1" y="48"/>
                    <a:pt x="0" y="52"/>
                    <a:pt x="3" y="55"/>
                  </a:cubicBezTo>
                  <a:cubicBezTo>
                    <a:pt x="40" y="99"/>
                    <a:pt x="40" y="99"/>
                    <a:pt x="40" y="99"/>
                  </a:cubicBezTo>
                  <a:cubicBezTo>
                    <a:pt x="41" y="100"/>
                    <a:pt x="43" y="101"/>
                    <a:pt x="45"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grpSp>
      <p:grpSp>
        <p:nvGrpSpPr>
          <p:cNvPr id="37" name="Group 36">
            <a:extLst>
              <a:ext uri="{FF2B5EF4-FFF2-40B4-BE49-F238E27FC236}">
                <a16:creationId xmlns:a16="http://schemas.microsoft.com/office/drawing/2014/main" id="{4CCA4795-06C0-3A45-88D9-4E230DF0A265}"/>
              </a:ext>
            </a:extLst>
          </p:cNvPr>
          <p:cNvGrpSpPr/>
          <p:nvPr/>
        </p:nvGrpSpPr>
        <p:grpSpPr>
          <a:xfrm>
            <a:off x="5031130" y="6514674"/>
            <a:ext cx="397348" cy="397348"/>
            <a:chOff x="3433764" y="1371600"/>
            <a:chExt cx="317500" cy="317500"/>
          </a:xfrm>
          <a:solidFill>
            <a:srgbClr val="00A2E2"/>
          </a:solidFill>
        </p:grpSpPr>
        <p:sp>
          <p:nvSpPr>
            <p:cNvPr id="38" name="Freeform 37">
              <a:extLst>
                <a:ext uri="{FF2B5EF4-FFF2-40B4-BE49-F238E27FC236}">
                  <a16:creationId xmlns:a16="http://schemas.microsoft.com/office/drawing/2014/main" id="{E4400B52-EA99-F246-8325-36430CC2E73C}"/>
                </a:ext>
              </a:extLst>
            </p:cNvPr>
            <p:cNvSpPr>
              <a:spLocks noEditPoints="1"/>
            </p:cNvSpPr>
            <p:nvPr/>
          </p:nvSpPr>
          <p:spPr bwMode="auto">
            <a:xfrm>
              <a:off x="3433764" y="1371600"/>
              <a:ext cx="317500" cy="317500"/>
            </a:xfrm>
            <a:custGeom>
              <a:avLst/>
              <a:gdLst>
                <a:gd name="T0" fmla="*/ 108 w 215"/>
                <a:gd name="T1" fmla="*/ 215 h 215"/>
                <a:gd name="T2" fmla="*/ 184 w 215"/>
                <a:gd name="T3" fmla="*/ 183 h 215"/>
                <a:gd name="T4" fmla="*/ 215 w 215"/>
                <a:gd name="T5" fmla="*/ 108 h 215"/>
                <a:gd name="T6" fmla="*/ 184 w 215"/>
                <a:gd name="T7" fmla="*/ 32 h 215"/>
                <a:gd name="T8" fmla="*/ 108 w 215"/>
                <a:gd name="T9" fmla="*/ 0 h 215"/>
                <a:gd name="T10" fmla="*/ 32 w 215"/>
                <a:gd name="T11" fmla="*/ 32 h 215"/>
                <a:gd name="T12" fmla="*/ 0 w 215"/>
                <a:gd name="T13" fmla="*/ 108 h 215"/>
                <a:gd name="T14" fmla="*/ 32 w 215"/>
                <a:gd name="T15" fmla="*/ 183 h 215"/>
                <a:gd name="T16" fmla="*/ 108 w 215"/>
                <a:gd name="T17" fmla="*/ 215 h 215"/>
                <a:gd name="T18" fmla="*/ 41 w 215"/>
                <a:gd name="T19" fmla="*/ 41 h 215"/>
                <a:gd name="T20" fmla="*/ 108 w 215"/>
                <a:gd name="T21" fmla="*/ 14 h 215"/>
                <a:gd name="T22" fmla="*/ 174 w 215"/>
                <a:gd name="T23" fmla="*/ 41 h 215"/>
                <a:gd name="T24" fmla="*/ 202 w 215"/>
                <a:gd name="T25" fmla="*/ 108 h 215"/>
                <a:gd name="T26" fmla="*/ 174 w 215"/>
                <a:gd name="T27" fmla="*/ 174 h 215"/>
                <a:gd name="T28" fmla="*/ 108 w 215"/>
                <a:gd name="T29" fmla="*/ 202 h 215"/>
                <a:gd name="T30" fmla="*/ 41 w 215"/>
                <a:gd name="T31" fmla="*/ 174 h 215"/>
                <a:gd name="T32" fmla="*/ 14 w 215"/>
                <a:gd name="T33" fmla="*/ 108 h 215"/>
                <a:gd name="T34" fmla="*/ 41 w 215"/>
                <a:gd name="T35" fmla="*/ 4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15">
                  <a:moveTo>
                    <a:pt x="108" y="215"/>
                  </a:moveTo>
                  <a:cubicBezTo>
                    <a:pt x="136" y="215"/>
                    <a:pt x="163" y="204"/>
                    <a:pt x="184" y="183"/>
                  </a:cubicBezTo>
                  <a:cubicBezTo>
                    <a:pt x="204" y="163"/>
                    <a:pt x="215" y="136"/>
                    <a:pt x="215" y="108"/>
                  </a:cubicBezTo>
                  <a:cubicBezTo>
                    <a:pt x="215" y="79"/>
                    <a:pt x="204" y="52"/>
                    <a:pt x="184" y="32"/>
                  </a:cubicBezTo>
                  <a:cubicBezTo>
                    <a:pt x="163" y="11"/>
                    <a:pt x="136" y="0"/>
                    <a:pt x="108" y="0"/>
                  </a:cubicBezTo>
                  <a:cubicBezTo>
                    <a:pt x="79" y="0"/>
                    <a:pt x="52" y="11"/>
                    <a:pt x="32" y="32"/>
                  </a:cubicBezTo>
                  <a:cubicBezTo>
                    <a:pt x="12" y="52"/>
                    <a:pt x="0" y="79"/>
                    <a:pt x="0" y="108"/>
                  </a:cubicBezTo>
                  <a:cubicBezTo>
                    <a:pt x="0" y="136"/>
                    <a:pt x="12" y="163"/>
                    <a:pt x="32" y="183"/>
                  </a:cubicBezTo>
                  <a:cubicBezTo>
                    <a:pt x="52" y="204"/>
                    <a:pt x="79" y="215"/>
                    <a:pt x="108" y="215"/>
                  </a:cubicBezTo>
                  <a:close/>
                  <a:moveTo>
                    <a:pt x="41" y="41"/>
                  </a:moveTo>
                  <a:cubicBezTo>
                    <a:pt x="59" y="23"/>
                    <a:pt x="83" y="14"/>
                    <a:pt x="108" y="14"/>
                  </a:cubicBezTo>
                  <a:cubicBezTo>
                    <a:pt x="133" y="14"/>
                    <a:pt x="156" y="23"/>
                    <a:pt x="174" y="41"/>
                  </a:cubicBezTo>
                  <a:cubicBezTo>
                    <a:pt x="192" y="59"/>
                    <a:pt x="202" y="83"/>
                    <a:pt x="202" y="108"/>
                  </a:cubicBezTo>
                  <a:cubicBezTo>
                    <a:pt x="202" y="133"/>
                    <a:pt x="192" y="156"/>
                    <a:pt x="174" y="174"/>
                  </a:cubicBezTo>
                  <a:cubicBezTo>
                    <a:pt x="156" y="192"/>
                    <a:pt x="133" y="202"/>
                    <a:pt x="108" y="202"/>
                  </a:cubicBezTo>
                  <a:cubicBezTo>
                    <a:pt x="83" y="202"/>
                    <a:pt x="59" y="192"/>
                    <a:pt x="41" y="174"/>
                  </a:cubicBezTo>
                  <a:cubicBezTo>
                    <a:pt x="24" y="156"/>
                    <a:pt x="14" y="133"/>
                    <a:pt x="14" y="108"/>
                  </a:cubicBezTo>
                  <a:cubicBezTo>
                    <a:pt x="14" y="83"/>
                    <a:pt x="24" y="59"/>
                    <a:pt x="41"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sp>
          <p:nvSpPr>
            <p:cNvPr id="39" name="Freeform 38">
              <a:extLst>
                <a:ext uri="{FF2B5EF4-FFF2-40B4-BE49-F238E27FC236}">
                  <a16:creationId xmlns:a16="http://schemas.microsoft.com/office/drawing/2014/main" id="{FBB842FD-974D-5E43-8213-31596AD9FCC2}"/>
                </a:ext>
              </a:extLst>
            </p:cNvPr>
            <p:cNvSpPr>
              <a:spLocks/>
            </p:cNvSpPr>
            <p:nvPr/>
          </p:nvSpPr>
          <p:spPr bwMode="auto">
            <a:xfrm>
              <a:off x="3486151" y="1460500"/>
              <a:ext cx="201613" cy="149225"/>
            </a:xfrm>
            <a:custGeom>
              <a:avLst/>
              <a:gdLst>
                <a:gd name="T0" fmla="*/ 45 w 136"/>
                <a:gd name="T1" fmla="*/ 101 h 101"/>
                <a:gd name="T2" fmla="*/ 45 w 136"/>
                <a:gd name="T3" fmla="*/ 101 h 101"/>
                <a:gd name="T4" fmla="*/ 50 w 136"/>
                <a:gd name="T5" fmla="*/ 99 h 101"/>
                <a:gd name="T6" fmla="*/ 134 w 136"/>
                <a:gd name="T7" fmla="*/ 12 h 101"/>
                <a:gd name="T8" fmla="*/ 133 w 136"/>
                <a:gd name="T9" fmla="*/ 3 h 101"/>
                <a:gd name="T10" fmla="*/ 124 w 136"/>
                <a:gd name="T11" fmla="*/ 3 h 101"/>
                <a:gd name="T12" fmla="*/ 45 w 136"/>
                <a:gd name="T13" fmla="*/ 85 h 101"/>
                <a:gd name="T14" fmla="*/ 13 w 136"/>
                <a:gd name="T15" fmla="*/ 47 h 101"/>
                <a:gd name="T16" fmla="*/ 4 w 136"/>
                <a:gd name="T17" fmla="*/ 46 h 101"/>
                <a:gd name="T18" fmla="*/ 3 w 136"/>
                <a:gd name="T19" fmla="*/ 55 h 101"/>
                <a:gd name="T20" fmla="*/ 40 w 136"/>
                <a:gd name="T21" fmla="*/ 99 h 101"/>
                <a:gd name="T22" fmla="*/ 45 w 136"/>
                <a:gd name="T23"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6" h="101">
                  <a:moveTo>
                    <a:pt x="45" y="101"/>
                  </a:moveTo>
                  <a:cubicBezTo>
                    <a:pt x="45" y="101"/>
                    <a:pt x="45" y="101"/>
                    <a:pt x="45" y="101"/>
                  </a:cubicBezTo>
                  <a:cubicBezTo>
                    <a:pt x="47" y="101"/>
                    <a:pt x="48" y="101"/>
                    <a:pt x="50" y="99"/>
                  </a:cubicBezTo>
                  <a:cubicBezTo>
                    <a:pt x="134" y="12"/>
                    <a:pt x="134" y="12"/>
                    <a:pt x="134" y="12"/>
                  </a:cubicBezTo>
                  <a:cubicBezTo>
                    <a:pt x="136" y="9"/>
                    <a:pt x="136" y="5"/>
                    <a:pt x="133" y="3"/>
                  </a:cubicBezTo>
                  <a:cubicBezTo>
                    <a:pt x="131" y="0"/>
                    <a:pt x="126" y="0"/>
                    <a:pt x="124" y="3"/>
                  </a:cubicBezTo>
                  <a:cubicBezTo>
                    <a:pt x="45" y="85"/>
                    <a:pt x="45" y="85"/>
                    <a:pt x="45" y="85"/>
                  </a:cubicBezTo>
                  <a:cubicBezTo>
                    <a:pt x="13" y="47"/>
                    <a:pt x="13" y="47"/>
                    <a:pt x="13" y="47"/>
                  </a:cubicBezTo>
                  <a:cubicBezTo>
                    <a:pt x="11" y="44"/>
                    <a:pt x="6" y="43"/>
                    <a:pt x="4" y="46"/>
                  </a:cubicBezTo>
                  <a:cubicBezTo>
                    <a:pt x="1" y="48"/>
                    <a:pt x="0" y="52"/>
                    <a:pt x="3" y="55"/>
                  </a:cubicBezTo>
                  <a:cubicBezTo>
                    <a:pt x="40" y="99"/>
                    <a:pt x="40" y="99"/>
                    <a:pt x="40" y="99"/>
                  </a:cubicBezTo>
                  <a:cubicBezTo>
                    <a:pt x="41" y="100"/>
                    <a:pt x="43" y="101"/>
                    <a:pt x="45"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grpSp>
      <p:grpSp>
        <p:nvGrpSpPr>
          <p:cNvPr id="40" name="Group 39">
            <a:extLst>
              <a:ext uri="{FF2B5EF4-FFF2-40B4-BE49-F238E27FC236}">
                <a16:creationId xmlns:a16="http://schemas.microsoft.com/office/drawing/2014/main" id="{15727E2D-D4F0-1849-83F5-5E2C949601C2}"/>
              </a:ext>
            </a:extLst>
          </p:cNvPr>
          <p:cNvGrpSpPr/>
          <p:nvPr/>
        </p:nvGrpSpPr>
        <p:grpSpPr>
          <a:xfrm>
            <a:off x="10948562" y="1734331"/>
            <a:ext cx="397348" cy="397348"/>
            <a:chOff x="3433764" y="1371600"/>
            <a:chExt cx="317500" cy="317500"/>
          </a:xfrm>
          <a:solidFill>
            <a:srgbClr val="00A2E2"/>
          </a:solidFill>
        </p:grpSpPr>
        <p:sp>
          <p:nvSpPr>
            <p:cNvPr id="41" name="Freeform 13">
              <a:extLst>
                <a:ext uri="{FF2B5EF4-FFF2-40B4-BE49-F238E27FC236}">
                  <a16:creationId xmlns:a16="http://schemas.microsoft.com/office/drawing/2014/main" id="{DF14E097-C215-454E-A30C-97827F3D97F6}"/>
                </a:ext>
              </a:extLst>
            </p:cNvPr>
            <p:cNvSpPr>
              <a:spLocks noEditPoints="1"/>
            </p:cNvSpPr>
            <p:nvPr/>
          </p:nvSpPr>
          <p:spPr bwMode="auto">
            <a:xfrm>
              <a:off x="3433764" y="1371600"/>
              <a:ext cx="317500" cy="317500"/>
            </a:xfrm>
            <a:custGeom>
              <a:avLst/>
              <a:gdLst>
                <a:gd name="T0" fmla="*/ 108 w 215"/>
                <a:gd name="T1" fmla="*/ 215 h 215"/>
                <a:gd name="T2" fmla="*/ 184 w 215"/>
                <a:gd name="T3" fmla="*/ 183 h 215"/>
                <a:gd name="T4" fmla="*/ 215 w 215"/>
                <a:gd name="T5" fmla="*/ 108 h 215"/>
                <a:gd name="T6" fmla="*/ 184 w 215"/>
                <a:gd name="T7" fmla="*/ 32 h 215"/>
                <a:gd name="T8" fmla="*/ 108 w 215"/>
                <a:gd name="T9" fmla="*/ 0 h 215"/>
                <a:gd name="T10" fmla="*/ 32 w 215"/>
                <a:gd name="T11" fmla="*/ 32 h 215"/>
                <a:gd name="T12" fmla="*/ 0 w 215"/>
                <a:gd name="T13" fmla="*/ 108 h 215"/>
                <a:gd name="T14" fmla="*/ 32 w 215"/>
                <a:gd name="T15" fmla="*/ 183 h 215"/>
                <a:gd name="T16" fmla="*/ 108 w 215"/>
                <a:gd name="T17" fmla="*/ 215 h 215"/>
                <a:gd name="T18" fmla="*/ 41 w 215"/>
                <a:gd name="T19" fmla="*/ 41 h 215"/>
                <a:gd name="T20" fmla="*/ 108 w 215"/>
                <a:gd name="T21" fmla="*/ 14 h 215"/>
                <a:gd name="T22" fmla="*/ 174 w 215"/>
                <a:gd name="T23" fmla="*/ 41 h 215"/>
                <a:gd name="T24" fmla="*/ 202 w 215"/>
                <a:gd name="T25" fmla="*/ 108 h 215"/>
                <a:gd name="T26" fmla="*/ 174 w 215"/>
                <a:gd name="T27" fmla="*/ 174 h 215"/>
                <a:gd name="T28" fmla="*/ 108 w 215"/>
                <a:gd name="T29" fmla="*/ 202 h 215"/>
                <a:gd name="T30" fmla="*/ 41 w 215"/>
                <a:gd name="T31" fmla="*/ 174 h 215"/>
                <a:gd name="T32" fmla="*/ 14 w 215"/>
                <a:gd name="T33" fmla="*/ 108 h 215"/>
                <a:gd name="T34" fmla="*/ 41 w 215"/>
                <a:gd name="T35" fmla="*/ 4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15">
                  <a:moveTo>
                    <a:pt x="108" y="215"/>
                  </a:moveTo>
                  <a:cubicBezTo>
                    <a:pt x="136" y="215"/>
                    <a:pt x="163" y="204"/>
                    <a:pt x="184" y="183"/>
                  </a:cubicBezTo>
                  <a:cubicBezTo>
                    <a:pt x="204" y="163"/>
                    <a:pt x="215" y="136"/>
                    <a:pt x="215" y="108"/>
                  </a:cubicBezTo>
                  <a:cubicBezTo>
                    <a:pt x="215" y="79"/>
                    <a:pt x="204" y="52"/>
                    <a:pt x="184" y="32"/>
                  </a:cubicBezTo>
                  <a:cubicBezTo>
                    <a:pt x="163" y="11"/>
                    <a:pt x="136" y="0"/>
                    <a:pt x="108" y="0"/>
                  </a:cubicBezTo>
                  <a:cubicBezTo>
                    <a:pt x="79" y="0"/>
                    <a:pt x="52" y="11"/>
                    <a:pt x="32" y="32"/>
                  </a:cubicBezTo>
                  <a:cubicBezTo>
                    <a:pt x="12" y="52"/>
                    <a:pt x="0" y="79"/>
                    <a:pt x="0" y="108"/>
                  </a:cubicBezTo>
                  <a:cubicBezTo>
                    <a:pt x="0" y="136"/>
                    <a:pt x="12" y="163"/>
                    <a:pt x="32" y="183"/>
                  </a:cubicBezTo>
                  <a:cubicBezTo>
                    <a:pt x="52" y="204"/>
                    <a:pt x="79" y="215"/>
                    <a:pt x="108" y="215"/>
                  </a:cubicBezTo>
                  <a:close/>
                  <a:moveTo>
                    <a:pt x="41" y="41"/>
                  </a:moveTo>
                  <a:cubicBezTo>
                    <a:pt x="59" y="23"/>
                    <a:pt x="83" y="14"/>
                    <a:pt x="108" y="14"/>
                  </a:cubicBezTo>
                  <a:cubicBezTo>
                    <a:pt x="133" y="14"/>
                    <a:pt x="156" y="23"/>
                    <a:pt x="174" y="41"/>
                  </a:cubicBezTo>
                  <a:cubicBezTo>
                    <a:pt x="192" y="59"/>
                    <a:pt x="202" y="83"/>
                    <a:pt x="202" y="108"/>
                  </a:cubicBezTo>
                  <a:cubicBezTo>
                    <a:pt x="202" y="133"/>
                    <a:pt x="192" y="156"/>
                    <a:pt x="174" y="174"/>
                  </a:cubicBezTo>
                  <a:cubicBezTo>
                    <a:pt x="156" y="192"/>
                    <a:pt x="133" y="202"/>
                    <a:pt x="108" y="202"/>
                  </a:cubicBezTo>
                  <a:cubicBezTo>
                    <a:pt x="83" y="202"/>
                    <a:pt x="59" y="192"/>
                    <a:pt x="41" y="174"/>
                  </a:cubicBezTo>
                  <a:cubicBezTo>
                    <a:pt x="24" y="156"/>
                    <a:pt x="14" y="133"/>
                    <a:pt x="14" y="108"/>
                  </a:cubicBezTo>
                  <a:cubicBezTo>
                    <a:pt x="14" y="83"/>
                    <a:pt x="24" y="59"/>
                    <a:pt x="41"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sp>
          <p:nvSpPr>
            <p:cNvPr id="42" name="Freeform 14">
              <a:extLst>
                <a:ext uri="{FF2B5EF4-FFF2-40B4-BE49-F238E27FC236}">
                  <a16:creationId xmlns:a16="http://schemas.microsoft.com/office/drawing/2014/main" id="{1B77D00A-9474-B94A-8A7A-BAEDF03E41C1}"/>
                </a:ext>
              </a:extLst>
            </p:cNvPr>
            <p:cNvSpPr>
              <a:spLocks/>
            </p:cNvSpPr>
            <p:nvPr/>
          </p:nvSpPr>
          <p:spPr bwMode="auto">
            <a:xfrm>
              <a:off x="3486151" y="1460500"/>
              <a:ext cx="201613" cy="149225"/>
            </a:xfrm>
            <a:custGeom>
              <a:avLst/>
              <a:gdLst>
                <a:gd name="T0" fmla="*/ 45 w 136"/>
                <a:gd name="T1" fmla="*/ 101 h 101"/>
                <a:gd name="T2" fmla="*/ 45 w 136"/>
                <a:gd name="T3" fmla="*/ 101 h 101"/>
                <a:gd name="T4" fmla="*/ 50 w 136"/>
                <a:gd name="T5" fmla="*/ 99 h 101"/>
                <a:gd name="T6" fmla="*/ 134 w 136"/>
                <a:gd name="T7" fmla="*/ 12 h 101"/>
                <a:gd name="T8" fmla="*/ 133 w 136"/>
                <a:gd name="T9" fmla="*/ 3 h 101"/>
                <a:gd name="T10" fmla="*/ 124 w 136"/>
                <a:gd name="T11" fmla="*/ 3 h 101"/>
                <a:gd name="T12" fmla="*/ 45 w 136"/>
                <a:gd name="T13" fmla="*/ 85 h 101"/>
                <a:gd name="T14" fmla="*/ 13 w 136"/>
                <a:gd name="T15" fmla="*/ 47 h 101"/>
                <a:gd name="T16" fmla="*/ 4 w 136"/>
                <a:gd name="T17" fmla="*/ 46 h 101"/>
                <a:gd name="T18" fmla="*/ 3 w 136"/>
                <a:gd name="T19" fmla="*/ 55 h 101"/>
                <a:gd name="T20" fmla="*/ 40 w 136"/>
                <a:gd name="T21" fmla="*/ 99 h 101"/>
                <a:gd name="T22" fmla="*/ 45 w 136"/>
                <a:gd name="T23"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6" h="101">
                  <a:moveTo>
                    <a:pt x="45" y="101"/>
                  </a:moveTo>
                  <a:cubicBezTo>
                    <a:pt x="45" y="101"/>
                    <a:pt x="45" y="101"/>
                    <a:pt x="45" y="101"/>
                  </a:cubicBezTo>
                  <a:cubicBezTo>
                    <a:pt x="47" y="101"/>
                    <a:pt x="48" y="101"/>
                    <a:pt x="50" y="99"/>
                  </a:cubicBezTo>
                  <a:cubicBezTo>
                    <a:pt x="134" y="12"/>
                    <a:pt x="134" y="12"/>
                    <a:pt x="134" y="12"/>
                  </a:cubicBezTo>
                  <a:cubicBezTo>
                    <a:pt x="136" y="9"/>
                    <a:pt x="136" y="5"/>
                    <a:pt x="133" y="3"/>
                  </a:cubicBezTo>
                  <a:cubicBezTo>
                    <a:pt x="131" y="0"/>
                    <a:pt x="126" y="0"/>
                    <a:pt x="124" y="3"/>
                  </a:cubicBezTo>
                  <a:cubicBezTo>
                    <a:pt x="45" y="85"/>
                    <a:pt x="45" y="85"/>
                    <a:pt x="45" y="85"/>
                  </a:cubicBezTo>
                  <a:cubicBezTo>
                    <a:pt x="13" y="47"/>
                    <a:pt x="13" y="47"/>
                    <a:pt x="13" y="47"/>
                  </a:cubicBezTo>
                  <a:cubicBezTo>
                    <a:pt x="11" y="44"/>
                    <a:pt x="6" y="43"/>
                    <a:pt x="4" y="46"/>
                  </a:cubicBezTo>
                  <a:cubicBezTo>
                    <a:pt x="1" y="48"/>
                    <a:pt x="0" y="52"/>
                    <a:pt x="3" y="55"/>
                  </a:cubicBezTo>
                  <a:cubicBezTo>
                    <a:pt x="40" y="99"/>
                    <a:pt x="40" y="99"/>
                    <a:pt x="40" y="99"/>
                  </a:cubicBezTo>
                  <a:cubicBezTo>
                    <a:pt x="41" y="100"/>
                    <a:pt x="43" y="101"/>
                    <a:pt x="45"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grpSp>
      <p:grpSp>
        <p:nvGrpSpPr>
          <p:cNvPr id="46" name="Group 45">
            <a:extLst>
              <a:ext uri="{FF2B5EF4-FFF2-40B4-BE49-F238E27FC236}">
                <a16:creationId xmlns:a16="http://schemas.microsoft.com/office/drawing/2014/main" id="{204DC91A-139E-9540-9821-EE9D50B8865F}"/>
              </a:ext>
            </a:extLst>
          </p:cNvPr>
          <p:cNvGrpSpPr/>
          <p:nvPr/>
        </p:nvGrpSpPr>
        <p:grpSpPr>
          <a:xfrm>
            <a:off x="10948562" y="2418605"/>
            <a:ext cx="397348" cy="397348"/>
            <a:chOff x="3433764" y="1371600"/>
            <a:chExt cx="317500" cy="317500"/>
          </a:xfrm>
          <a:solidFill>
            <a:srgbClr val="00A2E2"/>
          </a:solidFill>
        </p:grpSpPr>
        <p:sp>
          <p:nvSpPr>
            <p:cNvPr id="48" name="Freeform 13">
              <a:extLst>
                <a:ext uri="{FF2B5EF4-FFF2-40B4-BE49-F238E27FC236}">
                  <a16:creationId xmlns:a16="http://schemas.microsoft.com/office/drawing/2014/main" id="{1ABAC446-DA77-AB4C-B9F4-2CA308F7508B}"/>
                </a:ext>
              </a:extLst>
            </p:cNvPr>
            <p:cNvSpPr>
              <a:spLocks noEditPoints="1"/>
            </p:cNvSpPr>
            <p:nvPr/>
          </p:nvSpPr>
          <p:spPr bwMode="auto">
            <a:xfrm>
              <a:off x="3433764" y="1371600"/>
              <a:ext cx="317500" cy="317500"/>
            </a:xfrm>
            <a:custGeom>
              <a:avLst/>
              <a:gdLst>
                <a:gd name="T0" fmla="*/ 108 w 215"/>
                <a:gd name="T1" fmla="*/ 215 h 215"/>
                <a:gd name="T2" fmla="*/ 184 w 215"/>
                <a:gd name="T3" fmla="*/ 183 h 215"/>
                <a:gd name="T4" fmla="*/ 215 w 215"/>
                <a:gd name="T5" fmla="*/ 108 h 215"/>
                <a:gd name="T6" fmla="*/ 184 w 215"/>
                <a:gd name="T7" fmla="*/ 32 h 215"/>
                <a:gd name="T8" fmla="*/ 108 w 215"/>
                <a:gd name="T9" fmla="*/ 0 h 215"/>
                <a:gd name="T10" fmla="*/ 32 w 215"/>
                <a:gd name="T11" fmla="*/ 32 h 215"/>
                <a:gd name="T12" fmla="*/ 0 w 215"/>
                <a:gd name="T13" fmla="*/ 108 h 215"/>
                <a:gd name="T14" fmla="*/ 32 w 215"/>
                <a:gd name="T15" fmla="*/ 183 h 215"/>
                <a:gd name="T16" fmla="*/ 108 w 215"/>
                <a:gd name="T17" fmla="*/ 215 h 215"/>
                <a:gd name="T18" fmla="*/ 41 w 215"/>
                <a:gd name="T19" fmla="*/ 41 h 215"/>
                <a:gd name="T20" fmla="*/ 108 w 215"/>
                <a:gd name="T21" fmla="*/ 14 h 215"/>
                <a:gd name="T22" fmla="*/ 174 w 215"/>
                <a:gd name="T23" fmla="*/ 41 h 215"/>
                <a:gd name="T24" fmla="*/ 202 w 215"/>
                <a:gd name="T25" fmla="*/ 108 h 215"/>
                <a:gd name="T26" fmla="*/ 174 w 215"/>
                <a:gd name="T27" fmla="*/ 174 h 215"/>
                <a:gd name="T28" fmla="*/ 108 w 215"/>
                <a:gd name="T29" fmla="*/ 202 h 215"/>
                <a:gd name="T30" fmla="*/ 41 w 215"/>
                <a:gd name="T31" fmla="*/ 174 h 215"/>
                <a:gd name="T32" fmla="*/ 14 w 215"/>
                <a:gd name="T33" fmla="*/ 108 h 215"/>
                <a:gd name="T34" fmla="*/ 41 w 215"/>
                <a:gd name="T35" fmla="*/ 4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15">
                  <a:moveTo>
                    <a:pt x="108" y="215"/>
                  </a:moveTo>
                  <a:cubicBezTo>
                    <a:pt x="136" y="215"/>
                    <a:pt x="163" y="204"/>
                    <a:pt x="184" y="183"/>
                  </a:cubicBezTo>
                  <a:cubicBezTo>
                    <a:pt x="204" y="163"/>
                    <a:pt x="215" y="136"/>
                    <a:pt x="215" y="108"/>
                  </a:cubicBezTo>
                  <a:cubicBezTo>
                    <a:pt x="215" y="79"/>
                    <a:pt x="204" y="52"/>
                    <a:pt x="184" y="32"/>
                  </a:cubicBezTo>
                  <a:cubicBezTo>
                    <a:pt x="163" y="11"/>
                    <a:pt x="136" y="0"/>
                    <a:pt x="108" y="0"/>
                  </a:cubicBezTo>
                  <a:cubicBezTo>
                    <a:pt x="79" y="0"/>
                    <a:pt x="52" y="11"/>
                    <a:pt x="32" y="32"/>
                  </a:cubicBezTo>
                  <a:cubicBezTo>
                    <a:pt x="12" y="52"/>
                    <a:pt x="0" y="79"/>
                    <a:pt x="0" y="108"/>
                  </a:cubicBezTo>
                  <a:cubicBezTo>
                    <a:pt x="0" y="136"/>
                    <a:pt x="12" y="163"/>
                    <a:pt x="32" y="183"/>
                  </a:cubicBezTo>
                  <a:cubicBezTo>
                    <a:pt x="52" y="204"/>
                    <a:pt x="79" y="215"/>
                    <a:pt x="108" y="215"/>
                  </a:cubicBezTo>
                  <a:close/>
                  <a:moveTo>
                    <a:pt x="41" y="41"/>
                  </a:moveTo>
                  <a:cubicBezTo>
                    <a:pt x="59" y="23"/>
                    <a:pt x="83" y="14"/>
                    <a:pt x="108" y="14"/>
                  </a:cubicBezTo>
                  <a:cubicBezTo>
                    <a:pt x="133" y="14"/>
                    <a:pt x="156" y="23"/>
                    <a:pt x="174" y="41"/>
                  </a:cubicBezTo>
                  <a:cubicBezTo>
                    <a:pt x="192" y="59"/>
                    <a:pt x="202" y="83"/>
                    <a:pt x="202" y="108"/>
                  </a:cubicBezTo>
                  <a:cubicBezTo>
                    <a:pt x="202" y="133"/>
                    <a:pt x="192" y="156"/>
                    <a:pt x="174" y="174"/>
                  </a:cubicBezTo>
                  <a:cubicBezTo>
                    <a:pt x="156" y="192"/>
                    <a:pt x="133" y="202"/>
                    <a:pt x="108" y="202"/>
                  </a:cubicBezTo>
                  <a:cubicBezTo>
                    <a:pt x="83" y="202"/>
                    <a:pt x="59" y="192"/>
                    <a:pt x="41" y="174"/>
                  </a:cubicBezTo>
                  <a:cubicBezTo>
                    <a:pt x="24" y="156"/>
                    <a:pt x="14" y="133"/>
                    <a:pt x="14" y="108"/>
                  </a:cubicBezTo>
                  <a:cubicBezTo>
                    <a:pt x="14" y="83"/>
                    <a:pt x="24" y="59"/>
                    <a:pt x="41"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sp>
          <p:nvSpPr>
            <p:cNvPr id="49" name="Freeform 14">
              <a:extLst>
                <a:ext uri="{FF2B5EF4-FFF2-40B4-BE49-F238E27FC236}">
                  <a16:creationId xmlns:a16="http://schemas.microsoft.com/office/drawing/2014/main" id="{90BED3A1-E908-DD47-A23A-46CBCD9794B5}"/>
                </a:ext>
              </a:extLst>
            </p:cNvPr>
            <p:cNvSpPr>
              <a:spLocks/>
            </p:cNvSpPr>
            <p:nvPr/>
          </p:nvSpPr>
          <p:spPr bwMode="auto">
            <a:xfrm>
              <a:off x="3486151" y="1460500"/>
              <a:ext cx="201613" cy="149225"/>
            </a:xfrm>
            <a:custGeom>
              <a:avLst/>
              <a:gdLst>
                <a:gd name="T0" fmla="*/ 45 w 136"/>
                <a:gd name="T1" fmla="*/ 101 h 101"/>
                <a:gd name="T2" fmla="*/ 45 w 136"/>
                <a:gd name="T3" fmla="*/ 101 h 101"/>
                <a:gd name="T4" fmla="*/ 50 w 136"/>
                <a:gd name="T5" fmla="*/ 99 h 101"/>
                <a:gd name="T6" fmla="*/ 134 w 136"/>
                <a:gd name="T7" fmla="*/ 12 h 101"/>
                <a:gd name="T8" fmla="*/ 133 w 136"/>
                <a:gd name="T9" fmla="*/ 3 h 101"/>
                <a:gd name="T10" fmla="*/ 124 w 136"/>
                <a:gd name="T11" fmla="*/ 3 h 101"/>
                <a:gd name="T12" fmla="*/ 45 w 136"/>
                <a:gd name="T13" fmla="*/ 85 h 101"/>
                <a:gd name="T14" fmla="*/ 13 w 136"/>
                <a:gd name="T15" fmla="*/ 47 h 101"/>
                <a:gd name="T16" fmla="*/ 4 w 136"/>
                <a:gd name="T17" fmla="*/ 46 h 101"/>
                <a:gd name="T18" fmla="*/ 3 w 136"/>
                <a:gd name="T19" fmla="*/ 55 h 101"/>
                <a:gd name="T20" fmla="*/ 40 w 136"/>
                <a:gd name="T21" fmla="*/ 99 h 101"/>
                <a:gd name="T22" fmla="*/ 45 w 136"/>
                <a:gd name="T23"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6" h="101">
                  <a:moveTo>
                    <a:pt x="45" y="101"/>
                  </a:moveTo>
                  <a:cubicBezTo>
                    <a:pt x="45" y="101"/>
                    <a:pt x="45" y="101"/>
                    <a:pt x="45" y="101"/>
                  </a:cubicBezTo>
                  <a:cubicBezTo>
                    <a:pt x="47" y="101"/>
                    <a:pt x="48" y="101"/>
                    <a:pt x="50" y="99"/>
                  </a:cubicBezTo>
                  <a:cubicBezTo>
                    <a:pt x="134" y="12"/>
                    <a:pt x="134" y="12"/>
                    <a:pt x="134" y="12"/>
                  </a:cubicBezTo>
                  <a:cubicBezTo>
                    <a:pt x="136" y="9"/>
                    <a:pt x="136" y="5"/>
                    <a:pt x="133" y="3"/>
                  </a:cubicBezTo>
                  <a:cubicBezTo>
                    <a:pt x="131" y="0"/>
                    <a:pt x="126" y="0"/>
                    <a:pt x="124" y="3"/>
                  </a:cubicBezTo>
                  <a:cubicBezTo>
                    <a:pt x="45" y="85"/>
                    <a:pt x="45" y="85"/>
                    <a:pt x="45" y="85"/>
                  </a:cubicBezTo>
                  <a:cubicBezTo>
                    <a:pt x="13" y="47"/>
                    <a:pt x="13" y="47"/>
                    <a:pt x="13" y="47"/>
                  </a:cubicBezTo>
                  <a:cubicBezTo>
                    <a:pt x="11" y="44"/>
                    <a:pt x="6" y="43"/>
                    <a:pt x="4" y="46"/>
                  </a:cubicBezTo>
                  <a:cubicBezTo>
                    <a:pt x="1" y="48"/>
                    <a:pt x="0" y="52"/>
                    <a:pt x="3" y="55"/>
                  </a:cubicBezTo>
                  <a:cubicBezTo>
                    <a:pt x="40" y="99"/>
                    <a:pt x="40" y="99"/>
                    <a:pt x="40" y="99"/>
                  </a:cubicBezTo>
                  <a:cubicBezTo>
                    <a:pt x="41" y="100"/>
                    <a:pt x="43" y="101"/>
                    <a:pt x="45"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grpSp>
      <p:grpSp>
        <p:nvGrpSpPr>
          <p:cNvPr id="53" name="Group 52">
            <a:extLst>
              <a:ext uri="{FF2B5EF4-FFF2-40B4-BE49-F238E27FC236}">
                <a16:creationId xmlns:a16="http://schemas.microsoft.com/office/drawing/2014/main" id="{F052B412-E21B-BD4E-AC7B-3B7F987D67EE}"/>
              </a:ext>
            </a:extLst>
          </p:cNvPr>
          <p:cNvGrpSpPr/>
          <p:nvPr/>
        </p:nvGrpSpPr>
        <p:grpSpPr>
          <a:xfrm>
            <a:off x="10941608" y="3228583"/>
            <a:ext cx="397348" cy="397348"/>
            <a:chOff x="3433764" y="1371600"/>
            <a:chExt cx="317500" cy="317500"/>
          </a:xfrm>
          <a:solidFill>
            <a:srgbClr val="00A2E2"/>
          </a:solidFill>
        </p:grpSpPr>
        <p:sp>
          <p:nvSpPr>
            <p:cNvPr id="54" name="Freeform 13">
              <a:extLst>
                <a:ext uri="{FF2B5EF4-FFF2-40B4-BE49-F238E27FC236}">
                  <a16:creationId xmlns:a16="http://schemas.microsoft.com/office/drawing/2014/main" id="{ADAF78E3-C126-A741-BC7C-E0D002EADF68}"/>
                </a:ext>
              </a:extLst>
            </p:cNvPr>
            <p:cNvSpPr>
              <a:spLocks noEditPoints="1"/>
            </p:cNvSpPr>
            <p:nvPr/>
          </p:nvSpPr>
          <p:spPr bwMode="auto">
            <a:xfrm>
              <a:off x="3433764" y="1371600"/>
              <a:ext cx="317500" cy="317500"/>
            </a:xfrm>
            <a:custGeom>
              <a:avLst/>
              <a:gdLst>
                <a:gd name="T0" fmla="*/ 108 w 215"/>
                <a:gd name="T1" fmla="*/ 215 h 215"/>
                <a:gd name="T2" fmla="*/ 184 w 215"/>
                <a:gd name="T3" fmla="*/ 183 h 215"/>
                <a:gd name="T4" fmla="*/ 215 w 215"/>
                <a:gd name="T5" fmla="*/ 108 h 215"/>
                <a:gd name="T6" fmla="*/ 184 w 215"/>
                <a:gd name="T7" fmla="*/ 32 h 215"/>
                <a:gd name="T8" fmla="*/ 108 w 215"/>
                <a:gd name="T9" fmla="*/ 0 h 215"/>
                <a:gd name="T10" fmla="*/ 32 w 215"/>
                <a:gd name="T11" fmla="*/ 32 h 215"/>
                <a:gd name="T12" fmla="*/ 0 w 215"/>
                <a:gd name="T13" fmla="*/ 108 h 215"/>
                <a:gd name="T14" fmla="*/ 32 w 215"/>
                <a:gd name="T15" fmla="*/ 183 h 215"/>
                <a:gd name="T16" fmla="*/ 108 w 215"/>
                <a:gd name="T17" fmla="*/ 215 h 215"/>
                <a:gd name="T18" fmla="*/ 41 w 215"/>
                <a:gd name="T19" fmla="*/ 41 h 215"/>
                <a:gd name="T20" fmla="*/ 108 w 215"/>
                <a:gd name="T21" fmla="*/ 14 h 215"/>
                <a:gd name="T22" fmla="*/ 174 w 215"/>
                <a:gd name="T23" fmla="*/ 41 h 215"/>
                <a:gd name="T24" fmla="*/ 202 w 215"/>
                <a:gd name="T25" fmla="*/ 108 h 215"/>
                <a:gd name="T26" fmla="*/ 174 w 215"/>
                <a:gd name="T27" fmla="*/ 174 h 215"/>
                <a:gd name="T28" fmla="*/ 108 w 215"/>
                <a:gd name="T29" fmla="*/ 202 h 215"/>
                <a:gd name="T30" fmla="*/ 41 w 215"/>
                <a:gd name="T31" fmla="*/ 174 h 215"/>
                <a:gd name="T32" fmla="*/ 14 w 215"/>
                <a:gd name="T33" fmla="*/ 108 h 215"/>
                <a:gd name="T34" fmla="*/ 41 w 215"/>
                <a:gd name="T35" fmla="*/ 4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15">
                  <a:moveTo>
                    <a:pt x="108" y="215"/>
                  </a:moveTo>
                  <a:cubicBezTo>
                    <a:pt x="136" y="215"/>
                    <a:pt x="163" y="204"/>
                    <a:pt x="184" y="183"/>
                  </a:cubicBezTo>
                  <a:cubicBezTo>
                    <a:pt x="204" y="163"/>
                    <a:pt x="215" y="136"/>
                    <a:pt x="215" y="108"/>
                  </a:cubicBezTo>
                  <a:cubicBezTo>
                    <a:pt x="215" y="79"/>
                    <a:pt x="204" y="52"/>
                    <a:pt x="184" y="32"/>
                  </a:cubicBezTo>
                  <a:cubicBezTo>
                    <a:pt x="163" y="11"/>
                    <a:pt x="136" y="0"/>
                    <a:pt x="108" y="0"/>
                  </a:cubicBezTo>
                  <a:cubicBezTo>
                    <a:pt x="79" y="0"/>
                    <a:pt x="52" y="11"/>
                    <a:pt x="32" y="32"/>
                  </a:cubicBezTo>
                  <a:cubicBezTo>
                    <a:pt x="12" y="52"/>
                    <a:pt x="0" y="79"/>
                    <a:pt x="0" y="108"/>
                  </a:cubicBezTo>
                  <a:cubicBezTo>
                    <a:pt x="0" y="136"/>
                    <a:pt x="12" y="163"/>
                    <a:pt x="32" y="183"/>
                  </a:cubicBezTo>
                  <a:cubicBezTo>
                    <a:pt x="52" y="204"/>
                    <a:pt x="79" y="215"/>
                    <a:pt x="108" y="215"/>
                  </a:cubicBezTo>
                  <a:close/>
                  <a:moveTo>
                    <a:pt x="41" y="41"/>
                  </a:moveTo>
                  <a:cubicBezTo>
                    <a:pt x="59" y="23"/>
                    <a:pt x="83" y="14"/>
                    <a:pt x="108" y="14"/>
                  </a:cubicBezTo>
                  <a:cubicBezTo>
                    <a:pt x="133" y="14"/>
                    <a:pt x="156" y="23"/>
                    <a:pt x="174" y="41"/>
                  </a:cubicBezTo>
                  <a:cubicBezTo>
                    <a:pt x="192" y="59"/>
                    <a:pt x="202" y="83"/>
                    <a:pt x="202" y="108"/>
                  </a:cubicBezTo>
                  <a:cubicBezTo>
                    <a:pt x="202" y="133"/>
                    <a:pt x="192" y="156"/>
                    <a:pt x="174" y="174"/>
                  </a:cubicBezTo>
                  <a:cubicBezTo>
                    <a:pt x="156" y="192"/>
                    <a:pt x="133" y="202"/>
                    <a:pt x="108" y="202"/>
                  </a:cubicBezTo>
                  <a:cubicBezTo>
                    <a:pt x="83" y="202"/>
                    <a:pt x="59" y="192"/>
                    <a:pt x="41" y="174"/>
                  </a:cubicBezTo>
                  <a:cubicBezTo>
                    <a:pt x="24" y="156"/>
                    <a:pt x="14" y="133"/>
                    <a:pt x="14" y="108"/>
                  </a:cubicBezTo>
                  <a:cubicBezTo>
                    <a:pt x="14" y="83"/>
                    <a:pt x="24" y="59"/>
                    <a:pt x="41"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sp>
          <p:nvSpPr>
            <p:cNvPr id="55" name="Freeform 14">
              <a:extLst>
                <a:ext uri="{FF2B5EF4-FFF2-40B4-BE49-F238E27FC236}">
                  <a16:creationId xmlns:a16="http://schemas.microsoft.com/office/drawing/2014/main" id="{1A25AA0E-9917-914E-954E-361F5BD2F03C}"/>
                </a:ext>
              </a:extLst>
            </p:cNvPr>
            <p:cNvSpPr>
              <a:spLocks/>
            </p:cNvSpPr>
            <p:nvPr/>
          </p:nvSpPr>
          <p:spPr bwMode="auto">
            <a:xfrm>
              <a:off x="3486151" y="1460500"/>
              <a:ext cx="201613" cy="149225"/>
            </a:xfrm>
            <a:custGeom>
              <a:avLst/>
              <a:gdLst>
                <a:gd name="T0" fmla="*/ 45 w 136"/>
                <a:gd name="T1" fmla="*/ 101 h 101"/>
                <a:gd name="T2" fmla="*/ 45 w 136"/>
                <a:gd name="T3" fmla="*/ 101 h 101"/>
                <a:gd name="T4" fmla="*/ 50 w 136"/>
                <a:gd name="T5" fmla="*/ 99 h 101"/>
                <a:gd name="T6" fmla="*/ 134 w 136"/>
                <a:gd name="T7" fmla="*/ 12 h 101"/>
                <a:gd name="T8" fmla="*/ 133 w 136"/>
                <a:gd name="T9" fmla="*/ 3 h 101"/>
                <a:gd name="T10" fmla="*/ 124 w 136"/>
                <a:gd name="T11" fmla="*/ 3 h 101"/>
                <a:gd name="T12" fmla="*/ 45 w 136"/>
                <a:gd name="T13" fmla="*/ 85 h 101"/>
                <a:gd name="T14" fmla="*/ 13 w 136"/>
                <a:gd name="T15" fmla="*/ 47 h 101"/>
                <a:gd name="T16" fmla="*/ 4 w 136"/>
                <a:gd name="T17" fmla="*/ 46 h 101"/>
                <a:gd name="T18" fmla="*/ 3 w 136"/>
                <a:gd name="T19" fmla="*/ 55 h 101"/>
                <a:gd name="T20" fmla="*/ 40 w 136"/>
                <a:gd name="T21" fmla="*/ 99 h 101"/>
                <a:gd name="T22" fmla="*/ 45 w 136"/>
                <a:gd name="T23"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6" h="101">
                  <a:moveTo>
                    <a:pt x="45" y="101"/>
                  </a:moveTo>
                  <a:cubicBezTo>
                    <a:pt x="45" y="101"/>
                    <a:pt x="45" y="101"/>
                    <a:pt x="45" y="101"/>
                  </a:cubicBezTo>
                  <a:cubicBezTo>
                    <a:pt x="47" y="101"/>
                    <a:pt x="48" y="101"/>
                    <a:pt x="50" y="99"/>
                  </a:cubicBezTo>
                  <a:cubicBezTo>
                    <a:pt x="134" y="12"/>
                    <a:pt x="134" y="12"/>
                    <a:pt x="134" y="12"/>
                  </a:cubicBezTo>
                  <a:cubicBezTo>
                    <a:pt x="136" y="9"/>
                    <a:pt x="136" y="5"/>
                    <a:pt x="133" y="3"/>
                  </a:cubicBezTo>
                  <a:cubicBezTo>
                    <a:pt x="131" y="0"/>
                    <a:pt x="126" y="0"/>
                    <a:pt x="124" y="3"/>
                  </a:cubicBezTo>
                  <a:cubicBezTo>
                    <a:pt x="45" y="85"/>
                    <a:pt x="45" y="85"/>
                    <a:pt x="45" y="85"/>
                  </a:cubicBezTo>
                  <a:cubicBezTo>
                    <a:pt x="13" y="47"/>
                    <a:pt x="13" y="47"/>
                    <a:pt x="13" y="47"/>
                  </a:cubicBezTo>
                  <a:cubicBezTo>
                    <a:pt x="11" y="44"/>
                    <a:pt x="6" y="43"/>
                    <a:pt x="4" y="46"/>
                  </a:cubicBezTo>
                  <a:cubicBezTo>
                    <a:pt x="1" y="48"/>
                    <a:pt x="0" y="52"/>
                    <a:pt x="3" y="55"/>
                  </a:cubicBezTo>
                  <a:cubicBezTo>
                    <a:pt x="40" y="99"/>
                    <a:pt x="40" y="99"/>
                    <a:pt x="40" y="99"/>
                  </a:cubicBezTo>
                  <a:cubicBezTo>
                    <a:pt x="41" y="100"/>
                    <a:pt x="43" y="101"/>
                    <a:pt x="45"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grpSp>
      <p:grpSp>
        <p:nvGrpSpPr>
          <p:cNvPr id="59" name="Group 58">
            <a:extLst>
              <a:ext uri="{FF2B5EF4-FFF2-40B4-BE49-F238E27FC236}">
                <a16:creationId xmlns:a16="http://schemas.microsoft.com/office/drawing/2014/main" id="{23DFBEE8-4E42-C544-8275-2EA9B5E23BCD}"/>
              </a:ext>
            </a:extLst>
          </p:cNvPr>
          <p:cNvGrpSpPr/>
          <p:nvPr/>
        </p:nvGrpSpPr>
        <p:grpSpPr>
          <a:xfrm>
            <a:off x="10948562" y="4020235"/>
            <a:ext cx="397348" cy="397348"/>
            <a:chOff x="3433764" y="1371600"/>
            <a:chExt cx="317500" cy="317500"/>
          </a:xfrm>
          <a:solidFill>
            <a:srgbClr val="00A2E2"/>
          </a:solidFill>
        </p:grpSpPr>
        <p:sp>
          <p:nvSpPr>
            <p:cNvPr id="60" name="Freeform 13">
              <a:extLst>
                <a:ext uri="{FF2B5EF4-FFF2-40B4-BE49-F238E27FC236}">
                  <a16:creationId xmlns:a16="http://schemas.microsoft.com/office/drawing/2014/main" id="{D3EF77B8-688C-234E-964F-EDDC12DB6B9F}"/>
                </a:ext>
              </a:extLst>
            </p:cNvPr>
            <p:cNvSpPr>
              <a:spLocks noEditPoints="1"/>
            </p:cNvSpPr>
            <p:nvPr/>
          </p:nvSpPr>
          <p:spPr bwMode="auto">
            <a:xfrm>
              <a:off x="3433764" y="1371600"/>
              <a:ext cx="317500" cy="317500"/>
            </a:xfrm>
            <a:custGeom>
              <a:avLst/>
              <a:gdLst>
                <a:gd name="T0" fmla="*/ 108 w 215"/>
                <a:gd name="T1" fmla="*/ 215 h 215"/>
                <a:gd name="T2" fmla="*/ 184 w 215"/>
                <a:gd name="T3" fmla="*/ 183 h 215"/>
                <a:gd name="T4" fmla="*/ 215 w 215"/>
                <a:gd name="T5" fmla="*/ 108 h 215"/>
                <a:gd name="T6" fmla="*/ 184 w 215"/>
                <a:gd name="T7" fmla="*/ 32 h 215"/>
                <a:gd name="T8" fmla="*/ 108 w 215"/>
                <a:gd name="T9" fmla="*/ 0 h 215"/>
                <a:gd name="T10" fmla="*/ 32 w 215"/>
                <a:gd name="T11" fmla="*/ 32 h 215"/>
                <a:gd name="T12" fmla="*/ 0 w 215"/>
                <a:gd name="T13" fmla="*/ 108 h 215"/>
                <a:gd name="T14" fmla="*/ 32 w 215"/>
                <a:gd name="T15" fmla="*/ 183 h 215"/>
                <a:gd name="T16" fmla="*/ 108 w 215"/>
                <a:gd name="T17" fmla="*/ 215 h 215"/>
                <a:gd name="T18" fmla="*/ 41 w 215"/>
                <a:gd name="T19" fmla="*/ 41 h 215"/>
                <a:gd name="T20" fmla="*/ 108 w 215"/>
                <a:gd name="T21" fmla="*/ 14 h 215"/>
                <a:gd name="T22" fmla="*/ 174 w 215"/>
                <a:gd name="T23" fmla="*/ 41 h 215"/>
                <a:gd name="T24" fmla="*/ 202 w 215"/>
                <a:gd name="T25" fmla="*/ 108 h 215"/>
                <a:gd name="T26" fmla="*/ 174 w 215"/>
                <a:gd name="T27" fmla="*/ 174 h 215"/>
                <a:gd name="T28" fmla="*/ 108 w 215"/>
                <a:gd name="T29" fmla="*/ 202 h 215"/>
                <a:gd name="T30" fmla="*/ 41 w 215"/>
                <a:gd name="T31" fmla="*/ 174 h 215"/>
                <a:gd name="T32" fmla="*/ 14 w 215"/>
                <a:gd name="T33" fmla="*/ 108 h 215"/>
                <a:gd name="T34" fmla="*/ 41 w 215"/>
                <a:gd name="T35" fmla="*/ 4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15">
                  <a:moveTo>
                    <a:pt x="108" y="215"/>
                  </a:moveTo>
                  <a:cubicBezTo>
                    <a:pt x="136" y="215"/>
                    <a:pt x="163" y="204"/>
                    <a:pt x="184" y="183"/>
                  </a:cubicBezTo>
                  <a:cubicBezTo>
                    <a:pt x="204" y="163"/>
                    <a:pt x="215" y="136"/>
                    <a:pt x="215" y="108"/>
                  </a:cubicBezTo>
                  <a:cubicBezTo>
                    <a:pt x="215" y="79"/>
                    <a:pt x="204" y="52"/>
                    <a:pt x="184" y="32"/>
                  </a:cubicBezTo>
                  <a:cubicBezTo>
                    <a:pt x="163" y="11"/>
                    <a:pt x="136" y="0"/>
                    <a:pt x="108" y="0"/>
                  </a:cubicBezTo>
                  <a:cubicBezTo>
                    <a:pt x="79" y="0"/>
                    <a:pt x="52" y="11"/>
                    <a:pt x="32" y="32"/>
                  </a:cubicBezTo>
                  <a:cubicBezTo>
                    <a:pt x="12" y="52"/>
                    <a:pt x="0" y="79"/>
                    <a:pt x="0" y="108"/>
                  </a:cubicBezTo>
                  <a:cubicBezTo>
                    <a:pt x="0" y="136"/>
                    <a:pt x="12" y="163"/>
                    <a:pt x="32" y="183"/>
                  </a:cubicBezTo>
                  <a:cubicBezTo>
                    <a:pt x="52" y="204"/>
                    <a:pt x="79" y="215"/>
                    <a:pt x="108" y="215"/>
                  </a:cubicBezTo>
                  <a:close/>
                  <a:moveTo>
                    <a:pt x="41" y="41"/>
                  </a:moveTo>
                  <a:cubicBezTo>
                    <a:pt x="59" y="23"/>
                    <a:pt x="83" y="14"/>
                    <a:pt x="108" y="14"/>
                  </a:cubicBezTo>
                  <a:cubicBezTo>
                    <a:pt x="133" y="14"/>
                    <a:pt x="156" y="23"/>
                    <a:pt x="174" y="41"/>
                  </a:cubicBezTo>
                  <a:cubicBezTo>
                    <a:pt x="192" y="59"/>
                    <a:pt x="202" y="83"/>
                    <a:pt x="202" y="108"/>
                  </a:cubicBezTo>
                  <a:cubicBezTo>
                    <a:pt x="202" y="133"/>
                    <a:pt x="192" y="156"/>
                    <a:pt x="174" y="174"/>
                  </a:cubicBezTo>
                  <a:cubicBezTo>
                    <a:pt x="156" y="192"/>
                    <a:pt x="133" y="202"/>
                    <a:pt x="108" y="202"/>
                  </a:cubicBezTo>
                  <a:cubicBezTo>
                    <a:pt x="83" y="202"/>
                    <a:pt x="59" y="192"/>
                    <a:pt x="41" y="174"/>
                  </a:cubicBezTo>
                  <a:cubicBezTo>
                    <a:pt x="24" y="156"/>
                    <a:pt x="14" y="133"/>
                    <a:pt x="14" y="108"/>
                  </a:cubicBezTo>
                  <a:cubicBezTo>
                    <a:pt x="14" y="83"/>
                    <a:pt x="24" y="59"/>
                    <a:pt x="41"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sp>
          <p:nvSpPr>
            <p:cNvPr id="61" name="Freeform 14">
              <a:extLst>
                <a:ext uri="{FF2B5EF4-FFF2-40B4-BE49-F238E27FC236}">
                  <a16:creationId xmlns:a16="http://schemas.microsoft.com/office/drawing/2014/main" id="{3B73A44E-E0F9-D34F-AE16-A7370BD0AA02}"/>
                </a:ext>
              </a:extLst>
            </p:cNvPr>
            <p:cNvSpPr>
              <a:spLocks/>
            </p:cNvSpPr>
            <p:nvPr/>
          </p:nvSpPr>
          <p:spPr bwMode="auto">
            <a:xfrm>
              <a:off x="3486151" y="1460500"/>
              <a:ext cx="201613" cy="149225"/>
            </a:xfrm>
            <a:custGeom>
              <a:avLst/>
              <a:gdLst>
                <a:gd name="T0" fmla="*/ 45 w 136"/>
                <a:gd name="T1" fmla="*/ 101 h 101"/>
                <a:gd name="T2" fmla="*/ 45 w 136"/>
                <a:gd name="T3" fmla="*/ 101 h 101"/>
                <a:gd name="T4" fmla="*/ 50 w 136"/>
                <a:gd name="T5" fmla="*/ 99 h 101"/>
                <a:gd name="T6" fmla="*/ 134 w 136"/>
                <a:gd name="T7" fmla="*/ 12 h 101"/>
                <a:gd name="T8" fmla="*/ 133 w 136"/>
                <a:gd name="T9" fmla="*/ 3 h 101"/>
                <a:gd name="T10" fmla="*/ 124 w 136"/>
                <a:gd name="T11" fmla="*/ 3 h 101"/>
                <a:gd name="T12" fmla="*/ 45 w 136"/>
                <a:gd name="T13" fmla="*/ 85 h 101"/>
                <a:gd name="T14" fmla="*/ 13 w 136"/>
                <a:gd name="T15" fmla="*/ 47 h 101"/>
                <a:gd name="T16" fmla="*/ 4 w 136"/>
                <a:gd name="T17" fmla="*/ 46 h 101"/>
                <a:gd name="T18" fmla="*/ 3 w 136"/>
                <a:gd name="T19" fmla="*/ 55 h 101"/>
                <a:gd name="T20" fmla="*/ 40 w 136"/>
                <a:gd name="T21" fmla="*/ 99 h 101"/>
                <a:gd name="T22" fmla="*/ 45 w 136"/>
                <a:gd name="T23"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6" h="101">
                  <a:moveTo>
                    <a:pt x="45" y="101"/>
                  </a:moveTo>
                  <a:cubicBezTo>
                    <a:pt x="45" y="101"/>
                    <a:pt x="45" y="101"/>
                    <a:pt x="45" y="101"/>
                  </a:cubicBezTo>
                  <a:cubicBezTo>
                    <a:pt x="47" y="101"/>
                    <a:pt x="48" y="101"/>
                    <a:pt x="50" y="99"/>
                  </a:cubicBezTo>
                  <a:cubicBezTo>
                    <a:pt x="134" y="12"/>
                    <a:pt x="134" y="12"/>
                    <a:pt x="134" y="12"/>
                  </a:cubicBezTo>
                  <a:cubicBezTo>
                    <a:pt x="136" y="9"/>
                    <a:pt x="136" y="5"/>
                    <a:pt x="133" y="3"/>
                  </a:cubicBezTo>
                  <a:cubicBezTo>
                    <a:pt x="131" y="0"/>
                    <a:pt x="126" y="0"/>
                    <a:pt x="124" y="3"/>
                  </a:cubicBezTo>
                  <a:cubicBezTo>
                    <a:pt x="45" y="85"/>
                    <a:pt x="45" y="85"/>
                    <a:pt x="45" y="85"/>
                  </a:cubicBezTo>
                  <a:cubicBezTo>
                    <a:pt x="13" y="47"/>
                    <a:pt x="13" y="47"/>
                    <a:pt x="13" y="47"/>
                  </a:cubicBezTo>
                  <a:cubicBezTo>
                    <a:pt x="11" y="44"/>
                    <a:pt x="6" y="43"/>
                    <a:pt x="4" y="46"/>
                  </a:cubicBezTo>
                  <a:cubicBezTo>
                    <a:pt x="1" y="48"/>
                    <a:pt x="0" y="52"/>
                    <a:pt x="3" y="55"/>
                  </a:cubicBezTo>
                  <a:cubicBezTo>
                    <a:pt x="40" y="99"/>
                    <a:pt x="40" y="99"/>
                    <a:pt x="40" y="99"/>
                  </a:cubicBezTo>
                  <a:cubicBezTo>
                    <a:pt x="41" y="100"/>
                    <a:pt x="43" y="101"/>
                    <a:pt x="45"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grpSp>
      <p:grpSp>
        <p:nvGrpSpPr>
          <p:cNvPr id="62" name="Group 61">
            <a:extLst>
              <a:ext uri="{FF2B5EF4-FFF2-40B4-BE49-F238E27FC236}">
                <a16:creationId xmlns:a16="http://schemas.microsoft.com/office/drawing/2014/main" id="{B40DCB64-11CD-5040-B4DC-196459664FE4}"/>
              </a:ext>
            </a:extLst>
          </p:cNvPr>
          <p:cNvGrpSpPr/>
          <p:nvPr/>
        </p:nvGrpSpPr>
        <p:grpSpPr>
          <a:xfrm>
            <a:off x="11843935" y="4021544"/>
            <a:ext cx="397348" cy="397348"/>
            <a:chOff x="3433764" y="1371600"/>
            <a:chExt cx="317500" cy="317500"/>
          </a:xfrm>
          <a:solidFill>
            <a:srgbClr val="00A2E2"/>
          </a:solidFill>
        </p:grpSpPr>
        <p:sp>
          <p:nvSpPr>
            <p:cNvPr id="63" name="Freeform 62">
              <a:extLst>
                <a:ext uri="{FF2B5EF4-FFF2-40B4-BE49-F238E27FC236}">
                  <a16:creationId xmlns:a16="http://schemas.microsoft.com/office/drawing/2014/main" id="{44041618-B206-E749-AE91-C6382427F7A2}"/>
                </a:ext>
              </a:extLst>
            </p:cNvPr>
            <p:cNvSpPr>
              <a:spLocks noEditPoints="1"/>
            </p:cNvSpPr>
            <p:nvPr/>
          </p:nvSpPr>
          <p:spPr bwMode="auto">
            <a:xfrm>
              <a:off x="3433764" y="1371600"/>
              <a:ext cx="317500" cy="317500"/>
            </a:xfrm>
            <a:custGeom>
              <a:avLst/>
              <a:gdLst>
                <a:gd name="T0" fmla="*/ 108 w 215"/>
                <a:gd name="T1" fmla="*/ 215 h 215"/>
                <a:gd name="T2" fmla="*/ 184 w 215"/>
                <a:gd name="T3" fmla="*/ 183 h 215"/>
                <a:gd name="T4" fmla="*/ 215 w 215"/>
                <a:gd name="T5" fmla="*/ 108 h 215"/>
                <a:gd name="T6" fmla="*/ 184 w 215"/>
                <a:gd name="T7" fmla="*/ 32 h 215"/>
                <a:gd name="T8" fmla="*/ 108 w 215"/>
                <a:gd name="T9" fmla="*/ 0 h 215"/>
                <a:gd name="T10" fmla="*/ 32 w 215"/>
                <a:gd name="T11" fmla="*/ 32 h 215"/>
                <a:gd name="T12" fmla="*/ 0 w 215"/>
                <a:gd name="T13" fmla="*/ 108 h 215"/>
                <a:gd name="T14" fmla="*/ 32 w 215"/>
                <a:gd name="T15" fmla="*/ 183 h 215"/>
                <a:gd name="T16" fmla="*/ 108 w 215"/>
                <a:gd name="T17" fmla="*/ 215 h 215"/>
                <a:gd name="T18" fmla="*/ 41 w 215"/>
                <a:gd name="T19" fmla="*/ 41 h 215"/>
                <a:gd name="T20" fmla="*/ 108 w 215"/>
                <a:gd name="T21" fmla="*/ 14 h 215"/>
                <a:gd name="T22" fmla="*/ 174 w 215"/>
                <a:gd name="T23" fmla="*/ 41 h 215"/>
                <a:gd name="T24" fmla="*/ 202 w 215"/>
                <a:gd name="T25" fmla="*/ 108 h 215"/>
                <a:gd name="T26" fmla="*/ 174 w 215"/>
                <a:gd name="T27" fmla="*/ 174 h 215"/>
                <a:gd name="T28" fmla="*/ 108 w 215"/>
                <a:gd name="T29" fmla="*/ 202 h 215"/>
                <a:gd name="T30" fmla="*/ 41 w 215"/>
                <a:gd name="T31" fmla="*/ 174 h 215"/>
                <a:gd name="T32" fmla="*/ 14 w 215"/>
                <a:gd name="T33" fmla="*/ 108 h 215"/>
                <a:gd name="T34" fmla="*/ 41 w 215"/>
                <a:gd name="T35" fmla="*/ 4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15">
                  <a:moveTo>
                    <a:pt x="108" y="215"/>
                  </a:moveTo>
                  <a:cubicBezTo>
                    <a:pt x="136" y="215"/>
                    <a:pt x="163" y="204"/>
                    <a:pt x="184" y="183"/>
                  </a:cubicBezTo>
                  <a:cubicBezTo>
                    <a:pt x="204" y="163"/>
                    <a:pt x="215" y="136"/>
                    <a:pt x="215" y="108"/>
                  </a:cubicBezTo>
                  <a:cubicBezTo>
                    <a:pt x="215" y="79"/>
                    <a:pt x="204" y="52"/>
                    <a:pt x="184" y="32"/>
                  </a:cubicBezTo>
                  <a:cubicBezTo>
                    <a:pt x="163" y="11"/>
                    <a:pt x="136" y="0"/>
                    <a:pt x="108" y="0"/>
                  </a:cubicBezTo>
                  <a:cubicBezTo>
                    <a:pt x="79" y="0"/>
                    <a:pt x="52" y="11"/>
                    <a:pt x="32" y="32"/>
                  </a:cubicBezTo>
                  <a:cubicBezTo>
                    <a:pt x="12" y="52"/>
                    <a:pt x="0" y="79"/>
                    <a:pt x="0" y="108"/>
                  </a:cubicBezTo>
                  <a:cubicBezTo>
                    <a:pt x="0" y="136"/>
                    <a:pt x="12" y="163"/>
                    <a:pt x="32" y="183"/>
                  </a:cubicBezTo>
                  <a:cubicBezTo>
                    <a:pt x="52" y="204"/>
                    <a:pt x="79" y="215"/>
                    <a:pt x="108" y="215"/>
                  </a:cubicBezTo>
                  <a:close/>
                  <a:moveTo>
                    <a:pt x="41" y="41"/>
                  </a:moveTo>
                  <a:cubicBezTo>
                    <a:pt x="59" y="23"/>
                    <a:pt x="83" y="14"/>
                    <a:pt x="108" y="14"/>
                  </a:cubicBezTo>
                  <a:cubicBezTo>
                    <a:pt x="133" y="14"/>
                    <a:pt x="156" y="23"/>
                    <a:pt x="174" y="41"/>
                  </a:cubicBezTo>
                  <a:cubicBezTo>
                    <a:pt x="192" y="59"/>
                    <a:pt x="202" y="83"/>
                    <a:pt x="202" y="108"/>
                  </a:cubicBezTo>
                  <a:cubicBezTo>
                    <a:pt x="202" y="133"/>
                    <a:pt x="192" y="156"/>
                    <a:pt x="174" y="174"/>
                  </a:cubicBezTo>
                  <a:cubicBezTo>
                    <a:pt x="156" y="192"/>
                    <a:pt x="133" y="202"/>
                    <a:pt x="108" y="202"/>
                  </a:cubicBezTo>
                  <a:cubicBezTo>
                    <a:pt x="83" y="202"/>
                    <a:pt x="59" y="192"/>
                    <a:pt x="41" y="174"/>
                  </a:cubicBezTo>
                  <a:cubicBezTo>
                    <a:pt x="24" y="156"/>
                    <a:pt x="14" y="133"/>
                    <a:pt x="14" y="108"/>
                  </a:cubicBezTo>
                  <a:cubicBezTo>
                    <a:pt x="14" y="83"/>
                    <a:pt x="24" y="59"/>
                    <a:pt x="41"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sp>
          <p:nvSpPr>
            <p:cNvPr id="64" name="Freeform 63">
              <a:extLst>
                <a:ext uri="{FF2B5EF4-FFF2-40B4-BE49-F238E27FC236}">
                  <a16:creationId xmlns:a16="http://schemas.microsoft.com/office/drawing/2014/main" id="{9CEF0E0D-03D0-CF45-9672-73391EE631E6}"/>
                </a:ext>
              </a:extLst>
            </p:cNvPr>
            <p:cNvSpPr>
              <a:spLocks/>
            </p:cNvSpPr>
            <p:nvPr/>
          </p:nvSpPr>
          <p:spPr bwMode="auto">
            <a:xfrm>
              <a:off x="3486151" y="1460500"/>
              <a:ext cx="201613" cy="149225"/>
            </a:xfrm>
            <a:custGeom>
              <a:avLst/>
              <a:gdLst>
                <a:gd name="T0" fmla="*/ 45 w 136"/>
                <a:gd name="T1" fmla="*/ 101 h 101"/>
                <a:gd name="T2" fmla="*/ 45 w 136"/>
                <a:gd name="T3" fmla="*/ 101 h 101"/>
                <a:gd name="T4" fmla="*/ 50 w 136"/>
                <a:gd name="T5" fmla="*/ 99 h 101"/>
                <a:gd name="T6" fmla="*/ 134 w 136"/>
                <a:gd name="T7" fmla="*/ 12 h 101"/>
                <a:gd name="T8" fmla="*/ 133 w 136"/>
                <a:gd name="T9" fmla="*/ 3 h 101"/>
                <a:gd name="T10" fmla="*/ 124 w 136"/>
                <a:gd name="T11" fmla="*/ 3 h 101"/>
                <a:gd name="T12" fmla="*/ 45 w 136"/>
                <a:gd name="T13" fmla="*/ 85 h 101"/>
                <a:gd name="T14" fmla="*/ 13 w 136"/>
                <a:gd name="T15" fmla="*/ 47 h 101"/>
                <a:gd name="T16" fmla="*/ 4 w 136"/>
                <a:gd name="T17" fmla="*/ 46 h 101"/>
                <a:gd name="T18" fmla="*/ 3 w 136"/>
                <a:gd name="T19" fmla="*/ 55 h 101"/>
                <a:gd name="T20" fmla="*/ 40 w 136"/>
                <a:gd name="T21" fmla="*/ 99 h 101"/>
                <a:gd name="T22" fmla="*/ 45 w 136"/>
                <a:gd name="T23"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6" h="101">
                  <a:moveTo>
                    <a:pt x="45" y="101"/>
                  </a:moveTo>
                  <a:cubicBezTo>
                    <a:pt x="45" y="101"/>
                    <a:pt x="45" y="101"/>
                    <a:pt x="45" y="101"/>
                  </a:cubicBezTo>
                  <a:cubicBezTo>
                    <a:pt x="47" y="101"/>
                    <a:pt x="48" y="101"/>
                    <a:pt x="50" y="99"/>
                  </a:cubicBezTo>
                  <a:cubicBezTo>
                    <a:pt x="134" y="12"/>
                    <a:pt x="134" y="12"/>
                    <a:pt x="134" y="12"/>
                  </a:cubicBezTo>
                  <a:cubicBezTo>
                    <a:pt x="136" y="9"/>
                    <a:pt x="136" y="5"/>
                    <a:pt x="133" y="3"/>
                  </a:cubicBezTo>
                  <a:cubicBezTo>
                    <a:pt x="131" y="0"/>
                    <a:pt x="126" y="0"/>
                    <a:pt x="124" y="3"/>
                  </a:cubicBezTo>
                  <a:cubicBezTo>
                    <a:pt x="45" y="85"/>
                    <a:pt x="45" y="85"/>
                    <a:pt x="45" y="85"/>
                  </a:cubicBezTo>
                  <a:cubicBezTo>
                    <a:pt x="13" y="47"/>
                    <a:pt x="13" y="47"/>
                    <a:pt x="13" y="47"/>
                  </a:cubicBezTo>
                  <a:cubicBezTo>
                    <a:pt x="11" y="44"/>
                    <a:pt x="6" y="43"/>
                    <a:pt x="4" y="46"/>
                  </a:cubicBezTo>
                  <a:cubicBezTo>
                    <a:pt x="1" y="48"/>
                    <a:pt x="0" y="52"/>
                    <a:pt x="3" y="55"/>
                  </a:cubicBezTo>
                  <a:cubicBezTo>
                    <a:pt x="40" y="99"/>
                    <a:pt x="40" y="99"/>
                    <a:pt x="40" y="99"/>
                  </a:cubicBezTo>
                  <a:cubicBezTo>
                    <a:pt x="41" y="100"/>
                    <a:pt x="43" y="101"/>
                    <a:pt x="45"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grpSp>
      <p:grpSp>
        <p:nvGrpSpPr>
          <p:cNvPr id="65" name="Group 64">
            <a:extLst>
              <a:ext uri="{FF2B5EF4-FFF2-40B4-BE49-F238E27FC236}">
                <a16:creationId xmlns:a16="http://schemas.microsoft.com/office/drawing/2014/main" id="{B435F4D2-6A93-984F-A52B-98A53E1BAD6A}"/>
              </a:ext>
            </a:extLst>
          </p:cNvPr>
          <p:cNvGrpSpPr/>
          <p:nvPr/>
        </p:nvGrpSpPr>
        <p:grpSpPr>
          <a:xfrm>
            <a:off x="10948562" y="4751557"/>
            <a:ext cx="397348" cy="397348"/>
            <a:chOff x="3433764" y="1371600"/>
            <a:chExt cx="317500" cy="317500"/>
          </a:xfrm>
          <a:solidFill>
            <a:srgbClr val="00A2E2"/>
          </a:solidFill>
        </p:grpSpPr>
        <p:sp>
          <p:nvSpPr>
            <p:cNvPr id="66" name="Freeform 13">
              <a:extLst>
                <a:ext uri="{FF2B5EF4-FFF2-40B4-BE49-F238E27FC236}">
                  <a16:creationId xmlns:a16="http://schemas.microsoft.com/office/drawing/2014/main" id="{0ECCD2FC-2AFC-F549-BE3C-1C185858F172}"/>
                </a:ext>
              </a:extLst>
            </p:cNvPr>
            <p:cNvSpPr>
              <a:spLocks noEditPoints="1"/>
            </p:cNvSpPr>
            <p:nvPr/>
          </p:nvSpPr>
          <p:spPr bwMode="auto">
            <a:xfrm>
              <a:off x="3433764" y="1371600"/>
              <a:ext cx="317500" cy="317500"/>
            </a:xfrm>
            <a:custGeom>
              <a:avLst/>
              <a:gdLst>
                <a:gd name="T0" fmla="*/ 108 w 215"/>
                <a:gd name="T1" fmla="*/ 215 h 215"/>
                <a:gd name="T2" fmla="*/ 184 w 215"/>
                <a:gd name="T3" fmla="*/ 183 h 215"/>
                <a:gd name="T4" fmla="*/ 215 w 215"/>
                <a:gd name="T5" fmla="*/ 108 h 215"/>
                <a:gd name="T6" fmla="*/ 184 w 215"/>
                <a:gd name="T7" fmla="*/ 32 h 215"/>
                <a:gd name="T8" fmla="*/ 108 w 215"/>
                <a:gd name="T9" fmla="*/ 0 h 215"/>
                <a:gd name="T10" fmla="*/ 32 w 215"/>
                <a:gd name="T11" fmla="*/ 32 h 215"/>
                <a:gd name="T12" fmla="*/ 0 w 215"/>
                <a:gd name="T13" fmla="*/ 108 h 215"/>
                <a:gd name="T14" fmla="*/ 32 w 215"/>
                <a:gd name="T15" fmla="*/ 183 h 215"/>
                <a:gd name="T16" fmla="*/ 108 w 215"/>
                <a:gd name="T17" fmla="*/ 215 h 215"/>
                <a:gd name="T18" fmla="*/ 41 w 215"/>
                <a:gd name="T19" fmla="*/ 41 h 215"/>
                <a:gd name="T20" fmla="*/ 108 w 215"/>
                <a:gd name="T21" fmla="*/ 14 h 215"/>
                <a:gd name="T22" fmla="*/ 174 w 215"/>
                <a:gd name="T23" fmla="*/ 41 h 215"/>
                <a:gd name="T24" fmla="*/ 202 w 215"/>
                <a:gd name="T25" fmla="*/ 108 h 215"/>
                <a:gd name="T26" fmla="*/ 174 w 215"/>
                <a:gd name="T27" fmla="*/ 174 h 215"/>
                <a:gd name="T28" fmla="*/ 108 w 215"/>
                <a:gd name="T29" fmla="*/ 202 h 215"/>
                <a:gd name="T30" fmla="*/ 41 w 215"/>
                <a:gd name="T31" fmla="*/ 174 h 215"/>
                <a:gd name="T32" fmla="*/ 14 w 215"/>
                <a:gd name="T33" fmla="*/ 108 h 215"/>
                <a:gd name="T34" fmla="*/ 41 w 215"/>
                <a:gd name="T35" fmla="*/ 4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15">
                  <a:moveTo>
                    <a:pt x="108" y="215"/>
                  </a:moveTo>
                  <a:cubicBezTo>
                    <a:pt x="136" y="215"/>
                    <a:pt x="163" y="204"/>
                    <a:pt x="184" y="183"/>
                  </a:cubicBezTo>
                  <a:cubicBezTo>
                    <a:pt x="204" y="163"/>
                    <a:pt x="215" y="136"/>
                    <a:pt x="215" y="108"/>
                  </a:cubicBezTo>
                  <a:cubicBezTo>
                    <a:pt x="215" y="79"/>
                    <a:pt x="204" y="52"/>
                    <a:pt x="184" y="32"/>
                  </a:cubicBezTo>
                  <a:cubicBezTo>
                    <a:pt x="163" y="11"/>
                    <a:pt x="136" y="0"/>
                    <a:pt x="108" y="0"/>
                  </a:cubicBezTo>
                  <a:cubicBezTo>
                    <a:pt x="79" y="0"/>
                    <a:pt x="52" y="11"/>
                    <a:pt x="32" y="32"/>
                  </a:cubicBezTo>
                  <a:cubicBezTo>
                    <a:pt x="12" y="52"/>
                    <a:pt x="0" y="79"/>
                    <a:pt x="0" y="108"/>
                  </a:cubicBezTo>
                  <a:cubicBezTo>
                    <a:pt x="0" y="136"/>
                    <a:pt x="12" y="163"/>
                    <a:pt x="32" y="183"/>
                  </a:cubicBezTo>
                  <a:cubicBezTo>
                    <a:pt x="52" y="204"/>
                    <a:pt x="79" y="215"/>
                    <a:pt x="108" y="215"/>
                  </a:cubicBezTo>
                  <a:close/>
                  <a:moveTo>
                    <a:pt x="41" y="41"/>
                  </a:moveTo>
                  <a:cubicBezTo>
                    <a:pt x="59" y="23"/>
                    <a:pt x="83" y="14"/>
                    <a:pt x="108" y="14"/>
                  </a:cubicBezTo>
                  <a:cubicBezTo>
                    <a:pt x="133" y="14"/>
                    <a:pt x="156" y="23"/>
                    <a:pt x="174" y="41"/>
                  </a:cubicBezTo>
                  <a:cubicBezTo>
                    <a:pt x="192" y="59"/>
                    <a:pt x="202" y="83"/>
                    <a:pt x="202" y="108"/>
                  </a:cubicBezTo>
                  <a:cubicBezTo>
                    <a:pt x="202" y="133"/>
                    <a:pt x="192" y="156"/>
                    <a:pt x="174" y="174"/>
                  </a:cubicBezTo>
                  <a:cubicBezTo>
                    <a:pt x="156" y="192"/>
                    <a:pt x="133" y="202"/>
                    <a:pt x="108" y="202"/>
                  </a:cubicBezTo>
                  <a:cubicBezTo>
                    <a:pt x="83" y="202"/>
                    <a:pt x="59" y="192"/>
                    <a:pt x="41" y="174"/>
                  </a:cubicBezTo>
                  <a:cubicBezTo>
                    <a:pt x="24" y="156"/>
                    <a:pt x="14" y="133"/>
                    <a:pt x="14" y="108"/>
                  </a:cubicBezTo>
                  <a:cubicBezTo>
                    <a:pt x="14" y="83"/>
                    <a:pt x="24" y="59"/>
                    <a:pt x="41"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sp>
          <p:nvSpPr>
            <p:cNvPr id="67" name="Freeform 14">
              <a:extLst>
                <a:ext uri="{FF2B5EF4-FFF2-40B4-BE49-F238E27FC236}">
                  <a16:creationId xmlns:a16="http://schemas.microsoft.com/office/drawing/2014/main" id="{CA8AF8BA-3058-E14C-A1AD-425ECD7DDE3A}"/>
                </a:ext>
              </a:extLst>
            </p:cNvPr>
            <p:cNvSpPr>
              <a:spLocks/>
            </p:cNvSpPr>
            <p:nvPr/>
          </p:nvSpPr>
          <p:spPr bwMode="auto">
            <a:xfrm>
              <a:off x="3486151" y="1460500"/>
              <a:ext cx="201613" cy="149225"/>
            </a:xfrm>
            <a:custGeom>
              <a:avLst/>
              <a:gdLst>
                <a:gd name="T0" fmla="*/ 45 w 136"/>
                <a:gd name="T1" fmla="*/ 101 h 101"/>
                <a:gd name="T2" fmla="*/ 45 w 136"/>
                <a:gd name="T3" fmla="*/ 101 h 101"/>
                <a:gd name="T4" fmla="*/ 50 w 136"/>
                <a:gd name="T5" fmla="*/ 99 h 101"/>
                <a:gd name="T6" fmla="*/ 134 w 136"/>
                <a:gd name="T7" fmla="*/ 12 h 101"/>
                <a:gd name="T8" fmla="*/ 133 w 136"/>
                <a:gd name="T9" fmla="*/ 3 h 101"/>
                <a:gd name="T10" fmla="*/ 124 w 136"/>
                <a:gd name="T11" fmla="*/ 3 h 101"/>
                <a:gd name="T12" fmla="*/ 45 w 136"/>
                <a:gd name="T13" fmla="*/ 85 h 101"/>
                <a:gd name="T14" fmla="*/ 13 w 136"/>
                <a:gd name="T15" fmla="*/ 47 h 101"/>
                <a:gd name="T16" fmla="*/ 4 w 136"/>
                <a:gd name="T17" fmla="*/ 46 h 101"/>
                <a:gd name="T18" fmla="*/ 3 w 136"/>
                <a:gd name="T19" fmla="*/ 55 h 101"/>
                <a:gd name="T20" fmla="*/ 40 w 136"/>
                <a:gd name="T21" fmla="*/ 99 h 101"/>
                <a:gd name="T22" fmla="*/ 45 w 136"/>
                <a:gd name="T23"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6" h="101">
                  <a:moveTo>
                    <a:pt x="45" y="101"/>
                  </a:moveTo>
                  <a:cubicBezTo>
                    <a:pt x="45" y="101"/>
                    <a:pt x="45" y="101"/>
                    <a:pt x="45" y="101"/>
                  </a:cubicBezTo>
                  <a:cubicBezTo>
                    <a:pt x="47" y="101"/>
                    <a:pt x="48" y="101"/>
                    <a:pt x="50" y="99"/>
                  </a:cubicBezTo>
                  <a:cubicBezTo>
                    <a:pt x="134" y="12"/>
                    <a:pt x="134" y="12"/>
                    <a:pt x="134" y="12"/>
                  </a:cubicBezTo>
                  <a:cubicBezTo>
                    <a:pt x="136" y="9"/>
                    <a:pt x="136" y="5"/>
                    <a:pt x="133" y="3"/>
                  </a:cubicBezTo>
                  <a:cubicBezTo>
                    <a:pt x="131" y="0"/>
                    <a:pt x="126" y="0"/>
                    <a:pt x="124" y="3"/>
                  </a:cubicBezTo>
                  <a:cubicBezTo>
                    <a:pt x="45" y="85"/>
                    <a:pt x="45" y="85"/>
                    <a:pt x="45" y="85"/>
                  </a:cubicBezTo>
                  <a:cubicBezTo>
                    <a:pt x="13" y="47"/>
                    <a:pt x="13" y="47"/>
                    <a:pt x="13" y="47"/>
                  </a:cubicBezTo>
                  <a:cubicBezTo>
                    <a:pt x="11" y="44"/>
                    <a:pt x="6" y="43"/>
                    <a:pt x="4" y="46"/>
                  </a:cubicBezTo>
                  <a:cubicBezTo>
                    <a:pt x="1" y="48"/>
                    <a:pt x="0" y="52"/>
                    <a:pt x="3" y="55"/>
                  </a:cubicBezTo>
                  <a:cubicBezTo>
                    <a:pt x="40" y="99"/>
                    <a:pt x="40" y="99"/>
                    <a:pt x="40" y="99"/>
                  </a:cubicBezTo>
                  <a:cubicBezTo>
                    <a:pt x="41" y="100"/>
                    <a:pt x="43" y="101"/>
                    <a:pt x="45"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grpSp>
      <p:grpSp>
        <p:nvGrpSpPr>
          <p:cNvPr id="68" name="Group 67">
            <a:extLst>
              <a:ext uri="{FF2B5EF4-FFF2-40B4-BE49-F238E27FC236}">
                <a16:creationId xmlns:a16="http://schemas.microsoft.com/office/drawing/2014/main" id="{C9475866-4BCE-F342-9BB8-FAFFBF4DA26E}"/>
              </a:ext>
            </a:extLst>
          </p:cNvPr>
          <p:cNvGrpSpPr/>
          <p:nvPr/>
        </p:nvGrpSpPr>
        <p:grpSpPr>
          <a:xfrm>
            <a:off x="11843935" y="4760166"/>
            <a:ext cx="397348" cy="397348"/>
            <a:chOff x="3433764" y="1371600"/>
            <a:chExt cx="317500" cy="317500"/>
          </a:xfrm>
          <a:solidFill>
            <a:srgbClr val="00A2E2"/>
          </a:solidFill>
        </p:grpSpPr>
        <p:sp>
          <p:nvSpPr>
            <p:cNvPr id="69" name="Freeform 68">
              <a:extLst>
                <a:ext uri="{FF2B5EF4-FFF2-40B4-BE49-F238E27FC236}">
                  <a16:creationId xmlns:a16="http://schemas.microsoft.com/office/drawing/2014/main" id="{A02364D7-359A-7A41-9A12-11A2F85C35B4}"/>
                </a:ext>
              </a:extLst>
            </p:cNvPr>
            <p:cNvSpPr>
              <a:spLocks noEditPoints="1"/>
            </p:cNvSpPr>
            <p:nvPr/>
          </p:nvSpPr>
          <p:spPr bwMode="auto">
            <a:xfrm>
              <a:off x="3433764" y="1371600"/>
              <a:ext cx="317500" cy="317500"/>
            </a:xfrm>
            <a:custGeom>
              <a:avLst/>
              <a:gdLst>
                <a:gd name="T0" fmla="*/ 108 w 215"/>
                <a:gd name="T1" fmla="*/ 215 h 215"/>
                <a:gd name="T2" fmla="*/ 184 w 215"/>
                <a:gd name="T3" fmla="*/ 183 h 215"/>
                <a:gd name="T4" fmla="*/ 215 w 215"/>
                <a:gd name="T5" fmla="*/ 108 h 215"/>
                <a:gd name="T6" fmla="*/ 184 w 215"/>
                <a:gd name="T7" fmla="*/ 32 h 215"/>
                <a:gd name="T8" fmla="*/ 108 w 215"/>
                <a:gd name="T9" fmla="*/ 0 h 215"/>
                <a:gd name="T10" fmla="*/ 32 w 215"/>
                <a:gd name="T11" fmla="*/ 32 h 215"/>
                <a:gd name="T12" fmla="*/ 0 w 215"/>
                <a:gd name="T13" fmla="*/ 108 h 215"/>
                <a:gd name="T14" fmla="*/ 32 w 215"/>
                <a:gd name="T15" fmla="*/ 183 h 215"/>
                <a:gd name="T16" fmla="*/ 108 w 215"/>
                <a:gd name="T17" fmla="*/ 215 h 215"/>
                <a:gd name="T18" fmla="*/ 41 w 215"/>
                <a:gd name="T19" fmla="*/ 41 h 215"/>
                <a:gd name="T20" fmla="*/ 108 w 215"/>
                <a:gd name="T21" fmla="*/ 14 h 215"/>
                <a:gd name="T22" fmla="*/ 174 w 215"/>
                <a:gd name="T23" fmla="*/ 41 h 215"/>
                <a:gd name="T24" fmla="*/ 202 w 215"/>
                <a:gd name="T25" fmla="*/ 108 h 215"/>
                <a:gd name="T26" fmla="*/ 174 w 215"/>
                <a:gd name="T27" fmla="*/ 174 h 215"/>
                <a:gd name="T28" fmla="*/ 108 w 215"/>
                <a:gd name="T29" fmla="*/ 202 h 215"/>
                <a:gd name="T30" fmla="*/ 41 w 215"/>
                <a:gd name="T31" fmla="*/ 174 h 215"/>
                <a:gd name="T32" fmla="*/ 14 w 215"/>
                <a:gd name="T33" fmla="*/ 108 h 215"/>
                <a:gd name="T34" fmla="*/ 41 w 215"/>
                <a:gd name="T35" fmla="*/ 4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15">
                  <a:moveTo>
                    <a:pt x="108" y="215"/>
                  </a:moveTo>
                  <a:cubicBezTo>
                    <a:pt x="136" y="215"/>
                    <a:pt x="163" y="204"/>
                    <a:pt x="184" y="183"/>
                  </a:cubicBezTo>
                  <a:cubicBezTo>
                    <a:pt x="204" y="163"/>
                    <a:pt x="215" y="136"/>
                    <a:pt x="215" y="108"/>
                  </a:cubicBezTo>
                  <a:cubicBezTo>
                    <a:pt x="215" y="79"/>
                    <a:pt x="204" y="52"/>
                    <a:pt x="184" y="32"/>
                  </a:cubicBezTo>
                  <a:cubicBezTo>
                    <a:pt x="163" y="11"/>
                    <a:pt x="136" y="0"/>
                    <a:pt x="108" y="0"/>
                  </a:cubicBezTo>
                  <a:cubicBezTo>
                    <a:pt x="79" y="0"/>
                    <a:pt x="52" y="11"/>
                    <a:pt x="32" y="32"/>
                  </a:cubicBezTo>
                  <a:cubicBezTo>
                    <a:pt x="12" y="52"/>
                    <a:pt x="0" y="79"/>
                    <a:pt x="0" y="108"/>
                  </a:cubicBezTo>
                  <a:cubicBezTo>
                    <a:pt x="0" y="136"/>
                    <a:pt x="12" y="163"/>
                    <a:pt x="32" y="183"/>
                  </a:cubicBezTo>
                  <a:cubicBezTo>
                    <a:pt x="52" y="204"/>
                    <a:pt x="79" y="215"/>
                    <a:pt x="108" y="215"/>
                  </a:cubicBezTo>
                  <a:close/>
                  <a:moveTo>
                    <a:pt x="41" y="41"/>
                  </a:moveTo>
                  <a:cubicBezTo>
                    <a:pt x="59" y="23"/>
                    <a:pt x="83" y="14"/>
                    <a:pt x="108" y="14"/>
                  </a:cubicBezTo>
                  <a:cubicBezTo>
                    <a:pt x="133" y="14"/>
                    <a:pt x="156" y="23"/>
                    <a:pt x="174" y="41"/>
                  </a:cubicBezTo>
                  <a:cubicBezTo>
                    <a:pt x="192" y="59"/>
                    <a:pt x="202" y="83"/>
                    <a:pt x="202" y="108"/>
                  </a:cubicBezTo>
                  <a:cubicBezTo>
                    <a:pt x="202" y="133"/>
                    <a:pt x="192" y="156"/>
                    <a:pt x="174" y="174"/>
                  </a:cubicBezTo>
                  <a:cubicBezTo>
                    <a:pt x="156" y="192"/>
                    <a:pt x="133" y="202"/>
                    <a:pt x="108" y="202"/>
                  </a:cubicBezTo>
                  <a:cubicBezTo>
                    <a:pt x="83" y="202"/>
                    <a:pt x="59" y="192"/>
                    <a:pt x="41" y="174"/>
                  </a:cubicBezTo>
                  <a:cubicBezTo>
                    <a:pt x="24" y="156"/>
                    <a:pt x="14" y="133"/>
                    <a:pt x="14" y="108"/>
                  </a:cubicBezTo>
                  <a:cubicBezTo>
                    <a:pt x="14" y="83"/>
                    <a:pt x="24" y="59"/>
                    <a:pt x="41"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sp>
          <p:nvSpPr>
            <p:cNvPr id="70" name="Freeform 69">
              <a:extLst>
                <a:ext uri="{FF2B5EF4-FFF2-40B4-BE49-F238E27FC236}">
                  <a16:creationId xmlns:a16="http://schemas.microsoft.com/office/drawing/2014/main" id="{C6E24A5D-A284-9B49-9DEE-21E7156177F9}"/>
                </a:ext>
              </a:extLst>
            </p:cNvPr>
            <p:cNvSpPr>
              <a:spLocks/>
            </p:cNvSpPr>
            <p:nvPr/>
          </p:nvSpPr>
          <p:spPr bwMode="auto">
            <a:xfrm>
              <a:off x="3486151" y="1460500"/>
              <a:ext cx="201613" cy="149225"/>
            </a:xfrm>
            <a:custGeom>
              <a:avLst/>
              <a:gdLst>
                <a:gd name="T0" fmla="*/ 45 w 136"/>
                <a:gd name="T1" fmla="*/ 101 h 101"/>
                <a:gd name="T2" fmla="*/ 45 w 136"/>
                <a:gd name="T3" fmla="*/ 101 h 101"/>
                <a:gd name="T4" fmla="*/ 50 w 136"/>
                <a:gd name="T5" fmla="*/ 99 h 101"/>
                <a:gd name="T6" fmla="*/ 134 w 136"/>
                <a:gd name="T7" fmla="*/ 12 h 101"/>
                <a:gd name="T8" fmla="*/ 133 w 136"/>
                <a:gd name="T9" fmla="*/ 3 h 101"/>
                <a:gd name="T10" fmla="*/ 124 w 136"/>
                <a:gd name="T11" fmla="*/ 3 h 101"/>
                <a:gd name="T12" fmla="*/ 45 w 136"/>
                <a:gd name="T13" fmla="*/ 85 h 101"/>
                <a:gd name="T14" fmla="*/ 13 w 136"/>
                <a:gd name="T15" fmla="*/ 47 h 101"/>
                <a:gd name="T16" fmla="*/ 4 w 136"/>
                <a:gd name="T17" fmla="*/ 46 h 101"/>
                <a:gd name="T18" fmla="*/ 3 w 136"/>
                <a:gd name="T19" fmla="*/ 55 h 101"/>
                <a:gd name="T20" fmla="*/ 40 w 136"/>
                <a:gd name="T21" fmla="*/ 99 h 101"/>
                <a:gd name="T22" fmla="*/ 45 w 136"/>
                <a:gd name="T23"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6" h="101">
                  <a:moveTo>
                    <a:pt x="45" y="101"/>
                  </a:moveTo>
                  <a:cubicBezTo>
                    <a:pt x="45" y="101"/>
                    <a:pt x="45" y="101"/>
                    <a:pt x="45" y="101"/>
                  </a:cubicBezTo>
                  <a:cubicBezTo>
                    <a:pt x="47" y="101"/>
                    <a:pt x="48" y="101"/>
                    <a:pt x="50" y="99"/>
                  </a:cubicBezTo>
                  <a:cubicBezTo>
                    <a:pt x="134" y="12"/>
                    <a:pt x="134" y="12"/>
                    <a:pt x="134" y="12"/>
                  </a:cubicBezTo>
                  <a:cubicBezTo>
                    <a:pt x="136" y="9"/>
                    <a:pt x="136" y="5"/>
                    <a:pt x="133" y="3"/>
                  </a:cubicBezTo>
                  <a:cubicBezTo>
                    <a:pt x="131" y="0"/>
                    <a:pt x="126" y="0"/>
                    <a:pt x="124" y="3"/>
                  </a:cubicBezTo>
                  <a:cubicBezTo>
                    <a:pt x="45" y="85"/>
                    <a:pt x="45" y="85"/>
                    <a:pt x="45" y="85"/>
                  </a:cubicBezTo>
                  <a:cubicBezTo>
                    <a:pt x="13" y="47"/>
                    <a:pt x="13" y="47"/>
                    <a:pt x="13" y="47"/>
                  </a:cubicBezTo>
                  <a:cubicBezTo>
                    <a:pt x="11" y="44"/>
                    <a:pt x="6" y="43"/>
                    <a:pt x="4" y="46"/>
                  </a:cubicBezTo>
                  <a:cubicBezTo>
                    <a:pt x="1" y="48"/>
                    <a:pt x="0" y="52"/>
                    <a:pt x="3" y="55"/>
                  </a:cubicBezTo>
                  <a:cubicBezTo>
                    <a:pt x="40" y="99"/>
                    <a:pt x="40" y="99"/>
                    <a:pt x="40" y="99"/>
                  </a:cubicBezTo>
                  <a:cubicBezTo>
                    <a:pt x="41" y="100"/>
                    <a:pt x="43" y="101"/>
                    <a:pt x="45"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grpSp>
      <p:grpSp>
        <p:nvGrpSpPr>
          <p:cNvPr id="71" name="Group 70">
            <a:extLst>
              <a:ext uri="{FF2B5EF4-FFF2-40B4-BE49-F238E27FC236}">
                <a16:creationId xmlns:a16="http://schemas.microsoft.com/office/drawing/2014/main" id="{2ABD0EF0-7CBD-6B43-847E-D65A47B35D81}"/>
              </a:ext>
            </a:extLst>
          </p:cNvPr>
          <p:cNvGrpSpPr/>
          <p:nvPr/>
        </p:nvGrpSpPr>
        <p:grpSpPr>
          <a:xfrm>
            <a:off x="10948562" y="5501984"/>
            <a:ext cx="397348" cy="397348"/>
            <a:chOff x="3433764" y="1371600"/>
            <a:chExt cx="317500" cy="317500"/>
          </a:xfrm>
          <a:solidFill>
            <a:srgbClr val="00A2E2"/>
          </a:solidFill>
        </p:grpSpPr>
        <p:sp>
          <p:nvSpPr>
            <p:cNvPr id="72" name="Freeform 13">
              <a:extLst>
                <a:ext uri="{FF2B5EF4-FFF2-40B4-BE49-F238E27FC236}">
                  <a16:creationId xmlns:a16="http://schemas.microsoft.com/office/drawing/2014/main" id="{3CC3548E-9C62-A040-AD3C-9798D43B635A}"/>
                </a:ext>
              </a:extLst>
            </p:cNvPr>
            <p:cNvSpPr>
              <a:spLocks noEditPoints="1"/>
            </p:cNvSpPr>
            <p:nvPr/>
          </p:nvSpPr>
          <p:spPr bwMode="auto">
            <a:xfrm>
              <a:off x="3433764" y="1371600"/>
              <a:ext cx="317500" cy="317500"/>
            </a:xfrm>
            <a:custGeom>
              <a:avLst/>
              <a:gdLst>
                <a:gd name="T0" fmla="*/ 108 w 215"/>
                <a:gd name="T1" fmla="*/ 215 h 215"/>
                <a:gd name="T2" fmla="*/ 184 w 215"/>
                <a:gd name="T3" fmla="*/ 183 h 215"/>
                <a:gd name="T4" fmla="*/ 215 w 215"/>
                <a:gd name="T5" fmla="*/ 108 h 215"/>
                <a:gd name="T6" fmla="*/ 184 w 215"/>
                <a:gd name="T7" fmla="*/ 32 h 215"/>
                <a:gd name="T8" fmla="*/ 108 w 215"/>
                <a:gd name="T9" fmla="*/ 0 h 215"/>
                <a:gd name="T10" fmla="*/ 32 w 215"/>
                <a:gd name="T11" fmla="*/ 32 h 215"/>
                <a:gd name="T12" fmla="*/ 0 w 215"/>
                <a:gd name="T13" fmla="*/ 108 h 215"/>
                <a:gd name="T14" fmla="*/ 32 w 215"/>
                <a:gd name="T15" fmla="*/ 183 h 215"/>
                <a:gd name="T16" fmla="*/ 108 w 215"/>
                <a:gd name="T17" fmla="*/ 215 h 215"/>
                <a:gd name="T18" fmla="*/ 41 w 215"/>
                <a:gd name="T19" fmla="*/ 41 h 215"/>
                <a:gd name="T20" fmla="*/ 108 w 215"/>
                <a:gd name="T21" fmla="*/ 14 h 215"/>
                <a:gd name="T22" fmla="*/ 174 w 215"/>
                <a:gd name="T23" fmla="*/ 41 h 215"/>
                <a:gd name="T24" fmla="*/ 202 w 215"/>
                <a:gd name="T25" fmla="*/ 108 h 215"/>
                <a:gd name="T26" fmla="*/ 174 w 215"/>
                <a:gd name="T27" fmla="*/ 174 h 215"/>
                <a:gd name="T28" fmla="*/ 108 w 215"/>
                <a:gd name="T29" fmla="*/ 202 h 215"/>
                <a:gd name="T30" fmla="*/ 41 w 215"/>
                <a:gd name="T31" fmla="*/ 174 h 215"/>
                <a:gd name="T32" fmla="*/ 14 w 215"/>
                <a:gd name="T33" fmla="*/ 108 h 215"/>
                <a:gd name="T34" fmla="*/ 41 w 215"/>
                <a:gd name="T35" fmla="*/ 4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15">
                  <a:moveTo>
                    <a:pt x="108" y="215"/>
                  </a:moveTo>
                  <a:cubicBezTo>
                    <a:pt x="136" y="215"/>
                    <a:pt x="163" y="204"/>
                    <a:pt x="184" y="183"/>
                  </a:cubicBezTo>
                  <a:cubicBezTo>
                    <a:pt x="204" y="163"/>
                    <a:pt x="215" y="136"/>
                    <a:pt x="215" y="108"/>
                  </a:cubicBezTo>
                  <a:cubicBezTo>
                    <a:pt x="215" y="79"/>
                    <a:pt x="204" y="52"/>
                    <a:pt x="184" y="32"/>
                  </a:cubicBezTo>
                  <a:cubicBezTo>
                    <a:pt x="163" y="11"/>
                    <a:pt x="136" y="0"/>
                    <a:pt x="108" y="0"/>
                  </a:cubicBezTo>
                  <a:cubicBezTo>
                    <a:pt x="79" y="0"/>
                    <a:pt x="52" y="11"/>
                    <a:pt x="32" y="32"/>
                  </a:cubicBezTo>
                  <a:cubicBezTo>
                    <a:pt x="12" y="52"/>
                    <a:pt x="0" y="79"/>
                    <a:pt x="0" y="108"/>
                  </a:cubicBezTo>
                  <a:cubicBezTo>
                    <a:pt x="0" y="136"/>
                    <a:pt x="12" y="163"/>
                    <a:pt x="32" y="183"/>
                  </a:cubicBezTo>
                  <a:cubicBezTo>
                    <a:pt x="52" y="204"/>
                    <a:pt x="79" y="215"/>
                    <a:pt x="108" y="215"/>
                  </a:cubicBezTo>
                  <a:close/>
                  <a:moveTo>
                    <a:pt x="41" y="41"/>
                  </a:moveTo>
                  <a:cubicBezTo>
                    <a:pt x="59" y="23"/>
                    <a:pt x="83" y="14"/>
                    <a:pt x="108" y="14"/>
                  </a:cubicBezTo>
                  <a:cubicBezTo>
                    <a:pt x="133" y="14"/>
                    <a:pt x="156" y="23"/>
                    <a:pt x="174" y="41"/>
                  </a:cubicBezTo>
                  <a:cubicBezTo>
                    <a:pt x="192" y="59"/>
                    <a:pt x="202" y="83"/>
                    <a:pt x="202" y="108"/>
                  </a:cubicBezTo>
                  <a:cubicBezTo>
                    <a:pt x="202" y="133"/>
                    <a:pt x="192" y="156"/>
                    <a:pt x="174" y="174"/>
                  </a:cubicBezTo>
                  <a:cubicBezTo>
                    <a:pt x="156" y="192"/>
                    <a:pt x="133" y="202"/>
                    <a:pt x="108" y="202"/>
                  </a:cubicBezTo>
                  <a:cubicBezTo>
                    <a:pt x="83" y="202"/>
                    <a:pt x="59" y="192"/>
                    <a:pt x="41" y="174"/>
                  </a:cubicBezTo>
                  <a:cubicBezTo>
                    <a:pt x="24" y="156"/>
                    <a:pt x="14" y="133"/>
                    <a:pt x="14" y="108"/>
                  </a:cubicBezTo>
                  <a:cubicBezTo>
                    <a:pt x="14" y="83"/>
                    <a:pt x="24" y="59"/>
                    <a:pt x="41"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sp>
          <p:nvSpPr>
            <p:cNvPr id="73" name="Freeform 14">
              <a:extLst>
                <a:ext uri="{FF2B5EF4-FFF2-40B4-BE49-F238E27FC236}">
                  <a16:creationId xmlns:a16="http://schemas.microsoft.com/office/drawing/2014/main" id="{4212E876-04E4-4A47-A41B-74B3B91B5F7A}"/>
                </a:ext>
              </a:extLst>
            </p:cNvPr>
            <p:cNvSpPr>
              <a:spLocks/>
            </p:cNvSpPr>
            <p:nvPr/>
          </p:nvSpPr>
          <p:spPr bwMode="auto">
            <a:xfrm>
              <a:off x="3486151" y="1460500"/>
              <a:ext cx="201613" cy="149225"/>
            </a:xfrm>
            <a:custGeom>
              <a:avLst/>
              <a:gdLst>
                <a:gd name="T0" fmla="*/ 45 w 136"/>
                <a:gd name="T1" fmla="*/ 101 h 101"/>
                <a:gd name="T2" fmla="*/ 45 w 136"/>
                <a:gd name="T3" fmla="*/ 101 h 101"/>
                <a:gd name="T4" fmla="*/ 50 w 136"/>
                <a:gd name="T5" fmla="*/ 99 h 101"/>
                <a:gd name="T6" fmla="*/ 134 w 136"/>
                <a:gd name="T7" fmla="*/ 12 h 101"/>
                <a:gd name="T8" fmla="*/ 133 w 136"/>
                <a:gd name="T9" fmla="*/ 3 h 101"/>
                <a:gd name="T10" fmla="*/ 124 w 136"/>
                <a:gd name="T11" fmla="*/ 3 h 101"/>
                <a:gd name="T12" fmla="*/ 45 w 136"/>
                <a:gd name="T13" fmla="*/ 85 h 101"/>
                <a:gd name="T14" fmla="*/ 13 w 136"/>
                <a:gd name="T15" fmla="*/ 47 h 101"/>
                <a:gd name="T16" fmla="*/ 4 w 136"/>
                <a:gd name="T17" fmla="*/ 46 h 101"/>
                <a:gd name="T18" fmla="*/ 3 w 136"/>
                <a:gd name="T19" fmla="*/ 55 h 101"/>
                <a:gd name="T20" fmla="*/ 40 w 136"/>
                <a:gd name="T21" fmla="*/ 99 h 101"/>
                <a:gd name="T22" fmla="*/ 45 w 136"/>
                <a:gd name="T23"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6" h="101">
                  <a:moveTo>
                    <a:pt x="45" y="101"/>
                  </a:moveTo>
                  <a:cubicBezTo>
                    <a:pt x="45" y="101"/>
                    <a:pt x="45" y="101"/>
                    <a:pt x="45" y="101"/>
                  </a:cubicBezTo>
                  <a:cubicBezTo>
                    <a:pt x="47" y="101"/>
                    <a:pt x="48" y="101"/>
                    <a:pt x="50" y="99"/>
                  </a:cubicBezTo>
                  <a:cubicBezTo>
                    <a:pt x="134" y="12"/>
                    <a:pt x="134" y="12"/>
                    <a:pt x="134" y="12"/>
                  </a:cubicBezTo>
                  <a:cubicBezTo>
                    <a:pt x="136" y="9"/>
                    <a:pt x="136" y="5"/>
                    <a:pt x="133" y="3"/>
                  </a:cubicBezTo>
                  <a:cubicBezTo>
                    <a:pt x="131" y="0"/>
                    <a:pt x="126" y="0"/>
                    <a:pt x="124" y="3"/>
                  </a:cubicBezTo>
                  <a:cubicBezTo>
                    <a:pt x="45" y="85"/>
                    <a:pt x="45" y="85"/>
                    <a:pt x="45" y="85"/>
                  </a:cubicBezTo>
                  <a:cubicBezTo>
                    <a:pt x="13" y="47"/>
                    <a:pt x="13" y="47"/>
                    <a:pt x="13" y="47"/>
                  </a:cubicBezTo>
                  <a:cubicBezTo>
                    <a:pt x="11" y="44"/>
                    <a:pt x="6" y="43"/>
                    <a:pt x="4" y="46"/>
                  </a:cubicBezTo>
                  <a:cubicBezTo>
                    <a:pt x="1" y="48"/>
                    <a:pt x="0" y="52"/>
                    <a:pt x="3" y="55"/>
                  </a:cubicBezTo>
                  <a:cubicBezTo>
                    <a:pt x="40" y="99"/>
                    <a:pt x="40" y="99"/>
                    <a:pt x="40" y="99"/>
                  </a:cubicBezTo>
                  <a:cubicBezTo>
                    <a:pt x="41" y="100"/>
                    <a:pt x="43" y="101"/>
                    <a:pt x="45"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grpSp>
      <p:grpSp>
        <p:nvGrpSpPr>
          <p:cNvPr id="74" name="Group 73">
            <a:extLst>
              <a:ext uri="{FF2B5EF4-FFF2-40B4-BE49-F238E27FC236}">
                <a16:creationId xmlns:a16="http://schemas.microsoft.com/office/drawing/2014/main" id="{C96D1FBD-E651-E443-BA0B-5D101E82DA1E}"/>
              </a:ext>
            </a:extLst>
          </p:cNvPr>
          <p:cNvGrpSpPr/>
          <p:nvPr/>
        </p:nvGrpSpPr>
        <p:grpSpPr>
          <a:xfrm>
            <a:off x="11843935" y="5510075"/>
            <a:ext cx="397348" cy="397348"/>
            <a:chOff x="3433764" y="1371600"/>
            <a:chExt cx="317500" cy="317500"/>
          </a:xfrm>
          <a:solidFill>
            <a:srgbClr val="00A2E2"/>
          </a:solidFill>
        </p:grpSpPr>
        <p:sp>
          <p:nvSpPr>
            <p:cNvPr id="75" name="Freeform 74">
              <a:extLst>
                <a:ext uri="{FF2B5EF4-FFF2-40B4-BE49-F238E27FC236}">
                  <a16:creationId xmlns:a16="http://schemas.microsoft.com/office/drawing/2014/main" id="{F772BF48-19A3-CE4B-AAB4-FEC7DC5950FC}"/>
                </a:ext>
              </a:extLst>
            </p:cNvPr>
            <p:cNvSpPr>
              <a:spLocks noEditPoints="1"/>
            </p:cNvSpPr>
            <p:nvPr/>
          </p:nvSpPr>
          <p:spPr bwMode="auto">
            <a:xfrm>
              <a:off x="3433764" y="1371600"/>
              <a:ext cx="317500" cy="317500"/>
            </a:xfrm>
            <a:custGeom>
              <a:avLst/>
              <a:gdLst>
                <a:gd name="T0" fmla="*/ 108 w 215"/>
                <a:gd name="T1" fmla="*/ 215 h 215"/>
                <a:gd name="T2" fmla="*/ 184 w 215"/>
                <a:gd name="T3" fmla="*/ 183 h 215"/>
                <a:gd name="T4" fmla="*/ 215 w 215"/>
                <a:gd name="T5" fmla="*/ 108 h 215"/>
                <a:gd name="T6" fmla="*/ 184 w 215"/>
                <a:gd name="T7" fmla="*/ 32 h 215"/>
                <a:gd name="T8" fmla="*/ 108 w 215"/>
                <a:gd name="T9" fmla="*/ 0 h 215"/>
                <a:gd name="T10" fmla="*/ 32 w 215"/>
                <a:gd name="T11" fmla="*/ 32 h 215"/>
                <a:gd name="T12" fmla="*/ 0 w 215"/>
                <a:gd name="T13" fmla="*/ 108 h 215"/>
                <a:gd name="T14" fmla="*/ 32 w 215"/>
                <a:gd name="T15" fmla="*/ 183 h 215"/>
                <a:gd name="T16" fmla="*/ 108 w 215"/>
                <a:gd name="T17" fmla="*/ 215 h 215"/>
                <a:gd name="T18" fmla="*/ 41 w 215"/>
                <a:gd name="T19" fmla="*/ 41 h 215"/>
                <a:gd name="T20" fmla="*/ 108 w 215"/>
                <a:gd name="T21" fmla="*/ 14 h 215"/>
                <a:gd name="T22" fmla="*/ 174 w 215"/>
                <a:gd name="T23" fmla="*/ 41 h 215"/>
                <a:gd name="T24" fmla="*/ 202 w 215"/>
                <a:gd name="T25" fmla="*/ 108 h 215"/>
                <a:gd name="T26" fmla="*/ 174 w 215"/>
                <a:gd name="T27" fmla="*/ 174 h 215"/>
                <a:gd name="T28" fmla="*/ 108 w 215"/>
                <a:gd name="T29" fmla="*/ 202 h 215"/>
                <a:gd name="T30" fmla="*/ 41 w 215"/>
                <a:gd name="T31" fmla="*/ 174 h 215"/>
                <a:gd name="T32" fmla="*/ 14 w 215"/>
                <a:gd name="T33" fmla="*/ 108 h 215"/>
                <a:gd name="T34" fmla="*/ 41 w 215"/>
                <a:gd name="T35" fmla="*/ 4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15">
                  <a:moveTo>
                    <a:pt x="108" y="215"/>
                  </a:moveTo>
                  <a:cubicBezTo>
                    <a:pt x="136" y="215"/>
                    <a:pt x="163" y="204"/>
                    <a:pt x="184" y="183"/>
                  </a:cubicBezTo>
                  <a:cubicBezTo>
                    <a:pt x="204" y="163"/>
                    <a:pt x="215" y="136"/>
                    <a:pt x="215" y="108"/>
                  </a:cubicBezTo>
                  <a:cubicBezTo>
                    <a:pt x="215" y="79"/>
                    <a:pt x="204" y="52"/>
                    <a:pt x="184" y="32"/>
                  </a:cubicBezTo>
                  <a:cubicBezTo>
                    <a:pt x="163" y="11"/>
                    <a:pt x="136" y="0"/>
                    <a:pt x="108" y="0"/>
                  </a:cubicBezTo>
                  <a:cubicBezTo>
                    <a:pt x="79" y="0"/>
                    <a:pt x="52" y="11"/>
                    <a:pt x="32" y="32"/>
                  </a:cubicBezTo>
                  <a:cubicBezTo>
                    <a:pt x="12" y="52"/>
                    <a:pt x="0" y="79"/>
                    <a:pt x="0" y="108"/>
                  </a:cubicBezTo>
                  <a:cubicBezTo>
                    <a:pt x="0" y="136"/>
                    <a:pt x="12" y="163"/>
                    <a:pt x="32" y="183"/>
                  </a:cubicBezTo>
                  <a:cubicBezTo>
                    <a:pt x="52" y="204"/>
                    <a:pt x="79" y="215"/>
                    <a:pt x="108" y="215"/>
                  </a:cubicBezTo>
                  <a:close/>
                  <a:moveTo>
                    <a:pt x="41" y="41"/>
                  </a:moveTo>
                  <a:cubicBezTo>
                    <a:pt x="59" y="23"/>
                    <a:pt x="83" y="14"/>
                    <a:pt x="108" y="14"/>
                  </a:cubicBezTo>
                  <a:cubicBezTo>
                    <a:pt x="133" y="14"/>
                    <a:pt x="156" y="23"/>
                    <a:pt x="174" y="41"/>
                  </a:cubicBezTo>
                  <a:cubicBezTo>
                    <a:pt x="192" y="59"/>
                    <a:pt x="202" y="83"/>
                    <a:pt x="202" y="108"/>
                  </a:cubicBezTo>
                  <a:cubicBezTo>
                    <a:pt x="202" y="133"/>
                    <a:pt x="192" y="156"/>
                    <a:pt x="174" y="174"/>
                  </a:cubicBezTo>
                  <a:cubicBezTo>
                    <a:pt x="156" y="192"/>
                    <a:pt x="133" y="202"/>
                    <a:pt x="108" y="202"/>
                  </a:cubicBezTo>
                  <a:cubicBezTo>
                    <a:pt x="83" y="202"/>
                    <a:pt x="59" y="192"/>
                    <a:pt x="41" y="174"/>
                  </a:cubicBezTo>
                  <a:cubicBezTo>
                    <a:pt x="24" y="156"/>
                    <a:pt x="14" y="133"/>
                    <a:pt x="14" y="108"/>
                  </a:cubicBezTo>
                  <a:cubicBezTo>
                    <a:pt x="14" y="83"/>
                    <a:pt x="24" y="59"/>
                    <a:pt x="41"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sp>
          <p:nvSpPr>
            <p:cNvPr id="76" name="Freeform 75">
              <a:extLst>
                <a:ext uri="{FF2B5EF4-FFF2-40B4-BE49-F238E27FC236}">
                  <a16:creationId xmlns:a16="http://schemas.microsoft.com/office/drawing/2014/main" id="{24EBC2C9-EEC6-6F43-8B71-536EC8B064A9}"/>
                </a:ext>
              </a:extLst>
            </p:cNvPr>
            <p:cNvSpPr>
              <a:spLocks/>
            </p:cNvSpPr>
            <p:nvPr/>
          </p:nvSpPr>
          <p:spPr bwMode="auto">
            <a:xfrm>
              <a:off x="3486151" y="1460500"/>
              <a:ext cx="201613" cy="149225"/>
            </a:xfrm>
            <a:custGeom>
              <a:avLst/>
              <a:gdLst>
                <a:gd name="T0" fmla="*/ 45 w 136"/>
                <a:gd name="T1" fmla="*/ 101 h 101"/>
                <a:gd name="T2" fmla="*/ 45 w 136"/>
                <a:gd name="T3" fmla="*/ 101 h 101"/>
                <a:gd name="T4" fmla="*/ 50 w 136"/>
                <a:gd name="T5" fmla="*/ 99 h 101"/>
                <a:gd name="T6" fmla="*/ 134 w 136"/>
                <a:gd name="T7" fmla="*/ 12 h 101"/>
                <a:gd name="T8" fmla="*/ 133 w 136"/>
                <a:gd name="T9" fmla="*/ 3 h 101"/>
                <a:gd name="T10" fmla="*/ 124 w 136"/>
                <a:gd name="T11" fmla="*/ 3 h 101"/>
                <a:gd name="T12" fmla="*/ 45 w 136"/>
                <a:gd name="T13" fmla="*/ 85 h 101"/>
                <a:gd name="T14" fmla="*/ 13 w 136"/>
                <a:gd name="T15" fmla="*/ 47 h 101"/>
                <a:gd name="T16" fmla="*/ 4 w 136"/>
                <a:gd name="T17" fmla="*/ 46 h 101"/>
                <a:gd name="T18" fmla="*/ 3 w 136"/>
                <a:gd name="T19" fmla="*/ 55 h 101"/>
                <a:gd name="T20" fmla="*/ 40 w 136"/>
                <a:gd name="T21" fmla="*/ 99 h 101"/>
                <a:gd name="T22" fmla="*/ 45 w 136"/>
                <a:gd name="T23"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6" h="101">
                  <a:moveTo>
                    <a:pt x="45" y="101"/>
                  </a:moveTo>
                  <a:cubicBezTo>
                    <a:pt x="45" y="101"/>
                    <a:pt x="45" y="101"/>
                    <a:pt x="45" y="101"/>
                  </a:cubicBezTo>
                  <a:cubicBezTo>
                    <a:pt x="47" y="101"/>
                    <a:pt x="48" y="101"/>
                    <a:pt x="50" y="99"/>
                  </a:cubicBezTo>
                  <a:cubicBezTo>
                    <a:pt x="134" y="12"/>
                    <a:pt x="134" y="12"/>
                    <a:pt x="134" y="12"/>
                  </a:cubicBezTo>
                  <a:cubicBezTo>
                    <a:pt x="136" y="9"/>
                    <a:pt x="136" y="5"/>
                    <a:pt x="133" y="3"/>
                  </a:cubicBezTo>
                  <a:cubicBezTo>
                    <a:pt x="131" y="0"/>
                    <a:pt x="126" y="0"/>
                    <a:pt x="124" y="3"/>
                  </a:cubicBezTo>
                  <a:cubicBezTo>
                    <a:pt x="45" y="85"/>
                    <a:pt x="45" y="85"/>
                    <a:pt x="45" y="85"/>
                  </a:cubicBezTo>
                  <a:cubicBezTo>
                    <a:pt x="13" y="47"/>
                    <a:pt x="13" y="47"/>
                    <a:pt x="13" y="47"/>
                  </a:cubicBezTo>
                  <a:cubicBezTo>
                    <a:pt x="11" y="44"/>
                    <a:pt x="6" y="43"/>
                    <a:pt x="4" y="46"/>
                  </a:cubicBezTo>
                  <a:cubicBezTo>
                    <a:pt x="1" y="48"/>
                    <a:pt x="0" y="52"/>
                    <a:pt x="3" y="55"/>
                  </a:cubicBezTo>
                  <a:cubicBezTo>
                    <a:pt x="40" y="99"/>
                    <a:pt x="40" y="99"/>
                    <a:pt x="40" y="99"/>
                  </a:cubicBezTo>
                  <a:cubicBezTo>
                    <a:pt x="41" y="100"/>
                    <a:pt x="43" y="101"/>
                    <a:pt x="45"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grpSp>
      <p:grpSp>
        <p:nvGrpSpPr>
          <p:cNvPr id="77" name="Group 76">
            <a:extLst>
              <a:ext uri="{FF2B5EF4-FFF2-40B4-BE49-F238E27FC236}">
                <a16:creationId xmlns:a16="http://schemas.microsoft.com/office/drawing/2014/main" id="{FE6376CA-8CD5-3D45-9CAB-44112B9BACE9}"/>
              </a:ext>
            </a:extLst>
          </p:cNvPr>
          <p:cNvGrpSpPr/>
          <p:nvPr/>
        </p:nvGrpSpPr>
        <p:grpSpPr>
          <a:xfrm>
            <a:off x="10945541" y="6121452"/>
            <a:ext cx="397348" cy="397348"/>
            <a:chOff x="3433764" y="1371600"/>
            <a:chExt cx="317500" cy="317500"/>
          </a:xfrm>
          <a:solidFill>
            <a:srgbClr val="00A2E2"/>
          </a:solidFill>
        </p:grpSpPr>
        <p:sp>
          <p:nvSpPr>
            <p:cNvPr id="78" name="Freeform 13">
              <a:extLst>
                <a:ext uri="{FF2B5EF4-FFF2-40B4-BE49-F238E27FC236}">
                  <a16:creationId xmlns:a16="http://schemas.microsoft.com/office/drawing/2014/main" id="{59EC5175-53D3-6F4C-A317-9506B8C535F3}"/>
                </a:ext>
              </a:extLst>
            </p:cNvPr>
            <p:cNvSpPr>
              <a:spLocks noEditPoints="1"/>
            </p:cNvSpPr>
            <p:nvPr/>
          </p:nvSpPr>
          <p:spPr bwMode="auto">
            <a:xfrm>
              <a:off x="3433764" y="1371600"/>
              <a:ext cx="317500" cy="317500"/>
            </a:xfrm>
            <a:custGeom>
              <a:avLst/>
              <a:gdLst>
                <a:gd name="T0" fmla="*/ 108 w 215"/>
                <a:gd name="T1" fmla="*/ 215 h 215"/>
                <a:gd name="T2" fmla="*/ 184 w 215"/>
                <a:gd name="T3" fmla="*/ 183 h 215"/>
                <a:gd name="T4" fmla="*/ 215 w 215"/>
                <a:gd name="T5" fmla="*/ 108 h 215"/>
                <a:gd name="T6" fmla="*/ 184 w 215"/>
                <a:gd name="T7" fmla="*/ 32 h 215"/>
                <a:gd name="T8" fmla="*/ 108 w 215"/>
                <a:gd name="T9" fmla="*/ 0 h 215"/>
                <a:gd name="T10" fmla="*/ 32 w 215"/>
                <a:gd name="T11" fmla="*/ 32 h 215"/>
                <a:gd name="T12" fmla="*/ 0 w 215"/>
                <a:gd name="T13" fmla="*/ 108 h 215"/>
                <a:gd name="T14" fmla="*/ 32 w 215"/>
                <a:gd name="T15" fmla="*/ 183 h 215"/>
                <a:gd name="T16" fmla="*/ 108 w 215"/>
                <a:gd name="T17" fmla="*/ 215 h 215"/>
                <a:gd name="T18" fmla="*/ 41 w 215"/>
                <a:gd name="T19" fmla="*/ 41 h 215"/>
                <a:gd name="T20" fmla="*/ 108 w 215"/>
                <a:gd name="T21" fmla="*/ 14 h 215"/>
                <a:gd name="T22" fmla="*/ 174 w 215"/>
                <a:gd name="T23" fmla="*/ 41 h 215"/>
                <a:gd name="T24" fmla="*/ 202 w 215"/>
                <a:gd name="T25" fmla="*/ 108 h 215"/>
                <a:gd name="T26" fmla="*/ 174 w 215"/>
                <a:gd name="T27" fmla="*/ 174 h 215"/>
                <a:gd name="T28" fmla="*/ 108 w 215"/>
                <a:gd name="T29" fmla="*/ 202 h 215"/>
                <a:gd name="T30" fmla="*/ 41 w 215"/>
                <a:gd name="T31" fmla="*/ 174 h 215"/>
                <a:gd name="T32" fmla="*/ 14 w 215"/>
                <a:gd name="T33" fmla="*/ 108 h 215"/>
                <a:gd name="T34" fmla="*/ 41 w 215"/>
                <a:gd name="T35" fmla="*/ 4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15">
                  <a:moveTo>
                    <a:pt x="108" y="215"/>
                  </a:moveTo>
                  <a:cubicBezTo>
                    <a:pt x="136" y="215"/>
                    <a:pt x="163" y="204"/>
                    <a:pt x="184" y="183"/>
                  </a:cubicBezTo>
                  <a:cubicBezTo>
                    <a:pt x="204" y="163"/>
                    <a:pt x="215" y="136"/>
                    <a:pt x="215" y="108"/>
                  </a:cubicBezTo>
                  <a:cubicBezTo>
                    <a:pt x="215" y="79"/>
                    <a:pt x="204" y="52"/>
                    <a:pt x="184" y="32"/>
                  </a:cubicBezTo>
                  <a:cubicBezTo>
                    <a:pt x="163" y="11"/>
                    <a:pt x="136" y="0"/>
                    <a:pt x="108" y="0"/>
                  </a:cubicBezTo>
                  <a:cubicBezTo>
                    <a:pt x="79" y="0"/>
                    <a:pt x="52" y="11"/>
                    <a:pt x="32" y="32"/>
                  </a:cubicBezTo>
                  <a:cubicBezTo>
                    <a:pt x="12" y="52"/>
                    <a:pt x="0" y="79"/>
                    <a:pt x="0" y="108"/>
                  </a:cubicBezTo>
                  <a:cubicBezTo>
                    <a:pt x="0" y="136"/>
                    <a:pt x="12" y="163"/>
                    <a:pt x="32" y="183"/>
                  </a:cubicBezTo>
                  <a:cubicBezTo>
                    <a:pt x="52" y="204"/>
                    <a:pt x="79" y="215"/>
                    <a:pt x="108" y="215"/>
                  </a:cubicBezTo>
                  <a:close/>
                  <a:moveTo>
                    <a:pt x="41" y="41"/>
                  </a:moveTo>
                  <a:cubicBezTo>
                    <a:pt x="59" y="23"/>
                    <a:pt x="83" y="14"/>
                    <a:pt x="108" y="14"/>
                  </a:cubicBezTo>
                  <a:cubicBezTo>
                    <a:pt x="133" y="14"/>
                    <a:pt x="156" y="23"/>
                    <a:pt x="174" y="41"/>
                  </a:cubicBezTo>
                  <a:cubicBezTo>
                    <a:pt x="192" y="59"/>
                    <a:pt x="202" y="83"/>
                    <a:pt x="202" y="108"/>
                  </a:cubicBezTo>
                  <a:cubicBezTo>
                    <a:pt x="202" y="133"/>
                    <a:pt x="192" y="156"/>
                    <a:pt x="174" y="174"/>
                  </a:cubicBezTo>
                  <a:cubicBezTo>
                    <a:pt x="156" y="192"/>
                    <a:pt x="133" y="202"/>
                    <a:pt x="108" y="202"/>
                  </a:cubicBezTo>
                  <a:cubicBezTo>
                    <a:pt x="83" y="202"/>
                    <a:pt x="59" y="192"/>
                    <a:pt x="41" y="174"/>
                  </a:cubicBezTo>
                  <a:cubicBezTo>
                    <a:pt x="24" y="156"/>
                    <a:pt x="14" y="133"/>
                    <a:pt x="14" y="108"/>
                  </a:cubicBezTo>
                  <a:cubicBezTo>
                    <a:pt x="14" y="83"/>
                    <a:pt x="24" y="59"/>
                    <a:pt x="41"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sp>
          <p:nvSpPr>
            <p:cNvPr id="79" name="Freeform 14">
              <a:extLst>
                <a:ext uri="{FF2B5EF4-FFF2-40B4-BE49-F238E27FC236}">
                  <a16:creationId xmlns:a16="http://schemas.microsoft.com/office/drawing/2014/main" id="{C777BF95-6F97-8A44-992F-9A9205F5AC71}"/>
                </a:ext>
              </a:extLst>
            </p:cNvPr>
            <p:cNvSpPr>
              <a:spLocks/>
            </p:cNvSpPr>
            <p:nvPr/>
          </p:nvSpPr>
          <p:spPr bwMode="auto">
            <a:xfrm>
              <a:off x="3486151" y="1460500"/>
              <a:ext cx="201613" cy="149225"/>
            </a:xfrm>
            <a:custGeom>
              <a:avLst/>
              <a:gdLst>
                <a:gd name="T0" fmla="*/ 45 w 136"/>
                <a:gd name="T1" fmla="*/ 101 h 101"/>
                <a:gd name="T2" fmla="*/ 45 w 136"/>
                <a:gd name="T3" fmla="*/ 101 h 101"/>
                <a:gd name="T4" fmla="*/ 50 w 136"/>
                <a:gd name="T5" fmla="*/ 99 h 101"/>
                <a:gd name="T6" fmla="*/ 134 w 136"/>
                <a:gd name="T7" fmla="*/ 12 h 101"/>
                <a:gd name="T8" fmla="*/ 133 w 136"/>
                <a:gd name="T9" fmla="*/ 3 h 101"/>
                <a:gd name="T10" fmla="*/ 124 w 136"/>
                <a:gd name="T11" fmla="*/ 3 h 101"/>
                <a:gd name="T12" fmla="*/ 45 w 136"/>
                <a:gd name="T13" fmla="*/ 85 h 101"/>
                <a:gd name="T14" fmla="*/ 13 w 136"/>
                <a:gd name="T15" fmla="*/ 47 h 101"/>
                <a:gd name="T16" fmla="*/ 4 w 136"/>
                <a:gd name="T17" fmla="*/ 46 h 101"/>
                <a:gd name="T18" fmla="*/ 3 w 136"/>
                <a:gd name="T19" fmla="*/ 55 h 101"/>
                <a:gd name="T20" fmla="*/ 40 w 136"/>
                <a:gd name="T21" fmla="*/ 99 h 101"/>
                <a:gd name="T22" fmla="*/ 45 w 136"/>
                <a:gd name="T23"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6" h="101">
                  <a:moveTo>
                    <a:pt x="45" y="101"/>
                  </a:moveTo>
                  <a:cubicBezTo>
                    <a:pt x="45" y="101"/>
                    <a:pt x="45" y="101"/>
                    <a:pt x="45" y="101"/>
                  </a:cubicBezTo>
                  <a:cubicBezTo>
                    <a:pt x="47" y="101"/>
                    <a:pt x="48" y="101"/>
                    <a:pt x="50" y="99"/>
                  </a:cubicBezTo>
                  <a:cubicBezTo>
                    <a:pt x="134" y="12"/>
                    <a:pt x="134" y="12"/>
                    <a:pt x="134" y="12"/>
                  </a:cubicBezTo>
                  <a:cubicBezTo>
                    <a:pt x="136" y="9"/>
                    <a:pt x="136" y="5"/>
                    <a:pt x="133" y="3"/>
                  </a:cubicBezTo>
                  <a:cubicBezTo>
                    <a:pt x="131" y="0"/>
                    <a:pt x="126" y="0"/>
                    <a:pt x="124" y="3"/>
                  </a:cubicBezTo>
                  <a:cubicBezTo>
                    <a:pt x="45" y="85"/>
                    <a:pt x="45" y="85"/>
                    <a:pt x="45" y="85"/>
                  </a:cubicBezTo>
                  <a:cubicBezTo>
                    <a:pt x="13" y="47"/>
                    <a:pt x="13" y="47"/>
                    <a:pt x="13" y="47"/>
                  </a:cubicBezTo>
                  <a:cubicBezTo>
                    <a:pt x="11" y="44"/>
                    <a:pt x="6" y="43"/>
                    <a:pt x="4" y="46"/>
                  </a:cubicBezTo>
                  <a:cubicBezTo>
                    <a:pt x="1" y="48"/>
                    <a:pt x="0" y="52"/>
                    <a:pt x="3" y="55"/>
                  </a:cubicBezTo>
                  <a:cubicBezTo>
                    <a:pt x="40" y="99"/>
                    <a:pt x="40" y="99"/>
                    <a:pt x="40" y="99"/>
                  </a:cubicBezTo>
                  <a:cubicBezTo>
                    <a:pt x="41" y="100"/>
                    <a:pt x="43" y="101"/>
                    <a:pt x="45"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grpSp>
      <p:grpSp>
        <p:nvGrpSpPr>
          <p:cNvPr id="80" name="Group 79">
            <a:extLst>
              <a:ext uri="{FF2B5EF4-FFF2-40B4-BE49-F238E27FC236}">
                <a16:creationId xmlns:a16="http://schemas.microsoft.com/office/drawing/2014/main" id="{34F87B50-33C8-EB46-BACF-742B2262D521}"/>
              </a:ext>
            </a:extLst>
          </p:cNvPr>
          <p:cNvGrpSpPr/>
          <p:nvPr/>
        </p:nvGrpSpPr>
        <p:grpSpPr>
          <a:xfrm>
            <a:off x="11843935" y="6120491"/>
            <a:ext cx="397348" cy="397348"/>
            <a:chOff x="3433764" y="1371600"/>
            <a:chExt cx="317500" cy="317500"/>
          </a:xfrm>
          <a:solidFill>
            <a:srgbClr val="00A2E2"/>
          </a:solidFill>
        </p:grpSpPr>
        <p:sp>
          <p:nvSpPr>
            <p:cNvPr id="81" name="Freeform 80">
              <a:extLst>
                <a:ext uri="{FF2B5EF4-FFF2-40B4-BE49-F238E27FC236}">
                  <a16:creationId xmlns:a16="http://schemas.microsoft.com/office/drawing/2014/main" id="{DD692AD3-C5EB-FF41-BE43-B7237A8FBAFE}"/>
                </a:ext>
              </a:extLst>
            </p:cNvPr>
            <p:cNvSpPr>
              <a:spLocks noEditPoints="1"/>
            </p:cNvSpPr>
            <p:nvPr/>
          </p:nvSpPr>
          <p:spPr bwMode="auto">
            <a:xfrm>
              <a:off x="3433764" y="1371600"/>
              <a:ext cx="317500" cy="317500"/>
            </a:xfrm>
            <a:custGeom>
              <a:avLst/>
              <a:gdLst>
                <a:gd name="T0" fmla="*/ 108 w 215"/>
                <a:gd name="T1" fmla="*/ 215 h 215"/>
                <a:gd name="T2" fmla="*/ 184 w 215"/>
                <a:gd name="T3" fmla="*/ 183 h 215"/>
                <a:gd name="T4" fmla="*/ 215 w 215"/>
                <a:gd name="T5" fmla="*/ 108 h 215"/>
                <a:gd name="T6" fmla="*/ 184 w 215"/>
                <a:gd name="T7" fmla="*/ 32 h 215"/>
                <a:gd name="T8" fmla="*/ 108 w 215"/>
                <a:gd name="T9" fmla="*/ 0 h 215"/>
                <a:gd name="T10" fmla="*/ 32 w 215"/>
                <a:gd name="T11" fmla="*/ 32 h 215"/>
                <a:gd name="T12" fmla="*/ 0 w 215"/>
                <a:gd name="T13" fmla="*/ 108 h 215"/>
                <a:gd name="T14" fmla="*/ 32 w 215"/>
                <a:gd name="T15" fmla="*/ 183 h 215"/>
                <a:gd name="T16" fmla="*/ 108 w 215"/>
                <a:gd name="T17" fmla="*/ 215 h 215"/>
                <a:gd name="T18" fmla="*/ 41 w 215"/>
                <a:gd name="T19" fmla="*/ 41 h 215"/>
                <a:gd name="T20" fmla="*/ 108 w 215"/>
                <a:gd name="T21" fmla="*/ 14 h 215"/>
                <a:gd name="T22" fmla="*/ 174 w 215"/>
                <a:gd name="T23" fmla="*/ 41 h 215"/>
                <a:gd name="T24" fmla="*/ 202 w 215"/>
                <a:gd name="T25" fmla="*/ 108 h 215"/>
                <a:gd name="T26" fmla="*/ 174 w 215"/>
                <a:gd name="T27" fmla="*/ 174 h 215"/>
                <a:gd name="T28" fmla="*/ 108 w 215"/>
                <a:gd name="T29" fmla="*/ 202 h 215"/>
                <a:gd name="T30" fmla="*/ 41 w 215"/>
                <a:gd name="T31" fmla="*/ 174 h 215"/>
                <a:gd name="T32" fmla="*/ 14 w 215"/>
                <a:gd name="T33" fmla="*/ 108 h 215"/>
                <a:gd name="T34" fmla="*/ 41 w 215"/>
                <a:gd name="T35" fmla="*/ 4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15">
                  <a:moveTo>
                    <a:pt x="108" y="215"/>
                  </a:moveTo>
                  <a:cubicBezTo>
                    <a:pt x="136" y="215"/>
                    <a:pt x="163" y="204"/>
                    <a:pt x="184" y="183"/>
                  </a:cubicBezTo>
                  <a:cubicBezTo>
                    <a:pt x="204" y="163"/>
                    <a:pt x="215" y="136"/>
                    <a:pt x="215" y="108"/>
                  </a:cubicBezTo>
                  <a:cubicBezTo>
                    <a:pt x="215" y="79"/>
                    <a:pt x="204" y="52"/>
                    <a:pt x="184" y="32"/>
                  </a:cubicBezTo>
                  <a:cubicBezTo>
                    <a:pt x="163" y="11"/>
                    <a:pt x="136" y="0"/>
                    <a:pt x="108" y="0"/>
                  </a:cubicBezTo>
                  <a:cubicBezTo>
                    <a:pt x="79" y="0"/>
                    <a:pt x="52" y="11"/>
                    <a:pt x="32" y="32"/>
                  </a:cubicBezTo>
                  <a:cubicBezTo>
                    <a:pt x="12" y="52"/>
                    <a:pt x="0" y="79"/>
                    <a:pt x="0" y="108"/>
                  </a:cubicBezTo>
                  <a:cubicBezTo>
                    <a:pt x="0" y="136"/>
                    <a:pt x="12" y="163"/>
                    <a:pt x="32" y="183"/>
                  </a:cubicBezTo>
                  <a:cubicBezTo>
                    <a:pt x="52" y="204"/>
                    <a:pt x="79" y="215"/>
                    <a:pt x="108" y="215"/>
                  </a:cubicBezTo>
                  <a:close/>
                  <a:moveTo>
                    <a:pt x="41" y="41"/>
                  </a:moveTo>
                  <a:cubicBezTo>
                    <a:pt x="59" y="23"/>
                    <a:pt x="83" y="14"/>
                    <a:pt x="108" y="14"/>
                  </a:cubicBezTo>
                  <a:cubicBezTo>
                    <a:pt x="133" y="14"/>
                    <a:pt x="156" y="23"/>
                    <a:pt x="174" y="41"/>
                  </a:cubicBezTo>
                  <a:cubicBezTo>
                    <a:pt x="192" y="59"/>
                    <a:pt x="202" y="83"/>
                    <a:pt x="202" y="108"/>
                  </a:cubicBezTo>
                  <a:cubicBezTo>
                    <a:pt x="202" y="133"/>
                    <a:pt x="192" y="156"/>
                    <a:pt x="174" y="174"/>
                  </a:cubicBezTo>
                  <a:cubicBezTo>
                    <a:pt x="156" y="192"/>
                    <a:pt x="133" y="202"/>
                    <a:pt x="108" y="202"/>
                  </a:cubicBezTo>
                  <a:cubicBezTo>
                    <a:pt x="83" y="202"/>
                    <a:pt x="59" y="192"/>
                    <a:pt x="41" y="174"/>
                  </a:cubicBezTo>
                  <a:cubicBezTo>
                    <a:pt x="24" y="156"/>
                    <a:pt x="14" y="133"/>
                    <a:pt x="14" y="108"/>
                  </a:cubicBezTo>
                  <a:cubicBezTo>
                    <a:pt x="14" y="83"/>
                    <a:pt x="24" y="59"/>
                    <a:pt x="41"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sp>
          <p:nvSpPr>
            <p:cNvPr id="82" name="Freeform 81">
              <a:extLst>
                <a:ext uri="{FF2B5EF4-FFF2-40B4-BE49-F238E27FC236}">
                  <a16:creationId xmlns:a16="http://schemas.microsoft.com/office/drawing/2014/main" id="{66DF9F9E-40CC-B74C-88C9-040D44D788F5}"/>
                </a:ext>
              </a:extLst>
            </p:cNvPr>
            <p:cNvSpPr>
              <a:spLocks/>
            </p:cNvSpPr>
            <p:nvPr/>
          </p:nvSpPr>
          <p:spPr bwMode="auto">
            <a:xfrm>
              <a:off x="3486151" y="1460500"/>
              <a:ext cx="201613" cy="149225"/>
            </a:xfrm>
            <a:custGeom>
              <a:avLst/>
              <a:gdLst>
                <a:gd name="T0" fmla="*/ 45 w 136"/>
                <a:gd name="T1" fmla="*/ 101 h 101"/>
                <a:gd name="T2" fmla="*/ 45 w 136"/>
                <a:gd name="T3" fmla="*/ 101 h 101"/>
                <a:gd name="T4" fmla="*/ 50 w 136"/>
                <a:gd name="T5" fmla="*/ 99 h 101"/>
                <a:gd name="T6" fmla="*/ 134 w 136"/>
                <a:gd name="T7" fmla="*/ 12 h 101"/>
                <a:gd name="T8" fmla="*/ 133 w 136"/>
                <a:gd name="T9" fmla="*/ 3 h 101"/>
                <a:gd name="T10" fmla="*/ 124 w 136"/>
                <a:gd name="T11" fmla="*/ 3 h 101"/>
                <a:gd name="T12" fmla="*/ 45 w 136"/>
                <a:gd name="T13" fmla="*/ 85 h 101"/>
                <a:gd name="T14" fmla="*/ 13 w 136"/>
                <a:gd name="T15" fmla="*/ 47 h 101"/>
                <a:gd name="T16" fmla="*/ 4 w 136"/>
                <a:gd name="T17" fmla="*/ 46 h 101"/>
                <a:gd name="T18" fmla="*/ 3 w 136"/>
                <a:gd name="T19" fmla="*/ 55 h 101"/>
                <a:gd name="T20" fmla="*/ 40 w 136"/>
                <a:gd name="T21" fmla="*/ 99 h 101"/>
                <a:gd name="T22" fmla="*/ 45 w 136"/>
                <a:gd name="T23"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6" h="101">
                  <a:moveTo>
                    <a:pt x="45" y="101"/>
                  </a:moveTo>
                  <a:cubicBezTo>
                    <a:pt x="45" y="101"/>
                    <a:pt x="45" y="101"/>
                    <a:pt x="45" y="101"/>
                  </a:cubicBezTo>
                  <a:cubicBezTo>
                    <a:pt x="47" y="101"/>
                    <a:pt x="48" y="101"/>
                    <a:pt x="50" y="99"/>
                  </a:cubicBezTo>
                  <a:cubicBezTo>
                    <a:pt x="134" y="12"/>
                    <a:pt x="134" y="12"/>
                    <a:pt x="134" y="12"/>
                  </a:cubicBezTo>
                  <a:cubicBezTo>
                    <a:pt x="136" y="9"/>
                    <a:pt x="136" y="5"/>
                    <a:pt x="133" y="3"/>
                  </a:cubicBezTo>
                  <a:cubicBezTo>
                    <a:pt x="131" y="0"/>
                    <a:pt x="126" y="0"/>
                    <a:pt x="124" y="3"/>
                  </a:cubicBezTo>
                  <a:cubicBezTo>
                    <a:pt x="45" y="85"/>
                    <a:pt x="45" y="85"/>
                    <a:pt x="45" y="85"/>
                  </a:cubicBezTo>
                  <a:cubicBezTo>
                    <a:pt x="13" y="47"/>
                    <a:pt x="13" y="47"/>
                    <a:pt x="13" y="47"/>
                  </a:cubicBezTo>
                  <a:cubicBezTo>
                    <a:pt x="11" y="44"/>
                    <a:pt x="6" y="43"/>
                    <a:pt x="4" y="46"/>
                  </a:cubicBezTo>
                  <a:cubicBezTo>
                    <a:pt x="1" y="48"/>
                    <a:pt x="0" y="52"/>
                    <a:pt x="3" y="55"/>
                  </a:cubicBezTo>
                  <a:cubicBezTo>
                    <a:pt x="40" y="99"/>
                    <a:pt x="40" y="99"/>
                    <a:pt x="40" y="99"/>
                  </a:cubicBezTo>
                  <a:cubicBezTo>
                    <a:pt x="41" y="100"/>
                    <a:pt x="43" y="101"/>
                    <a:pt x="45"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grpSp>
      <p:grpSp>
        <p:nvGrpSpPr>
          <p:cNvPr id="86" name="Group 85">
            <a:extLst>
              <a:ext uri="{FF2B5EF4-FFF2-40B4-BE49-F238E27FC236}">
                <a16:creationId xmlns:a16="http://schemas.microsoft.com/office/drawing/2014/main" id="{4A8828FD-20C5-E544-9F6D-7C7B634C1E85}"/>
              </a:ext>
            </a:extLst>
          </p:cNvPr>
          <p:cNvGrpSpPr/>
          <p:nvPr/>
        </p:nvGrpSpPr>
        <p:grpSpPr>
          <a:xfrm>
            <a:off x="11843935" y="6791881"/>
            <a:ext cx="397348" cy="397348"/>
            <a:chOff x="3433764" y="1371600"/>
            <a:chExt cx="317500" cy="317500"/>
          </a:xfrm>
          <a:solidFill>
            <a:srgbClr val="00A2E2"/>
          </a:solidFill>
        </p:grpSpPr>
        <p:sp>
          <p:nvSpPr>
            <p:cNvPr id="87" name="Freeform 86">
              <a:extLst>
                <a:ext uri="{FF2B5EF4-FFF2-40B4-BE49-F238E27FC236}">
                  <a16:creationId xmlns:a16="http://schemas.microsoft.com/office/drawing/2014/main" id="{692FE7E5-BD8A-A648-897C-96E9371E3E27}"/>
                </a:ext>
              </a:extLst>
            </p:cNvPr>
            <p:cNvSpPr>
              <a:spLocks noEditPoints="1"/>
            </p:cNvSpPr>
            <p:nvPr/>
          </p:nvSpPr>
          <p:spPr bwMode="auto">
            <a:xfrm>
              <a:off x="3433764" y="1371600"/>
              <a:ext cx="317500" cy="317500"/>
            </a:xfrm>
            <a:custGeom>
              <a:avLst/>
              <a:gdLst>
                <a:gd name="T0" fmla="*/ 108 w 215"/>
                <a:gd name="T1" fmla="*/ 215 h 215"/>
                <a:gd name="T2" fmla="*/ 184 w 215"/>
                <a:gd name="T3" fmla="*/ 183 h 215"/>
                <a:gd name="T4" fmla="*/ 215 w 215"/>
                <a:gd name="T5" fmla="*/ 108 h 215"/>
                <a:gd name="T6" fmla="*/ 184 w 215"/>
                <a:gd name="T7" fmla="*/ 32 h 215"/>
                <a:gd name="T8" fmla="*/ 108 w 215"/>
                <a:gd name="T9" fmla="*/ 0 h 215"/>
                <a:gd name="T10" fmla="*/ 32 w 215"/>
                <a:gd name="T11" fmla="*/ 32 h 215"/>
                <a:gd name="T12" fmla="*/ 0 w 215"/>
                <a:gd name="T13" fmla="*/ 108 h 215"/>
                <a:gd name="T14" fmla="*/ 32 w 215"/>
                <a:gd name="T15" fmla="*/ 183 h 215"/>
                <a:gd name="T16" fmla="*/ 108 w 215"/>
                <a:gd name="T17" fmla="*/ 215 h 215"/>
                <a:gd name="T18" fmla="*/ 41 w 215"/>
                <a:gd name="T19" fmla="*/ 41 h 215"/>
                <a:gd name="T20" fmla="*/ 108 w 215"/>
                <a:gd name="T21" fmla="*/ 14 h 215"/>
                <a:gd name="T22" fmla="*/ 174 w 215"/>
                <a:gd name="T23" fmla="*/ 41 h 215"/>
                <a:gd name="T24" fmla="*/ 202 w 215"/>
                <a:gd name="T25" fmla="*/ 108 h 215"/>
                <a:gd name="T26" fmla="*/ 174 w 215"/>
                <a:gd name="T27" fmla="*/ 174 h 215"/>
                <a:gd name="T28" fmla="*/ 108 w 215"/>
                <a:gd name="T29" fmla="*/ 202 h 215"/>
                <a:gd name="T30" fmla="*/ 41 w 215"/>
                <a:gd name="T31" fmla="*/ 174 h 215"/>
                <a:gd name="T32" fmla="*/ 14 w 215"/>
                <a:gd name="T33" fmla="*/ 108 h 215"/>
                <a:gd name="T34" fmla="*/ 41 w 215"/>
                <a:gd name="T35" fmla="*/ 4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15">
                  <a:moveTo>
                    <a:pt x="108" y="215"/>
                  </a:moveTo>
                  <a:cubicBezTo>
                    <a:pt x="136" y="215"/>
                    <a:pt x="163" y="204"/>
                    <a:pt x="184" y="183"/>
                  </a:cubicBezTo>
                  <a:cubicBezTo>
                    <a:pt x="204" y="163"/>
                    <a:pt x="215" y="136"/>
                    <a:pt x="215" y="108"/>
                  </a:cubicBezTo>
                  <a:cubicBezTo>
                    <a:pt x="215" y="79"/>
                    <a:pt x="204" y="52"/>
                    <a:pt x="184" y="32"/>
                  </a:cubicBezTo>
                  <a:cubicBezTo>
                    <a:pt x="163" y="11"/>
                    <a:pt x="136" y="0"/>
                    <a:pt x="108" y="0"/>
                  </a:cubicBezTo>
                  <a:cubicBezTo>
                    <a:pt x="79" y="0"/>
                    <a:pt x="52" y="11"/>
                    <a:pt x="32" y="32"/>
                  </a:cubicBezTo>
                  <a:cubicBezTo>
                    <a:pt x="12" y="52"/>
                    <a:pt x="0" y="79"/>
                    <a:pt x="0" y="108"/>
                  </a:cubicBezTo>
                  <a:cubicBezTo>
                    <a:pt x="0" y="136"/>
                    <a:pt x="12" y="163"/>
                    <a:pt x="32" y="183"/>
                  </a:cubicBezTo>
                  <a:cubicBezTo>
                    <a:pt x="52" y="204"/>
                    <a:pt x="79" y="215"/>
                    <a:pt x="108" y="215"/>
                  </a:cubicBezTo>
                  <a:close/>
                  <a:moveTo>
                    <a:pt x="41" y="41"/>
                  </a:moveTo>
                  <a:cubicBezTo>
                    <a:pt x="59" y="23"/>
                    <a:pt x="83" y="14"/>
                    <a:pt x="108" y="14"/>
                  </a:cubicBezTo>
                  <a:cubicBezTo>
                    <a:pt x="133" y="14"/>
                    <a:pt x="156" y="23"/>
                    <a:pt x="174" y="41"/>
                  </a:cubicBezTo>
                  <a:cubicBezTo>
                    <a:pt x="192" y="59"/>
                    <a:pt x="202" y="83"/>
                    <a:pt x="202" y="108"/>
                  </a:cubicBezTo>
                  <a:cubicBezTo>
                    <a:pt x="202" y="133"/>
                    <a:pt x="192" y="156"/>
                    <a:pt x="174" y="174"/>
                  </a:cubicBezTo>
                  <a:cubicBezTo>
                    <a:pt x="156" y="192"/>
                    <a:pt x="133" y="202"/>
                    <a:pt x="108" y="202"/>
                  </a:cubicBezTo>
                  <a:cubicBezTo>
                    <a:pt x="83" y="202"/>
                    <a:pt x="59" y="192"/>
                    <a:pt x="41" y="174"/>
                  </a:cubicBezTo>
                  <a:cubicBezTo>
                    <a:pt x="24" y="156"/>
                    <a:pt x="14" y="133"/>
                    <a:pt x="14" y="108"/>
                  </a:cubicBezTo>
                  <a:cubicBezTo>
                    <a:pt x="14" y="83"/>
                    <a:pt x="24" y="59"/>
                    <a:pt x="41"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sp>
          <p:nvSpPr>
            <p:cNvPr id="88" name="Freeform 87">
              <a:extLst>
                <a:ext uri="{FF2B5EF4-FFF2-40B4-BE49-F238E27FC236}">
                  <a16:creationId xmlns:a16="http://schemas.microsoft.com/office/drawing/2014/main" id="{583970E4-C5E4-CA45-BABB-3FC1506A129F}"/>
                </a:ext>
              </a:extLst>
            </p:cNvPr>
            <p:cNvSpPr>
              <a:spLocks/>
            </p:cNvSpPr>
            <p:nvPr/>
          </p:nvSpPr>
          <p:spPr bwMode="auto">
            <a:xfrm>
              <a:off x="3486151" y="1460500"/>
              <a:ext cx="201613" cy="149225"/>
            </a:xfrm>
            <a:custGeom>
              <a:avLst/>
              <a:gdLst>
                <a:gd name="T0" fmla="*/ 45 w 136"/>
                <a:gd name="T1" fmla="*/ 101 h 101"/>
                <a:gd name="T2" fmla="*/ 45 w 136"/>
                <a:gd name="T3" fmla="*/ 101 h 101"/>
                <a:gd name="T4" fmla="*/ 50 w 136"/>
                <a:gd name="T5" fmla="*/ 99 h 101"/>
                <a:gd name="T6" fmla="*/ 134 w 136"/>
                <a:gd name="T7" fmla="*/ 12 h 101"/>
                <a:gd name="T8" fmla="*/ 133 w 136"/>
                <a:gd name="T9" fmla="*/ 3 h 101"/>
                <a:gd name="T10" fmla="*/ 124 w 136"/>
                <a:gd name="T11" fmla="*/ 3 h 101"/>
                <a:gd name="T12" fmla="*/ 45 w 136"/>
                <a:gd name="T13" fmla="*/ 85 h 101"/>
                <a:gd name="T14" fmla="*/ 13 w 136"/>
                <a:gd name="T15" fmla="*/ 47 h 101"/>
                <a:gd name="T16" fmla="*/ 4 w 136"/>
                <a:gd name="T17" fmla="*/ 46 h 101"/>
                <a:gd name="T18" fmla="*/ 3 w 136"/>
                <a:gd name="T19" fmla="*/ 55 h 101"/>
                <a:gd name="T20" fmla="*/ 40 w 136"/>
                <a:gd name="T21" fmla="*/ 99 h 101"/>
                <a:gd name="T22" fmla="*/ 45 w 136"/>
                <a:gd name="T23"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6" h="101">
                  <a:moveTo>
                    <a:pt x="45" y="101"/>
                  </a:moveTo>
                  <a:cubicBezTo>
                    <a:pt x="45" y="101"/>
                    <a:pt x="45" y="101"/>
                    <a:pt x="45" y="101"/>
                  </a:cubicBezTo>
                  <a:cubicBezTo>
                    <a:pt x="47" y="101"/>
                    <a:pt x="48" y="101"/>
                    <a:pt x="50" y="99"/>
                  </a:cubicBezTo>
                  <a:cubicBezTo>
                    <a:pt x="134" y="12"/>
                    <a:pt x="134" y="12"/>
                    <a:pt x="134" y="12"/>
                  </a:cubicBezTo>
                  <a:cubicBezTo>
                    <a:pt x="136" y="9"/>
                    <a:pt x="136" y="5"/>
                    <a:pt x="133" y="3"/>
                  </a:cubicBezTo>
                  <a:cubicBezTo>
                    <a:pt x="131" y="0"/>
                    <a:pt x="126" y="0"/>
                    <a:pt x="124" y="3"/>
                  </a:cubicBezTo>
                  <a:cubicBezTo>
                    <a:pt x="45" y="85"/>
                    <a:pt x="45" y="85"/>
                    <a:pt x="45" y="85"/>
                  </a:cubicBezTo>
                  <a:cubicBezTo>
                    <a:pt x="13" y="47"/>
                    <a:pt x="13" y="47"/>
                    <a:pt x="13" y="47"/>
                  </a:cubicBezTo>
                  <a:cubicBezTo>
                    <a:pt x="11" y="44"/>
                    <a:pt x="6" y="43"/>
                    <a:pt x="4" y="46"/>
                  </a:cubicBezTo>
                  <a:cubicBezTo>
                    <a:pt x="1" y="48"/>
                    <a:pt x="0" y="52"/>
                    <a:pt x="3" y="55"/>
                  </a:cubicBezTo>
                  <a:cubicBezTo>
                    <a:pt x="40" y="99"/>
                    <a:pt x="40" y="99"/>
                    <a:pt x="40" y="99"/>
                  </a:cubicBezTo>
                  <a:cubicBezTo>
                    <a:pt x="41" y="100"/>
                    <a:pt x="43" y="101"/>
                    <a:pt x="45"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grpSp>
      <p:grpSp>
        <p:nvGrpSpPr>
          <p:cNvPr id="89" name="Group 88">
            <a:extLst>
              <a:ext uri="{FF2B5EF4-FFF2-40B4-BE49-F238E27FC236}">
                <a16:creationId xmlns:a16="http://schemas.microsoft.com/office/drawing/2014/main" id="{DF95ABAF-D5C1-BE47-BF50-E50DF5E93A2D}"/>
              </a:ext>
            </a:extLst>
          </p:cNvPr>
          <p:cNvGrpSpPr/>
          <p:nvPr/>
        </p:nvGrpSpPr>
        <p:grpSpPr>
          <a:xfrm>
            <a:off x="10968082" y="6792140"/>
            <a:ext cx="397348" cy="397348"/>
            <a:chOff x="3433764" y="1371600"/>
            <a:chExt cx="317500" cy="317500"/>
          </a:xfrm>
          <a:solidFill>
            <a:srgbClr val="00A2E2"/>
          </a:solidFill>
        </p:grpSpPr>
        <p:sp>
          <p:nvSpPr>
            <p:cNvPr id="90" name="Freeform 13">
              <a:extLst>
                <a:ext uri="{FF2B5EF4-FFF2-40B4-BE49-F238E27FC236}">
                  <a16:creationId xmlns:a16="http://schemas.microsoft.com/office/drawing/2014/main" id="{7282C8F9-D29E-9D4B-9477-2391E36F0D35}"/>
                </a:ext>
              </a:extLst>
            </p:cNvPr>
            <p:cNvSpPr>
              <a:spLocks noEditPoints="1"/>
            </p:cNvSpPr>
            <p:nvPr/>
          </p:nvSpPr>
          <p:spPr bwMode="auto">
            <a:xfrm>
              <a:off x="3433764" y="1371600"/>
              <a:ext cx="317500" cy="317500"/>
            </a:xfrm>
            <a:custGeom>
              <a:avLst/>
              <a:gdLst>
                <a:gd name="T0" fmla="*/ 108 w 215"/>
                <a:gd name="T1" fmla="*/ 215 h 215"/>
                <a:gd name="T2" fmla="*/ 184 w 215"/>
                <a:gd name="T3" fmla="*/ 183 h 215"/>
                <a:gd name="T4" fmla="*/ 215 w 215"/>
                <a:gd name="T5" fmla="*/ 108 h 215"/>
                <a:gd name="T6" fmla="*/ 184 w 215"/>
                <a:gd name="T7" fmla="*/ 32 h 215"/>
                <a:gd name="T8" fmla="*/ 108 w 215"/>
                <a:gd name="T9" fmla="*/ 0 h 215"/>
                <a:gd name="T10" fmla="*/ 32 w 215"/>
                <a:gd name="T11" fmla="*/ 32 h 215"/>
                <a:gd name="T12" fmla="*/ 0 w 215"/>
                <a:gd name="T13" fmla="*/ 108 h 215"/>
                <a:gd name="T14" fmla="*/ 32 w 215"/>
                <a:gd name="T15" fmla="*/ 183 h 215"/>
                <a:gd name="T16" fmla="*/ 108 w 215"/>
                <a:gd name="T17" fmla="*/ 215 h 215"/>
                <a:gd name="T18" fmla="*/ 41 w 215"/>
                <a:gd name="T19" fmla="*/ 41 h 215"/>
                <a:gd name="T20" fmla="*/ 108 w 215"/>
                <a:gd name="T21" fmla="*/ 14 h 215"/>
                <a:gd name="T22" fmla="*/ 174 w 215"/>
                <a:gd name="T23" fmla="*/ 41 h 215"/>
                <a:gd name="T24" fmla="*/ 202 w 215"/>
                <a:gd name="T25" fmla="*/ 108 h 215"/>
                <a:gd name="T26" fmla="*/ 174 w 215"/>
                <a:gd name="T27" fmla="*/ 174 h 215"/>
                <a:gd name="T28" fmla="*/ 108 w 215"/>
                <a:gd name="T29" fmla="*/ 202 h 215"/>
                <a:gd name="T30" fmla="*/ 41 w 215"/>
                <a:gd name="T31" fmla="*/ 174 h 215"/>
                <a:gd name="T32" fmla="*/ 14 w 215"/>
                <a:gd name="T33" fmla="*/ 108 h 215"/>
                <a:gd name="T34" fmla="*/ 41 w 215"/>
                <a:gd name="T35" fmla="*/ 4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15">
                  <a:moveTo>
                    <a:pt x="108" y="215"/>
                  </a:moveTo>
                  <a:cubicBezTo>
                    <a:pt x="136" y="215"/>
                    <a:pt x="163" y="204"/>
                    <a:pt x="184" y="183"/>
                  </a:cubicBezTo>
                  <a:cubicBezTo>
                    <a:pt x="204" y="163"/>
                    <a:pt x="215" y="136"/>
                    <a:pt x="215" y="108"/>
                  </a:cubicBezTo>
                  <a:cubicBezTo>
                    <a:pt x="215" y="79"/>
                    <a:pt x="204" y="52"/>
                    <a:pt x="184" y="32"/>
                  </a:cubicBezTo>
                  <a:cubicBezTo>
                    <a:pt x="163" y="11"/>
                    <a:pt x="136" y="0"/>
                    <a:pt x="108" y="0"/>
                  </a:cubicBezTo>
                  <a:cubicBezTo>
                    <a:pt x="79" y="0"/>
                    <a:pt x="52" y="11"/>
                    <a:pt x="32" y="32"/>
                  </a:cubicBezTo>
                  <a:cubicBezTo>
                    <a:pt x="12" y="52"/>
                    <a:pt x="0" y="79"/>
                    <a:pt x="0" y="108"/>
                  </a:cubicBezTo>
                  <a:cubicBezTo>
                    <a:pt x="0" y="136"/>
                    <a:pt x="12" y="163"/>
                    <a:pt x="32" y="183"/>
                  </a:cubicBezTo>
                  <a:cubicBezTo>
                    <a:pt x="52" y="204"/>
                    <a:pt x="79" y="215"/>
                    <a:pt x="108" y="215"/>
                  </a:cubicBezTo>
                  <a:close/>
                  <a:moveTo>
                    <a:pt x="41" y="41"/>
                  </a:moveTo>
                  <a:cubicBezTo>
                    <a:pt x="59" y="23"/>
                    <a:pt x="83" y="14"/>
                    <a:pt x="108" y="14"/>
                  </a:cubicBezTo>
                  <a:cubicBezTo>
                    <a:pt x="133" y="14"/>
                    <a:pt x="156" y="23"/>
                    <a:pt x="174" y="41"/>
                  </a:cubicBezTo>
                  <a:cubicBezTo>
                    <a:pt x="192" y="59"/>
                    <a:pt x="202" y="83"/>
                    <a:pt x="202" y="108"/>
                  </a:cubicBezTo>
                  <a:cubicBezTo>
                    <a:pt x="202" y="133"/>
                    <a:pt x="192" y="156"/>
                    <a:pt x="174" y="174"/>
                  </a:cubicBezTo>
                  <a:cubicBezTo>
                    <a:pt x="156" y="192"/>
                    <a:pt x="133" y="202"/>
                    <a:pt x="108" y="202"/>
                  </a:cubicBezTo>
                  <a:cubicBezTo>
                    <a:pt x="83" y="202"/>
                    <a:pt x="59" y="192"/>
                    <a:pt x="41" y="174"/>
                  </a:cubicBezTo>
                  <a:cubicBezTo>
                    <a:pt x="24" y="156"/>
                    <a:pt x="14" y="133"/>
                    <a:pt x="14" y="108"/>
                  </a:cubicBezTo>
                  <a:cubicBezTo>
                    <a:pt x="14" y="83"/>
                    <a:pt x="24" y="59"/>
                    <a:pt x="41"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sp>
          <p:nvSpPr>
            <p:cNvPr id="91" name="Freeform 14">
              <a:extLst>
                <a:ext uri="{FF2B5EF4-FFF2-40B4-BE49-F238E27FC236}">
                  <a16:creationId xmlns:a16="http://schemas.microsoft.com/office/drawing/2014/main" id="{2C501A61-744B-564F-A516-9058F6854C8A}"/>
                </a:ext>
              </a:extLst>
            </p:cNvPr>
            <p:cNvSpPr>
              <a:spLocks/>
            </p:cNvSpPr>
            <p:nvPr/>
          </p:nvSpPr>
          <p:spPr bwMode="auto">
            <a:xfrm>
              <a:off x="3486151" y="1460500"/>
              <a:ext cx="201613" cy="149225"/>
            </a:xfrm>
            <a:custGeom>
              <a:avLst/>
              <a:gdLst>
                <a:gd name="T0" fmla="*/ 45 w 136"/>
                <a:gd name="T1" fmla="*/ 101 h 101"/>
                <a:gd name="T2" fmla="*/ 45 w 136"/>
                <a:gd name="T3" fmla="*/ 101 h 101"/>
                <a:gd name="T4" fmla="*/ 50 w 136"/>
                <a:gd name="T5" fmla="*/ 99 h 101"/>
                <a:gd name="T6" fmla="*/ 134 w 136"/>
                <a:gd name="T7" fmla="*/ 12 h 101"/>
                <a:gd name="T8" fmla="*/ 133 w 136"/>
                <a:gd name="T9" fmla="*/ 3 h 101"/>
                <a:gd name="T10" fmla="*/ 124 w 136"/>
                <a:gd name="T11" fmla="*/ 3 h 101"/>
                <a:gd name="T12" fmla="*/ 45 w 136"/>
                <a:gd name="T13" fmla="*/ 85 h 101"/>
                <a:gd name="T14" fmla="*/ 13 w 136"/>
                <a:gd name="T15" fmla="*/ 47 h 101"/>
                <a:gd name="T16" fmla="*/ 4 w 136"/>
                <a:gd name="T17" fmla="*/ 46 h 101"/>
                <a:gd name="T18" fmla="*/ 3 w 136"/>
                <a:gd name="T19" fmla="*/ 55 h 101"/>
                <a:gd name="T20" fmla="*/ 40 w 136"/>
                <a:gd name="T21" fmla="*/ 99 h 101"/>
                <a:gd name="T22" fmla="*/ 45 w 136"/>
                <a:gd name="T23"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6" h="101">
                  <a:moveTo>
                    <a:pt x="45" y="101"/>
                  </a:moveTo>
                  <a:cubicBezTo>
                    <a:pt x="45" y="101"/>
                    <a:pt x="45" y="101"/>
                    <a:pt x="45" y="101"/>
                  </a:cubicBezTo>
                  <a:cubicBezTo>
                    <a:pt x="47" y="101"/>
                    <a:pt x="48" y="101"/>
                    <a:pt x="50" y="99"/>
                  </a:cubicBezTo>
                  <a:cubicBezTo>
                    <a:pt x="134" y="12"/>
                    <a:pt x="134" y="12"/>
                    <a:pt x="134" y="12"/>
                  </a:cubicBezTo>
                  <a:cubicBezTo>
                    <a:pt x="136" y="9"/>
                    <a:pt x="136" y="5"/>
                    <a:pt x="133" y="3"/>
                  </a:cubicBezTo>
                  <a:cubicBezTo>
                    <a:pt x="131" y="0"/>
                    <a:pt x="126" y="0"/>
                    <a:pt x="124" y="3"/>
                  </a:cubicBezTo>
                  <a:cubicBezTo>
                    <a:pt x="45" y="85"/>
                    <a:pt x="45" y="85"/>
                    <a:pt x="45" y="85"/>
                  </a:cubicBezTo>
                  <a:cubicBezTo>
                    <a:pt x="13" y="47"/>
                    <a:pt x="13" y="47"/>
                    <a:pt x="13" y="47"/>
                  </a:cubicBezTo>
                  <a:cubicBezTo>
                    <a:pt x="11" y="44"/>
                    <a:pt x="6" y="43"/>
                    <a:pt x="4" y="46"/>
                  </a:cubicBezTo>
                  <a:cubicBezTo>
                    <a:pt x="1" y="48"/>
                    <a:pt x="0" y="52"/>
                    <a:pt x="3" y="55"/>
                  </a:cubicBezTo>
                  <a:cubicBezTo>
                    <a:pt x="40" y="99"/>
                    <a:pt x="40" y="99"/>
                    <a:pt x="40" y="99"/>
                  </a:cubicBezTo>
                  <a:cubicBezTo>
                    <a:pt x="41" y="100"/>
                    <a:pt x="43" y="101"/>
                    <a:pt x="45"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grpSp>
      <p:grpSp>
        <p:nvGrpSpPr>
          <p:cNvPr id="83" name="Group 82">
            <a:extLst>
              <a:ext uri="{FF2B5EF4-FFF2-40B4-BE49-F238E27FC236}">
                <a16:creationId xmlns:a16="http://schemas.microsoft.com/office/drawing/2014/main" id="{8301EEBE-C451-244A-B26A-BF2E58BB298A}"/>
              </a:ext>
            </a:extLst>
          </p:cNvPr>
          <p:cNvGrpSpPr/>
          <p:nvPr/>
        </p:nvGrpSpPr>
        <p:grpSpPr>
          <a:xfrm>
            <a:off x="11843935" y="3232632"/>
            <a:ext cx="397348" cy="397348"/>
            <a:chOff x="3433764" y="1371600"/>
            <a:chExt cx="317500" cy="317500"/>
          </a:xfrm>
          <a:solidFill>
            <a:srgbClr val="00A2E2"/>
          </a:solidFill>
        </p:grpSpPr>
        <p:sp>
          <p:nvSpPr>
            <p:cNvPr id="84" name="Freeform 83">
              <a:extLst>
                <a:ext uri="{FF2B5EF4-FFF2-40B4-BE49-F238E27FC236}">
                  <a16:creationId xmlns:a16="http://schemas.microsoft.com/office/drawing/2014/main" id="{1FDCF245-83BF-7C49-9CED-973358F1FD94}"/>
                </a:ext>
              </a:extLst>
            </p:cNvPr>
            <p:cNvSpPr>
              <a:spLocks noEditPoints="1"/>
            </p:cNvSpPr>
            <p:nvPr/>
          </p:nvSpPr>
          <p:spPr bwMode="auto">
            <a:xfrm>
              <a:off x="3433764" y="1371600"/>
              <a:ext cx="317500" cy="317500"/>
            </a:xfrm>
            <a:custGeom>
              <a:avLst/>
              <a:gdLst>
                <a:gd name="T0" fmla="*/ 108 w 215"/>
                <a:gd name="T1" fmla="*/ 215 h 215"/>
                <a:gd name="T2" fmla="*/ 184 w 215"/>
                <a:gd name="T3" fmla="*/ 183 h 215"/>
                <a:gd name="T4" fmla="*/ 215 w 215"/>
                <a:gd name="T5" fmla="*/ 108 h 215"/>
                <a:gd name="T6" fmla="*/ 184 w 215"/>
                <a:gd name="T7" fmla="*/ 32 h 215"/>
                <a:gd name="T8" fmla="*/ 108 w 215"/>
                <a:gd name="T9" fmla="*/ 0 h 215"/>
                <a:gd name="T10" fmla="*/ 32 w 215"/>
                <a:gd name="T11" fmla="*/ 32 h 215"/>
                <a:gd name="T12" fmla="*/ 0 w 215"/>
                <a:gd name="T13" fmla="*/ 108 h 215"/>
                <a:gd name="T14" fmla="*/ 32 w 215"/>
                <a:gd name="T15" fmla="*/ 183 h 215"/>
                <a:gd name="T16" fmla="*/ 108 w 215"/>
                <a:gd name="T17" fmla="*/ 215 h 215"/>
                <a:gd name="T18" fmla="*/ 41 w 215"/>
                <a:gd name="T19" fmla="*/ 41 h 215"/>
                <a:gd name="T20" fmla="*/ 108 w 215"/>
                <a:gd name="T21" fmla="*/ 14 h 215"/>
                <a:gd name="T22" fmla="*/ 174 w 215"/>
                <a:gd name="T23" fmla="*/ 41 h 215"/>
                <a:gd name="T24" fmla="*/ 202 w 215"/>
                <a:gd name="T25" fmla="*/ 108 h 215"/>
                <a:gd name="T26" fmla="*/ 174 w 215"/>
                <a:gd name="T27" fmla="*/ 174 h 215"/>
                <a:gd name="T28" fmla="*/ 108 w 215"/>
                <a:gd name="T29" fmla="*/ 202 h 215"/>
                <a:gd name="T30" fmla="*/ 41 w 215"/>
                <a:gd name="T31" fmla="*/ 174 h 215"/>
                <a:gd name="T32" fmla="*/ 14 w 215"/>
                <a:gd name="T33" fmla="*/ 108 h 215"/>
                <a:gd name="T34" fmla="*/ 41 w 215"/>
                <a:gd name="T35" fmla="*/ 41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5" h="215">
                  <a:moveTo>
                    <a:pt x="108" y="215"/>
                  </a:moveTo>
                  <a:cubicBezTo>
                    <a:pt x="136" y="215"/>
                    <a:pt x="163" y="204"/>
                    <a:pt x="184" y="183"/>
                  </a:cubicBezTo>
                  <a:cubicBezTo>
                    <a:pt x="204" y="163"/>
                    <a:pt x="215" y="136"/>
                    <a:pt x="215" y="108"/>
                  </a:cubicBezTo>
                  <a:cubicBezTo>
                    <a:pt x="215" y="79"/>
                    <a:pt x="204" y="52"/>
                    <a:pt x="184" y="32"/>
                  </a:cubicBezTo>
                  <a:cubicBezTo>
                    <a:pt x="163" y="11"/>
                    <a:pt x="136" y="0"/>
                    <a:pt x="108" y="0"/>
                  </a:cubicBezTo>
                  <a:cubicBezTo>
                    <a:pt x="79" y="0"/>
                    <a:pt x="52" y="11"/>
                    <a:pt x="32" y="32"/>
                  </a:cubicBezTo>
                  <a:cubicBezTo>
                    <a:pt x="12" y="52"/>
                    <a:pt x="0" y="79"/>
                    <a:pt x="0" y="108"/>
                  </a:cubicBezTo>
                  <a:cubicBezTo>
                    <a:pt x="0" y="136"/>
                    <a:pt x="12" y="163"/>
                    <a:pt x="32" y="183"/>
                  </a:cubicBezTo>
                  <a:cubicBezTo>
                    <a:pt x="52" y="204"/>
                    <a:pt x="79" y="215"/>
                    <a:pt x="108" y="215"/>
                  </a:cubicBezTo>
                  <a:close/>
                  <a:moveTo>
                    <a:pt x="41" y="41"/>
                  </a:moveTo>
                  <a:cubicBezTo>
                    <a:pt x="59" y="23"/>
                    <a:pt x="83" y="14"/>
                    <a:pt x="108" y="14"/>
                  </a:cubicBezTo>
                  <a:cubicBezTo>
                    <a:pt x="133" y="14"/>
                    <a:pt x="156" y="23"/>
                    <a:pt x="174" y="41"/>
                  </a:cubicBezTo>
                  <a:cubicBezTo>
                    <a:pt x="192" y="59"/>
                    <a:pt x="202" y="83"/>
                    <a:pt x="202" y="108"/>
                  </a:cubicBezTo>
                  <a:cubicBezTo>
                    <a:pt x="202" y="133"/>
                    <a:pt x="192" y="156"/>
                    <a:pt x="174" y="174"/>
                  </a:cubicBezTo>
                  <a:cubicBezTo>
                    <a:pt x="156" y="192"/>
                    <a:pt x="133" y="202"/>
                    <a:pt x="108" y="202"/>
                  </a:cubicBezTo>
                  <a:cubicBezTo>
                    <a:pt x="83" y="202"/>
                    <a:pt x="59" y="192"/>
                    <a:pt x="41" y="174"/>
                  </a:cubicBezTo>
                  <a:cubicBezTo>
                    <a:pt x="24" y="156"/>
                    <a:pt x="14" y="133"/>
                    <a:pt x="14" y="108"/>
                  </a:cubicBezTo>
                  <a:cubicBezTo>
                    <a:pt x="14" y="83"/>
                    <a:pt x="24" y="59"/>
                    <a:pt x="41"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sp>
          <p:nvSpPr>
            <p:cNvPr id="85" name="Freeform 84">
              <a:extLst>
                <a:ext uri="{FF2B5EF4-FFF2-40B4-BE49-F238E27FC236}">
                  <a16:creationId xmlns:a16="http://schemas.microsoft.com/office/drawing/2014/main" id="{A1476567-6D59-5249-B0F7-9A5C01F1FB7E}"/>
                </a:ext>
              </a:extLst>
            </p:cNvPr>
            <p:cNvSpPr>
              <a:spLocks/>
            </p:cNvSpPr>
            <p:nvPr/>
          </p:nvSpPr>
          <p:spPr bwMode="auto">
            <a:xfrm>
              <a:off x="3486151" y="1460500"/>
              <a:ext cx="201613" cy="149225"/>
            </a:xfrm>
            <a:custGeom>
              <a:avLst/>
              <a:gdLst>
                <a:gd name="T0" fmla="*/ 45 w 136"/>
                <a:gd name="T1" fmla="*/ 101 h 101"/>
                <a:gd name="T2" fmla="*/ 45 w 136"/>
                <a:gd name="T3" fmla="*/ 101 h 101"/>
                <a:gd name="T4" fmla="*/ 50 w 136"/>
                <a:gd name="T5" fmla="*/ 99 h 101"/>
                <a:gd name="T6" fmla="*/ 134 w 136"/>
                <a:gd name="T7" fmla="*/ 12 h 101"/>
                <a:gd name="T8" fmla="*/ 133 w 136"/>
                <a:gd name="T9" fmla="*/ 3 h 101"/>
                <a:gd name="T10" fmla="*/ 124 w 136"/>
                <a:gd name="T11" fmla="*/ 3 h 101"/>
                <a:gd name="T12" fmla="*/ 45 w 136"/>
                <a:gd name="T13" fmla="*/ 85 h 101"/>
                <a:gd name="T14" fmla="*/ 13 w 136"/>
                <a:gd name="T15" fmla="*/ 47 h 101"/>
                <a:gd name="T16" fmla="*/ 4 w 136"/>
                <a:gd name="T17" fmla="*/ 46 h 101"/>
                <a:gd name="T18" fmla="*/ 3 w 136"/>
                <a:gd name="T19" fmla="*/ 55 h 101"/>
                <a:gd name="T20" fmla="*/ 40 w 136"/>
                <a:gd name="T21" fmla="*/ 99 h 101"/>
                <a:gd name="T22" fmla="*/ 45 w 136"/>
                <a:gd name="T23"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6" h="101">
                  <a:moveTo>
                    <a:pt x="45" y="101"/>
                  </a:moveTo>
                  <a:cubicBezTo>
                    <a:pt x="45" y="101"/>
                    <a:pt x="45" y="101"/>
                    <a:pt x="45" y="101"/>
                  </a:cubicBezTo>
                  <a:cubicBezTo>
                    <a:pt x="47" y="101"/>
                    <a:pt x="48" y="101"/>
                    <a:pt x="50" y="99"/>
                  </a:cubicBezTo>
                  <a:cubicBezTo>
                    <a:pt x="134" y="12"/>
                    <a:pt x="134" y="12"/>
                    <a:pt x="134" y="12"/>
                  </a:cubicBezTo>
                  <a:cubicBezTo>
                    <a:pt x="136" y="9"/>
                    <a:pt x="136" y="5"/>
                    <a:pt x="133" y="3"/>
                  </a:cubicBezTo>
                  <a:cubicBezTo>
                    <a:pt x="131" y="0"/>
                    <a:pt x="126" y="0"/>
                    <a:pt x="124" y="3"/>
                  </a:cubicBezTo>
                  <a:cubicBezTo>
                    <a:pt x="45" y="85"/>
                    <a:pt x="45" y="85"/>
                    <a:pt x="45" y="85"/>
                  </a:cubicBezTo>
                  <a:cubicBezTo>
                    <a:pt x="13" y="47"/>
                    <a:pt x="13" y="47"/>
                    <a:pt x="13" y="47"/>
                  </a:cubicBezTo>
                  <a:cubicBezTo>
                    <a:pt x="11" y="44"/>
                    <a:pt x="6" y="43"/>
                    <a:pt x="4" y="46"/>
                  </a:cubicBezTo>
                  <a:cubicBezTo>
                    <a:pt x="1" y="48"/>
                    <a:pt x="0" y="52"/>
                    <a:pt x="3" y="55"/>
                  </a:cubicBezTo>
                  <a:cubicBezTo>
                    <a:pt x="40" y="99"/>
                    <a:pt x="40" y="99"/>
                    <a:pt x="40" y="99"/>
                  </a:cubicBezTo>
                  <a:cubicBezTo>
                    <a:pt x="41" y="100"/>
                    <a:pt x="43" y="101"/>
                    <a:pt x="45"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uk-UA"/>
            </a:p>
          </p:txBody>
        </p:sp>
      </p:grpSp>
    </p:spTree>
    <p:extLst>
      <p:ext uri="{BB962C8B-B14F-4D97-AF65-F5344CB8AC3E}">
        <p14:creationId xmlns:p14="http://schemas.microsoft.com/office/powerpoint/2010/main" val="14688385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291994-35EB-E849-8F05-2F8B5FD87631}"/>
              </a:ext>
            </a:extLst>
          </p:cNvPr>
          <p:cNvSpPr/>
          <p:nvPr/>
        </p:nvSpPr>
        <p:spPr>
          <a:xfrm>
            <a:off x="682437" y="3322012"/>
            <a:ext cx="8033290" cy="434606"/>
          </a:xfrm>
          <a:prstGeom prst="rect">
            <a:avLst/>
          </a:prstGeom>
        </p:spPr>
        <p:txBody>
          <a:bodyPr wrap="square" anchor="t">
            <a:spAutoFit/>
          </a:bodyPr>
          <a:lstStyle/>
          <a:p>
            <a:r>
              <a:rPr lang="en-US" sz="2224" b="1" dirty="0">
                <a:solidFill>
                  <a:srgbClr val="003963"/>
                </a:solidFill>
              </a:rPr>
              <a:t>Original Issue Summaries</a:t>
            </a:r>
          </a:p>
        </p:txBody>
      </p:sp>
    </p:spTree>
    <p:extLst>
      <p:ext uri="{BB962C8B-B14F-4D97-AF65-F5344CB8AC3E}">
        <p14:creationId xmlns:p14="http://schemas.microsoft.com/office/powerpoint/2010/main" val="997415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1AEC8755-968C-E94A-B115-1636F814A717}"/>
              </a:ext>
            </a:extLst>
          </p:cNvPr>
          <p:cNvSpPr/>
          <p:nvPr/>
        </p:nvSpPr>
        <p:spPr>
          <a:xfrm>
            <a:off x="168964" y="-2218162"/>
            <a:ext cx="7549587" cy="1015663"/>
          </a:xfrm>
          <a:prstGeom prst="rect">
            <a:avLst/>
          </a:prstGeom>
        </p:spPr>
        <p:txBody>
          <a:bodyPr wrap="square" anchor="t">
            <a:spAutoFit/>
          </a:bodyPr>
          <a:lstStyle/>
          <a:p>
            <a:r>
              <a:rPr lang="en-US" sz="2400" b="1" dirty="0">
                <a:solidFill>
                  <a:srgbClr val="003963"/>
                </a:solidFill>
              </a:rPr>
              <a:t>The urgency is now: </a:t>
            </a:r>
          </a:p>
          <a:p>
            <a:r>
              <a:rPr lang="en-US" sz="1800" dirty="0">
                <a:solidFill>
                  <a:srgbClr val="00A2E2"/>
                </a:solidFill>
              </a:rPr>
              <a:t>How do we ensure we are addressing the critical issues and opportunities that are emerging in the Behavioral Health Epidemic </a:t>
            </a:r>
          </a:p>
        </p:txBody>
      </p:sp>
      <p:sp>
        <p:nvSpPr>
          <p:cNvPr id="3" name="Rectangle 2">
            <a:extLst>
              <a:ext uri="{FF2B5EF4-FFF2-40B4-BE49-F238E27FC236}">
                <a16:creationId xmlns:a16="http://schemas.microsoft.com/office/drawing/2014/main" id="{322914B9-0928-8C47-989E-3946B358255E}"/>
              </a:ext>
            </a:extLst>
          </p:cNvPr>
          <p:cNvSpPr/>
          <p:nvPr/>
        </p:nvSpPr>
        <p:spPr>
          <a:xfrm>
            <a:off x="298402" y="1704715"/>
            <a:ext cx="8214610" cy="584775"/>
          </a:xfrm>
          <a:prstGeom prst="rect">
            <a:avLst/>
          </a:prstGeom>
        </p:spPr>
        <p:txBody>
          <a:bodyPr wrap="square">
            <a:spAutoFit/>
          </a:bodyPr>
          <a:lstStyle/>
          <a:p>
            <a:r>
              <a:rPr lang="en-US" sz="1600" dirty="0"/>
              <a:t>Be industry leaders in revolutionizing health by doubling-down on integrating behavioral and physical care practices as a mandate for our organization and clinical networks. </a:t>
            </a:r>
          </a:p>
        </p:txBody>
      </p:sp>
      <p:sp>
        <p:nvSpPr>
          <p:cNvPr id="4" name="Rectangle 3">
            <a:extLst>
              <a:ext uri="{FF2B5EF4-FFF2-40B4-BE49-F238E27FC236}">
                <a16:creationId xmlns:a16="http://schemas.microsoft.com/office/drawing/2014/main" id="{50818B1C-7512-BF4C-A24D-63537D0ED002}"/>
              </a:ext>
            </a:extLst>
          </p:cNvPr>
          <p:cNvSpPr/>
          <p:nvPr/>
        </p:nvSpPr>
        <p:spPr>
          <a:xfrm>
            <a:off x="298402" y="1145470"/>
            <a:ext cx="9051944" cy="461665"/>
          </a:xfrm>
          <a:prstGeom prst="rect">
            <a:avLst/>
          </a:prstGeom>
        </p:spPr>
        <p:txBody>
          <a:bodyPr wrap="square">
            <a:spAutoFit/>
          </a:bodyPr>
          <a:lstStyle/>
          <a:p>
            <a:r>
              <a:rPr lang="en-US" sz="2400" b="1" dirty="0">
                <a:solidFill>
                  <a:srgbClr val="002060"/>
                </a:solidFill>
              </a:rPr>
              <a:t>Realign and Champion for Whole-Health</a:t>
            </a:r>
          </a:p>
        </p:txBody>
      </p:sp>
      <p:sp>
        <p:nvSpPr>
          <p:cNvPr id="12" name="Rectangle 11">
            <a:extLst>
              <a:ext uri="{FF2B5EF4-FFF2-40B4-BE49-F238E27FC236}">
                <a16:creationId xmlns:a16="http://schemas.microsoft.com/office/drawing/2014/main" id="{FF75D8D4-2E5B-8141-92F5-2E65763F210A}"/>
              </a:ext>
            </a:extLst>
          </p:cNvPr>
          <p:cNvSpPr/>
          <p:nvPr/>
        </p:nvSpPr>
        <p:spPr>
          <a:xfrm>
            <a:off x="9548037" y="0"/>
            <a:ext cx="3253563" cy="288950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3942695-DEE0-D342-9001-6E26D151834E}"/>
              </a:ext>
            </a:extLst>
          </p:cNvPr>
          <p:cNvSpPr/>
          <p:nvPr/>
        </p:nvSpPr>
        <p:spPr>
          <a:xfrm>
            <a:off x="9548037" y="369169"/>
            <a:ext cx="3253563" cy="338554"/>
          </a:xfrm>
          <a:prstGeom prst="rect">
            <a:avLst/>
          </a:prstGeom>
        </p:spPr>
        <p:txBody>
          <a:bodyPr wrap="square" anchor="t">
            <a:spAutoFit/>
          </a:bodyPr>
          <a:lstStyle/>
          <a:p>
            <a:pPr algn="ctr"/>
            <a:r>
              <a:rPr lang="en-US" sz="1600" b="1" dirty="0">
                <a:solidFill>
                  <a:schemeClr val="bg1"/>
                </a:solidFill>
              </a:rPr>
              <a:t>Critical Problems</a:t>
            </a:r>
          </a:p>
        </p:txBody>
      </p:sp>
      <p:grpSp>
        <p:nvGrpSpPr>
          <p:cNvPr id="5" name="Group 4">
            <a:extLst>
              <a:ext uri="{FF2B5EF4-FFF2-40B4-BE49-F238E27FC236}">
                <a16:creationId xmlns:a16="http://schemas.microsoft.com/office/drawing/2014/main" id="{4010EF52-C5D7-364A-9BFE-02E8D06E4633}"/>
              </a:ext>
            </a:extLst>
          </p:cNvPr>
          <p:cNvGrpSpPr/>
          <p:nvPr/>
        </p:nvGrpSpPr>
        <p:grpSpPr>
          <a:xfrm>
            <a:off x="10054011" y="824143"/>
            <a:ext cx="2241613" cy="1631010"/>
            <a:chOff x="1954883" y="224589"/>
            <a:chExt cx="9056437" cy="6589517"/>
          </a:xfrm>
        </p:grpSpPr>
        <p:sp>
          <p:nvSpPr>
            <p:cNvPr id="14" name="TextBox 13">
              <a:extLst>
                <a:ext uri="{FF2B5EF4-FFF2-40B4-BE49-F238E27FC236}">
                  <a16:creationId xmlns:a16="http://schemas.microsoft.com/office/drawing/2014/main" id="{B31051DD-EB23-794F-8BAD-F9F7F16AC8B0}"/>
                </a:ext>
              </a:extLst>
            </p:cNvPr>
            <p:cNvSpPr txBox="1"/>
            <p:nvPr/>
          </p:nvSpPr>
          <p:spPr>
            <a:xfrm>
              <a:off x="8244614" y="1587504"/>
              <a:ext cx="2766706"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Clinician </a:t>
              </a:r>
              <a:br>
                <a:rPr lang="en-US" sz="800" spc="-16" dirty="0">
                  <a:solidFill>
                    <a:schemeClr val="bg1"/>
                  </a:solidFill>
                  <a:latin typeface="+mj-lt"/>
                  <a:ea typeface="Source Sans Pro" panose="020B0503030403020204" pitchFamily="34" charset="0"/>
                </a:rPr>
              </a:br>
              <a:r>
                <a:rPr lang="en-US" sz="800" spc="-16" dirty="0">
                  <a:solidFill>
                    <a:schemeClr val="bg1"/>
                  </a:solidFill>
                  <a:latin typeface="+mj-lt"/>
                  <a:ea typeface="Source Sans Pro" panose="020B0503030403020204" pitchFamily="34" charset="0"/>
                </a:rPr>
                <a:t>Challenges </a:t>
              </a:r>
            </a:p>
          </p:txBody>
        </p:sp>
        <p:grpSp>
          <p:nvGrpSpPr>
            <p:cNvPr id="15" name="Group 14">
              <a:extLst>
                <a:ext uri="{FF2B5EF4-FFF2-40B4-BE49-F238E27FC236}">
                  <a16:creationId xmlns:a16="http://schemas.microsoft.com/office/drawing/2014/main" id="{6EE47F6B-8362-8A4F-9C3C-2F4D7C87260E}"/>
                </a:ext>
              </a:extLst>
            </p:cNvPr>
            <p:cNvGrpSpPr/>
            <p:nvPr/>
          </p:nvGrpSpPr>
          <p:grpSpPr>
            <a:xfrm>
              <a:off x="4052176" y="1669056"/>
              <a:ext cx="4821704" cy="4177981"/>
              <a:chOff x="3467290" y="2011174"/>
              <a:chExt cx="5867022" cy="5083743"/>
            </a:xfrm>
          </p:grpSpPr>
          <p:sp>
            <p:nvSpPr>
              <p:cNvPr id="16" name="Freeform 176">
                <a:extLst>
                  <a:ext uri="{FF2B5EF4-FFF2-40B4-BE49-F238E27FC236}">
                    <a16:creationId xmlns:a16="http://schemas.microsoft.com/office/drawing/2014/main" id="{172F5DE8-A200-9A4A-AC04-67E7077393A6}"/>
                  </a:ext>
                </a:extLst>
              </p:cNvPr>
              <p:cNvSpPr>
                <a:spLocks/>
              </p:cNvSpPr>
              <p:nvPr/>
            </p:nvSpPr>
            <p:spPr bwMode="auto">
              <a:xfrm>
                <a:off x="4932533" y="4553045"/>
                <a:ext cx="2933511" cy="2541872"/>
              </a:xfrm>
              <a:custGeom>
                <a:avLst/>
                <a:gdLst>
                  <a:gd name="T0" fmla="*/ 1540102 w 4486"/>
                  <a:gd name="T1" fmla="*/ 0 h 3885"/>
                  <a:gd name="T2" fmla="*/ 0 w 4486"/>
                  <a:gd name="T3" fmla="*/ 2667613 h 3885"/>
                  <a:gd name="T4" fmla="*/ 3079517 w 4486"/>
                  <a:gd name="T5" fmla="*/ 2667613 h 3885"/>
                  <a:gd name="T6" fmla="*/ 1540102 w 4486"/>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5">
                    <a:moveTo>
                      <a:pt x="2243" y="0"/>
                    </a:moveTo>
                    <a:lnTo>
                      <a:pt x="0" y="3884"/>
                    </a:lnTo>
                    <a:lnTo>
                      <a:pt x="4485" y="3884"/>
                    </a:lnTo>
                    <a:lnTo>
                      <a:pt x="2243" y="0"/>
                    </a:lnTo>
                  </a:path>
                </a:pathLst>
              </a:custGeom>
              <a:solidFill>
                <a:schemeClr val="accent1"/>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18" name="Freeform 177">
                <a:extLst>
                  <a:ext uri="{FF2B5EF4-FFF2-40B4-BE49-F238E27FC236}">
                    <a16:creationId xmlns:a16="http://schemas.microsoft.com/office/drawing/2014/main" id="{973F8BCD-381C-554A-88BC-12252EE97DCC}"/>
                  </a:ext>
                </a:extLst>
              </p:cNvPr>
              <p:cNvSpPr>
                <a:spLocks/>
              </p:cNvSpPr>
              <p:nvPr/>
            </p:nvSpPr>
            <p:spPr bwMode="auto">
              <a:xfrm>
                <a:off x="6400801" y="2011174"/>
                <a:ext cx="2933511" cy="2541871"/>
              </a:xfrm>
              <a:custGeom>
                <a:avLst/>
                <a:gdLst>
                  <a:gd name="T0" fmla="*/ 1539760 w 4485"/>
                  <a:gd name="T1" fmla="*/ 0 h 3884"/>
                  <a:gd name="T2" fmla="*/ 0 w 4485"/>
                  <a:gd name="T3" fmla="*/ 2667611 h 3884"/>
                  <a:gd name="T4" fmla="*/ 3079519 w 4485"/>
                  <a:gd name="T5" fmla="*/ 2667611 h 3884"/>
                  <a:gd name="T6" fmla="*/ 1539760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2" y="0"/>
                    </a:moveTo>
                    <a:lnTo>
                      <a:pt x="0" y="3883"/>
                    </a:lnTo>
                    <a:lnTo>
                      <a:pt x="4484" y="3883"/>
                    </a:lnTo>
                    <a:lnTo>
                      <a:pt x="2242"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19" name="Freeform 178">
                <a:extLst>
                  <a:ext uri="{FF2B5EF4-FFF2-40B4-BE49-F238E27FC236}">
                    <a16:creationId xmlns:a16="http://schemas.microsoft.com/office/drawing/2014/main" id="{AD19ABC7-281D-C44D-9E92-17522BA0EAD3}"/>
                  </a:ext>
                </a:extLst>
              </p:cNvPr>
              <p:cNvSpPr>
                <a:spLocks/>
              </p:cNvSpPr>
              <p:nvPr/>
            </p:nvSpPr>
            <p:spPr bwMode="auto">
              <a:xfrm>
                <a:off x="4932533" y="2020246"/>
                <a:ext cx="2933511" cy="2540360"/>
              </a:xfrm>
              <a:custGeom>
                <a:avLst/>
                <a:gdLst>
                  <a:gd name="T0" fmla="*/ 1540102 w 4486"/>
                  <a:gd name="T1" fmla="*/ 2667613 h 3883"/>
                  <a:gd name="T2" fmla="*/ 3079517 w 4486"/>
                  <a:gd name="T3" fmla="*/ 0 h 3883"/>
                  <a:gd name="T4" fmla="*/ 0 w 4486"/>
                  <a:gd name="T5" fmla="*/ 0 h 3883"/>
                  <a:gd name="T6" fmla="*/ 1540102 w 4486"/>
                  <a:gd name="T7" fmla="*/ 2667613 h 38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3">
                    <a:moveTo>
                      <a:pt x="2243" y="3882"/>
                    </a:moveTo>
                    <a:lnTo>
                      <a:pt x="4485" y="0"/>
                    </a:lnTo>
                    <a:lnTo>
                      <a:pt x="0" y="0"/>
                    </a:lnTo>
                    <a:lnTo>
                      <a:pt x="2243" y="3882"/>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0" name="Freeform 179">
                <a:extLst>
                  <a:ext uri="{FF2B5EF4-FFF2-40B4-BE49-F238E27FC236}">
                    <a16:creationId xmlns:a16="http://schemas.microsoft.com/office/drawing/2014/main" id="{AF6AA1F1-DB5D-6B48-A577-74C17CE1EC12}"/>
                  </a:ext>
                </a:extLst>
              </p:cNvPr>
              <p:cNvSpPr>
                <a:spLocks/>
              </p:cNvSpPr>
              <p:nvPr/>
            </p:nvSpPr>
            <p:spPr bwMode="auto">
              <a:xfrm>
                <a:off x="6400801" y="4553045"/>
                <a:ext cx="2933511" cy="2541872"/>
              </a:xfrm>
              <a:custGeom>
                <a:avLst/>
                <a:gdLst>
                  <a:gd name="T0" fmla="*/ 0 w 4485"/>
                  <a:gd name="T1" fmla="*/ 0 h 3885"/>
                  <a:gd name="T2" fmla="*/ 1539760 w 4485"/>
                  <a:gd name="T3" fmla="*/ 2667613 h 3885"/>
                  <a:gd name="T4" fmla="*/ 3079519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2"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2" name="Freeform 180">
                <a:extLst>
                  <a:ext uri="{FF2B5EF4-FFF2-40B4-BE49-F238E27FC236}">
                    <a16:creationId xmlns:a16="http://schemas.microsoft.com/office/drawing/2014/main" id="{94282D5D-44FA-5B42-A123-9A93B3B2AD5D}"/>
                  </a:ext>
                </a:extLst>
              </p:cNvPr>
              <p:cNvSpPr>
                <a:spLocks/>
              </p:cNvSpPr>
              <p:nvPr/>
            </p:nvSpPr>
            <p:spPr bwMode="auto">
              <a:xfrm>
                <a:off x="3467290" y="2011174"/>
                <a:ext cx="2933511" cy="2541871"/>
              </a:xfrm>
              <a:custGeom>
                <a:avLst/>
                <a:gdLst>
                  <a:gd name="T0" fmla="*/ 1539072 w 4485"/>
                  <a:gd name="T1" fmla="*/ 0 h 3884"/>
                  <a:gd name="T2" fmla="*/ 0 w 4485"/>
                  <a:gd name="T3" fmla="*/ 2667611 h 3884"/>
                  <a:gd name="T4" fmla="*/ 3079517 w 4485"/>
                  <a:gd name="T5" fmla="*/ 2667611 h 3884"/>
                  <a:gd name="T6" fmla="*/ 1539072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1" y="0"/>
                    </a:moveTo>
                    <a:lnTo>
                      <a:pt x="0" y="3883"/>
                    </a:lnTo>
                    <a:lnTo>
                      <a:pt x="4484" y="3883"/>
                    </a:lnTo>
                    <a:lnTo>
                      <a:pt x="2241" y="0"/>
                    </a:lnTo>
                  </a:path>
                </a:pathLst>
              </a:custGeom>
              <a:solidFill>
                <a:schemeClr val="accent2">
                  <a:lumMod val="75000"/>
                </a:schemeClr>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4" name="Freeform 181">
                <a:extLst>
                  <a:ext uri="{FF2B5EF4-FFF2-40B4-BE49-F238E27FC236}">
                    <a16:creationId xmlns:a16="http://schemas.microsoft.com/office/drawing/2014/main" id="{78693D03-3054-3D4E-9627-E0A7EA652F9E}"/>
                  </a:ext>
                </a:extLst>
              </p:cNvPr>
              <p:cNvSpPr>
                <a:spLocks/>
              </p:cNvSpPr>
              <p:nvPr/>
            </p:nvSpPr>
            <p:spPr bwMode="auto">
              <a:xfrm>
                <a:off x="3467290" y="4553045"/>
                <a:ext cx="2933511" cy="2541872"/>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5" name="TextBox 24">
                <a:extLst>
                  <a:ext uri="{FF2B5EF4-FFF2-40B4-BE49-F238E27FC236}">
                    <a16:creationId xmlns:a16="http://schemas.microsoft.com/office/drawing/2014/main" id="{A4E847B4-3DF6-0346-9E09-2E13EF18D004}"/>
                  </a:ext>
                </a:extLst>
              </p:cNvPr>
              <p:cNvSpPr txBox="1"/>
              <p:nvPr/>
            </p:nvSpPr>
            <p:spPr>
              <a:xfrm>
                <a:off x="4236225" y="2994644"/>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6</a:t>
                </a:r>
              </a:p>
            </p:txBody>
          </p:sp>
          <p:sp>
            <p:nvSpPr>
              <p:cNvPr id="26" name="TextBox 25">
                <a:extLst>
                  <a:ext uri="{FF2B5EF4-FFF2-40B4-BE49-F238E27FC236}">
                    <a16:creationId xmlns:a16="http://schemas.microsoft.com/office/drawing/2014/main" id="{56403C62-669F-FE41-9934-55C0554EAD79}"/>
                  </a:ext>
                </a:extLst>
              </p:cNvPr>
              <p:cNvSpPr txBox="1"/>
              <p:nvPr/>
            </p:nvSpPr>
            <p:spPr>
              <a:xfrm>
                <a:off x="5765762" y="2108319"/>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1</a:t>
                </a:r>
              </a:p>
            </p:txBody>
          </p:sp>
          <p:sp>
            <p:nvSpPr>
              <p:cNvPr id="28" name="TextBox 27">
                <a:extLst>
                  <a:ext uri="{FF2B5EF4-FFF2-40B4-BE49-F238E27FC236}">
                    <a16:creationId xmlns:a16="http://schemas.microsoft.com/office/drawing/2014/main" id="{DA2C1947-9098-DD4B-9FC7-5226288B9885}"/>
                  </a:ext>
                </a:extLst>
              </p:cNvPr>
              <p:cNvSpPr txBox="1"/>
              <p:nvPr/>
            </p:nvSpPr>
            <p:spPr>
              <a:xfrm>
                <a:off x="7228912" y="2999201"/>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2</a:t>
                </a:r>
              </a:p>
            </p:txBody>
          </p:sp>
          <p:sp>
            <p:nvSpPr>
              <p:cNvPr id="30" name="TextBox 29">
                <a:extLst>
                  <a:ext uri="{FF2B5EF4-FFF2-40B4-BE49-F238E27FC236}">
                    <a16:creationId xmlns:a16="http://schemas.microsoft.com/office/drawing/2014/main" id="{A3167FD0-F83D-DD4A-A72D-90405E017D57}"/>
                  </a:ext>
                </a:extLst>
              </p:cNvPr>
              <p:cNvSpPr txBox="1"/>
              <p:nvPr/>
            </p:nvSpPr>
            <p:spPr>
              <a:xfrm>
                <a:off x="7247451" y="475574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3</a:t>
                </a:r>
              </a:p>
            </p:txBody>
          </p:sp>
          <p:sp>
            <p:nvSpPr>
              <p:cNvPr id="31" name="TextBox 30">
                <a:extLst>
                  <a:ext uri="{FF2B5EF4-FFF2-40B4-BE49-F238E27FC236}">
                    <a16:creationId xmlns:a16="http://schemas.microsoft.com/office/drawing/2014/main" id="{CB32858F-D284-8944-839E-5211D8180EC0}"/>
                  </a:ext>
                </a:extLst>
              </p:cNvPr>
              <p:cNvSpPr txBox="1"/>
              <p:nvPr/>
            </p:nvSpPr>
            <p:spPr>
              <a:xfrm>
                <a:off x="5737804" y="5556748"/>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4</a:t>
                </a:r>
              </a:p>
            </p:txBody>
          </p:sp>
          <p:sp>
            <p:nvSpPr>
              <p:cNvPr id="32" name="TextBox 31">
                <a:extLst>
                  <a:ext uri="{FF2B5EF4-FFF2-40B4-BE49-F238E27FC236}">
                    <a16:creationId xmlns:a16="http://schemas.microsoft.com/office/drawing/2014/main" id="{BC7732BD-8AE6-2D4C-8A49-D027171EBC73}"/>
                  </a:ext>
                </a:extLst>
              </p:cNvPr>
              <p:cNvSpPr txBox="1"/>
              <p:nvPr/>
            </p:nvSpPr>
            <p:spPr>
              <a:xfrm>
                <a:off x="4199291" y="472471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5</a:t>
                </a:r>
              </a:p>
            </p:txBody>
          </p:sp>
        </p:grpSp>
        <p:sp>
          <p:nvSpPr>
            <p:cNvPr id="35" name="TextBox 34">
              <a:extLst>
                <a:ext uri="{FF2B5EF4-FFF2-40B4-BE49-F238E27FC236}">
                  <a16:creationId xmlns:a16="http://schemas.microsoft.com/office/drawing/2014/main" id="{A3FF2667-46B6-7849-BE43-553064687CB0}"/>
                </a:ext>
              </a:extLst>
            </p:cNvPr>
            <p:cNvSpPr txBox="1"/>
            <p:nvPr/>
          </p:nvSpPr>
          <p:spPr>
            <a:xfrm>
              <a:off x="5048505" y="224589"/>
              <a:ext cx="2778629"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Value Barriers </a:t>
              </a:r>
            </a:p>
          </p:txBody>
        </p:sp>
        <p:sp>
          <p:nvSpPr>
            <p:cNvPr id="36" name="TextBox 35">
              <a:extLst>
                <a:ext uri="{FF2B5EF4-FFF2-40B4-BE49-F238E27FC236}">
                  <a16:creationId xmlns:a16="http://schemas.microsoft.com/office/drawing/2014/main" id="{76B013F0-AD86-4544-B3B2-B9249653EBF8}"/>
                </a:ext>
              </a:extLst>
            </p:cNvPr>
            <p:cNvSpPr txBox="1"/>
            <p:nvPr/>
          </p:nvSpPr>
          <p:spPr>
            <a:xfrm>
              <a:off x="5204003" y="5943681"/>
              <a:ext cx="2623132"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Proactivity</a:t>
              </a:r>
            </a:p>
          </p:txBody>
        </p:sp>
        <p:sp>
          <p:nvSpPr>
            <p:cNvPr id="37" name="TextBox 36">
              <a:extLst>
                <a:ext uri="{FF2B5EF4-FFF2-40B4-BE49-F238E27FC236}">
                  <a16:creationId xmlns:a16="http://schemas.microsoft.com/office/drawing/2014/main" id="{14359635-1856-764D-AC49-97EC9113F864}"/>
                </a:ext>
              </a:extLst>
            </p:cNvPr>
            <p:cNvSpPr txBox="1"/>
            <p:nvPr/>
          </p:nvSpPr>
          <p:spPr>
            <a:xfrm>
              <a:off x="1954883" y="1624544"/>
              <a:ext cx="280492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Cultural Challenges</a:t>
              </a:r>
            </a:p>
          </p:txBody>
        </p:sp>
        <p:sp>
          <p:nvSpPr>
            <p:cNvPr id="39" name="TextBox 38">
              <a:extLst>
                <a:ext uri="{FF2B5EF4-FFF2-40B4-BE49-F238E27FC236}">
                  <a16:creationId xmlns:a16="http://schemas.microsoft.com/office/drawing/2014/main" id="{5EE6B582-A5AD-7742-A3DB-35B94D69E389}"/>
                </a:ext>
              </a:extLst>
            </p:cNvPr>
            <p:cNvSpPr txBox="1"/>
            <p:nvPr/>
          </p:nvSpPr>
          <p:spPr>
            <a:xfrm>
              <a:off x="2108449" y="4579118"/>
              <a:ext cx="2714734"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Prevention</a:t>
              </a:r>
            </a:p>
          </p:txBody>
        </p:sp>
        <p:sp>
          <p:nvSpPr>
            <p:cNvPr id="40" name="TextBox 39">
              <a:extLst>
                <a:ext uri="{FF2B5EF4-FFF2-40B4-BE49-F238E27FC236}">
                  <a16:creationId xmlns:a16="http://schemas.microsoft.com/office/drawing/2014/main" id="{7842DDC4-618C-EB49-8D92-CC6E8D06A27F}"/>
                </a:ext>
              </a:extLst>
            </p:cNvPr>
            <p:cNvSpPr txBox="1"/>
            <p:nvPr/>
          </p:nvSpPr>
          <p:spPr>
            <a:xfrm>
              <a:off x="8202257" y="4539642"/>
              <a:ext cx="273486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Need/Care Match</a:t>
              </a:r>
            </a:p>
          </p:txBody>
        </p:sp>
      </p:grpSp>
      <p:sp>
        <p:nvSpPr>
          <p:cNvPr id="42" name="Rectangle 41">
            <a:extLst>
              <a:ext uri="{FF2B5EF4-FFF2-40B4-BE49-F238E27FC236}">
                <a16:creationId xmlns:a16="http://schemas.microsoft.com/office/drawing/2014/main" id="{CED96D22-0F74-AF48-B854-0CE3DF5BC976}"/>
              </a:ext>
            </a:extLst>
          </p:cNvPr>
          <p:cNvSpPr/>
          <p:nvPr/>
        </p:nvSpPr>
        <p:spPr>
          <a:xfrm>
            <a:off x="9548037" y="2944368"/>
            <a:ext cx="3253563" cy="4828032"/>
          </a:xfrm>
          <a:prstGeom prst="rect">
            <a:avLst/>
          </a:prstGeom>
          <a:solidFill>
            <a:srgbClr val="0039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13CF5FB-EA21-2E43-8223-310323F91EEC}"/>
              </a:ext>
            </a:extLst>
          </p:cNvPr>
          <p:cNvSpPr/>
          <p:nvPr/>
        </p:nvSpPr>
        <p:spPr>
          <a:xfrm>
            <a:off x="228600" y="534035"/>
            <a:ext cx="6764994" cy="338554"/>
          </a:xfrm>
          <a:prstGeom prst="rect">
            <a:avLst/>
          </a:prstGeom>
        </p:spPr>
        <p:txBody>
          <a:bodyPr wrap="square" anchor="t">
            <a:spAutoFit/>
          </a:bodyPr>
          <a:lstStyle/>
          <a:p>
            <a:r>
              <a:rPr lang="en-US" sz="1600" b="1" dirty="0">
                <a:solidFill>
                  <a:srgbClr val="00A2E2"/>
                </a:solidFill>
              </a:rPr>
              <a:t>Identifying Issues and Opportunities</a:t>
            </a:r>
          </a:p>
        </p:txBody>
      </p:sp>
      <p:sp>
        <p:nvSpPr>
          <p:cNvPr id="44" name="Rectangle 43">
            <a:extLst>
              <a:ext uri="{FF2B5EF4-FFF2-40B4-BE49-F238E27FC236}">
                <a16:creationId xmlns:a16="http://schemas.microsoft.com/office/drawing/2014/main" id="{BEF1FE83-BF87-1E40-BFFF-5C9604484C0C}"/>
              </a:ext>
            </a:extLst>
          </p:cNvPr>
          <p:cNvSpPr/>
          <p:nvPr/>
        </p:nvSpPr>
        <p:spPr>
          <a:xfrm>
            <a:off x="9548037" y="3094081"/>
            <a:ext cx="3253563" cy="584775"/>
          </a:xfrm>
          <a:prstGeom prst="rect">
            <a:avLst/>
          </a:prstGeom>
        </p:spPr>
        <p:txBody>
          <a:bodyPr wrap="square" anchor="t">
            <a:spAutoFit/>
          </a:bodyPr>
          <a:lstStyle/>
          <a:p>
            <a:pPr algn="ctr"/>
            <a:r>
              <a:rPr lang="en-US" sz="1600" b="1" dirty="0">
                <a:solidFill>
                  <a:schemeClr val="bg1"/>
                </a:solidFill>
              </a:rPr>
              <a:t>Competitive / Startup </a:t>
            </a:r>
            <a:br>
              <a:rPr lang="en-US" sz="1600" b="1" dirty="0">
                <a:solidFill>
                  <a:schemeClr val="bg1"/>
                </a:solidFill>
              </a:rPr>
            </a:br>
            <a:r>
              <a:rPr lang="en-US" sz="1600" b="1" dirty="0">
                <a:solidFill>
                  <a:schemeClr val="bg1"/>
                </a:solidFill>
              </a:rPr>
              <a:t>Landscape</a:t>
            </a:r>
          </a:p>
        </p:txBody>
      </p:sp>
      <p:sp>
        <p:nvSpPr>
          <p:cNvPr id="45" name="Rectangle 44">
            <a:extLst>
              <a:ext uri="{FF2B5EF4-FFF2-40B4-BE49-F238E27FC236}">
                <a16:creationId xmlns:a16="http://schemas.microsoft.com/office/drawing/2014/main" id="{F918DC94-DC3E-7A45-B2F3-A01A329AB7C3}"/>
              </a:ext>
            </a:extLst>
          </p:cNvPr>
          <p:cNvSpPr/>
          <p:nvPr/>
        </p:nvSpPr>
        <p:spPr>
          <a:xfrm>
            <a:off x="9787013" y="3828569"/>
            <a:ext cx="2835538" cy="1897955"/>
          </a:xfrm>
          <a:prstGeom prst="rect">
            <a:avLst/>
          </a:prstGeom>
          <a:ln>
            <a:noFill/>
          </a:ln>
        </p:spPr>
        <p:txBody>
          <a:bodyPr wrap="square">
            <a:spAutoFit/>
          </a:bodyPr>
          <a:lstStyle/>
          <a:p>
            <a:pPr defTabSz="914378">
              <a:lnSpc>
                <a:spcPct val="95000"/>
              </a:lnSpc>
              <a:spcBef>
                <a:spcPts val="200"/>
              </a:spcBef>
              <a:spcAft>
                <a:spcPts val="200"/>
              </a:spcAft>
            </a:pPr>
            <a:r>
              <a:rPr lang="en-US" sz="1200" b="1" kern="0" dirty="0">
                <a:solidFill>
                  <a:srgbClr val="B1E2FF"/>
                </a:solidFill>
                <a:latin typeface="Arial Narrow" pitchFamily="34" charset="0"/>
              </a:rPr>
              <a:t>United Health Care</a:t>
            </a:r>
            <a:r>
              <a:rPr lang="en-US" sz="1200" b="1" kern="0" dirty="0">
                <a:solidFill>
                  <a:srgbClr val="0070C0"/>
                </a:solidFill>
                <a:latin typeface="Arial Narrow" pitchFamily="34" charset="0"/>
              </a:rPr>
              <a:t> </a:t>
            </a:r>
            <a:endParaRPr lang="en-US" sz="1200" kern="0" dirty="0">
              <a:solidFill>
                <a:schemeClr val="bg1"/>
              </a:solidFill>
              <a:latin typeface="Arial Narrow" pitchFamily="34" charset="0"/>
            </a:endParaRPr>
          </a:p>
          <a:p>
            <a:pPr defTabSz="914378">
              <a:lnSpc>
                <a:spcPct val="95000"/>
              </a:lnSpc>
              <a:spcBef>
                <a:spcPts val="200"/>
              </a:spcBef>
              <a:spcAft>
                <a:spcPts val="200"/>
              </a:spcAft>
            </a:pPr>
            <a:r>
              <a:rPr lang="en-US" sz="1200" kern="0" dirty="0">
                <a:solidFill>
                  <a:schemeClr val="bg1"/>
                </a:solidFill>
                <a:latin typeface="Arial Narrow" pitchFamily="34" charset="0"/>
              </a:rPr>
              <a:t>In March 2019, UHC lost two consolidated court cases for structural conflict of interest in applying its own restrictive BH coverage rules because it felt pressure to keep benefit expenses down so it could offer competitive rates to employers. Different insurers use widely different criteria for covering behavioral care, even though medical experts have sought to standardize those guidelines.</a:t>
            </a:r>
          </a:p>
        </p:txBody>
      </p:sp>
      <p:sp>
        <p:nvSpPr>
          <p:cNvPr id="6" name="Rectangle 5">
            <a:extLst>
              <a:ext uri="{FF2B5EF4-FFF2-40B4-BE49-F238E27FC236}">
                <a16:creationId xmlns:a16="http://schemas.microsoft.com/office/drawing/2014/main" id="{92DE37C2-15C3-8249-B408-CC76D4CE75C9}"/>
              </a:ext>
            </a:extLst>
          </p:cNvPr>
          <p:cNvSpPr/>
          <p:nvPr/>
        </p:nvSpPr>
        <p:spPr>
          <a:xfrm>
            <a:off x="6429464" y="2609123"/>
            <a:ext cx="2835538" cy="4801314"/>
          </a:xfrm>
          <a:prstGeom prst="rect">
            <a:avLst/>
          </a:prstGeom>
        </p:spPr>
        <p:txBody>
          <a:bodyPr wrap="square">
            <a:spAutoFit/>
          </a:bodyPr>
          <a:lstStyle/>
          <a:p>
            <a:pPr>
              <a:spcAft>
                <a:spcPts val="600"/>
              </a:spcAft>
            </a:pPr>
            <a:r>
              <a:rPr lang="en-US" sz="1200" b="1" dirty="0"/>
              <a:t>How might we…</a:t>
            </a:r>
          </a:p>
          <a:p>
            <a:pPr marL="160020" indent="-160020">
              <a:spcAft>
                <a:spcPts val="600"/>
              </a:spcAft>
              <a:buFont typeface="Arial" panose="020B0604020202020204" pitchFamily="34" charset="0"/>
              <a:buChar char="•"/>
            </a:pPr>
            <a:r>
              <a:rPr lang="en-US" sz="1200" dirty="0"/>
              <a:t>Help everyone inside and outside of the BH space understand the value of BH treatment (both alone and coupled with PH)?</a:t>
            </a:r>
          </a:p>
          <a:p>
            <a:pPr marL="160020" indent="-160020">
              <a:spcAft>
                <a:spcPts val="600"/>
              </a:spcAft>
              <a:buFont typeface="Arial" panose="020B0604020202020204" pitchFamily="34" charset="0"/>
              <a:buChar char="•"/>
            </a:pPr>
            <a:r>
              <a:rPr lang="en-US" sz="1200" dirty="0"/>
              <a:t>Change clinical awareness and training so that physicians of all types see BH as central to health and feel empowered to engage with their patients about BH?</a:t>
            </a:r>
          </a:p>
          <a:p>
            <a:pPr marL="160020" indent="-160020">
              <a:spcAft>
                <a:spcPts val="600"/>
              </a:spcAft>
              <a:buFont typeface="Arial" panose="020B0604020202020204" pitchFamily="34" charset="0"/>
              <a:buChar char="•"/>
            </a:pPr>
            <a:r>
              <a:rPr lang="en-US" sz="1200" dirty="0"/>
              <a:t>Integrate all care and data to promote holistic treatment?</a:t>
            </a:r>
          </a:p>
          <a:p>
            <a:pPr marL="160020" indent="-160020">
              <a:spcAft>
                <a:spcPts val="600"/>
              </a:spcAft>
              <a:buFont typeface="Arial" panose="020B0604020202020204" pitchFamily="34" charset="0"/>
              <a:buChar char="•"/>
            </a:pPr>
            <a:r>
              <a:rPr lang="en-US" sz="1200" dirty="0"/>
              <a:t>Break down systemic barriers and biases against expansion of BH care?</a:t>
            </a:r>
          </a:p>
          <a:p>
            <a:pPr marL="160020" indent="-160020">
              <a:spcAft>
                <a:spcPts val="600"/>
              </a:spcAft>
              <a:buFont typeface="Arial" panose="020B0604020202020204" pitchFamily="34" charset="0"/>
              <a:buChar char="•"/>
            </a:pPr>
            <a:r>
              <a:rPr lang="en-US" sz="1200" dirty="0"/>
              <a:t>Ride the wave of acceptance and success for Integrated Cost Codes and expand their use for non-integrated BH clinical services? (Virtual integration)</a:t>
            </a:r>
          </a:p>
          <a:p>
            <a:pPr marL="160020" indent="-160020">
              <a:spcAft>
                <a:spcPts val="600"/>
              </a:spcAft>
              <a:buFont typeface="Arial" panose="020B0604020202020204" pitchFamily="34" charset="0"/>
              <a:buChar char="•"/>
            </a:pPr>
            <a:r>
              <a:rPr lang="en-US" sz="1200" dirty="0"/>
              <a:t>Credential and license a robust, accessible network to meet real demand?</a:t>
            </a:r>
          </a:p>
        </p:txBody>
      </p:sp>
      <p:sp>
        <p:nvSpPr>
          <p:cNvPr id="46" name="Rectangle 45">
            <a:extLst>
              <a:ext uri="{FF2B5EF4-FFF2-40B4-BE49-F238E27FC236}">
                <a16:creationId xmlns:a16="http://schemas.microsoft.com/office/drawing/2014/main" id="{68154331-EF27-2C4A-8A51-C6802B33C165}"/>
              </a:ext>
            </a:extLst>
          </p:cNvPr>
          <p:cNvSpPr/>
          <p:nvPr/>
        </p:nvSpPr>
        <p:spPr>
          <a:xfrm>
            <a:off x="298401" y="2609123"/>
            <a:ext cx="5892087" cy="4170372"/>
          </a:xfrm>
          <a:prstGeom prst="rect">
            <a:avLst/>
          </a:prstGeom>
        </p:spPr>
        <p:txBody>
          <a:bodyPr wrap="square">
            <a:spAutoFit/>
          </a:bodyPr>
          <a:lstStyle/>
          <a:p>
            <a:pPr>
              <a:spcAft>
                <a:spcPts val="600"/>
              </a:spcAft>
            </a:pPr>
            <a:r>
              <a:rPr lang="en-US" sz="1200" b="1" dirty="0"/>
              <a:t>Why is this so critical?</a:t>
            </a:r>
          </a:p>
          <a:p>
            <a:pPr marL="160020" indent="-160020">
              <a:spcAft>
                <a:spcPts val="600"/>
              </a:spcAft>
              <a:buFont typeface="Arial" panose="020B0604020202020204" pitchFamily="34" charset="0"/>
              <a:buChar char="•"/>
            </a:pPr>
            <a:r>
              <a:rPr lang="en-US" sz="1200" b="1" dirty="0"/>
              <a:t>In our Living Health business model</a:t>
            </a:r>
            <a:r>
              <a:rPr lang="en-US" sz="1200" dirty="0"/>
              <a:t>, the curated design of individualized and long-term plans for health is the aim. Without a significant refocus on BH, we will miss an essential component in that whole-health approach. This is also a substantial differentiator. Now is the time to define what “individualized” means, start messaging and plan for the integration of data, care models, clinical operations and other elements necessary to integrate and bring focus to “the other half of health.”</a:t>
            </a:r>
          </a:p>
          <a:p>
            <a:pPr marL="160020" indent="-160020">
              <a:spcAft>
                <a:spcPts val="600"/>
              </a:spcAft>
              <a:buFont typeface="Arial" panose="020B0604020202020204" pitchFamily="34" charset="0"/>
              <a:buChar char="•"/>
            </a:pPr>
            <a:r>
              <a:rPr lang="en-US" sz="1200" dirty="0"/>
              <a:t>We can look at this emerging recognition of need, which is accelerated by COVID-19, as a challenge that </a:t>
            </a:r>
            <a:r>
              <a:rPr lang="en-US" sz="1200" b="1" dirty="0"/>
              <a:t>we are uniquely positioned to be a breakout leader </a:t>
            </a:r>
            <a:r>
              <a:rPr lang="en-US" sz="1200" dirty="0"/>
              <a:t>as a blended health organization with already embedded BH clinical value. </a:t>
            </a:r>
          </a:p>
          <a:p>
            <a:pPr marL="160020" indent="-160020">
              <a:spcAft>
                <a:spcPts val="600"/>
              </a:spcAft>
              <a:buFont typeface="Arial" panose="020B0604020202020204" pitchFamily="34" charset="0"/>
              <a:buChar char="•"/>
            </a:pPr>
            <a:r>
              <a:rPr lang="en-US" sz="1200" b="1" dirty="0"/>
              <a:t>Recent court cases </a:t>
            </a:r>
            <a:r>
              <a:rPr lang="en-US" sz="1200" dirty="0"/>
              <a:t>impacting United Health Care have brought focus to systemic limitations on BH care that will bring more leverage for providing appropriate intervention and parity in care.</a:t>
            </a:r>
          </a:p>
          <a:p>
            <a:pPr marL="160020" indent="-160020">
              <a:spcAft>
                <a:spcPts val="600"/>
              </a:spcAft>
              <a:buFont typeface="Arial" panose="020B0604020202020204" pitchFamily="34" charset="0"/>
              <a:buChar char="•"/>
            </a:pPr>
            <a:r>
              <a:rPr lang="en-US" sz="1200" b="1" dirty="0"/>
              <a:t>Where could we be positioned in a national movement? </a:t>
            </a:r>
            <a:r>
              <a:rPr lang="en-US" sz="1200" dirty="0"/>
              <a:t>A national shift in focus would reduce the risk of being “stuck” with up-front costs for long term value. Can rising waters raise all ships? Metaphors for value realization problem include: Chronic conditions, Hepatitis-C antiviral treatment: “musical chairs” for cost incurred and value realized. </a:t>
            </a:r>
          </a:p>
          <a:p>
            <a:pPr marL="160020" indent="-160020">
              <a:buFont typeface="Arial" panose="020B0604020202020204" pitchFamily="34" charset="0"/>
              <a:buChar char="•"/>
            </a:pPr>
            <a:endParaRPr lang="en-US" sz="1200" dirty="0"/>
          </a:p>
        </p:txBody>
      </p:sp>
      <p:sp>
        <p:nvSpPr>
          <p:cNvPr id="48" name="Rectangle 47">
            <a:extLst>
              <a:ext uri="{FF2B5EF4-FFF2-40B4-BE49-F238E27FC236}">
                <a16:creationId xmlns:a16="http://schemas.microsoft.com/office/drawing/2014/main" id="{04C4BE2A-0C27-E741-B533-F92BF818E9D6}"/>
              </a:ext>
            </a:extLst>
          </p:cNvPr>
          <p:cNvSpPr/>
          <p:nvPr/>
        </p:nvSpPr>
        <p:spPr>
          <a:xfrm>
            <a:off x="13664146" y="548814"/>
            <a:ext cx="4336386" cy="4401205"/>
          </a:xfrm>
          <a:prstGeom prst="rect">
            <a:avLst/>
          </a:prstGeom>
        </p:spPr>
        <p:txBody>
          <a:bodyPr wrap="square">
            <a:spAutoFit/>
          </a:bodyPr>
          <a:lstStyle/>
          <a:p>
            <a:r>
              <a:rPr lang="en-US" sz="1400" dirty="0"/>
              <a:t>How might we:</a:t>
            </a:r>
          </a:p>
          <a:p>
            <a:pPr marL="160020" indent="-160020">
              <a:buFont typeface="Arial" panose="020B0604020202020204" pitchFamily="34" charset="0"/>
              <a:buChar char="•"/>
            </a:pPr>
            <a:r>
              <a:rPr lang="en-US" sz="1400" dirty="0"/>
              <a:t>Help everyone inside and outside of the BH space understand the value of BH treatment (both alone and coupled with PH)?</a:t>
            </a:r>
          </a:p>
          <a:p>
            <a:pPr marL="160020" indent="-160020">
              <a:buFont typeface="Arial" panose="020B0604020202020204" pitchFamily="34" charset="0"/>
              <a:buChar char="•"/>
            </a:pPr>
            <a:r>
              <a:rPr lang="en-US" sz="1400" dirty="0"/>
              <a:t>Change clinical education so that physicians of all types see BH as central to health and feel empowered to engage with their patients about BH?</a:t>
            </a:r>
          </a:p>
          <a:p>
            <a:pPr marL="160020" indent="-160020">
              <a:buFont typeface="Arial" panose="020B0604020202020204" pitchFamily="34" charset="0"/>
              <a:buChar char="•"/>
            </a:pPr>
            <a:r>
              <a:rPr lang="en-US" sz="1400" dirty="0"/>
              <a:t>Support clinical environments that are welcoming for all?</a:t>
            </a:r>
          </a:p>
          <a:p>
            <a:pPr marL="160020" indent="-160020">
              <a:buFont typeface="Arial" panose="020B0604020202020204" pitchFamily="34" charset="0"/>
              <a:buChar char="•"/>
            </a:pPr>
            <a:r>
              <a:rPr lang="en-US" sz="1400" dirty="0"/>
              <a:t>Break down systemic barriers and biases against expansion of BH care?</a:t>
            </a:r>
          </a:p>
          <a:p>
            <a:pPr marL="160020" indent="-160020">
              <a:buFont typeface="Arial" panose="020B0604020202020204" pitchFamily="34" charset="0"/>
              <a:buChar char="•"/>
            </a:pPr>
            <a:r>
              <a:rPr lang="en-US" sz="1400" dirty="0">
                <a:solidFill>
                  <a:srgbClr val="FF0000"/>
                </a:solidFill>
              </a:rPr>
              <a:t>Credential and license a robust, accessible network?</a:t>
            </a:r>
          </a:p>
          <a:p>
            <a:pPr marL="160020" indent="-160020">
              <a:buFont typeface="Arial" panose="020B0604020202020204" pitchFamily="34" charset="0"/>
              <a:buChar char="•"/>
            </a:pPr>
            <a:r>
              <a:rPr lang="en-US" sz="1400" dirty="0"/>
              <a:t>Ride the wave of acceptance and success for Integrated Cost Codes and expand their use for non-integrated BH clinical services? (Virtual integration)</a:t>
            </a:r>
          </a:p>
          <a:p>
            <a:pPr marL="160020" indent="-160020">
              <a:buFont typeface="Arial" panose="020B0604020202020204" pitchFamily="34" charset="0"/>
              <a:buChar char="•"/>
            </a:pPr>
            <a:r>
              <a:rPr lang="en-US" sz="1400" dirty="0"/>
              <a:t>Integrate all care and integrate all data to promote holistic treatment?</a:t>
            </a:r>
          </a:p>
        </p:txBody>
      </p:sp>
    </p:spTree>
    <p:extLst>
      <p:ext uri="{BB962C8B-B14F-4D97-AF65-F5344CB8AC3E}">
        <p14:creationId xmlns:p14="http://schemas.microsoft.com/office/powerpoint/2010/main" val="9382984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1AEC8755-968C-E94A-B115-1636F814A717}"/>
              </a:ext>
            </a:extLst>
          </p:cNvPr>
          <p:cNvSpPr/>
          <p:nvPr/>
        </p:nvSpPr>
        <p:spPr>
          <a:xfrm>
            <a:off x="168964" y="-2218162"/>
            <a:ext cx="7549587" cy="1015663"/>
          </a:xfrm>
          <a:prstGeom prst="rect">
            <a:avLst/>
          </a:prstGeom>
        </p:spPr>
        <p:txBody>
          <a:bodyPr wrap="square" anchor="t">
            <a:spAutoFit/>
          </a:bodyPr>
          <a:lstStyle/>
          <a:p>
            <a:r>
              <a:rPr lang="en-US" sz="2400" b="1" dirty="0">
                <a:solidFill>
                  <a:srgbClr val="003963"/>
                </a:solidFill>
              </a:rPr>
              <a:t>The urgency is now: </a:t>
            </a:r>
          </a:p>
          <a:p>
            <a:r>
              <a:rPr lang="en-US" sz="1800" dirty="0">
                <a:solidFill>
                  <a:srgbClr val="00A2E2"/>
                </a:solidFill>
              </a:rPr>
              <a:t>How do we ensure we are addressing the critical issues and opportunities that are emerging in the Behavioral Health Epidemic </a:t>
            </a:r>
          </a:p>
        </p:txBody>
      </p:sp>
      <p:sp>
        <p:nvSpPr>
          <p:cNvPr id="3" name="Rectangle 2">
            <a:extLst>
              <a:ext uri="{FF2B5EF4-FFF2-40B4-BE49-F238E27FC236}">
                <a16:creationId xmlns:a16="http://schemas.microsoft.com/office/drawing/2014/main" id="{322914B9-0928-8C47-989E-3946B358255E}"/>
              </a:ext>
            </a:extLst>
          </p:cNvPr>
          <p:cNvSpPr/>
          <p:nvPr/>
        </p:nvSpPr>
        <p:spPr>
          <a:xfrm>
            <a:off x="13520204" y="1387600"/>
            <a:ext cx="4980130" cy="5509200"/>
          </a:xfrm>
          <a:prstGeom prst="rect">
            <a:avLst/>
          </a:prstGeom>
        </p:spPr>
        <p:txBody>
          <a:bodyPr wrap="square">
            <a:spAutoFit/>
          </a:bodyPr>
          <a:lstStyle/>
          <a:p>
            <a:r>
              <a:rPr lang="en-US" sz="1600" dirty="0"/>
              <a:t>How might we:</a:t>
            </a:r>
          </a:p>
          <a:p>
            <a:pPr marL="342900" indent="-342900">
              <a:buFont typeface="Arial" panose="020B0604020202020204" pitchFamily="34" charset="0"/>
              <a:buChar char="•"/>
            </a:pPr>
            <a:r>
              <a:rPr lang="en-US" sz="1600" dirty="0"/>
              <a:t>Utilize biological feedback and digital therapeutics to supplement clinical protocol?</a:t>
            </a:r>
          </a:p>
          <a:p>
            <a:pPr marL="342900" indent="-342900">
              <a:buFont typeface="Arial" panose="020B0604020202020204" pitchFamily="34" charset="0"/>
              <a:buChar char="•"/>
            </a:pPr>
            <a:r>
              <a:rPr lang="en-US" sz="1600" dirty="0"/>
              <a:t>Improve BH parity through the development of evidence-based BH care models with objectively measured outcomes so that the right people get care for the shortest but appropriate period of time?</a:t>
            </a:r>
          </a:p>
          <a:p>
            <a:pPr marL="342900" indent="-342900">
              <a:buFont typeface="Arial" panose="020B0604020202020204" pitchFamily="34" charset="0"/>
              <a:buChar char="•"/>
            </a:pPr>
            <a:r>
              <a:rPr lang="en-US" sz="1600" dirty="0"/>
              <a:t>Collect and analyze a diverse set of data to measure effectiveness, generate ongoing insights, and develop best practices?</a:t>
            </a:r>
          </a:p>
          <a:p>
            <a:pPr marL="342900" indent="-342900">
              <a:buFont typeface="Arial" panose="020B0604020202020204" pitchFamily="34" charset="0"/>
              <a:buChar char="•"/>
            </a:pPr>
            <a:r>
              <a:rPr lang="en-US" sz="1600" dirty="0"/>
              <a:t>Collect and analyze a diverse new set of clinical and financial data to measure effectiveness, generate ongoing insights, and articulate the value of BH to encourage investment in impact generating practices?</a:t>
            </a:r>
          </a:p>
          <a:p>
            <a:pPr marL="342900" indent="-342900">
              <a:buFont typeface="Arial" panose="020B0604020202020204" pitchFamily="34" charset="0"/>
              <a:buChar char="•"/>
            </a:pPr>
            <a:r>
              <a:rPr lang="en-US" sz="1600" dirty="0"/>
              <a:t>Explore opportunities in behavioral biomarkers and recent developments in that field of study to enhance our data and insights?</a:t>
            </a:r>
          </a:p>
          <a:p>
            <a:pPr marL="342900" indent="-342900">
              <a:buFont typeface="Arial" panose="020B0604020202020204" pitchFamily="34" charset="0"/>
              <a:buChar char="•"/>
            </a:pPr>
            <a:r>
              <a:rPr lang="en-US" sz="1600" dirty="0"/>
              <a:t>Utilize biological feedback and digital therapeutics in a way to support consumers' BH maintenance?</a:t>
            </a:r>
            <a:endParaRPr lang="en-US" sz="1600" dirty="0">
              <a:effectLst/>
            </a:endParaRPr>
          </a:p>
        </p:txBody>
      </p:sp>
      <p:sp>
        <p:nvSpPr>
          <p:cNvPr id="4" name="Rectangle 3">
            <a:extLst>
              <a:ext uri="{FF2B5EF4-FFF2-40B4-BE49-F238E27FC236}">
                <a16:creationId xmlns:a16="http://schemas.microsoft.com/office/drawing/2014/main" id="{50818B1C-7512-BF4C-A24D-63537D0ED002}"/>
              </a:ext>
            </a:extLst>
          </p:cNvPr>
          <p:cNvSpPr/>
          <p:nvPr/>
        </p:nvSpPr>
        <p:spPr>
          <a:xfrm>
            <a:off x="298402" y="1136326"/>
            <a:ext cx="8499506" cy="461665"/>
          </a:xfrm>
          <a:prstGeom prst="rect">
            <a:avLst/>
          </a:prstGeom>
        </p:spPr>
        <p:txBody>
          <a:bodyPr wrap="square">
            <a:spAutoFit/>
          </a:bodyPr>
          <a:lstStyle/>
          <a:p>
            <a:r>
              <a:rPr lang="en-US" sz="2400" b="1" dirty="0">
                <a:solidFill>
                  <a:srgbClr val="002060"/>
                </a:solidFill>
              </a:rPr>
              <a:t>Use Data for Insights and Action</a:t>
            </a:r>
          </a:p>
        </p:txBody>
      </p:sp>
      <p:sp>
        <p:nvSpPr>
          <p:cNvPr id="12" name="Rectangle 11">
            <a:extLst>
              <a:ext uri="{FF2B5EF4-FFF2-40B4-BE49-F238E27FC236}">
                <a16:creationId xmlns:a16="http://schemas.microsoft.com/office/drawing/2014/main" id="{FF75D8D4-2E5B-8141-92F5-2E65763F210A}"/>
              </a:ext>
            </a:extLst>
          </p:cNvPr>
          <p:cNvSpPr/>
          <p:nvPr/>
        </p:nvSpPr>
        <p:spPr>
          <a:xfrm>
            <a:off x="9548037" y="0"/>
            <a:ext cx="3253563" cy="288950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3942695-DEE0-D342-9001-6E26D151834E}"/>
              </a:ext>
            </a:extLst>
          </p:cNvPr>
          <p:cNvSpPr/>
          <p:nvPr/>
        </p:nvSpPr>
        <p:spPr>
          <a:xfrm>
            <a:off x="9548037" y="369169"/>
            <a:ext cx="3253563" cy="338554"/>
          </a:xfrm>
          <a:prstGeom prst="rect">
            <a:avLst/>
          </a:prstGeom>
        </p:spPr>
        <p:txBody>
          <a:bodyPr wrap="square" anchor="t">
            <a:spAutoFit/>
          </a:bodyPr>
          <a:lstStyle/>
          <a:p>
            <a:pPr algn="ctr"/>
            <a:r>
              <a:rPr lang="en-US" sz="1600" b="1" dirty="0">
                <a:solidFill>
                  <a:schemeClr val="bg1"/>
                </a:solidFill>
              </a:rPr>
              <a:t>Critical Problems</a:t>
            </a:r>
          </a:p>
        </p:txBody>
      </p:sp>
      <p:grpSp>
        <p:nvGrpSpPr>
          <p:cNvPr id="5" name="Group 4">
            <a:extLst>
              <a:ext uri="{FF2B5EF4-FFF2-40B4-BE49-F238E27FC236}">
                <a16:creationId xmlns:a16="http://schemas.microsoft.com/office/drawing/2014/main" id="{4010EF52-C5D7-364A-9BFE-02E8D06E4633}"/>
              </a:ext>
            </a:extLst>
          </p:cNvPr>
          <p:cNvGrpSpPr/>
          <p:nvPr/>
        </p:nvGrpSpPr>
        <p:grpSpPr>
          <a:xfrm>
            <a:off x="10054011" y="824143"/>
            <a:ext cx="2241613" cy="1631010"/>
            <a:chOff x="1954883" y="224589"/>
            <a:chExt cx="9056437" cy="6589517"/>
          </a:xfrm>
        </p:grpSpPr>
        <p:sp>
          <p:nvSpPr>
            <p:cNvPr id="14" name="TextBox 13">
              <a:extLst>
                <a:ext uri="{FF2B5EF4-FFF2-40B4-BE49-F238E27FC236}">
                  <a16:creationId xmlns:a16="http://schemas.microsoft.com/office/drawing/2014/main" id="{B31051DD-EB23-794F-8BAD-F9F7F16AC8B0}"/>
                </a:ext>
              </a:extLst>
            </p:cNvPr>
            <p:cNvSpPr txBox="1"/>
            <p:nvPr/>
          </p:nvSpPr>
          <p:spPr>
            <a:xfrm>
              <a:off x="8244614" y="1587504"/>
              <a:ext cx="2766706"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Clinician </a:t>
              </a:r>
              <a:br>
                <a:rPr lang="en-US" sz="800" spc="-16" dirty="0">
                  <a:solidFill>
                    <a:schemeClr val="bg1"/>
                  </a:solidFill>
                  <a:latin typeface="+mj-lt"/>
                  <a:ea typeface="Source Sans Pro" panose="020B0503030403020204" pitchFamily="34" charset="0"/>
                </a:rPr>
              </a:br>
              <a:r>
                <a:rPr lang="en-US" sz="800" spc="-16" dirty="0">
                  <a:solidFill>
                    <a:schemeClr val="bg1"/>
                  </a:solidFill>
                  <a:latin typeface="+mj-lt"/>
                  <a:ea typeface="Source Sans Pro" panose="020B0503030403020204" pitchFamily="34" charset="0"/>
                </a:rPr>
                <a:t>Challenges </a:t>
              </a:r>
            </a:p>
          </p:txBody>
        </p:sp>
        <p:grpSp>
          <p:nvGrpSpPr>
            <p:cNvPr id="15" name="Group 14">
              <a:extLst>
                <a:ext uri="{FF2B5EF4-FFF2-40B4-BE49-F238E27FC236}">
                  <a16:creationId xmlns:a16="http://schemas.microsoft.com/office/drawing/2014/main" id="{6EE47F6B-8362-8A4F-9C3C-2F4D7C87260E}"/>
                </a:ext>
              </a:extLst>
            </p:cNvPr>
            <p:cNvGrpSpPr/>
            <p:nvPr/>
          </p:nvGrpSpPr>
          <p:grpSpPr>
            <a:xfrm>
              <a:off x="4052176" y="1669056"/>
              <a:ext cx="4821704" cy="4177981"/>
              <a:chOff x="3467290" y="2011174"/>
              <a:chExt cx="5867022" cy="5083743"/>
            </a:xfrm>
          </p:grpSpPr>
          <p:sp>
            <p:nvSpPr>
              <p:cNvPr id="16" name="Freeform 176">
                <a:extLst>
                  <a:ext uri="{FF2B5EF4-FFF2-40B4-BE49-F238E27FC236}">
                    <a16:creationId xmlns:a16="http://schemas.microsoft.com/office/drawing/2014/main" id="{172F5DE8-A200-9A4A-AC04-67E7077393A6}"/>
                  </a:ext>
                </a:extLst>
              </p:cNvPr>
              <p:cNvSpPr>
                <a:spLocks/>
              </p:cNvSpPr>
              <p:nvPr/>
            </p:nvSpPr>
            <p:spPr bwMode="auto">
              <a:xfrm>
                <a:off x="4932533" y="4553045"/>
                <a:ext cx="2933511" cy="2541872"/>
              </a:xfrm>
              <a:custGeom>
                <a:avLst/>
                <a:gdLst>
                  <a:gd name="T0" fmla="*/ 1540102 w 4486"/>
                  <a:gd name="T1" fmla="*/ 0 h 3885"/>
                  <a:gd name="T2" fmla="*/ 0 w 4486"/>
                  <a:gd name="T3" fmla="*/ 2667613 h 3885"/>
                  <a:gd name="T4" fmla="*/ 3079517 w 4486"/>
                  <a:gd name="T5" fmla="*/ 2667613 h 3885"/>
                  <a:gd name="T6" fmla="*/ 1540102 w 4486"/>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5">
                    <a:moveTo>
                      <a:pt x="2243" y="0"/>
                    </a:moveTo>
                    <a:lnTo>
                      <a:pt x="0" y="3884"/>
                    </a:lnTo>
                    <a:lnTo>
                      <a:pt x="4485" y="3884"/>
                    </a:lnTo>
                    <a:lnTo>
                      <a:pt x="2243" y="0"/>
                    </a:lnTo>
                  </a:path>
                </a:pathLst>
              </a:custGeom>
              <a:solidFill>
                <a:schemeClr val="accent1"/>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18" name="Freeform 177">
                <a:extLst>
                  <a:ext uri="{FF2B5EF4-FFF2-40B4-BE49-F238E27FC236}">
                    <a16:creationId xmlns:a16="http://schemas.microsoft.com/office/drawing/2014/main" id="{973F8BCD-381C-554A-88BC-12252EE97DCC}"/>
                  </a:ext>
                </a:extLst>
              </p:cNvPr>
              <p:cNvSpPr>
                <a:spLocks/>
              </p:cNvSpPr>
              <p:nvPr/>
            </p:nvSpPr>
            <p:spPr bwMode="auto">
              <a:xfrm>
                <a:off x="6400801" y="2011174"/>
                <a:ext cx="2933511" cy="2541871"/>
              </a:xfrm>
              <a:custGeom>
                <a:avLst/>
                <a:gdLst>
                  <a:gd name="T0" fmla="*/ 1539760 w 4485"/>
                  <a:gd name="T1" fmla="*/ 0 h 3884"/>
                  <a:gd name="T2" fmla="*/ 0 w 4485"/>
                  <a:gd name="T3" fmla="*/ 2667611 h 3884"/>
                  <a:gd name="T4" fmla="*/ 3079519 w 4485"/>
                  <a:gd name="T5" fmla="*/ 2667611 h 3884"/>
                  <a:gd name="T6" fmla="*/ 1539760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2" y="0"/>
                    </a:moveTo>
                    <a:lnTo>
                      <a:pt x="0" y="3883"/>
                    </a:lnTo>
                    <a:lnTo>
                      <a:pt x="4484" y="3883"/>
                    </a:lnTo>
                    <a:lnTo>
                      <a:pt x="2242" y="0"/>
                    </a:lnTo>
                  </a:path>
                </a:pathLst>
              </a:custGeom>
              <a:solidFill>
                <a:schemeClr val="accent1"/>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19" name="Freeform 178">
                <a:extLst>
                  <a:ext uri="{FF2B5EF4-FFF2-40B4-BE49-F238E27FC236}">
                    <a16:creationId xmlns:a16="http://schemas.microsoft.com/office/drawing/2014/main" id="{AD19ABC7-281D-C44D-9E92-17522BA0EAD3}"/>
                  </a:ext>
                </a:extLst>
              </p:cNvPr>
              <p:cNvSpPr>
                <a:spLocks/>
              </p:cNvSpPr>
              <p:nvPr/>
            </p:nvSpPr>
            <p:spPr bwMode="auto">
              <a:xfrm>
                <a:off x="4932533" y="2020246"/>
                <a:ext cx="2933511" cy="2540360"/>
              </a:xfrm>
              <a:custGeom>
                <a:avLst/>
                <a:gdLst>
                  <a:gd name="T0" fmla="*/ 1540102 w 4486"/>
                  <a:gd name="T1" fmla="*/ 2667613 h 3883"/>
                  <a:gd name="T2" fmla="*/ 3079517 w 4486"/>
                  <a:gd name="T3" fmla="*/ 0 h 3883"/>
                  <a:gd name="T4" fmla="*/ 0 w 4486"/>
                  <a:gd name="T5" fmla="*/ 0 h 3883"/>
                  <a:gd name="T6" fmla="*/ 1540102 w 4486"/>
                  <a:gd name="T7" fmla="*/ 2667613 h 38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3">
                    <a:moveTo>
                      <a:pt x="2243" y="3882"/>
                    </a:moveTo>
                    <a:lnTo>
                      <a:pt x="4485" y="0"/>
                    </a:lnTo>
                    <a:lnTo>
                      <a:pt x="0" y="0"/>
                    </a:lnTo>
                    <a:lnTo>
                      <a:pt x="2243" y="3882"/>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0" name="Freeform 179">
                <a:extLst>
                  <a:ext uri="{FF2B5EF4-FFF2-40B4-BE49-F238E27FC236}">
                    <a16:creationId xmlns:a16="http://schemas.microsoft.com/office/drawing/2014/main" id="{AF6AA1F1-DB5D-6B48-A577-74C17CE1EC12}"/>
                  </a:ext>
                </a:extLst>
              </p:cNvPr>
              <p:cNvSpPr>
                <a:spLocks/>
              </p:cNvSpPr>
              <p:nvPr/>
            </p:nvSpPr>
            <p:spPr bwMode="auto">
              <a:xfrm>
                <a:off x="6400801" y="4553045"/>
                <a:ext cx="2933511" cy="2541872"/>
              </a:xfrm>
              <a:custGeom>
                <a:avLst/>
                <a:gdLst>
                  <a:gd name="T0" fmla="*/ 0 w 4485"/>
                  <a:gd name="T1" fmla="*/ 0 h 3885"/>
                  <a:gd name="T2" fmla="*/ 1539760 w 4485"/>
                  <a:gd name="T3" fmla="*/ 2667613 h 3885"/>
                  <a:gd name="T4" fmla="*/ 3079519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2"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2" name="Freeform 180">
                <a:extLst>
                  <a:ext uri="{FF2B5EF4-FFF2-40B4-BE49-F238E27FC236}">
                    <a16:creationId xmlns:a16="http://schemas.microsoft.com/office/drawing/2014/main" id="{94282D5D-44FA-5B42-A123-9A93B3B2AD5D}"/>
                  </a:ext>
                </a:extLst>
              </p:cNvPr>
              <p:cNvSpPr>
                <a:spLocks/>
              </p:cNvSpPr>
              <p:nvPr/>
            </p:nvSpPr>
            <p:spPr bwMode="auto">
              <a:xfrm>
                <a:off x="3467290" y="2011174"/>
                <a:ext cx="2933511" cy="2541871"/>
              </a:xfrm>
              <a:custGeom>
                <a:avLst/>
                <a:gdLst>
                  <a:gd name="T0" fmla="*/ 1539072 w 4485"/>
                  <a:gd name="T1" fmla="*/ 0 h 3884"/>
                  <a:gd name="T2" fmla="*/ 0 w 4485"/>
                  <a:gd name="T3" fmla="*/ 2667611 h 3884"/>
                  <a:gd name="T4" fmla="*/ 3079517 w 4485"/>
                  <a:gd name="T5" fmla="*/ 2667611 h 3884"/>
                  <a:gd name="T6" fmla="*/ 1539072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1" y="0"/>
                    </a:moveTo>
                    <a:lnTo>
                      <a:pt x="0" y="3883"/>
                    </a:lnTo>
                    <a:lnTo>
                      <a:pt x="4484" y="3883"/>
                    </a:lnTo>
                    <a:lnTo>
                      <a:pt x="2241" y="0"/>
                    </a:lnTo>
                  </a:path>
                </a:pathLst>
              </a:custGeom>
              <a:solidFill>
                <a:schemeClr val="accent1"/>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4" name="Freeform 181">
                <a:extLst>
                  <a:ext uri="{FF2B5EF4-FFF2-40B4-BE49-F238E27FC236}">
                    <a16:creationId xmlns:a16="http://schemas.microsoft.com/office/drawing/2014/main" id="{78693D03-3054-3D4E-9627-E0A7EA652F9E}"/>
                  </a:ext>
                </a:extLst>
              </p:cNvPr>
              <p:cNvSpPr>
                <a:spLocks/>
              </p:cNvSpPr>
              <p:nvPr/>
            </p:nvSpPr>
            <p:spPr bwMode="auto">
              <a:xfrm>
                <a:off x="3467290" y="4553045"/>
                <a:ext cx="2933511" cy="2541872"/>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5" name="TextBox 24">
                <a:extLst>
                  <a:ext uri="{FF2B5EF4-FFF2-40B4-BE49-F238E27FC236}">
                    <a16:creationId xmlns:a16="http://schemas.microsoft.com/office/drawing/2014/main" id="{A4E847B4-3DF6-0346-9E09-2E13EF18D004}"/>
                  </a:ext>
                </a:extLst>
              </p:cNvPr>
              <p:cNvSpPr txBox="1"/>
              <p:nvPr/>
            </p:nvSpPr>
            <p:spPr>
              <a:xfrm>
                <a:off x="4236225" y="2994644"/>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6</a:t>
                </a:r>
              </a:p>
            </p:txBody>
          </p:sp>
          <p:sp>
            <p:nvSpPr>
              <p:cNvPr id="26" name="TextBox 25">
                <a:extLst>
                  <a:ext uri="{FF2B5EF4-FFF2-40B4-BE49-F238E27FC236}">
                    <a16:creationId xmlns:a16="http://schemas.microsoft.com/office/drawing/2014/main" id="{56403C62-669F-FE41-9934-55C0554EAD79}"/>
                  </a:ext>
                </a:extLst>
              </p:cNvPr>
              <p:cNvSpPr txBox="1"/>
              <p:nvPr/>
            </p:nvSpPr>
            <p:spPr>
              <a:xfrm>
                <a:off x="5765762" y="2108319"/>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1</a:t>
                </a:r>
              </a:p>
            </p:txBody>
          </p:sp>
          <p:sp>
            <p:nvSpPr>
              <p:cNvPr id="28" name="TextBox 27">
                <a:extLst>
                  <a:ext uri="{FF2B5EF4-FFF2-40B4-BE49-F238E27FC236}">
                    <a16:creationId xmlns:a16="http://schemas.microsoft.com/office/drawing/2014/main" id="{DA2C1947-9098-DD4B-9FC7-5226288B9885}"/>
                  </a:ext>
                </a:extLst>
              </p:cNvPr>
              <p:cNvSpPr txBox="1"/>
              <p:nvPr/>
            </p:nvSpPr>
            <p:spPr>
              <a:xfrm>
                <a:off x="7228912" y="2999201"/>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2</a:t>
                </a:r>
              </a:p>
            </p:txBody>
          </p:sp>
          <p:sp>
            <p:nvSpPr>
              <p:cNvPr id="30" name="TextBox 29">
                <a:extLst>
                  <a:ext uri="{FF2B5EF4-FFF2-40B4-BE49-F238E27FC236}">
                    <a16:creationId xmlns:a16="http://schemas.microsoft.com/office/drawing/2014/main" id="{A3167FD0-F83D-DD4A-A72D-90405E017D57}"/>
                  </a:ext>
                </a:extLst>
              </p:cNvPr>
              <p:cNvSpPr txBox="1"/>
              <p:nvPr/>
            </p:nvSpPr>
            <p:spPr>
              <a:xfrm>
                <a:off x="7247451" y="475574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3</a:t>
                </a:r>
              </a:p>
            </p:txBody>
          </p:sp>
          <p:sp>
            <p:nvSpPr>
              <p:cNvPr id="31" name="TextBox 30">
                <a:extLst>
                  <a:ext uri="{FF2B5EF4-FFF2-40B4-BE49-F238E27FC236}">
                    <a16:creationId xmlns:a16="http://schemas.microsoft.com/office/drawing/2014/main" id="{CB32858F-D284-8944-839E-5211D8180EC0}"/>
                  </a:ext>
                </a:extLst>
              </p:cNvPr>
              <p:cNvSpPr txBox="1"/>
              <p:nvPr/>
            </p:nvSpPr>
            <p:spPr>
              <a:xfrm>
                <a:off x="5737804" y="5556748"/>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4</a:t>
                </a:r>
              </a:p>
            </p:txBody>
          </p:sp>
          <p:sp>
            <p:nvSpPr>
              <p:cNvPr id="32" name="TextBox 31">
                <a:extLst>
                  <a:ext uri="{FF2B5EF4-FFF2-40B4-BE49-F238E27FC236}">
                    <a16:creationId xmlns:a16="http://schemas.microsoft.com/office/drawing/2014/main" id="{BC7732BD-8AE6-2D4C-8A49-D027171EBC73}"/>
                  </a:ext>
                </a:extLst>
              </p:cNvPr>
              <p:cNvSpPr txBox="1"/>
              <p:nvPr/>
            </p:nvSpPr>
            <p:spPr>
              <a:xfrm>
                <a:off x="4199291" y="472471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5</a:t>
                </a:r>
              </a:p>
            </p:txBody>
          </p:sp>
        </p:grpSp>
        <p:sp>
          <p:nvSpPr>
            <p:cNvPr id="35" name="TextBox 34">
              <a:extLst>
                <a:ext uri="{FF2B5EF4-FFF2-40B4-BE49-F238E27FC236}">
                  <a16:creationId xmlns:a16="http://schemas.microsoft.com/office/drawing/2014/main" id="{A3FF2667-46B6-7849-BE43-553064687CB0}"/>
                </a:ext>
              </a:extLst>
            </p:cNvPr>
            <p:cNvSpPr txBox="1"/>
            <p:nvPr/>
          </p:nvSpPr>
          <p:spPr>
            <a:xfrm>
              <a:off x="5048505" y="224589"/>
              <a:ext cx="2778629"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Value Barriers </a:t>
              </a:r>
            </a:p>
          </p:txBody>
        </p:sp>
        <p:sp>
          <p:nvSpPr>
            <p:cNvPr id="36" name="TextBox 35">
              <a:extLst>
                <a:ext uri="{FF2B5EF4-FFF2-40B4-BE49-F238E27FC236}">
                  <a16:creationId xmlns:a16="http://schemas.microsoft.com/office/drawing/2014/main" id="{76B013F0-AD86-4544-B3B2-B9249653EBF8}"/>
                </a:ext>
              </a:extLst>
            </p:cNvPr>
            <p:cNvSpPr txBox="1"/>
            <p:nvPr/>
          </p:nvSpPr>
          <p:spPr>
            <a:xfrm>
              <a:off x="5204003" y="5943681"/>
              <a:ext cx="2623132"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Proactivity</a:t>
              </a:r>
            </a:p>
          </p:txBody>
        </p:sp>
        <p:sp>
          <p:nvSpPr>
            <p:cNvPr id="37" name="TextBox 36">
              <a:extLst>
                <a:ext uri="{FF2B5EF4-FFF2-40B4-BE49-F238E27FC236}">
                  <a16:creationId xmlns:a16="http://schemas.microsoft.com/office/drawing/2014/main" id="{14359635-1856-764D-AC49-97EC9113F864}"/>
                </a:ext>
              </a:extLst>
            </p:cNvPr>
            <p:cNvSpPr txBox="1"/>
            <p:nvPr/>
          </p:nvSpPr>
          <p:spPr>
            <a:xfrm>
              <a:off x="1954883" y="1624544"/>
              <a:ext cx="280492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Cultural Challenges</a:t>
              </a:r>
            </a:p>
          </p:txBody>
        </p:sp>
        <p:sp>
          <p:nvSpPr>
            <p:cNvPr id="39" name="TextBox 38">
              <a:extLst>
                <a:ext uri="{FF2B5EF4-FFF2-40B4-BE49-F238E27FC236}">
                  <a16:creationId xmlns:a16="http://schemas.microsoft.com/office/drawing/2014/main" id="{5EE6B582-A5AD-7742-A3DB-35B94D69E389}"/>
                </a:ext>
              </a:extLst>
            </p:cNvPr>
            <p:cNvSpPr txBox="1"/>
            <p:nvPr/>
          </p:nvSpPr>
          <p:spPr>
            <a:xfrm>
              <a:off x="2108449" y="4579118"/>
              <a:ext cx="2714734"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Prevention</a:t>
              </a:r>
            </a:p>
          </p:txBody>
        </p:sp>
        <p:sp>
          <p:nvSpPr>
            <p:cNvPr id="40" name="TextBox 39">
              <a:extLst>
                <a:ext uri="{FF2B5EF4-FFF2-40B4-BE49-F238E27FC236}">
                  <a16:creationId xmlns:a16="http://schemas.microsoft.com/office/drawing/2014/main" id="{7842DDC4-618C-EB49-8D92-CC6E8D06A27F}"/>
                </a:ext>
              </a:extLst>
            </p:cNvPr>
            <p:cNvSpPr txBox="1"/>
            <p:nvPr/>
          </p:nvSpPr>
          <p:spPr>
            <a:xfrm>
              <a:off x="8202257" y="4539642"/>
              <a:ext cx="273486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Need/Care Match</a:t>
              </a:r>
            </a:p>
          </p:txBody>
        </p:sp>
      </p:grpSp>
      <p:sp>
        <p:nvSpPr>
          <p:cNvPr id="42" name="Rectangle 41">
            <a:extLst>
              <a:ext uri="{FF2B5EF4-FFF2-40B4-BE49-F238E27FC236}">
                <a16:creationId xmlns:a16="http://schemas.microsoft.com/office/drawing/2014/main" id="{CED96D22-0F74-AF48-B854-0CE3DF5BC976}"/>
              </a:ext>
            </a:extLst>
          </p:cNvPr>
          <p:cNvSpPr/>
          <p:nvPr/>
        </p:nvSpPr>
        <p:spPr>
          <a:xfrm>
            <a:off x="9548037" y="2944368"/>
            <a:ext cx="3253563" cy="4828032"/>
          </a:xfrm>
          <a:prstGeom prst="rect">
            <a:avLst/>
          </a:prstGeom>
          <a:solidFill>
            <a:srgbClr val="0039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13CF5FB-EA21-2E43-8223-310323F91EEC}"/>
              </a:ext>
            </a:extLst>
          </p:cNvPr>
          <p:cNvSpPr/>
          <p:nvPr/>
        </p:nvSpPr>
        <p:spPr>
          <a:xfrm>
            <a:off x="228600" y="534035"/>
            <a:ext cx="6764994" cy="338554"/>
          </a:xfrm>
          <a:prstGeom prst="rect">
            <a:avLst/>
          </a:prstGeom>
        </p:spPr>
        <p:txBody>
          <a:bodyPr wrap="square" anchor="t">
            <a:spAutoFit/>
          </a:bodyPr>
          <a:lstStyle/>
          <a:p>
            <a:r>
              <a:rPr lang="en-US" sz="1600" b="1" dirty="0">
                <a:solidFill>
                  <a:srgbClr val="00A2E2"/>
                </a:solidFill>
              </a:rPr>
              <a:t>Identifying Issues and Opportunities</a:t>
            </a:r>
          </a:p>
        </p:txBody>
      </p:sp>
      <p:sp>
        <p:nvSpPr>
          <p:cNvPr id="44" name="Rectangle 43">
            <a:extLst>
              <a:ext uri="{FF2B5EF4-FFF2-40B4-BE49-F238E27FC236}">
                <a16:creationId xmlns:a16="http://schemas.microsoft.com/office/drawing/2014/main" id="{BEF1FE83-BF87-1E40-BFFF-5C9604484C0C}"/>
              </a:ext>
            </a:extLst>
          </p:cNvPr>
          <p:cNvSpPr/>
          <p:nvPr/>
        </p:nvSpPr>
        <p:spPr>
          <a:xfrm>
            <a:off x="9548037" y="3094081"/>
            <a:ext cx="3253563" cy="584775"/>
          </a:xfrm>
          <a:prstGeom prst="rect">
            <a:avLst/>
          </a:prstGeom>
        </p:spPr>
        <p:txBody>
          <a:bodyPr wrap="square" anchor="t">
            <a:spAutoFit/>
          </a:bodyPr>
          <a:lstStyle/>
          <a:p>
            <a:pPr algn="ctr"/>
            <a:r>
              <a:rPr lang="en-US" sz="1600" b="1" dirty="0">
                <a:solidFill>
                  <a:schemeClr val="bg1"/>
                </a:solidFill>
              </a:rPr>
              <a:t>Competitive / Startup </a:t>
            </a:r>
            <a:br>
              <a:rPr lang="en-US" sz="1600" b="1" dirty="0">
                <a:solidFill>
                  <a:schemeClr val="bg1"/>
                </a:solidFill>
              </a:rPr>
            </a:br>
            <a:r>
              <a:rPr lang="en-US" sz="1600" b="1" dirty="0">
                <a:solidFill>
                  <a:schemeClr val="bg1"/>
                </a:solidFill>
              </a:rPr>
              <a:t>Landscape</a:t>
            </a:r>
          </a:p>
        </p:txBody>
      </p:sp>
      <p:sp>
        <p:nvSpPr>
          <p:cNvPr id="33" name="Rectangle 32">
            <a:extLst>
              <a:ext uri="{FF2B5EF4-FFF2-40B4-BE49-F238E27FC236}">
                <a16:creationId xmlns:a16="http://schemas.microsoft.com/office/drawing/2014/main" id="{223AE13C-F35D-1440-9939-D7FE46A81D73}"/>
              </a:ext>
            </a:extLst>
          </p:cNvPr>
          <p:cNvSpPr/>
          <p:nvPr/>
        </p:nvSpPr>
        <p:spPr>
          <a:xfrm>
            <a:off x="9787013" y="3828569"/>
            <a:ext cx="2791679" cy="3382464"/>
          </a:xfrm>
          <a:prstGeom prst="rect">
            <a:avLst/>
          </a:prstGeom>
          <a:ln>
            <a:noFill/>
          </a:ln>
        </p:spPr>
        <p:txBody>
          <a:bodyPr wrap="square">
            <a:spAutoFit/>
          </a:bodyPr>
          <a:lstStyle/>
          <a:p>
            <a:pPr defTabSz="914378">
              <a:lnSpc>
                <a:spcPct val="95000"/>
              </a:lnSpc>
              <a:spcBef>
                <a:spcPts val="200"/>
              </a:spcBef>
              <a:spcAft>
                <a:spcPts val="200"/>
              </a:spcAft>
            </a:pPr>
            <a:r>
              <a:rPr lang="en-US" sz="1200" b="1" kern="0" dirty="0">
                <a:solidFill>
                  <a:srgbClr val="B1E2FF"/>
                </a:solidFill>
                <a:latin typeface="Arial Narrow" pitchFamily="34" charset="0"/>
              </a:rPr>
              <a:t>Aetna</a:t>
            </a:r>
          </a:p>
          <a:p>
            <a:pPr defTabSz="914378">
              <a:lnSpc>
                <a:spcPct val="95000"/>
              </a:lnSpc>
              <a:spcBef>
                <a:spcPts val="200"/>
              </a:spcBef>
              <a:spcAft>
                <a:spcPts val="200"/>
              </a:spcAft>
            </a:pPr>
            <a:r>
              <a:rPr lang="en-US" sz="1200" b="1" kern="0" dirty="0" err="1">
                <a:solidFill>
                  <a:schemeClr val="bg1"/>
                </a:solidFill>
                <a:latin typeface="Arial Narrow" pitchFamily="34" charset="0"/>
              </a:rPr>
              <a:t>MedQuery</a:t>
            </a:r>
            <a:r>
              <a:rPr lang="en-US" sz="1200" b="1" kern="0" dirty="0">
                <a:solidFill>
                  <a:schemeClr val="bg1"/>
                </a:solidFill>
                <a:latin typeface="Arial Narrow" pitchFamily="34" charset="0"/>
              </a:rPr>
              <a:t>: </a:t>
            </a:r>
            <a:r>
              <a:rPr lang="en-US" sz="1200" kern="0" dirty="0">
                <a:solidFill>
                  <a:schemeClr val="bg1"/>
                </a:solidFill>
                <a:latin typeface="Arial Narrow" pitchFamily="34" charset="0"/>
              </a:rPr>
              <a:t>Anticipates potential care issues and sends out alerts based on information from Aetna’s proprietary software (The </a:t>
            </a:r>
            <a:r>
              <a:rPr lang="en-US" sz="1200" kern="0" dirty="0" err="1">
                <a:solidFill>
                  <a:schemeClr val="bg1"/>
                </a:solidFill>
                <a:latin typeface="Arial Narrow" pitchFamily="34" charset="0"/>
              </a:rPr>
              <a:t>CareEngine</a:t>
            </a:r>
            <a:r>
              <a:rPr lang="en-US" sz="1200" kern="0" dirty="0">
                <a:solidFill>
                  <a:schemeClr val="bg1"/>
                </a:solidFill>
                <a:latin typeface="Arial Narrow" pitchFamily="34" charset="0"/>
              </a:rPr>
              <a:t>). It scans and compiles info from various touch points, including: Medical, Rx, Lab, &amp; BH claims; feedback from members with RNs; Health information in a member’s personal record. (Also directs patients to the right care)</a:t>
            </a:r>
          </a:p>
          <a:p>
            <a:pPr defTabSz="914378">
              <a:lnSpc>
                <a:spcPct val="95000"/>
              </a:lnSpc>
              <a:spcBef>
                <a:spcPts val="200"/>
              </a:spcBef>
              <a:spcAft>
                <a:spcPts val="200"/>
              </a:spcAft>
            </a:pPr>
            <a:endParaRPr lang="en-US" sz="1200" kern="0" dirty="0">
              <a:solidFill>
                <a:schemeClr val="bg1"/>
              </a:solidFill>
              <a:latin typeface="Arial Narrow" pitchFamily="34" charset="0"/>
            </a:endParaRPr>
          </a:p>
          <a:p>
            <a:pPr defTabSz="914378">
              <a:lnSpc>
                <a:spcPct val="95000"/>
              </a:lnSpc>
              <a:spcBef>
                <a:spcPts val="200"/>
              </a:spcBef>
              <a:spcAft>
                <a:spcPts val="200"/>
              </a:spcAft>
            </a:pPr>
            <a:r>
              <a:rPr lang="en-US" sz="1200" b="1" kern="0" dirty="0">
                <a:solidFill>
                  <a:srgbClr val="B1E2FF"/>
                </a:solidFill>
                <a:latin typeface="Arial Narrow" pitchFamily="34" charset="0"/>
              </a:rPr>
              <a:t>Optum</a:t>
            </a:r>
            <a:r>
              <a:rPr lang="en-US" sz="1200" b="1" kern="0" dirty="0">
                <a:solidFill>
                  <a:srgbClr val="0070C0"/>
                </a:solidFill>
                <a:latin typeface="Arial Narrow" pitchFamily="34" charset="0"/>
              </a:rPr>
              <a:t> </a:t>
            </a:r>
          </a:p>
          <a:p>
            <a:pPr defTabSz="914378">
              <a:lnSpc>
                <a:spcPct val="95000"/>
              </a:lnSpc>
              <a:spcBef>
                <a:spcPts val="200"/>
              </a:spcBef>
              <a:spcAft>
                <a:spcPts val="200"/>
              </a:spcAft>
            </a:pPr>
            <a:r>
              <a:rPr lang="en-US" sz="1200" b="1" kern="0" dirty="0">
                <a:solidFill>
                  <a:schemeClr val="bg1"/>
                </a:solidFill>
                <a:latin typeface="Arial Narrow" pitchFamily="34" charset="0"/>
              </a:rPr>
              <a:t>American Society of Addiction Med Partnership: </a:t>
            </a:r>
            <a:r>
              <a:rPr lang="en-US" sz="1200" kern="0" dirty="0">
                <a:solidFill>
                  <a:schemeClr val="bg1"/>
                </a:solidFill>
                <a:latin typeface="Arial Narrow" pitchFamily="34" charset="0"/>
              </a:rPr>
              <a:t>Validating evidence-based outcomes </a:t>
            </a:r>
          </a:p>
          <a:p>
            <a:pPr defTabSz="914378">
              <a:lnSpc>
                <a:spcPct val="95000"/>
              </a:lnSpc>
              <a:spcBef>
                <a:spcPts val="200"/>
              </a:spcBef>
              <a:spcAft>
                <a:spcPts val="200"/>
              </a:spcAft>
            </a:pPr>
            <a:endParaRPr lang="en-US" sz="1200" kern="0" dirty="0">
              <a:solidFill>
                <a:schemeClr val="bg1"/>
              </a:solidFill>
              <a:latin typeface="Arial Narrow" pitchFamily="34" charset="0"/>
            </a:endParaRPr>
          </a:p>
          <a:p>
            <a:pPr defTabSz="914378">
              <a:lnSpc>
                <a:spcPct val="95000"/>
              </a:lnSpc>
              <a:spcBef>
                <a:spcPts val="200"/>
              </a:spcBef>
              <a:spcAft>
                <a:spcPts val="200"/>
              </a:spcAft>
            </a:pPr>
            <a:endParaRPr lang="en-US" sz="1200" kern="0" dirty="0">
              <a:solidFill>
                <a:schemeClr val="bg1"/>
              </a:solidFill>
              <a:latin typeface="Arial Narrow" pitchFamily="34" charset="0"/>
            </a:endParaRPr>
          </a:p>
        </p:txBody>
      </p:sp>
      <p:sp>
        <p:nvSpPr>
          <p:cNvPr id="34" name="Rectangle 33">
            <a:extLst>
              <a:ext uri="{FF2B5EF4-FFF2-40B4-BE49-F238E27FC236}">
                <a16:creationId xmlns:a16="http://schemas.microsoft.com/office/drawing/2014/main" id="{450BE847-9DF4-C849-B0F5-AB74E20E9465}"/>
              </a:ext>
            </a:extLst>
          </p:cNvPr>
          <p:cNvSpPr/>
          <p:nvPr/>
        </p:nvSpPr>
        <p:spPr>
          <a:xfrm>
            <a:off x="6429464" y="2609123"/>
            <a:ext cx="2979712" cy="5062924"/>
          </a:xfrm>
          <a:prstGeom prst="rect">
            <a:avLst/>
          </a:prstGeom>
        </p:spPr>
        <p:txBody>
          <a:bodyPr wrap="square">
            <a:spAutoFit/>
          </a:bodyPr>
          <a:lstStyle/>
          <a:p>
            <a:pPr>
              <a:spcAft>
                <a:spcPts val="600"/>
              </a:spcAft>
            </a:pPr>
            <a:r>
              <a:rPr lang="en-US" sz="1200" b="1" dirty="0"/>
              <a:t>How might we…</a:t>
            </a:r>
            <a:endParaRPr lang="en-US" sz="1200" dirty="0"/>
          </a:p>
          <a:p>
            <a:pPr marL="160020" indent="-160020">
              <a:spcAft>
                <a:spcPts val="600"/>
              </a:spcAft>
              <a:buFont typeface="Arial" panose="020B0604020202020204" pitchFamily="34" charset="0"/>
              <a:buChar char="•"/>
            </a:pPr>
            <a:r>
              <a:rPr lang="en-US" sz="1200" dirty="0"/>
              <a:t>Intentionally design and coordinate a data collection and analytics program to understand the impact of Behavioral Health and integrated BH/PH interventions for our customer populations?</a:t>
            </a:r>
          </a:p>
          <a:p>
            <a:pPr marL="160020" indent="-160020">
              <a:spcAft>
                <a:spcPts val="600"/>
              </a:spcAft>
              <a:buFont typeface="Arial" panose="020B0604020202020204" pitchFamily="34" charset="0"/>
              <a:buChar char="•"/>
            </a:pPr>
            <a:r>
              <a:rPr lang="en-US" sz="1200" dirty="0"/>
              <a:t>Use data to identify at-risk individuals and populations so we can intervene before BH problems progress?</a:t>
            </a:r>
          </a:p>
          <a:p>
            <a:pPr marL="160020" indent="-160020">
              <a:spcAft>
                <a:spcPts val="600"/>
              </a:spcAft>
              <a:buFont typeface="Arial" panose="020B0604020202020204" pitchFamily="34" charset="0"/>
              <a:buChar char="•"/>
            </a:pPr>
            <a:r>
              <a:rPr lang="en-US" sz="1200" dirty="0"/>
              <a:t>Use data to identify individuals who are not receiving appropriate level of care or treatment so we can intervene to improve their outcomes?</a:t>
            </a:r>
          </a:p>
          <a:p>
            <a:pPr marL="160020" indent="-160020">
              <a:spcAft>
                <a:spcPts val="600"/>
              </a:spcAft>
              <a:buFont typeface="Arial" panose="020B0604020202020204" pitchFamily="34" charset="0"/>
              <a:buChar char="•"/>
            </a:pPr>
            <a:r>
              <a:rPr lang="en-US" sz="1200" dirty="0"/>
              <a:t>Utilize biological feedback and digital therapeutics to supplement clinical data and protocols?</a:t>
            </a:r>
          </a:p>
          <a:p>
            <a:pPr marL="160020" indent="-160020">
              <a:spcAft>
                <a:spcPts val="600"/>
              </a:spcAft>
              <a:buFont typeface="Arial" panose="020B0604020202020204" pitchFamily="34" charset="0"/>
              <a:buChar char="•"/>
            </a:pPr>
            <a:r>
              <a:rPr lang="en-US" sz="1200" dirty="0"/>
              <a:t>Explore opportunities in behavioral biomarkers, and recent developments in that field of study, to enhance our data and insights?</a:t>
            </a:r>
          </a:p>
          <a:p>
            <a:pPr marL="160020" indent="-160020">
              <a:spcAft>
                <a:spcPts val="600"/>
              </a:spcAft>
              <a:buFont typeface="Arial" panose="020B0604020202020204" pitchFamily="34" charset="0"/>
              <a:buChar char="•"/>
            </a:pPr>
            <a:r>
              <a:rPr lang="en-US" sz="1200" dirty="0"/>
              <a:t>Use data and modeling to develop and hone internal best practices?</a:t>
            </a:r>
          </a:p>
          <a:p>
            <a:pPr marL="160020" indent="-160020">
              <a:spcAft>
                <a:spcPts val="600"/>
              </a:spcAft>
              <a:buFont typeface="Arial" panose="020B0604020202020204" pitchFamily="34" charset="0"/>
              <a:buChar char="•"/>
            </a:pPr>
            <a:endParaRPr lang="en-US" sz="1200" dirty="0"/>
          </a:p>
        </p:txBody>
      </p:sp>
      <p:sp>
        <p:nvSpPr>
          <p:cNvPr id="38" name="Rectangle 37">
            <a:extLst>
              <a:ext uri="{FF2B5EF4-FFF2-40B4-BE49-F238E27FC236}">
                <a16:creationId xmlns:a16="http://schemas.microsoft.com/office/drawing/2014/main" id="{6262059F-41C9-9C4E-8A3A-C4577C041ECE}"/>
              </a:ext>
            </a:extLst>
          </p:cNvPr>
          <p:cNvSpPr/>
          <p:nvPr/>
        </p:nvSpPr>
        <p:spPr>
          <a:xfrm>
            <a:off x="298401" y="2609123"/>
            <a:ext cx="5892087" cy="3908762"/>
          </a:xfrm>
          <a:prstGeom prst="rect">
            <a:avLst/>
          </a:prstGeom>
        </p:spPr>
        <p:txBody>
          <a:bodyPr wrap="square">
            <a:spAutoFit/>
          </a:bodyPr>
          <a:lstStyle/>
          <a:p>
            <a:pPr>
              <a:spcAft>
                <a:spcPts val="600"/>
              </a:spcAft>
            </a:pPr>
            <a:r>
              <a:rPr lang="en-US" sz="1200" b="1" dirty="0"/>
              <a:t>Why is this so critical?</a:t>
            </a:r>
          </a:p>
          <a:p>
            <a:pPr marL="160020" indent="-160020">
              <a:spcAft>
                <a:spcPts val="600"/>
              </a:spcAft>
              <a:buFont typeface="Arial" panose="020B0604020202020204" pitchFamily="34" charset="0"/>
              <a:buChar char="•"/>
            </a:pPr>
            <a:r>
              <a:rPr lang="en-US" sz="1200" b="1" dirty="0"/>
              <a:t>It’s more difficult to articulate the value of BH care </a:t>
            </a:r>
            <a:r>
              <a:rPr lang="en-US" sz="1200" dirty="0"/>
              <a:t>because of challenges with existing data. Our ability to measure and report impact is hindered by inconsistencies in data collection and sharing, a lack of active analysis and insights, and complex interconnection with PH treatment and data that makes attribution of BH outcomes a more complex exercise. There is also a lack of objective measures for BH care. This will be covered in more depth in the problem on the following page: </a:t>
            </a:r>
            <a:r>
              <a:rPr lang="en-US" sz="1200" b="1" dirty="0"/>
              <a:t>Use Holistic Outcome Assessments</a:t>
            </a:r>
          </a:p>
          <a:p>
            <a:pPr marL="160020" indent="-160020">
              <a:spcAft>
                <a:spcPts val="600"/>
              </a:spcAft>
              <a:buFont typeface="Arial" panose="020B0604020202020204" pitchFamily="34" charset="0"/>
              <a:buChar char="•"/>
            </a:pPr>
            <a:r>
              <a:rPr lang="en-US" sz="1200" b="1" dirty="0"/>
              <a:t>Without the right data collection and analysis we hit barriers </a:t>
            </a:r>
            <a:r>
              <a:rPr lang="en-US" sz="1200" dirty="0"/>
              <a:t>to most other efforts that will help realize the value of BH, including: Value Based Model development, Outcome assessment, Proactive intervention, and Best-practice understanding.</a:t>
            </a:r>
          </a:p>
          <a:p>
            <a:pPr marL="160020" indent="-160020">
              <a:spcAft>
                <a:spcPts val="600"/>
              </a:spcAft>
              <a:buFont typeface="Arial" panose="020B0604020202020204" pitchFamily="34" charset="0"/>
              <a:buChar char="•"/>
            </a:pPr>
            <a:r>
              <a:rPr lang="en-US" sz="1200" b="1" dirty="0"/>
              <a:t>Urgency will grow as CMS and ONC will finalize legislation forcing payer/provider adoption of enhanced API gateways in 2020</a:t>
            </a:r>
            <a:r>
              <a:rPr lang="en-US" sz="1200" dirty="0"/>
              <a:t>. At the same time, independent industry workgroups such as HL7's Project Gravity (SDOH focus) will bring new data sources to the market. The rise of health data liquidity will help companies who are ready to deliver on-demand, personalized care.</a:t>
            </a:r>
          </a:p>
          <a:p>
            <a:pPr marL="160020" indent="-160020">
              <a:spcAft>
                <a:spcPts val="600"/>
              </a:spcAft>
              <a:buFont typeface="Arial" panose="020B0604020202020204" pitchFamily="34" charset="0"/>
              <a:buChar char="•"/>
            </a:pPr>
            <a:r>
              <a:rPr lang="en-US" sz="1200" dirty="0"/>
              <a:t>Are we a laggard in clinical insights? Listening system vs clinical predictive modeling and population health analysis. </a:t>
            </a:r>
          </a:p>
        </p:txBody>
      </p:sp>
      <p:sp>
        <p:nvSpPr>
          <p:cNvPr id="41" name="Rectangle 40">
            <a:extLst>
              <a:ext uri="{FF2B5EF4-FFF2-40B4-BE49-F238E27FC236}">
                <a16:creationId xmlns:a16="http://schemas.microsoft.com/office/drawing/2014/main" id="{46324AD8-779F-7C44-BBB7-C85857598FCD}"/>
              </a:ext>
            </a:extLst>
          </p:cNvPr>
          <p:cNvSpPr/>
          <p:nvPr/>
        </p:nvSpPr>
        <p:spPr>
          <a:xfrm>
            <a:off x="298401" y="1695571"/>
            <a:ext cx="9186809" cy="830997"/>
          </a:xfrm>
          <a:prstGeom prst="rect">
            <a:avLst/>
          </a:prstGeom>
        </p:spPr>
        <p:txBody>
          <a:bodyPr wrap="square">
            <a:spAutoFit/>
          </a:bodyPr>
          <a:lstStyle/>
          <a:p>
            <a:r>
              <a:rPr lang="en-US" sz="1600" dirty="0"/>
              <a:t>Purposefully collect and analyze clinical and business data to understand trends, generate ongoing insights, and understand the outcomes of BH interventions to support decision making and realize both short and long term value of BH and PH-integrated interventions.</a:t>
            </a:r>
          </a:p>
        </p:txBody>
      </p:sp>
    </p:spTree>
    <p:extLst>
      <p:ext uri="{BB962C8B-B14F-4D97-AF65-F5344CB8AC3E}">
        <p14:creationId xmlns:p14="http://schemas.microsoft.com/office/powerpoint/2010/main" val="28028148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1AEC8755-968C-E94A-B115-1636F814A717}"/>
              </a:ext>
            </a:extLst>
          </p:cNvPr>
          <p:cNvSpPr/>
          <p:nvPr/>
        </p:nvSpPr>
        <p:spPr>
          <a:xfrm>
            <a:off x="168964" y="-2218162"/>
            <a:ext cx="7549587" cy="1015663"/>
          </a:xfrm>
          <a:prstGeom prst="rect">
            <a:avLst/>
          </a:prstGeom>
        </p:spPr>
        <p:txBody>
          <a:bodyPr wrap="square" anchor="t">
            <a:spAutoFit/>
          </a:bodyPr>
          <a:lstStyle/>
          <a:p>
            <a:r>
              <a:rPr lang="en-US" sz="2400" b="1" dirty="0">
                <a:solidFill>
                  <a:srgbClr val="003963"/>
                </a:solidFill>
              </a:rPr>
              <a:t>The urgency is now: </a:t>
            </a:r>
          </a:p>
          <a:p>
            <a:r>
              <a:rPr lang="en-US" sz="1800" dirty="0">
                <a:solidFill>
                  <a:srgbClr val="00A2E2"/>
                </a:solidFill>
              </a:rPr>
              <a:t>How do we ensure we are addressing the critical issues and opportunities that are emerging in the Behavioral Health Epidemic </a:t>
            </a:r>
          </a:p>
        </p:txBody>
      </p:sp>
      <p:sp>
        <p:nvSpPr>
          <p:cNvPr id="3" name="Rectangle 2">
            <a:extLst>
              <a:ext uri="{FF2B5EF4-FFF2-40B4-BE49-F238E27FC236}">
                <a16:creationId xmlns:a16="http://schemas.microsoft.com/office/drawing/2014/main" id="{322914B9-0928-8C47-989E-3946B358255E}"/>
              </a:ext>
            </a:extLst>
          </p:cNvPr>
          <p:cNvSpPr/>
          <p:nvPr/>
        </p:nvSpPr>
        <p:spPr>
          <a:xfrm>
            <a:off x="13242570" y="831923"/>
            <a:ext cx="6382460" cy="2554545"/>
          </a:xfrm>
          <a:prstGeom prst="rect">
            <a:avLst/>
          </a:prstGeom>
        </p:spPr>
        <p:txBody>
          <a:bodyPr wrap="square">
            <a:spAutoFit/>
          </a:bodyPr>
          <a:lstStyle/>
          <a:p>
            <a:endParaRPr lang="en-US" sz="1600" dirty="0"/>
          </a:p>
          <a:p>
            <a:r>
              <a:rPr lang="en-US" sz="1600" dirty="0"/>
              <a:t>How might we:</a:t>
            </a:r>
          </a:p>
          <a:p>
            <a:pPr marL="342900" indent="-342900">
              <a:buFont typeface="Arial" panose="020B0604020202020204" pitchFamily="34" charset="0"/>
              <a:buChar char="•"/>
            </a:pPr>
            <a:r>
              <a:rPr lang="en-US" sz="1600" dirty="0"/>
              <a:t>Establish a new form of BH outcome-assessment which uses a</a:t>
            </a:r>
          </a:p>
          <a:p>
            <a:pPr marL="342900" indent="-342900">
              <a:buFont typeface="Arial" panose="020B0604020202020204" pitchFamily="34" charset="0"/>
              <a:buChar char="•"/>
            </a:pPr>
            <a:r>
              <a:rPr lang="en-US" sz="1600" dirty="0"/>
              <a:t>network of multi-faceted criteria, that account for complex cases,</a:t>
            </a:r>
          </a:p>
          <a:p>
            <a:pPr marL="342900" indent="-342900">
              <a:buFont typeface="Arial" panose="020B0604020202020204" pitchFamily="34" charset="0"/>
              <a:buChar char="•"/>
            </a:pPr>
            <a:r>
              <a:rPr lang="en-US" sz="1600" dirty="0"/>
              <a:t>and measures progress made toward shared clinician and patient</a:t>
            </a:r>
          </a:p>
          <a:p>
            <a:pPr marL="342900" indent="-342900">
              <a:buFont typeface="Arial" panose="020B0604020202020204" pitchFamily="34" charset="0"/>
              <a:buChar char="•"/>
            </a:pPr>
            <a:r>
              <a:rPr lang="en-US" sz="1600" dirty="0"/>
              <a:t>goals as a more accurate form of outcome measurement?</a:t>
            </a:r>
          </a:p>
          <a:p>
            <a:pPr marL="342900" indent="-342900">
              <a:buFont typeface="Arial" panose="020B0604020202020204" pitchFamily="34" charset="0"/>
              <a:buChar char="•"/>
            </a:pPr>
            <a:r>
              <a:rPr lang="en-US" sz="1600" dirty="0"/>
              <a:t>Partner with employers who value employee attendance and</a:t>
            </a:r>
          </a:p>
          <a:p>
            <a:pPr marL="342900" indent="-342900">
              <a:buFont typeface="Arial" panose="020B0604020202020204" pitchFamily="34" charset="0"/>
              <a:buChar char="•"/>
            </a:pPr>
            <a:r>
              <a:rPr lang="en-US" sz="1600" dirty="0"/>
              <a:t>productivity and are willing to invest in BH care to impact those</a:t>
            </a:r>
          </a:p>
          <a:p>
            <a:pPr marL="342900" indent="-342900">
              <a:buFont typeface="Arial" panose="020B0604020202020204" pitchFamily="34" charset="0"/>
              <a:buChar char="•"/>
            </a:pPr>
            <a:r>
              <a:rPr lang="en-US" sz="1600" dirty="0"/>
              <a:t>metrics?</a:t>
            </a:r>
          </a:p>
        </p:txBody>
      </p:sp>
      <p:sp>
        <p:nvSpPr>
          <p:cNvPr id="4" name="Rectangle 3">
            <a:extLst>
              <a:ext uri="{FF2B5EF4-FFF2-40B4-BE49-F238E27FC236}">
                <a16:creationId xmlns:a16="http://schemas.microsoft.com/office/drawing/2014/main" id="{50818B1C-7512-BF4C-A24D-63537D0ED002}"/>
              </a:ext>
            </a:extLst>
          </p:cNvPr>
          <p:cNvSpPr/>
          <p:nvPr/>
        </p:nvSpPr>
        <p:spPr>
          <a:xfrm>
            <a:off x="298402" y="1136326"/>
            <a:ext cx="8499506" cy="461665"/>
          </a:xfrm>
          <a:prstGeom prst="rect">
            <a:avLst/>
          </a:prstGeom>
        </p:spPr>
        <p:txBody>
          <a:bodyPr wrap="square">
            <a:spAutoFit/>
          </a:bodyPr>
          <a:lstStyle/>
          <a:p>
            <a:r>
              <a:rPr lang="en-US" sz="2400" b="1" dirty="0">
                <a:solidFill>
                  <a:srgbClr val="002060"/>
                </a:solidFill>
              </a:rPr>
              <a:t>Use Holistic Outcome Assessments</a:t>
            </a:r>
          </a:p>
        </p:txBody>
      </p:sp>
      <p:sp>
        <p:nvSpPr>
          <p:cNvPr id="12" name="Rectangle 11">
            <a:extLst>
              <a:ext uri="{FF2B5EF4-FFF2-40B4-BE49-F238E27FC236}">
                <a16:creationId xmlns:a16="http://schemas.microsoft.com/office/drawing/2014/main" id="{FF75D8D4-2E5B-8141-92F5-2E65763F210A}"/>
              </a:ext>
            </a:extLst>
          </p:cNvPr>
          <p:cNvSpPr/>
          <p:nvPr/>
        </p:nvSpPr>
        <p:spPr>
          <a:xfrm>
            <a:off x="9548037" y="0"/>
            <a:ext cx="3253563" cy="288950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3942695-DEE0-D342-9001-6E26D151834E}"/>
              </a:ext>
            </a:extLst>
          </p:cNvPr>
          <p:cNvSpPr/>
          <p:nvPr/>
        </p:nvSpPr>
        <p:spPr>
          <a:xfrm>
            <a:off x="9548037" y="369169"/>
            <a:ext cx="3253563" cy="338554"/>
          </a:xfrm>
          <a:prstGeom prst="rect">
            <a:avLst/>
          </a:prstGeom>
        </p:spPr>
        <p:txBody>
          <a:bodyPr wrap="square" anchor="t">
            <a:spAutoFit/>
          </a:bodyPr>
          <a:lstStyle/>
          <a:p>
            <a:pPr algn="ctr"/>
            <a:r>
              <a:rPr lang="en-US" sz="1600" b="1" dirty="0">
                <a:solidFill>
                  <a:schemeClr val="bg1"/>
                </a:solidFill>
              </a:rPr>
              <a:t>Critical Problems</a:t>
            </a:r>
          </a:p>
        </p:txBody>
      </p:sp>
      <p:grpSp>
        <p:nvGrpSpPr>
          <p:cNvPr id="5" name="Group 4">
            <a:extLst>
              <a:ext uri="{FF2B5EF4-FFF2-40B4-BE49-F238E27FC236}">
                <a16:creationId xmlns:a16="http://schemas.microsoft.com/office/drawing/2014/main" id="{4010EF52-C5D7-364A-9BFE-02E8D06E4633}"/>
              </a:ext>
            </a:extLst>
          </p:cNvPr>
          <p:cNvGrpSpPr/>
          <p:nvPr/>
        </p:nvGrpSpPr>
        <p:grpSpPr>
          <a:xfrm>
            <a:off x="10054011" y="824143"/>
            <a:ext cx="2241613" cy="1631010"/>
            <a:chOff x="1954883" y="224589"/>
            <a:chExt cx="9056437" cy="6589517"/>
          </a:xfrm>
        </p:grpSpPr>
        <p:sp>
          <p:nvSpPr>
            <p:cNvPr id="14" name="TextBox 13">
              <a:extLst>
                <a:ext uri="{FF2B5EF4-FFF2-40B4-BE49-F238E27FC236}">
                  <a16:creationId xmlns:a16="http://schemas.microsoft.com/office/drawing/2014/main" id="{B31051DD-EB23-794F-8BAD-F9F7F16AC8B0}"/>
                </a:ext>
              </a:extLst>
            </p:cNvPr>
            <p:cNvSpPr txBox="1"/>
            <p:nvPr/>
          </p:nvSpPr>
          <p:spPr>
            <a:xfrm>
              <a:off x="8244614" y="1587504"/>
              <a:ext cx="2766706"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Clinician </a:t>
              </a:r>
              <a:br>
                <a:rPr lang="en-US" sz="800" spc="-16" dirty="0">
                  <a:solidFill>
                    <a:schemeClr val="bg1"/>
                  </a:solidFill>
                  <a:latin typeface="+mj-lt"/>
                  <a:ea typeface="Source Sans Pro" panose="020B0503030403020204" pitchFamily="34" charset="0"/>
                </a:rPr>
              </a:br>
              <a:r>
                <a:rPr lang="en-US" sz="800" spc="-16" dirty="0">
                  <a:solidFill>
                    <a:schemeClr val="bg1"/>
                  </a:solidFill>
                  <a:latin typeface="+mj-lt"/>
                  <a:ea typeface="Source Sans Pro" panose="020B0503030403020204" pitchFamily="34" charset="0"/>
                </a:rPr>
                <a:t>Challenges </a:t>
              </a:r>
            </a:p>
          </p:txBody>
        </p:sp>
        <p:grpSp>
          <p:nvGrpSpPr>
            <p:cNvPr id="15" name="Group 14">
              <a:extLst>
                <a:ext uri="{FF2B5EF4-FFF2-40B4-BE49-F238E27FC236}">
                  <a16:creationId xmlns:a16="http://schemas.microsoft.com/office/drawing/2014/main" id="{6EE47F6B-8362-8A4F-9C3C-2F4D7C87260E}"/>
                </a:ext>
              </a:extLst>
            </p:cNvPr>
            <p:cNvGrpSpPr/>
            <p:nvPr/>
          </p:nvGrpSpPr>
          <p:grpSpPr>
            <a:xfrm>
              <a:off x="4052176" y="1669056"/>
              <a:ext cx="4821704" cy="4177981"/>
              <a:chOff x="3467290" y="2011174"/>
              <a:chExt cx="5867022" cy="5083743"/>
            </a:xfrm>
          </p:grpSpPr>
          <p:sp>
            <p:nvSpPr>
              <p:cNvPr id="16" name="Freeform 176">
                <a:extLst>
                  <a:ext uri="{FF2B5EF4-FFF2-40B4-BE49-F238E27FC236}">
                    <a16:creationId xmlns:a16="http://schemas.microsoft.com/office/drawing/2014/main" id="{172F5DE8-A200-9A4A-AC04-67E7077393A6}"/>
                  </a:ext>
                </a:extLst>
              </p:cNvPr>
              <p:cNvSpPr>
                <a:spLocks/>
              </p:cNvSpPr>
              <p:nvPr/>
            </p:nvSpPr>
            <p:spPr bwMode="auto">
              <a:xfrm>
                <a:off x="4932533" y="4553045"/>
                <a:ext cx="2933511" cy="2541872"/>
              </a:xfrm>
              <a:custGeom>
                <a:avLst/>
                <a:gdLst>
                  <a:gd name="T0" fmla="*/ 1540102 w 4486"/>
                  <a:gd name="T1" fmla="*/ 0 h 3885"/>
                  <a:gd name="T2" fmla="*/ 0 w 4486"/>
                  <a:gd name="T3" fmla="*/ 2667613 h 3885"/>
                  <a:gd name="T4" fmla="*/ 3079517 w 4486"/>
                  <a:gd name="T5" fmla="*/ 2667613 h 3885"/>
                  <a:gd name="T6" fmla="*/ 1540102 w 4486"/>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5">
                    <a:moveTo>
                      <a:pt x="2243" y="0"/>
                    </a:moveTo>
                    <a:lnTo>
                      <a:pt x="0" y="3884"/>
                    </a:lnTo>
                    <a:lnTo>
                      <a:pt x="4485" y="3884"/>
                    </a:lnTo>
                    <a:lnTo>
                      <a:pt x="2243" y="0"/>
                    </a:lnTo>
                  </a:path>
                </a:pathLst>
              </a:custGeom>
              <a:solidFill>
                <a:schemeClr val="accent2">
                  <a:lumMod val="75000"/>
                </a:schemeClr>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18" name="Freeform 177">
                <a:extLst>
                  <a:ext uri="{FF2B5EF4-FFF2-40B4-BE49-F238E27FC236}">
                    <a16:creationId xmlns:a16="http://schemas.microsoft.com/office/drawing/2014/main" id="{973F8BCD-381C-554A-88BC-12252EE97DCC}"/>
                  </a:ext>
                </a:extLst>
              </p:cNvPr>
              <p:cNvSpPr>
                <a:spLocks/>
              </p:cNvSpPr>
              <p:nvPr/>
            </p:nvSpPr>
            <p:spPr bwMode="auto">
              <a:xfrm>
                <a:off x="6400801" y="2011174"/>
                <a:ext cx="2933511" cy="2541871"/>
              </a:xfrm>
              <a:custGeom>
                <a:avLst/>
                <a:gdLst>
                  <a:gd name="T0" fmla="*/ 1539760 w 4485"/>
                  <a:gd name="T1" fmla="*/ 0 h 3884"/>
                  <a:gd name="T2" fmla="*/ 0 w 4485"/>
                  <a:gd name="T3" fmla="*/ 2667611 h 3884"/>
                  <a:gd name="T4" fmla="*/ 3079519 w 4485"/>
                  <a:gd name="T5" fmla="*/ 2667611 h 3884"/>
                  <a:gd name="T6" fmla="*/ 1539760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2" y="0"/>
                    </a:moveTo>
                    <a:lnTo>
                      <a:pt x="0" y="3883"/>
                    </a:lnTo>
                    <a:lnTo>
                      <a:pt x="4484" y="3883"/>
                    </a:lnTo>
                    <a:lnTo>
                      <a:pt x="2242" y="0"/>
                    </a:lnTo>
                  </a:path>
                </a:pathLst>
              </a:custGeom>
              <a:solidFill>
                <a:schemeClr val="accent1"/>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19" name="Freeform 178">
                <a:extLst>
                  <a:ext uri="{FF2B5EF4-FFF2-40B4-BE49-F238E27FC236}">
                    <a16:creationId xmlns:a16="http://schemas.microsoft.com/office/drawing/2014/main" id="{AD19ABC7-281D-C44D-9E92-17522BA0EAD3}"/>
                  </a:ext>
                </a:extLst>
              </p:cNvPr>
              <p:cNvSpPr>
                <a:spLocks/>
              </p:cNvSpPr>
              <p:nvPr/>
            </p:nvSpPr>
            <p:spPr bwMode="auto">
              <a:xfrm>
                <a:off x="4932533" y="2020246"/>
                <a:ext cx="2933511" cy="2540360"/>
              </a:xfrm>
              <a:custGeom>
                <a:avLst/>
                <a:gdLst>
                  <a:gd name="T0" fmla="*/ 1540102 w 4486"/>
                  <a:gd name="T1" fmla="*/ 2667613 h 3883"/>
                  <a:gd name="T2" fmla="*/ 3079517 w 4486"/>
                  <a:gd name="T3" fmla="*/ 0 h 3883"/>
                  <a:gd name="T4" fmla="*/ 0 w 4486"/>
                  <a:gd name="T5" fmla="*/ 0 h 3883"/>
                  <a:gd name="T6" fmla="*/ 1540102 w 4486"/>
                  <a:gd name="T7" fmla="*/ 2667613 h 38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3">
                    <a:moveTo>
                      <a:pt x="2243" y="3882"/>
                    </a:moveTo>
                    <a:lnTo>
                      <a:pt x="4485" y="0"/>
                    </a:lnTo>
                    <a:lnTo>
                      <a:pt x="0" y="0"/>
                    </a:lnTo>
                    <a:lnTo>
                      <a:pt x="2243" y="3882"/>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0" name="Freeform 179">
                <a:extLst>
                  <a:ext uri="{FF2B5EF4-FFF2-40B4-BE49-F238E27FC236}">
                    <a16:creationId xmlns:a16="http://schemas.microsoft.com/office/drawing/2014/main" id="{AF6AA1F1-DB5D-6B48-A577-74C17CE1EC12}"/>
                  </a:ext>
                </a:extLst>
              </p:cNvPr>
              <p:cNvSpPr>
                <a:spLocks/>
              </p:cNvSpPr>
              <p:nvPr/>
            </p:nvSpPr>
            <p:spPr bwMode="auto">
              <a:xfrm>
                <a:off x="6400801" y="4553045"/>
                <a:ext cx="2933511" cy="2541872"/>
              </a:xfrm>
              <a:custGeom>
                <a:avLst/>
                <a:gdLst>
                  <a:gd name="T0" fmla="*/ 0 w 4485"/>
                  <a:gd name="T1" fmla="*/ 0 h 3885"/>
                  <a:gd name="T2" fmla="*/ 1539760 w 4485"/>
                  <a:gd name="T3" fmla="*/ 2667613 h 3885"/>
                  <a:gd name="T4" fmla="*/ 3079519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2"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2" name="Freeform 180">
                <a:extLst>
                  <a:ext uri="{FF2B5EF4-FFF2-40B4-BE49-F238E27FC236}">
                    <a16:creationId xmlns:a16="http://schemas.microsoft.com/office/drawing/2014/main" id="{94282D5D-44FA-5B42-A123-9A93B3B2AD5D}"/>
                  </a:ext>
                </a:extLst>
              </p:cNvPr>
              <p:cNvSpPr>
                <a:spLocks/>
              </p:cNvSpPr>
              <p:nvPr/>
            </p:nvSpPr>
            <p:spPr bwMode="auto">
              <a:xfrm>
                <a:off x="3467290" y="2011174"/>
                <a:ext cx="2933511" cy="2541871"/>
              </a:xfrm>
              <a:custGeom>
                <a:avLst/>
                <a:gdLst>
                  <a:gd name="T0" fmla="*/ 1539072 w 4485"/>
                  <a:gd name="T1" fmla="*/ 0 h 3884"/>
                  <a:gd name="T2" fmla="*/ 0 w 4485"/>
                  <a:gd name="T3" fmla="*/ 2667611 h 3884"/>
                  <a:gd name="T4" fmla="*/ 3079517 w 4485"/>
                  <a:gd name="T5" fmla="*/ 2667611 h 3884"/>
                  <a:gd name="T6" fmla="*/ 1539072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1" y="0"/>
                    </a:moveTo>
                    <a:lnTo>
                      <a:pt x="0" y="3883"/>
                    </a:lnTo>
                    <a:lnTo>
                      <a:pt x="4484" y="3883"/>
                    </a:lnTo>
                    <a:lnTo>
                      <a:pt x="2241" y="0"/>
                    </a:lnTo>
                  </a:path>
                </a:pathLst>
              </a:custGeom>
              <a:solidFill>
                <a:schemeClr val="accent2">
                  <a:lumMod val="75000"/>
                </a:schemeClr>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4" name="Freeform 181">
                <a:extLst>
                  <a:ext uri="{FF2B5EF4-FFF2-40B4-BE49-F238E27FC236}">
                    <a16:creationId xmlns:a16="http://schemas.microsoft.com/office/drawing/2014/main" id="{78693D03-3054-3D4E-9627-E0A7EA652F9E}"/>
                  </a:ext>
                </a:extLst>
              </p:cNvPr>
              <p:cNvSpPr>
                <a:spLocks/>
              </p:cNvSpPr>
              <p:nvPr/>
            </p:nvSpPr>
            <p:spPr bwMode="auto">
              <a:xfrm>
                <a:off x="3467290" y="4553045"/>
                <a:ext cx="2933511" cy="2541872"/>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chemeClr val="accent2">
                  <a:lumMod val="75000"/>
                </a:schemeClr>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5" name="TextBox 24">
                <a:extLst>
                  <a:ext uri="{FF2B5EF4-FFF2-40B4-BE49-F238E27FC236}">
                    <a16:creationId xmlns:a16="http://schemas.microsoft.com/office/drawing/2014/main" id="{A4E847B4-3DF6-0346-9E09-2E13EF18D004}"/>
                  </a:ext>
                </a:extLst>
              </p:cNvPr>
              <p:cNvSpPr txBox="1"/>
              <p:nvPr/>
            </p:nvSpPr>
            <p:spPr>
              <a:xfrm>
                <a:off x="4236225" y="2994644"/>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6</a:t>
                </a:r>
              </a:p>
            </p:txBody>
          </p:sp>
          <p:sp>
            <p:nvSpPr>
              <p:cNvPr id="26" name="TextBox 25">
                <a:extLst>
                  <a:ext uri="{FF2B5EF4-FFF2-40B4-BE49-F238E27FC236}">
                    <a16:creationId xmlns:a16="http://schemas.microsoft.com/office/drawing/2014/main" id="{56403C62-669F-FE41-9934-55C0554EAD79}"/>
                  </a:ext>
                </a:extLst>
              </p:cNvPr>
              <p:cNvSpPr txBox="1"/>
              <p:nvPr/>
            </p:nvSpPr>
            <p:spPr>
              <a:xfrm>
                <a:off x="5765762" y="2108319"/>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1</a:t>
                </a:r>
              </a:p>
            </p:txBody>
          </p:sp>
          <p:sp>
            <p:nvSpPr>
              <p:cNvPr id="28" name="TextBox 27">
                <a:extLst>
                  <a:ext uri="{FF2B5EF4-FFF2-40B4-BE49-F238E27FC236}">
                    <a16:creationId xmlns:a16="http://schemas.microsoft.com/office/drawing/2014/main" id="{DA2C1947-9098-DD4B-9FC7-5226288B9885}"/>
                  </a:ext>
                </a:extLst>
              </p:cNvPr>
              <p:cNvSpPr txBox="1"/>
              <p:nvPr/>
            </p:nvSpPr>
            <p:spPr>
              <a:xfrm>
                <a:off x="7228912" y="2999201"/>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2</a:t>
                </a:r>
              </a:p>
            </p:txBody>
          </p:sp>
          <p:sp>
            <p:nvSpPr>
              <p:cNvPr id="30" name="TextBox 29">
                <a:extLst>
                  <a:ext uri="{FF2B5EF4-FFF2-40B4-BE49-F238E27FC236}">
                    <a16:creationId xmlns:a16="http://schemas.microsoft.com/office/drawing/2014/main" id="{A3167FD0-F83D-DD4A-A72D-90405E017D57}"/>
                  </a:ext>
                </a:extLst>
              </p:cNvPr>
              <p:cNvSpPr txBox="1"/>
              <p:nvPr/>
            </p:nvSpPr>
            <p:spPr>
              <a:xfrm>
                <a:off x="7247451" y="475574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3</a:t>
                </a:r>
              </a:p>
            </p:txBody>
          </p:sp>
          <p:sp>
            <p:nvSpPr>
              <p:cNvPr id="31" name="TextBox 30">
                <a:extLst>
                  <a:ext uri="{FF2B5EF4-FFF2-40B4-BE49-F238E27FC236}">
                    <a16:creationId xmlns:a16="http://schemas.microsoft.com/office/drawing/2014/main" id="{CB32858F-D284-8944-839E-5211D8180EC0}"/>
                  </a:ext>
                </a:extLst>
              </p:cNvPr>
              <p:cNvSpPr txBox="1"/>
              <p:nvPr/>
            </p:nvSpPr>
            <p:spPr>
              <a:xfrm>
                <a:off x="5737804" y="5556748"/>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4</a:t>
                </a:r>
              </a:p>
            </p:txBody>
          </p:sp>
          <p:sp>
            <p:nvSpPr>
              <p:cNvPr id="32" name="TextBox 31">
                <a:extLst>
                  <a:ext uri="{FF2B5EF4-FFF2-40B4-BE49-F238E27FC236}">
                    <a16:creationId xmlns:a16="http://schemas.microsoft.com/office/drawing/2014/main" id="{BC7732BD-8AE6-2D4C-8A49-D027171EBC73}"/>
                  </a:ext>
                </a:extLst>
              </p:cNvPr>
              <p:cNvSpPr txBox="1"/>
              <p:nvPr/>
            </p:nvSpPr>
            <p:spPr>
              <a:xfrm>
                <a:off x="4199291" y="472471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5</a:t>
                </a:r>
              </a:p>
            </p:txBody>
          </p:sp>
        </p:grpSp>
        <p:sp>
          <p:nvSpPr>
            <p:cNvPr id="35" name="TextBox 34">
              <a:extLst>
                <a:ext uri="{FF2B5EF4-FFF2-40B4-BE49-F238E27FC236}">
                  <a16:creationId xmlns:a16="http://schemas.microsoft.com/office/drawing/2014/main" id="{A3FF2667-46B6-7849-BE43-553064687CB0}"/>
                </a:ext>
              </a:extLst>
            </p:cNvPr>
            <p:cNvSpPr txBox="1"/>
            <p:nvPr/>
          </p:nvSpPr>
          <p:spPr>
            <a:xfrm>
              <a:off x="5048505" y="224589"/>
              <a:ext cx="2778629"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Value Barriers </a:t>
              </a:r>
            </a:p>
          </p:txBody>
        </p:sp>
        <p:sp>
          <p:nvSpPr>
            <p:cNvPr id="36" name="TextBox 35">
              <a:extLst>
                <a:ext uri="{FF2B5EF4-FFF2-40B4-BE49-F238E27FC236}">
                  <a16:creationId xmlns:a16="http://schemas.microsoft.com/office/drawing/2014/main" id="{76B013F0-AD86-4544-B3B2-B9249653EBF8}"/>
                </a:ext>
              </a:extLst>
            </p:cNvPr>
            <p:cNvSpPr txBox="1"/>
            <p:nvPr/>
          </p:nvSpPr>
          <p:spPr>
            <a:xfrm>
              <a:off x="5204003" y="5943681"/>
              <a:ext cx="2623132"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Proactivity</a:t>
              </a:r>
            </a:p>
          </p:txBody>
        </p:sp>
        <p:sp>
          <p:nvSpPr>
            <p:cNvPr id="37" name="TextBox 36">
              <a:extLst>
                <a:ext uri="{FF2B5EF4-FFF2-40B4-BE49-F238E27FC236}">
                  <a16:creationId xmlns:a16="http://schemas.microsoft.com/office/drawing/2014/main" id="{14359635-1856-764D-AC49-97EC9113F864}"/>
                </a:ext>
              </a:extLst>
            </p:cNvPr>
            <p:cNvSpPr txBox="1"/>
            <p:nvPr/>
          </p:nvSpPr>
          <p:spPr>
            <a:xfrm>
              <a:off x="1954883" y="1624544"/>
              <a:ext cx="280492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Cultural Challenges</a:t>
              </a:r>
            </a:p>
          </p:txBody>
        </p:sp>
        <p:sp>
          <p:nvSpPr>
            <p:cNvPr id="39" name="TextBox 38">
              <a:extLst>
                <a:ext uri="{FF2B5EF4-FFF2-40B4-BE49-F238E27FC236}">
                  <a16:creationId xmlns:a16="http://schemas.microsoft.com/office/drawing/2014/main" id="{5EE6B582-A5AD-7742-A3DB-35B94D69E389}"/>
                </a:ext>
              </a:extLst>
            </p:cNvPr>
            <p:cNvSpPr txBox="1"/>
            <p:nvPr/>
          </p:nvSpPr>
          <p:spPr>
            <a:xfrm>
              <a:off x="2108449" y="4579118"/>
              <a:ext cx="2714734"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Prevention</a:t>
              </a:r>
            </a:p>
          </p:txBody>
        </p:sp>
        <p:sp>
          <p:nvSpPr>
            <p:cNvPr id="40" name="TextBox 39">
              <a:extLst>
                <a:ext uri="{FF2B5EF4-FFF2-40B4-BE49-F238E27FC236}">
                  <a16:creationId xmlns:a16="http://schemas.microsoft.com/office/drawing/2014/main" id="{7842DDC4-618C-EB49-8D92-CC6E8D06A27F}"/>
                </a:ext>
              </a:extLst>
            </p:cNvPr>
            <p:cNvSpPr txBox="1"/>
            <p:nvPr/>
          </p:nvSpPr>
          <p:spPr>
            <a:xfrm>
              <a:off x="8202257" y="4539642"/>
              <a:ext cx="273486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Need/Care Match</a:t>
              </a:r>
            </a:p>
          </p:txBody>
        </p:sp>
      </p:grpSp>
      <p:sp>
        <p:nvSpPr>
          <p:cNvPr id="42" name="Rectangle 41">
            <a:extLst>
              <a:ext uri="{FF2B5EF4-FFF2-40B4-BE49-F238E27FC236}">
                <a16:creationId xmlns:a16="http://schemas.microsoft.com/office/drawing/2014/main" id="{CED96D22-0F74-AF48-B854-0CE3DF5BC976}"/>
              </a:ext>
            </a:extLst>
          </p:cNvPr>
          <p:cNvSpPr/>
          <p:nvPr/>
        </p:nvSpPr>
        <p:spPr>
          <a:xfrm>
            <a:off x="9548037" y="2944368"/>
            <a:ext cx="3253563" cy="4828032"/>
          </a:xfrm>
          <a:prstGeom prst="rect">
            <a:avLst/>
          </a:prstGeom>
          <a:solidFill>
            <a:srgbClr val="0039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13CF5FB-EA21-2E43-8223-310323F91EEC}"/>
              </a:ext>
            </a:extLst>
          </p:cNvPr>
          <p:cNvSpPr/>
          <p:nvPr/>
        </p:nvSpPr>
        <p:spPr>
          <a:xfrm>
            <a:off x="228600" y="534035"/>
            <a:ext cx="6764994" cy="338554"/>
          </a:xfrm>
          <a:prstGeom prst="rect">
            <a:avLst/>
          </a:prstGeom>
        </p:spPr>
        <p:txBody>
          <a:bodyPr wrap="square" anchor="t">
            <a:spAutoFit/>
          </a:bodyPr>
          <a:lstStyle/>
          <a:p>
            <a:r>
              <a:rPr lang="en-US" sz="1600" b="1" dirty="0">
                <a:solidFill>
                  <a:srgbClr val="00A2E2"/>
                </a:solidFill>
              </a:rPr>
              <a:t>Identifying Issues and Opportunities</a:t>
            </a:r>
          </a:p>
        </p:txBody>
      </p:sp>
      <p:sp>
        <p:nvSpPr>
          <p:cNvPr id="44" name="Rectangle 43">
            <a:extLst>
              <a:ext uri="{FF2B5EF4-FFF2-40B4-BE49-F238E27FC236}">
                <a16:creationId xmlns:a16="http://schemas.microsoft.com/office/drawing/2014/main" id="{BEF1FE83-BF87-1E40-BFFF-5C9604484C0C}"/>
              </a:ext>
            </a:extLst>
          </p:cNvPr>
          <p:cNvSpPr/>
          <p:nvPr/>
        </p:nvSpPr>
        <p:spPr>
          <a:xfrm>
            <a:off x="9548037" y="3094081"/>
            <a:ext cx="3253563" cy="584775"/>
          </a:xfrm>
          <a:prstGeom prst="rect">
            <a:avLst/>
          </a:prstGeom>
        </p:spPr>
        <p:txBody>
          <a:bodyPr wrap="square" anchor="t">
            <a:spAutoFit/>
          </a:bodyPr>
          <a:lstStyle/>
          <a:p>
            <a:pPr algn="ctr"/>
            <a:r>
              <a:rPr lang="en-US" sz="1600" b="1" dirty="0">
                <a:solidFill>
                  <a:schemeClr val="bg1"/>
                </a:solidFill>
              </a:rPr>
              <a:t>Competitive / Startup </a:t>
            </a:r>
            <a:br>
              <a:rPr lang="en-US" sz="1600" b="1" dirty="0">
                <a:solidFill>
                  <a:schemeClr val="bg1"/>
                </a:solidFill>
              </a:rPr>
            </a:br>
            <a:r>
              <a:rPr lang="en-US" sz="1600" b="1" dirty="0">
                <a:solidFill>
                  <a:schemeClr val="bg1"/>
                </a:solidFill>
              </a:rPr>
              <a:t>Landscape</a:t>
            </a:r>
          </a:p>
        </p:txBody>
      </p:sp>
      <p:sp>
        <p:nvSpPr>
          <p:cNvPr id="33" name="Rectangle 32">
            <a:extLst>
              <a:ext uri="{FF2B5EF4-FFF2-40B4-BE49-F238E27FC236}">
                <a16:creationId xmlns:a16="http://schemas.microsoft.com/office/drawing/2014/main" id="{293B0394-788D-F54F-BE4B-9670F2C4C2F8}"/>
              </a:ext>
            </a:extLst>
          </p:cNvPr>
          <p:cNvSpPr/>
          <p:nvPr/>
        </p:nvSpPr>
        <p:spPr>
          <a:xfrm>
            <a:off x="9787013" y="3828569"/>
            <a:ext cx="2791679" cy="845360"/>
          </a:xfrm>
          <a:prstGeom prst="rect">
            <a:avLst/>
          </a:prstGeom>
          <a:ln>
            <a:noFill/>
          </a:ln>
        </p:spPr>
        <p:txBody>
          <a:bodyPr wrap="square">
            <a:spAutoFit/>
          </a:bodyPr>
          <a:lstStyle/>
          <a:p>
            <a:pPr defTabSz="914378">
              <a:lnSpc>
                <a:spcPct val="95000"/>
              </a:lnSpc>
              <a:spcBef>
                <a:spcPts val="200"/>
              </a:spcBef>
              <a:spcAft>
                <a:spcPts val="200"/>
              </a:spcAft>
            </a:pPr>
            <a:r>
              <a:rPr lang="en-US" sz="1200" b="1" kern="0" dirty="0">
                <a:solidFill>
                  <a:srgbClr val="B1E2FF"/>
                </a:solidFill>
                <a:latin typeface="Arial Narrow" pitchFamily="34" charset="0"/>
              </a:rPr>
              <a:t>Cigna</a:t>
            </a:r>
            <a:r>
              <a:rPr lang="en-US" sz="1200" b="1" kern="0" dirty="0">
                <a:solidFill>
                  <a:srgbClr val="0070C0"/>
                </a:solidFill>
                <a:latin typeface="Arial Narrow" pitchFamily="34" charset="0"/>
              </a:rPr>
              <a:t> </a:t>
            </a:r>
          </a:p>
          <a:p>
            <a:pPr defTabSz="914378">
              <a:lnSpc>
                <a:spcPct val="95000"/>
              </a:lnSpc>
              <a:spcBef>
                <a:spcPts val="200"/>
              </a:spcBef>
              <a:spcAft>
                <a:spcPts val="200"/>
              </a:spcAft>
            </a:pPr>
            <a:r>
              <a:rPr lang="en-US" sz="1200" b="1" kern="0" dirty="0">
                <a:solidFill>
                  <a:schemeClr val="bg1"/>
                </a:solidFill>
                <a:latin typeface="Arial Narrow" pitchFamily="34" charset="0"/>
              </a:rPr>
              <a:t>American Society of Addiction Med Partnership: </a:t>
            </a:r>
            <a:r>
              <a:rPr lang="en-US" sz="1200" kern="0" dirty="0">
                <a:solidFill>
                  <a:schemeClr val="bg1"/>
                </a:solidFill>
                <a:latin typeface="Arial Narrow" pitchFamily="34" charset="0"/>
              </a:rPr>
              <a:t>Validating evidence-based outcomes </a:t>
            </a:r>
          </a:p>
        </p:txBody>
      </p:sp>
      <p:sp>
        <p:nvSpPr>
          <p:cNvPr id="34" name="Rectangle 33">
            <a:extLst>
              <a:ext uri="{FF2B5EF4-FFF2-40B4-BE49-F238E27FC236}">
                <a16:creationId xmlns:a16="http://schemas.microsoft.com/office/drawing/2014/main" id="{88A87FB6-4B43-1D4F-BD4B-BAA896D9FE8F}"/>
              </a:ext>
            </a:extLst>
          </p:cNvPr>
          <p:cNvSpPr/>
          <p:nvPr/>
        </p:nvSpPr>
        <p:spPr>
          <a:xfrm>
            <a:off x="6429464" y="2609123"/>
            <a:ext cx="2979712" cy="1877437"/>
          </a:xfrm>
          <a:prstGeom prst="rect">
            <a:avLst/>
          </a:prstGeom>
        </p:spPr>
        <p:txBody>
          <a:bodyPr wrap="square">
            <a:spAutoFit/>
          </a:bodyPr>
          <a:lstStyle/>
          <a:p>
            <a:pPr>
              <a:spcAft>
                <a:spcPts val="600"/>
              </a:spcAft>
            </a:pPr>
            <a:r>
              <a:rPr lang="en-US" sz="1200" b="1" dirty="0"/>
              <a:t>How might we…</a:t>
            </a:r>
          </a:p>
          <a:p>
            <a:pPr marL="160020" indent="-160020">
              <a:spcAft>
                <a:spcPts val="600"/>
              </a:spcAft>
              <a:buFont typeface="Arial" panose="020B0604020202020204" pitchFamily="34" charset="0"/>
              <a:buChar char="•"/>
            </a:pPr>
            <a:r>
              <a:rPr lang="en-US" sz="1200" dirty="0"/>
              <a:t>Partner with employers who value employee attendance and productivity and are willing to invest in BH care to impact those metrics?</a:t>
            </a:r>
          </a:p>
          <a:p>
            <a:pPr marL="160020" indent="-160020">
              <a:spcAft>
                <a:spcPts val="600"/>
              </a:spcAft>
              <a:buFont typeface="Arial" panose="020B0604020202020204" pitchFamily="34" charset="0"/>
              <a:buChar char="•"/>
            </a:pPr>
            <a:endParaRPr lang="en-US" sz="1200" dirty="0"/>
          </a:p>
          <a:p>
            <a:pPr marL="160020" indent="-160020">
              <a:spcAft>
                <a:spcPts val="600"/>
              </a:spcAft>
              <a:buFont typeface="Arial" panose="020B0604020202020204" pitchFamily="34" charset="0"/>
              <a:buChar char="•"/>
            </a:pPr>
            <a:endParaRPr lang="en-US" sz="1200" dirty="0"/>
          </a:p>
          <a:p>
            <a:pPr marL="160020" indent="-160020">
              <a:spcAft>
                <a:spcPts val="600"/>
              </a:spcAft>
              <a:buFont typeface="Arial" panose="020B0604020202020204" pitchFamily="34" charset="0"/>
              <a:buChar char="•"/>
            </a:pPr>
            <a:endParaRPr lang="en-US" sz="1200" dirty="0"/>
          </a:p>
        </p:txBody>
      </p:sp>
      <p:sp>
        <p:nvSpPr>
          <p:cNvPr id="38" name="Rectangle 37">
            <a:extLst>
              <a:ext uri="{FF2B5EF4-FFF2-40B4-BE49-F238E27FC236}">
                <a16:creationId xmlns:a16="http://schemas.microsoft.com/office/drawing/2014/main" id="{4900BCE3-15B8-BD45-A339-EE4992ABD056}"/>
              </a:ext>
            </a:extLst>
          </p:cNvPr>
          <p:cNvSpPr/>
          <p:nvPr/>
        </p:nvSpPr>
        <p:spPr>
          <a:xfrm>
            <a:off x="298401" y="2609123"/>
            <a:ext cx="5892087" cy="4462760"/>
          </a:xfrm>
          <a:prstGeom prst="rect">
            <a:avLst/>
          </a:prstGeom>
        </p:spPr>
        <p:txBody>
          <a:bodyPr wrap="square">
            <a:spAutoFit/>
          </a:bodyPr>
          <a:lstStyle/>
          <a:p>
            <a:pPr>
              <a:spcAft>
                <a:spcPts val="600"/>
              </a:spcAft>
            </a:pPr>
            <a:r>
              <a:rPr lang="en-US" sz="1200" b="1" dirty="0"/>
              <a:t>Why is this so critical?</a:t>
            </a:r>
          </a:p>
          <a:p>
            <a:pPr marL="160020" indent="-160020">
              <a:spcAft>
                <a:spcPts val="600"/>
              </a:spcAft>
              <a:buFont typeface="Arial" panose="020B0604020202020204" pitchFamily="34" charset="0"/>
              <a:buChar char="•"/>
            </a:pPr>
            <a:r>
              <a:rPr lang="en-US" sz="1200" b="1" dirty="0"/>
              <a:t>The GAF score, which is used across the industry as the standard for BH assessment, is too subjective </a:t>
            </a:r>
            <a:r>
              <a:rPr lang="en-US" sz="1200" dirty="0"/>
              <a:t>and outcomes are measured by changes of individual scores. Today’s scores do not take into account the complex interaction between symptoms and surrounding factors. These factors are critical when understanding treatment decisions and outcomes. </a:t>
            </a:r>
            <a:br>
              <a:rPr lang="en-US" sz="1200" dirty="0"/>
            </a:br>
            <a:br>
              <a:rPr lang="en-US" sz="1200" dirty="0"/>
            </a:br>
            <a:r>
              <a:rPr lang="en-US" sz="1200" dirty="0"/>
              <a:t>We should assess alternative outcome measurement frameworks (WHODAS 2.0, </a:t>
            </a:r>
            <a:r>
              <a:rPr lang="en-US" sz="1200" dirty="0" err="1"/>
              <a:t>HoNOS</a:t>
            </a:r>
            <a:r>
              <a:rPr lang="en-US" sz="1200" dirty="0"/>
              <a:t>) that bring more global and functional criteria. Also, consider the measurement of outcomes based on patient reported satisfaction and progress toward goals set with the clinician.</a:t>
            </a:r>
          </a:p>
          <a:p>
            <a:pPr marL="160020" indent="-160020">
              <a:spcAft>
                <a:spcPts val="600"/>
              </a:spcAft>
              <a:buFont typeface="Arial" panose="020B0604020202020204" pitchFamily="34" charset="0"/>
              <a:buChar char="•"/>
            </a:pPr>
            <a:r>
              <a:rPr lang="en-US" sz="1200" dirty="0"/>
              <a:t>You can’t reimburse for care based on outcomes if you don’t fairly and accurately assess clinical outcomes. Implementing a new form of measurement is an </a:t>
            </a:r>
            <a:r>
              <a:rPr lang="en-US" sz="1200" b="1" dirty="0"/>
              <a:t>essential step in activating Value Based BH care and reimbursement models.</a:t>
            </a:r>
            <a:r>
              <a:rPr lang="en-US" sz="1200" dirty="0"/>
              <a:t> </a:t>
            </a:r>
          </a:p>
          <a:p>
            <a:pPr marL="160020" indent="-160020">
              <a:spcAft>
                <a:spcPts val="600"/>
              </a:spcAft>
              <a:buFont typeface="Arial" panose="020B0604020202020204" pitchFamily="34" charset="0"/>
              <a:buChar char="•"/>
            </a:pPr>
            <a:r>
              <a:rPr lang="en-US" sz="1200" b="1" dirty="0"/>
              <a:t>Outcomes shouldn’t be limited to our measures </a:t>
            </a:r>
            <a:r>
              <a:rPr lang="en-US" sz="1200" dirty="0"/>
              <a:t>of health and cost factors. An estimated 200 million workdays are lost due to mental health conditions each year ($16.8 billion in employee productivity). Employers and our commercial clients are looking for solutions to bring evidence-based Behavioral Health support to their workforce, with measurable outcomes in </a:t>
            </a:r>
            <a:r>
              <a:rPr lang="en-US" sz="1200" b="1" dirty="0"/>
              <a:t>increased productivity, declines in absenteeism, and reductions in disability claims due to BH conditions.</a:t>
            </a:r>
          </a:p>
          <a:p>
            <a:pPr marL="160020" indent="-160020">
              <a:buFont typeface="Arial" panose="020B0604020202020204" pitchFamily="34" charset="0"/>
              <a:buChar char="•"/>
            </a:pPr>
            <a:endParaRPr lang="en-US" sz="1200" dirty="0"/>
          </a:p>
        </p:txBody>
      </p:sp>
      <p:sp>
        <p:nvSpPr>
          <p:cNvPr id="41" name="Rectangle 40">
            <a:extLst>
              <a:ext uri="{FF2B5EF4-FFF2-40B4-BE49-F238E27FC236}">
                <a16:creationId xmlns:a16="http://schemas.microsoft.com/office/drawing/2014/main" id="{5E3BAE5A-11DD-D54A-8D26-665D6B316A37}"/>
              </a:ext>
            </a:extLst>
          </p:cNvPr>
          <p:cNvSpPr/>
          <p:nvPr/>
        </p:nvSpPr>
        <p:spPr>
          <a:xfrm>
            <a:off x="298401" y="1704715"/>
            <a:ext cx="8950965" cy="830997"/>
          </a:xfrm>
          <a:prstGeom prst="rect">
            <a:avLst/>
          </a:prstGeom>
        </p:spPr>
        <p:txBody>
          <a:bodyPr wrap="square">
            <a:spAutoFit/>
          </a:bodyPr>
          <a:lstStyle/>
          <a:p>
            <a:r>
              <a:rPr lang="en-US" sz="1600" dirty="0"/>
              <a:t>Establish a BH outcome-assessment which uses multi-faceted criteria, accounts for complex cases, and measures the progress made toward shared clinician and patient goals as a more accurate form of outcome measurement.</a:t>
            </a:r>
          </a:p>
        </p:txBody>
      </p:sp>
    </p:spTree>
    <p:extLst>
      <p:ext uri="{BB962C8B-B14F-4D97-AF65-F5344CB8AC3E}">
        <p14:creationId xmlns:p14="http://schemas.microsoft.com/office/powerpoint/2010/main" val="968159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1AEC8755-968C-E94A-B115-1636F814A717}"/>
              </a:ext>
            </a:extLst>
          </p:cNvPr>
          <p:cNvSpPr/>
          <p:nvPr/>
        </p:nvSpPr>
        <p:spPr>
          <a:xfrm>
            <a:off x="168964" y="-2218162"/>
            <a:ext cx="7549587" cy="1015663"/>
          </a:xfrm>
          <a:prstGeom prst="rect">
            <a:avLst/>
          </a:prstGeom>
        </p:spPr>
        <p:txBody>
          <a:bodyPr wrap="square" anchor="t">
            <a:spAutoFit/>
          </a:bodyPr>
          <a:lstStyle/>
          <a:p>
            <a:r>
              <a:rPr lang="en-US" sz="2400" b="1" dirty="0">
                <a:solidFill>
                  <a:srgbClr val="003963"/>
                </a:solidFill>
              </a:rPr>
              <a:t>The urgency is now: </a:t>
            </a:r>
          </a:p>
          <a:p>
            <a:r>
              <a:rPr lang="en-US" sz="1800" dirty="0">
                <a:solidFill>
                  <a:srgbClr val="00A2E2"/>
                </a:solidFill>
              </a:rPr>
              <a:t>How do we ensure we are addressing the critical issues and opportunities that are emerging in the Behavioral Health Epidemic </a:t>
            </a:r>
          </a:p>
        </p:txBody>
      </p:sp>
      <p:sp>
        <p:nvSpPr>
          <p:cNvPr id="3" name="Rectangle 2">
            <a:extLst>
              <a:ext uri="{FF2B5EF4-FFF2-40B4-BE49-F238E27FC236}">
                <a16:creationId xmlns:a16="http://schemas.microsoft.com/office/drawing/2014/main" id="{322914B9-0928-8C47-989E-3946B358255E}"/>
              </a:ext>
            </a:extLst>
          </p:cNvPr>
          <p:cNvSpPr/>
          <p:nvPr/>
        </p:nvSpPr>
        <p:spPr>
          <a:xfrm>
            <a:off x="-8562134" y="1887595"/>
            <a:ext cx="8214610" cy="2062103"/>
          </a:xfrm>
          <a:prstGeom prst="rect">
            <a:avLst/>
          </a:prstGeom>
        </p:spPr>
        <p:txBody>
          <a:bodyPr wrap="square">
            <a:spAutoFit/>
          </a:bodyPr>
          <a:lstStyle/>
          <a:p>
            <a:endParaRPr lang="en-US" sz="1600" dirty="0"/>
          </a:p>
          <a:p>
            <a:r>
              <a:rPr lang="en-US" sz="1600" dirty="0"/>
              <a:t>How might we:</a:t>
            </a:r>
          </a:p>
          <a:p>
            <a:pPr marL="342900" indent="-342900">
              <a:buFont typeface="Arial" panose="020B0604020202020204" pitchFamily="34" charset="0"/>
              <a:buChar char="•"/>
            </a:pPr>
            <a:r>
              <a:rPr lang="en-US" sz="1600" dirty="0"/>
              <a:t>Influence the negotiations of BH reimbursement rates?</a:t>
            </a:r>
          </a:p>
          <a:p>
            <a:pPr marL="342900" indent="-342900">
              <a:buFont typeface="Arial" panose="020B0604020202020204" pitchFamily="34" charset="0"/>
              <a:buChar char="•"/>
            </a:pPr>
            <a:r>
              <a:rPr lang="en-US" sz="1600" dirty="0"/>
              <a:t>align incentives so that clinicians can deliver the best care possible</a:t>
            </a:r>
          </a:p>
          <a:p>
            <a:pPr marL="342900" indent="-342900">
              <a:buFont typeface="Arial" panose="020B0604020202020204" pitchFamily="34" charset="0"/>
              <a:buChar char="•"/>
            </a:pPr>
            <a:r>
              <a:rPr lang="en-US" sz="1600" dirty="0"/>
              <a:t>for BH patients while still remaining financially viable?</a:t>
            </a:r>
          </a:p>
          <a:p>
            <a:pPr marL="342900" indent="-342900">
              <a:buFont typeface="Arial" panose="020B0604020202020204" pitchFamily="34" charset="0"/>
              <a:buChar char="•"/>
            </a:pPr>
            <a:r>
              <a:rPr lang="en-US" sz="1600" dirty="0"/>
              <a:t>Encourage clinician willingness to engage in-network (and not</a:t>
            </a:r>
          </a:p>
          <a:p>
            <a:pPr marL="342900" indent="-342900">
              <a:buFont typeface="Arial" panose="020B0604020202020204" pitchFamily="34" charset="0"/>
              <a:buChar char="•"/>
            </a:pPr>
            <a:r>
              <a:rPr lang="en-US" sz="1600" dirty="0"/>
              <a:t>cash-only) encounters utilizing smart benefit, reimbursement, and</a:t>
            </a:r>
          </a:p>
          <a:p>
            <a:pPr marL="342900" indent="-342900">
              <a:buFont typeface="Arial" panose="020B0604020202020204" pitchFamily="34" charset="0"/>
              <a:buChar char="•"/>
            </a:pPr>
            <a:r>
              <a:rPr lang="en-US" sz="1600" dirty="0"/>
              <a:t>authorization design</a:t>
            </a:r>
          </a:p>
        </p:txBody>
      </p:sp>
      <p:sp>
        <p:nvSpPr>
          <p:cNvPr id="4" name="Rectangle 3">
            <a:extLst>
              <a:ext uri="{FF2B5EF4-FFF2-40B4-BE49-F238E27FC236}">
                <a16:creationId xmlns:a16="http://schemas.microsoft.com/office/drawing/2014/main" id="{50818B1C-7512-BF4C-A24D-63537D0ED002}"/>
              </a:ext>
            </a:extLst>
          </p:cNvPr>
          <p:cNvSpPr/>
          <p:nvPr/>
        </p:nvSpPr>
        <p:spPr>
          <a:xfrm>
            <a:off x="298402" y="1145470"/>
            <a:ext cx="8720584" cy="461665"/>
          </a:xfrm>
          <a:prstGeom prst="rect">
            <a:avLst/>
          </a:prstGeom>
        </p:spPr>
        <p:txBody>
          <a:bodyPr wrap="square">
            <a:spAutoFit/>
          </a:bodyPr>
          <a:lstStyle/>
          <a:p>
            <a:r>
              <a:rPr lang="en-US" sz="2400" b="1" dirty="0">
                <a:solidFill>
                  <a:srgbClr val="002060"/>
                </a:solidFill>
              </a:rPr>
              <a:t>Develop Complimentary Reimbursement and Care Models</a:t>
            </a:r>
          </a:p>
        </p:txBody>
      </p:sp>
      <p:sp>
        <p:nvSpPr>
          <p:cNvPr id="12" name="Rectangle 11">
            <a:extLst>
              <a:ext uri="{FF2B5EF4-FFF2-40B4-BE49-F238E27FC236}">
                <a16:creationId xmlns:a16="http://schemas.microsoft.com/office/drawing/2014/main" id="{FF75D8D4-2E5B-8141-92F5-2E65763F210A}"/>
              </a:ext>
            </a:extLst>
          </p:cNvPr>
          <p:cNvSpPr/>
          <p:nvPr/>
        </p:nvSpPr>
        <p:spPr>
          <a:xfrm>
            <a:off x="9548037" y="0"/>
            <a:ext cx="3253563" cy="288950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3942695-DEE0-D342-9001-6E26D151834E}"/>
              </a:ext>
            </a:extLst>
          </p:cNvPr>
          <p:cNvSpPr/>
          <p:nvPr/>
        </p:nvSpPr>
        <p:spPr>
          <a:xfrm>
            <a:off x="9548037" y="369169"/>
            <a:ext cx="3253563" cy="338554"/>
          </a:xfrm>
          <a:prstGeom prst="rect">
            <a:avLst/>
          </a:prstGeom>
        </p:spPr>
        <p:txBody>
          <a:bodyPr wrap="square" anchor="t">
            <a:spAutoFit/>
          </a:bodyPr>
          <a:lstStyle/>
          <a:p>
            <a:pPr algn="ctr"/>
            <a:r>
              <a:rPr lang="en-US" sz="1600" b="1" dirty="0">
                <a:solidFill>
                  <a:schemeClr val="bg1"/>
                </a:solidFill>
              </a:rPr>
              <a:t>Critical Problems</a:t>
            </a:r>
          </a:p>
        </p:txBody>
      </p:sp>
      <p:grpSp>
        <p:nvGrpSpPr>
          <p:cNvPr id="5" name="Group 4">
            <a:extLst>
              <a:ext uri="{FF2B5EF4-FFF2-40B4-BE49-F238E27FC236}">
                <a16:creationId xmlns:a16="http://schemas.microsoft.com/office/drawing/2014/main" id="{4010EF52-C5D7-364A-9BFE-02E8D06E4633}"/>
              </a:ext>
            </a:extLst>
          </p:cNvPr>
          <p:cNvGrpSpPr/>
          <p:nvPr/>
        </p:nvGrpSpPr>
        <p:grpSpPr>
          <a:xfrm>
            <a:off x="10054011" y="824143"/>
            <a:ext cx="2241613" cy="1631010"/>
            <a:chOff x="1954883" y="224589"/>
            <a:chExt cx="9056437" cy="6589517"/>
          </a:xfrm>
        </p:grpSpPr>
        <p:sp>
          <p:nvSpPr>
            <p:cNvPr id="14" name="TextBox 13">
              <a:extLst>
                <a:ext uri="{FF2B5EF4-FFF2-40B4-BE49-F238E27FC236}">
                  <a16:creationId xmlns:a16="http://schemas.microsoft.com/office/drawing/2014/main" id="{B31051DD-EB23-794F-8BAD-F9F7F16AC8B0}"/>
                </a:ext>
              </a:extLst>
            </p:cNvPr>
            <p:cNvSpPr txBox="1"/>
            <p:nvPr/>
          </p:nvSpPr>
          <p:spPr>
            <a:xfrm>
              <a:off x="8244614" y="1587504"/>
              <a:ext cx="2766706"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Clinician </a:t>
              </a:r>
              <a:br>
                <a:rPr lang="en-US" sz="800" spc="-16" dirty="0">
                  <a:solidFill>
                    <a:schemeClr val="bg1"/>
                  </a:solidFill>
                  <a:latin typeface="+mj-lt"/>
                  <a:ea typeface="Source Sans Pro" panose="020B0503030403020204" pitchFamily="34" charset="0"/>
                </a:rPr>
              </a:br>
              <a:r>
                <a:rPr lang="en-US" sz="800" spc="-16" dirty="0">
                  <a:solidFill>
                    <a:schemeClr val="bg1"/>
                  </a:solidFill>
                  <a:latin typeface="+mj-lt"/>
                  <a:ea typeface="Source Sans Pro" panose="020B0503030403020204" pitchFamily="34" charset="0"/>
                </a:rPr>
                <a:t>Challenges </a:t>
              </a:r>
            </a:p>
          </p:txBody>
        </p:sp>
        <p:grpSp>
          <p:nvGrpSpPr>
            <p:cNvPr id="15" name="Group 14">
              <a:extLst>
                <a:ext uri="{FF2B5EF4-FFF2-40B4-BE49-F238E27FC236}">
                  <a16:creationId xmlns:a16="http://schemas.microsoft.com/office/drawing/2014/main" id="{6EE47F6B-8362-8A4F-9C3C-2F4D7C87260E}"/>
                </a:ext>
              </a:extLst>
            </p:cNvPr>
            <p:cNvGrpSpPr/>
            <p:nvPr/>
          </p:nvGrpSpPr>
          <p:grpSpPr>
            <a:xfrm>
              <a:off x="4052176" y="1669056"/>
              <a:ext cx="4821704" cy="4177981"/>
              <a:chOff x="3467290" y="2011174"/>
              <a:chExt cx="5867022" cy="5083743"/>
            </a:xfrm>
          </p:grpSpPr>
          <p:sp>
            <p:nvSpPr>
              <p:cNvPr id="16" name="Freeform 176">
                <a:extLst>
                  <a:ext uri="{FF2B5EF4-FFF2-40B4-BE49-F238E27FC236}">
                    <a16:creationId xmlns:a16="http://schemas.microsoft.com/office/drawing/2014/main" id="{172F5DE8-A200-9A4A-AC04-67E7077393A6}"/>
                  </a:ext>
                </a:extLst>
              </p:cNvPr>
              <p:cNvSpPr>
                <a:spLocks/>
              </p:cNvSpPr>
              <p:nvPr/>
            </p:nvSpPr>
            <p:spPr bwMode="auto">
              <a:xfrm>
                <a:off x="4932533" y="4553045"/>
                <a:ext cx="2933511" cy="2541872"/>
              </a:xfrm>
              <a:custGeom>
                <a:avLst/>
                <a:gdLst>
                  <a:gd name="T0" fmla="*/ 1540102 w 4486"/>
                  <a:gd name="T1" fmla="*/ 0 h 3885"/>
                  <a:gd name="T2" fmla="*/ 0 w 4486"/>
                  <a:gd name="T3" fmla="*/ 2667613 h 3885"/>
                  <a:gd name="T4" fmla="*/ 3079517 w 4486"/>
                  <a:gd name="T5" fmla="*/ 2667613 h 3885"/>
                  <a:gd name="T6" fmla="*/ 1540102 w 4486"/>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5">
                    <a:moveTo>
                      <a:pt x="2243" y="0"/>
                    </a:moveTo>
                    <a:lnTo>
                      <a:pt x="0" y="3884"/>
                    </a:lnTo>
                    <a:lnTo>
                      <a:pt x="4485" y="3884"/>
                    </a:lnTo>
                    <a:lnTo>
                      <a:pt x="2243" y="0"/>
                    </a:lnTo>
                  </a:path>
                </a:pathLst>
              </a:custGeom>
              <a:solidFill>
                <a:schemeClr val="accent1"/>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18" name="Freeform 177">
                <a:extLst>
                  <a:ext uri="{FF2B5EF4-FFF2-40B4-BE49-F238E27FC236}">
                    <a16:creationId xmlns:a16="http://schemas.microsoft.com/office/drawing/2014/main" id="{973F8BCD-381C-554A-88BC-12252EE97DCC}"/>
                  </a:ext>
                </a:extLst>
              </p:cNvPr>
              <p:cNvSpPr>
                <a:spLocks/>
              </p:cNvSpPr>
              <p:nvPr/>
            </p:nvSpPr>
            <p:spPr bwMode="auto">
              <a:xfrm>
                <a:off x="6400801" y="2011174"/>
                <a:ext cx="2933511" cy="2541871"/>
              </a:xfrm>
              <a:custGeom>
                <a:avLst/>
                <a:gdLst>
                  <a:gd name="T0" fmla="*/ 1539760 w 4485"/>
                  <a:gd name="T1" fmla="*/ 0 h 3884"/>
                  <a:gd name="T2" fmla="*/ 0 w 4485"/>
                  <a:gd name="T3" fmla="*/ 2667611 h 3884"/>
                  <a:gd name="T4" fmla="*/ 3079519 w 4485"/>
                  <a:gd name="T5" fmla="*/ 2667611 h 3884"/>
                  <a:gd name="T6" fmla="*/ 1539760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2" y="0"/>
                    </a:moveTo>
                    <a:lnTo>
                      <a:pt x="0" y="3883"/>
                    </a:lnTo>
                    <a:lnTo>
                      <a:pt x="4484" y="3883"/>
                    </a:lnTo>
                    <a:lnTo>
                      <a:pt x="2242" y="0"/>
                    </a:lnTo>
                  </a:path>
                </a:pathLst>
              </a:custGeom>
              <a:solidFill>
                <a:schemeClr val="accent1"/>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19" name="Freeform 178">
                <a:extLst>
                  <a:ext uri="{FF2B5EF4-FFF2-40B4-BE49-F238E27FC236}">
                    <a16:creationId xmlns:a16="http://schemas.microsoft.com/office/drawing/2014/main" id="{AD19ABC7-281D-C44D-9E92-17522BA0EAD3}"/>
                  </a:ext>
                </a:extLst>
              </p:cNvPr>
              <p:cNvSpPr>
                <a:spLocks/>
              </p:cNvSpPr>
              <p:nvPr/>
            </p:nvSpPr>
            <p:spPr bwMode="auto">
              <a:xfrm>
                <a:off x="4932533" y="2020246"/>
                <a:ext cx="2933511" cy="2540360"/>
              </a:xfrm>
              <a:custGeom>
                <a:avLst/>
                <a:gdLst>
                  <a:gd name="T0" fmla="*/ 1540102 w 4486"/>
                  <a:gd name="T1" fmla="*/ 2667613 h 3883"/>
                  <a:gd name="T2" fmla="*/ 3079517 w 4486"/>
                  <a:gd name="T3" fmla="*/ 0 h 3883"/>
                  <a:gd name="T4" fmla="*/ 0 w 4486"/>
                  <a:gd name="T5" fmla="*/ 0 h 3883"/>
                  <a:gd name="T6" fmla="*/ 1540102 w 4486"/>
                  <a:gd name="T7" fmla="*/ 2667613 h 38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3">
                    <a:moveTo>
                      <a:pt x="2243" y="3882"/>
                    </a:moveTo>
                    <a:lnTo>
                      <a:pt x="4485" y="0"/>
                    </a:lnTo>
                    <a:lnTo>
                      <a:pt x="0" y="0"/>
                    </a:lnTo>
                    <a:lnTo>
                      <a:pt x="2243" y="3882"/>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0" name="Freeform 179">
                <a:extLst>
                  <a:ext uri="{FF2B5EF4-FFF2-40B4-BE49-F238E27FC236}">
                    <a16:creationId xmlns:a16="http://schemas.microsoft.com/office/drawing/2014/main" id="{AF6AA1F1-DB5D-6B48-A577-74C17CE1EC12}"/>
                  </a:ext>
                </a:extLst>
              </p:cNvPr>
              <p:cNvSpPr>
                <a:spLocks/>
              </p:cNvSpPr>
              <p:nvPr/>
            </p:nvSpPr>
            <p:spPr bwMode="auto">
              <a:xfrm>
                <a:off x="6400801" y="4553045"/>
                <a:ext cx="2933511" cy="2541872"/>
              </a:xfrm>
              <a:custGeom>
                <a:avLst/>
                <a:gdLst>
                  <a:gd name="T0" fmla="*/ 0 w 4485"/>
                  <a:gd name="T1" fmla="*/ 0 h 3885"/>
                  <a:gd name="T2" fmla="*/ 1539760 w 4485"/>
                  <a:gd name="T3" fmla="*/ 2667613 h 3885"/>
                  <a:gd name="T4" fmla="*/ 3079519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2"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2" name="Freeform 180">
                <a:extLst>
                  <a:ext uri="{FF2B5EF4-FFF2-40B4-BE49-F238E27FC236}">
                    <a16:creationId xmlns:a16="http://schemas.microsoft.com/office/drawing/2014/main" id="{94282D5D-44FA-5B42-A123-9A93B3B2AD5D}"/>
                  </a:ext>
                </a:extLst>
              </p:cNvPr>
              <p:cNvSpPr>
                <a:spLocks/>
              </p:cNvSpPr>
              <p:nvPr/>
            </p:nvSpPr>
            <p:spPr bwMode="auto">
              <a:xfrm>
                <a:off x="3467290" y="2011174"/>
                <a:ext cx="2933511" cy="2541871"/>
              </a:xfrm>
              <a:custGeom>
                <a:avLst/>
                <a:gdLst>
                  <a:gd name="T0" fmla="*/ 1539072 w 4485"/>
                  <a:gd name="T1" fmla="*/ 0 h 3884"/>
                  <a:gd name="T2" fmla="*/ 0 w 4485"/>
                  <a:gd name="T3" fmla="*/ 2667611 h 3884"/>
                  <a:gd name="T4" fmla="*/ 3079517 w 4485"/>
                  <a:gd name="T5" fmla="*/ 2667611 h 3884"/>
                  <a:gd name="T6" fmla="*/ 1539072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1" y="0"/>
                    </a:moveTo>
                    <a:lnTo>
                      <a:pt x="0" y="3883"/>
                    </a:lnTo>
                    <a:lnTo>
                      <a:pt x="4484" y="3883"/>
                    </a:lnTo>
                    <a:lnTo>
                      <a:pt x="2241" y="0"/>
                    </a:lnTo>
                  </a:path>
                </a:pathLst>
              </a:custGeom>
              <a:solidFill>
                <a:schemeClr val="accent2">
                  <a:lumMod val="75000"/>
                </a:schemeClr>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4" name="Freeform 181">
                <a:extLst>
                  <a:ext uri="{FF2B5EF4-FFF2-40B4-BE49-F238E27FC236}">
                    <a16:creationId xmlns:a16="http://schemas.microsoft.com/office/drawing/2014/main" id="{78693D03-3054-3D4E-9627-E0A7EA652F9E}"/>
                  </a:ext>
                </a:extLst>
              </p:cNvPr>
              <p:cNvSpPr>
                <a:spLocks/>
              </p:cNvSpPr>
              <p:nvPr/>
            </p:nvSpPr>
            <p:spPr bwMode="auto">
              <a:xfrm>
                <a:off x="3467290" y="4553045"/>
                <a:ext cx="2933511" cy="2541872"/>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5" name="TextBox 24">
                <a:extLst>
                  <a:ext uri="{FF2B5EF4-FFF2-40B4-BE49-F238E27FC236}">
                    <a16:creationId xmlns:a16="http://schemas.microsoft.com/office/drawing/2014/main" id="{A4E847B4-3DF6-0346-9E09-2E13EF18D004}"/>
                  </a:ext>
                </a:extLst>
              </p:cNvPr>
              <p:cNvSpPr txBox="1"/>
              <p:nvPr/>
            </p:nvSpPr>
            <p:spPr>
              <a:xfrm>
                <a:off x="4236225" y="2994644"/>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6</a:t>
                </a:r>
              </a:p>
            </p:txBody>
          </p:sp>
          <p:sp>
            <p:nvSpPr>
              <p:cNvPr id="26" name="TextBox 25">
                <a:extLst>
                  <a:ext uri="{FF2B5EF4-FFF2-40B4-BE49-F238E27FC236}">
                    <a16:creationId xmlns:a16="http://schemas.microsoft.com/office/drawing/2014/main" id="{56403C62-669F-FE41-9934-55C0554EAD79}"/>
                  </a:ext>
                </a:extLst>
              </p:cNvPr>
              <p:cNvSpPr txBox="1"/>
              <p:nvPr/>
            </p:nvSpPr>
            <p:spPr>
              <a:xfrm>
                <a:off x="5765762" y="2108319"/>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1</a:t>
                </a:r>
              </a:p>
            </p:txBody>
          </p:sp>
          <p:sp>
            <p:nvSpPr>
              <p:cNvPr id="28" name="TextBox 27">
                <a:extLst>
                  <a:ext uri="{FF2B5EF4-FFF2-40B4-BE49-F238E27FC236}">
                    <a16:creationId xmlns:a16="http://schemas.microsoft.com/office/drawing/2014/main" id="{DA2C1947-9098-DD4B-9FC7-5226288B9885}"/>
                  </a:ext>
                </a:extLst>
              </p:cNvPr>
              <p:cNvSpPr txBox="1"/>
              <p:nvPr/>
            </p:nvSpPr>
            <p:spPr>
              <a:xfrm>
                <a:off x="7228912" y="2999201"/>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2</a:t>
                </a:r>
              </a:p>
            </p:txBody>
          </p:sp>
          <p:sp>
            <p:nvSpPr>
              <p:cNvPr id="30" name="TextBox 29">
                <a:extLst>
                  <a:ext uri="{FF2B5EF4-FFF2-40B4-BE49-F238E27FC236}">
                    <a16:creationId xmlns:a16="http://schemas.microsoft.com/office/drawing/2014/main" id="{A3167FD0-F83D-DD4A-A72D-90405E017D57}"/>
                  </a:ext>
                </a:extLst>
              </p:cNvPr>
              <p:cNvSpPr txBox="1"/>
              <p:nvPr/>
            </p:nvSpPr>
            <p:spPr>
              <a:xfrm>
                <a:off x="7247451" y="475574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3</a:t>
                </a:r>
              </a:p>
            </p:txBody>
          </p:sp>
          <p:sp>
            <p:nvSpPr>
              <p:cNvPr id="31" name="TextBox 30">
                <a:extLst>
                  <a:ext uri="{FF2B5EF4-FFF2-40B4-BE49-F238E27FC236}">
                    <a16:creationId xmlns:a16="http://schemas.microsoft.com/office/drawing/2014/main" id="{CB32858F-D284-8944-839E-5211D8180EC0}"/>
                  </a:ext>
                </a:extLst>
              </p:cNvPr>
              <p:cNvSpPr txBox="1"/>
              <p:nvPr/>
            </p:nvSpPr>
            <p:spPr>
              <a:xfrm>
                <a:off x="5737804" y="5556748"/>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4</a:t>
                </a:r>
              </a:p>
            </p:txBody>
          </p:sp>
          <p:sp>
            <p:nvSpPr>
              <p:cNvPr id="32" name="TextBox 31">
                <a:extLst>
                  <a:ext uri="{FF2B5EF4-FFF2-40B4-BE49-F238E27FC236}">
                    <a16:creationId xmlns:a16="http://schemas.microsoft.com/office/drawing/2014/main" id="{BC7732BD-8AE6-2D4C-8A49-D027171EBC73}"/>
                  </a:ext>
                </a:extLst>
              </p:cNvPr>
              <p:cNvSpPr txBox="1"/>
              <p:nvPr/>
            </p:nvSpPr>
            <p:spPr>
              <a:xfrm>
                <a:off x="4199291" y="472471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5</a:t>
                </a:r>
              </a:p>
            </p:txBody>
          </p:sp>
        </p:grpSp>
        <p:sp>
          <p:nvSpPr>
            <p:cNvPr id="35" name="TextBox 34">
              <a:extLst>
                <a:ext uri="{FF2B5EF4-FFF2-40B4-BE49-F238E27FC236}">
                  <a16:creationId xmlns:a16="http://schemas.microsoft.com/office/drawing/2014/main" id="{A3FF2667-46B6-7849-BE43-553064687CB0}"/>
                </a:ext>
              </a:extLst>
            </p:cNvPr>
            <p:cNvSpPr txBox="1"/>
            <p:nvPr/>
          </p:nvSpPr>
          <p:spPr>
            <a:xfrm>
              <a:off x="5048505" y="224589"/>
              <a:ext cx="2778629"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Value Barriers </a:t>
              </a:r>
            </a:p>
          </p:txBody>
        </p:sp>
        <p:sp>
          <p:nvSpPr>
            <p:cNvPr id="36" name="TextBox 35">
              <a:extLst>
                <a:ext uri="{FF2B5EF4-FFF2-40B4-BE49-F238E27FC236}">
                  <a16:creationId xmlns:a16="http://schemas.microsoft.com/office/drawing/2014/main" id="{76B013F0-AD86-4544-B3B2-B9249653EBF8}"/>
                </a:ext>
              </a:extLst>
            </p:cNvPr>
            <p:cNvSpPr txBox="1"/>
            <p:nvPr/>
          </p:nvSpPr>
          <p:spPr>
            <a:xfrm>
              <a:off x="5204003" y="5943681"/>
              <a:ext cx="2623132"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Proactivity</a:t>
              </a:r>
            </a:p>
          </p:txBody>
        </p:sp>
        <p:sp>
          <p:nvSpPr>
            <p:cNvPr id="37" name="TextBox 36">
              <a:extLst>
                <a:ext uri="{FF2B5EF4-FFF2-40B4-BE49-F238E27FC236}">
                  <a16:creationId xmlns:a16="http://schemas.microsoft.com/office/drawing/2014/main" id="{14359635-1856-764D-AC49-97EC9113F864}"/>
                </a:ext>
              </a:extLst>
            </p:cNvPr>
            <p:cNvSpPr txBox="1"/>
            <p:nvPr/>
          </p:nvSpPr>
          <p:spPr>
            <a:xfrm>
              <a:off x="1954883" y="1624544"/>
              <a:ext cx="280492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Cultural Challenges</a:t>
              </a:r>
            </a:p>
          </p:txBody>
        </p:sp>
        <p:sp>
          <p:nvSpPr>
            <p:cNvPr id="39" name="TextBox 38">
              <a:extLst>
                <a:ext uri="{FF2B5EF4-FFF2-40B4-BE49-F238E27FC236}">
                  <a16:creationId xmlns:a16="http://schemas.microsoft.com/office/drawing/2014/main" id="{5EE6B582-A5AD-7742-A3DB-35B94D69E389}"/>
                </a:ext>
              </a:extLst>
            </p:cNvPr>
            <p:cNvSpPr txBox="1"/>
            <p:nvPr/>
          </p:nvSpPr>
          <p:spPr>
            <a:xfrm>
              <a:off x="2108449" y="4579118"/>
              <a:ext cx="2714734"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Prevention</a:t>
              </a:r>
            </a:p>
          </p:txBody>
        </p:sp>
        <p:sp>
          <p:nvSpPr>
            <p:cNvPr id="40" name="TextBox 39">
              <a:extLst>
                <a:ext uri="{FF2B5EF4-FFF2-40B4-BE49-F238E27FC236}">
                  <a16:creationId xmlns:a16="http://schemas.microsoft.com/office/drawing/2014/main" id="{7842DDC4-618C-EB49-8D92-CC6E8D06A27F}"/>
                </a:ext>
              </a:extLst>
            </p:cNvPr>
            <p:cNvSpPr txBox="1"/>
            <p:nvPr/>
          </p:nvSpPr>
          <p:spPr>
            <a:xfrm>
              <a:off x="8202257" y="4539642"/>
              <a:ext cx="273486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Need/Care Match</a:t>
              </a:r>
            </a:p>
          </p:txBody>
        </p:sp>
      </p:grpSp>
      <p:sp>
        <p:nvSpPr>
          <p:cNvPr id="42" name="Rectangle 41">
            <a:extLst>
              <a:ext uri="{FF2B5EF4-FFF2-40B4-BE49-F238E27FC236}">
                <a16:creationId xmlns:a16="http://schemas.microsoft.com/office/drawing/2014/main" id="{CED96D22-0F74-AF48-B854-0CE3DF5BC976}"/>
              </a:ext>
            </a:extLst>
          </p:cNvPr>
          <p:cNvSpPr/>
          <p:nvPr/>
        </p:nvSpPr>
        <p:spPr>
          <a:xfrm>
            <a:off x="9548037" y="2944368"/>
            <a:ext cx="3253563" cy="4828032"/>
          </a:xfrm>
          <a:prstGeom prst="rect">
            <a:avLst/>
          </a:prstGeom>
          <a:solidFill>
            <a:srgbClr val="0039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13CF5FB-EA21-2E43-8223-310323F91EEC}"/>
              </a:ext>
            </a:extLst>
          </p:cNvPr>
          <p:cNvSpPr/>
          <p:nvPr/>
        </p:nvSpPr>
        <p:spPr>
          <a:xfrm>
            <a:off x="228600" y="534035"/>
            <a:ext cx="6764994" cy="338554"/>
          </a:xfrm>
          <a:prstGeom prst="rect">
            <a:avLst/>
          </a:prstGeom>
        </p:spPr>
        <p:txBody>
          <a:bodyPr wrap="square" anchor="t">
            <a:spAutoFit/>
          </a:bodyPr>
          <a:lstStyle/>
          <a:p>
            <a:r>
              <a:rPr lang="en-US" sz="1600" b="1" dirty="0">
                <a:solidFill>
                  <a:srgbClr val="00A2E2"/>
                </a:solidFill>
              </a:rPr>
              <a:t>Identifying Issues and Opportunities</a:t>
            </a:r>
          </a:p>
        </p:txBody>
      </p:sp>
      <p:sp>
        <p:nvSpPr>
          <p:cNvPr id="44" name="Rectangle 43">
            <a:extLst>
              <a:ext uri="{FF2B5EF4-FFF2-40B4-BE49-F238E27FC236}">
                <a16:creationId xmlns:a16="http://schemas.microsoft.com/office/drawing/2014/main" id="{BEF1FE83-BF87-1E40-BFFF-5C9604484C0C}"/>
              </a:ext>
            </a:extLst>
          </p:cNvPr>
          <p:cNvSpPr/>
          <p:nvPr/>
        </p:nvSpPr>
        <p:spPr>
          <a:xfrm>
            <a:off x="9548037" y="3094081"/>
            <a:ext cx="3253563" cy="584775"/>
          </a:xfrm>
          <a:prstGeom prst="rect">
            <a:avLst/>
          </a:prstGeom>
        </p:spPr>
        <p:txBody>
          <a:bodyPr wrap="square" anchor="t">
            <a:spAutoFit/>
          </a:bodyPr>
          <a:lstStyle/>
          <a:p>
            <a:pPr algn="ctr"/>
            <a:r>
              <a:rPr lang="en-US" sz="1600" b="1" dirty="0">
                <a:solidFill>
                  <a:schemeClr val="bg1"/>
                </a:solidFill>
              </a:rPr>
              <a:t>Competitive / Startup </a:t>
            </a:r>
            <a:br>
              <a:rPr lang="en-US" sz="1600" b="1" dirty="0">
                <a:solidFill>
                  <a:schemeClr val="bg1"/>
                </a:solidFill>
              </a:rPr>
            </a:br>
            <a:r>
              <a:rPr lang="en-US" sz="1600" b="1" dirty="0">
                <a:solidFill>
                  <a:schemeClr val="bg1"/>
                </a:solidFill>
              </a:rPr>
              <a:t>Landscape</a:t>
            </a:r>
          </a:p>
        </p:txBody>
      </p:sp>
      <p:sp>
        <p:nvSpPr>
          <p:cNvPr id="2" name="Rectangle 1">
            <a:extLst>
              <a:ext uri="{FF2B5EF4-FFF2-40B4-BE49-F238E27FC236}">
                <a16:creationId xmlns:a16="http://schemas.microsoft.com/office/drawing/2014/main" id="{1550E77B-27DF-D340-9144-D03C6A251D29}"/>
              </a:ext>
            </a:extLst>
          </p:cNvPr>
          <p:cNvSpPr/>
          <p:nvPr/>
        </p:nvSpPr>
        <p:spPr>
          <a:xfrm>
            <a:off x="9787013" y="3828569"/>
            <a:ext cx="2716185" cy="3557897"/>
          </a:xfrm>
          <a:prstGeom prst="rect">
            <a:avLst/>
          </a:prstGeom>
          <a:ln>
            <a:noFill/>
          </a:ln>
        </p:spPr>
        <p:txBody>
          <a:bodyPr wrap="square">
            <a:spAutoFit/>
          </a:bodyPr>
          <a:lstStyle/>
          <a:p>
            <a:pPr defTabSz="914378">
              <a:lnSpc>
                <a:spcPct val="95000"/>
              </a:lnSpc>
              <a:spcBef>
                <a:spcPts val="200"/>
              </a:spcBef>
              <a:spcAft>
                <a:spcPts val="200"/>
              </a:spcAft>
            </a:pPr>
            <a:r>
              <a:rPr lang="en-US" sz="1200" b="1" kern="0" dirty="0">
                <a:solidFill>
                  <a:srgbClr val="B1E2FF"/>
                </a:solidFill>
                <a:latin typeface="Arial Narrow" pitchFamily="34" charset="0"/>
              </a:rPr>
              <a:t>Cigna</a:t>
            </a:r>
            <a:r>
              <a:rPr lang="en-US" sz="1200" b="1" kern="0" dirty="0">
                <a:solidFill>
                  <a:srgbClr val="0070C0"/>
                </a:solidFill>
                <a:latin typeface="Arial Narrow" pitchFamily="34" charset="0"/>
              </a:rPr>
              <a:t> </a:t>
            </a:r>
          </a:p>
          <a:p>
            <a:pPr defTabSz="914378">
              <a:lnSpc>
                <a:spcPct val="95000"/>
              </a:lnSpc>
              <a:spcBef>
                <a:spcPts val="200"/>
              </a:spcBef>
              <a:spcAft>
                <a:spcPts val="200"/>
              </a:spcAft>
            </a:pPr>
            <a:r>
              <a:rPr lang="en-US" sz="1200" b="1" kern="0" dirty="0">
                <a:solidFill>
                  <a:schemeClr val="bg1"/>
                </a:solidFill>
                <a:latin typeface="Arial Narrow" pitchFamily="34" charset="0"/>
              </a:rPr>
              <a:t>Collaborative Care (CCC) Program: </a:t>
            </a:r>
            <a:r>
              <a:rPr lang="en-US" sz="1200" kern="0" dirty="0">
                <a:solidFill>
                  <a:schemeClr val="bg1"/>
                </a:solidFill>
                <a:latin typeface="Arial Narrow" pitchFamily="34" charset="0"/>
              </a:rPr>
              <a:t>Enrolled physicians are in value-based arrangements with behavioral health quality measures such as depression screening in value-based cardiology; and maternal mental health screening in value-based OB/GYN.</a:t>
            </a:r>
          </a:p>
          <a:p>
            <a:pPr defTabSz="914378">
              <a:lnSpc>
                <a:spcPct val="95000"/>
              </a:lnSpc>
              <a:spcBef>
                <a:spcPts val="200"/>
              </a:spcBef>
              <a:spcAft>
                <a:spcPts val="200"/>
              </a:spcAft>
            </a:pPr>
            <a:endParaRPr lang="en-US" sz="1200" kern="0" dirty="0">
              <a:solidFill>
                <a:schemeClr val="bg1"/>
              </a:solidFill>
              <a:latin typeface="Arial Narrow" pitchFamily="34" charset="0"/>
            </a:endParaRPr>
          </a:p>
          <a:p>
            <a:pPr defTabSz="914378">
              <a:lnSpc>
                <a:spcPct val="95000"/>
              </a:lnSpc>
              <a:spcBef>
                <a:spcPts val="200"/>
              </a:spcBef>
              <a:spcAft>
                <a:spcPts val="200"/>
              </a:spcAft>
            </a:pPr>
            <a:r>
              <a:rPr lang="en-US" sz="1200" b="1" kern="0" dirty="0">
                <a:solidFill>
                  <a:srgbClr val="B1E2FF"/>
                </a:solidFill>
                <a:latin typeface="Arial Narrow" pitchFamily="34" charset="0"/>
              </a:rPr>
              <a:t>Aetna</a:t>
            </a:r>
          </a:p>
          <a:p>
            <a:pPr defTabSz="914378">
              <a:lnSpc>
                <a:spcPct val="95000"/>
              </a:lnSpc>
              <a:spcBef>
                <a:spcPts val="200"/>
              </a:spcBef>
              <a:spcAft>
                <a:spcPts val="200"/>
              </a:spcAft>
            </a:pPr>
            <a:r>
              <a:rPr lang="en-US" sz="1200" b="1" kern="0" dirty="0">
                <a:solidFill>
                  <a:schemeClr val="bg1"/>
                </a:solidFill>
                <a:latin typeface="Arial Narrow" pitchFamily="34" charset="0"/>
              </a:rPr>
              <a:t>Medicaid outcomes-based model for members with intellectual and development disabilities (IDD): </a:t>
            </a:r>
            <a:r>
              <a:rPr lang="en-US" sz="1200" kern="0" dirty="0">
                <a:solidFill>
                  <a:schemeClr val="bg1"/>
                </a:solidFill>
                <a:latin typeface="Arial Narrow" pitchFamily="34" charset="0"/>
              </a:rPr>
              <a:t>Connects members with an Aetna IDD coordinator who facilities community resources, innovative practices, and technology tools to promote meaningful quality of life. </a:t>
            </a:r>
          </a:p>
          <a:p>
            <a:pPr defTabSz="914378">
              <a:lnSpc>
                <a:spcPct val="95000"/>
              </a:lnSpc>
              <a:spcBef>
                <a:spcPts val="200"/>
              </a:spcBef>
              <a:spcAft>
                <a:spcPts val="200"/>
              </a:spcAft>
            </a:pPr>
            <a:endParaRPr lang="en-US" sz="1200" kern="0" dirty="0">
              <a:solidFill>
                <a:schemeClr val="bg1"/>
              </a:solidFill>
              <a:latin typeface="Arial Narrow" pitchFamily="34" charset="0"/>
            </a:endParaRPr>
          </a:p>
          <a:p>
            <a:pPr defTabSz="914378">
              <a:lnSpc>
                <a:spcPct val="95000"/>
              </a:lnSpc>
              <a:spcBef>
                <a:spcPts val="200"/>
              </a:spcBef>
              <a:spcAft>
                <a:spcPts val="200"/>
              </a:spcAft>
            </a:pPr>
            <a:endParaRPr lang="en-US" sz="1200" kern="0" dirty="0">
              <a:solidFill>
                <a:schemeClr val="bg1"/>
              </a:solidFill>
              <a:latin typeface="Arial Narrow" pitchFamily="34" charset="0"/>
            </a:endParaRPr>
          </a:p>
        </p:txBody>
      </p:sp>
      <p:sp>
        <p:nvSpPr>
          <p:cNvPr id="33" name="Rectangle 32">
            <a:extLst>
              <a:ext uri="{FF2B5EF4-FFF2-40B4-BE49-F238E27FC236}">
                <a16:creationId xmlns:a16="http://schemas.microsoft.com/office/drawing/2014/main" id="{8C35FA77-03D3-1F41-AED2-7F4A1CEC95E5}"/>
              </a:ext>
            </a:extLst>
          </p:cNvPr>
          <p:cNvSpPr/>
          <p:nvPr/>
        </p:nvSpPr>
        <p:spPr>
          <a:xfrm>
            <a:off x="6429464" y="2609123"/>
            <a:ext cx="2979712" cy="3877985"/>
          </a:xfrm>
          <a:prstGeom prst="rect">
            <a:avLst/>
          </a:prstGeom>
        </p:spPr>
        <p:txBody>
          <a:bodyPr wrap="square">
            <a:spAutoFit/>
          </a:bodyPr>
          <a:lstStyle/>
          <a:p>
            <a:pPr>
              <a:spcAft>
                <a:spcPts val="600"/>
              </a:spcAft>
            </a:pPr>
            <a:r>
              <a:rPr lang="en-US" sz="1200" b="1" dirty="0"/>
              <a:t>How might we…</a:t>
            </a:r>
          </a:p>
          <a:p>
            <a:pPr marL="160020" indent="-160020">
              <a:spcAft>
                <a:spcPts val="600"/>
              </a:spcAft>
              <a:buFont typeface="Arial" panose="020B0604020202020204" pitchFamily="34" charset="0"/>
              <a:buChar char="•"/>
            </a:pPr>
            <a:r>
              <a:rPr lang="en-US" sz="1200" dirty="0"/>
              <a:t>Ride the wave of acceptance and success for Integrated Cost Codes and expand their use for non-integrated BH clinical services? (Virtual integration)</a:t>
            </a:r>
          </a:p>
          <a:p>
            <a:pPr marL="160020" indent="-160020">
              <a:spcAft>
                <a:spcPts val="600"/>
              </a:spcAft>
              <a:buFont typeface="Arial" panose="020B0604020202020204" pitchFamily="34" charset="0"/>
              <a:buChar char="•"/>
            </a:pPr>
            <a:r>
              <a:rPr lang="en-US" sz="1200" dirty="0"/>
              <a:t>Influence the negotiations of provider reimbursement rates for behavioral health care?</a:t>
            </a:r>
          </a:p>
          <a:p>
            <a:pPr marL="160020" indent="-160020">
              <a:spcAft>
                <a:spcPts val="600"/>
              </a:spcAft>
              <a:buFont typeface="Arial" panose="020B0604020202020204" pitchFamily="34" charset="0"/>
              <a:buChar char="•"/>
            </a:pPr>
            <a:r>
              <a:rPr lang="en-US" sz="1200" dirty="0"/>
              <a:t>Create an incentive model that’s so attractive that it entices clinicians to accept insurance for encounters that they currently provide as cash-only? </a:t>
            </a:r>
          </a:p>
          <a:p>
            <a:pPr marL="160020" indent="-160020">
              <a:spcAft>
                <a:spcPts val="600"/>
              </a:spcAft>
              <a:buFont typeface="Arial" panose="020B0604020202020204" pitchFamily="34" charset="0"/>
              <a:buChar char="•"/>
            </a:pPr>
            <a:r>
              <a:rPr lang="en-US" sz="1200" dirty="0"/>
              <a:t>Improve treatment through evidence-based BH care models so that people get the right care for the appropriate duration?</a:t>
            </a:r>
          </a:p>
          <a:p>
            <a:pPr marL="160020" indent="-160020">
              <a:spcAft>
                <a:spcPts val="600"/>
              </a:spcAft>
              <a:buFont typeface="Arial" panose="020B0604020202020204" pitchFamily="34" charset="0"/>
              <a:buChar char="•"/>
            </a:pPr>
            <a:endParaRPr lang="en-US" sz="1200" dirty="0"/>
          </a:p>
          <a:p>
            <a:pPr marL="160020" indent="-160020">
              <a:spcAft>
                <a:spcPts val="600"/>
              </a:spcAft>
              <a:buFont typeface="Arial" panose="020B0604020202020204" pitchFamily="34" charset="0"/>
              <a:buChar char="•"/>
            </a:pPr>
            <a:endParaRPr lang="en-US" sz="1200" dirty="0"/>
          </a:p>
        </p:txBody>
      </p:sp>
      <p:sp>
        <p:nvSpPr>
          <p:cNvPr id="34" name="Rectangle 33">
            <a:extLst>
              <a:ext uri="{FF2B5EF4-FFF2-40B4-BE49-F238E27FC236}">
                <a16:creationId xmlns:a16="http://schemas.microsoft.com/office/drawing/2014/main" id="{770E8E48-B1B8-5542-BA55-E8BBACF6AAED}"/>
              </a:ext>
            </a:extLst>
          </p:cNvPr>
          <p:cNvSpPr/>
          <p:nvPr/>
        </p:nvSpPr>
        <p:spPr>
          <a:xfrm>
            <a:off x="298401" y="2609123"/>
            <a:ext cx="5892087" cy="3693319"/>
          </a:xfrm>
          <a:prstGeom prst="rect">
            <a:avLst/>
          </a:prstGeom>
        </p:spPr>
        <p:txBody>
          <a:bodyPr wrap="square">
            <a:spAutoFit/>
          </a:bodyPr>
          <a:lstStyle/>
          <a:p>
            <a:pPr>
              <a:spcAft>
                <a:spcPts val="600"/>
              </a:spcAft>
            </a:pPr>
            <a:r>
              <a:rPr lang="en-US" sz="1200" b="1" dirty="0"/>
              <a:t>Why is this so critical?</a:t>
            </a:r>
            <a:endParaRPr lang="en-US" sz="1200" dirty="0"/>
          </a:p>
          <a:p>
            <a:pPr marL="160020" indent="-160020">
              <a:spcAft>
                <a:spcPts val="600"/>
              </a:spcAft>
              <a:buFont typeface="Arial" panose="020B0604020202020204" pitchFamily="34" charset="0"/>
              <a:buChar char="•"/>
            </a:pPr>
            <a:r>
              <a:rPr lang="en-US" sz="1200" b="1" dirty="0"/>
              <a:t>Behavioral Health is an interesting case of artificially controlled demand with a manipulated limit on supply</a:t>
            </a:r>
            <a:r>
              <a:rPr lang="en-US" sz="1200" dirty="0"/>
              <a:t>. (Part of why value realized remains low.) Throttles include: Awareness, Recognition and Referral, Time and Motivation, Systemic Limits, Clinician Buy-in, Reimbursement. </a:t>
            </a:r>
          </a:p>
          <a:p>
            <a:pPr marL="160020" indent="-160020">
              <a:spcAft>
                <a:spcPts val="600"/>
              </a:spcAft>
              <a:buFont typeface="Arial" panose="020B0604020202020204" pitchFamily="34" charset="0"/>
              <a:buChar char="•"/>
            </a:pPr>
            <a:r>
              <a:rPr lang="en-US" sz="1200" b="1" dirty="0"/>
              <a:t>Reimbursement of BH services in fee-for-service model </a:t>
            </a:r>
            <a:r>
              <a:rPr lang="en-US" sz="1200" dirty="0"/>
              <a:t>remain low and clinicians may not use evidence-based practices, which causes inconsistencies across BH treatment methods.</a:t>
            </a:r>
          </a:p>
          <a:p>
            <a:pPr marL="160020" indent="-160020">
              <a:spcAft>
                <a:spcPts val="600"/>
              </a:spcAft>
              <a:buFont typeface="Arial" panose="020B0604020202020204" pitchFamily="34" charset="0"/>
              <a:buChar char="•"/>
            </a:pPr>
            <a:r>
              <a:rPr lang="en-US" sz="1200" dirty="0"/>
              <a:t>To realize the individualized care proposed in the Living Health vision, Care Models and reimbursement for BH care will need to be rethought across care delivery settings, with an eye toward early successes of BH and PCP integrated care. By </a:t>
            </a:r>
            <a:r>
              <a:rPr lang="en-US" sz="1200" b="1" dirty="0"/>
              <a:t>incentivizing all clinicians, not just BH clinicians, to deliver BH care under new reimbursement structures </a:t>
            </a:r>
            <a:r>
              <a:rPr lang="en-US" sz="1200" dirty="0"/>
              <a:t>it will deliver on the “whole-health” approach and help address access challenges. </a:t>
            </a:r>
          </a:p>
          <a:p>
            <a:pPr marL="160020" indent="-160020">
              <a:spcAft>
                <a:spcPts val="600"/>
              </a:spcAft>
              <a:buFont typeface="Arial" panose="020B0604020202020204" pitchFamily="34" charset="0"/>
              <a:buChar char="•"/>
            </a:pPr>
            <a:endParaRPr lang="en-US" sz="1200" b="1" dirty="0"/>
          </a:p>
          <a:p>
            <a:pPr marL="160020" indent="-160020">
              <a:spcAft>
                <a:spcPts val="600"/>
              </a:spcAft>
              <a:buFont typeface="Arial" panose="020B0604020202020204" pitchFamily="34" charset="0"/>
              <a:buChar char="•"/>
            </a:pPr>
            <a:endParaRPr lang="en-US" sz="1200" dirty="0"/>
          </a:p>
          <a:p>
            <a:pPr marL="160020" indent="-160020">
              <a:buFont typeface="Arial" panose="020B0604020202020204" pitchFamily="34" charset="0"/>
              <a:buChar char="•"/>
            </a:pPr>
            <a:endParaRPr lang="en-US" sz="1200" dirty="0"/>
          </a:p>
        </p:txBody>
      </p:sp>
      <p:sp>
        <p:nvSpPr>
          <p:cNvPr id="38" name="Rectangle 37">
            <a:extLst>
              <a:ext uri="{FF2B5EF4-FFF2-40B4-BE49-F238E27FC236}">
                <a16:creationId xmlns:a16="http://schemas.microsoft.com/office/drawing/2014/main" id="{D35794DE-367B-3546-BECB-534E0418C56E}"/>
              </a:ext>
            </a:extLst>
          </p:cNvPr>
          <p:cNvSpPr/>
          <p:nvPr/>
        </p:nvSpPr>
        <p:spPr>
          <a:xfrm>
            <a:off x="298402" y="1704715"/>
            <a:ext cx="8808666" cy="830997"/>
          </a:xfrm>
          <a:prstGeom prst="rect">
            <a:avLst/>
          </a:prstGeom>
        </p:spPr>
        <p:txBody>
          <a:bodyPr wrap="square">
            <a:spAutoFit/>
          </a:bodyPr>
          <a:lstStyle/>
          <a:p>
            <a:r>
              <a:rPr lang="en-US" sz="1600" dirty="0"/>
              <a:t>Align incentives and care outcomes through a Value Based model that allows clinicians to deliver the best care, run financially viable practices, and meet the demand created through coordinated utilization.</a:t>
            </a:r>
          </a:p>
        </p:txBody>
      </p:sp>
    </p:spTree>
    <p:extLst>
      <p:ext uri="{BB962C8B-B14F-4D97-AF65-F5344CB8AC3E}">
        <p14:creationId xmlns:p14="http://schemas.microsoft.com/office/powerpoint/2010/main" val="1099376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1AEC8755-968C-E94A-B115-1636F814A717}"/>
              </a:ext>
            </a:extLst>
          </p:cNvPr>
          <p:cNvSpPr/>
          <p:nvPr/>
        </p:nvSpPr>
        <p:spPr>
          <a:xfrm>
            <a:off x="168964" y="-2218162"/>
            <a:ext cx="7549587" cy="1015663"/>
          </a:xfrm>
          <a:prstGeom prst="rect">
            <a:avLst/>
          </a:prstGeom>
        </p:spPr>
        <p:txBody>
          <a:bodyPr wrap="square" anchor="t">
            <a:spAutoFit/>
          </a:bodyPr>
          <a:lstStyle/>
          <a:p>
            <a:r>
              <a:rPr lang="en-US" sz="2400" b="1" dirty="0">
                <a:solidFill>
                  <a:srgbClr val="003963"/>
                </a:solidFill>
              </a:rPr>
              <a:t>The urgency is now: </a:t>
            </a:r>
          </a:p>
          <a:p>
            <a:r>
              <a:rPr lang="en-US" sz="1800" dirty="0">
                <a:solidFill>
                  <a:srgbClr val="00A2E2"/>
                </a:solidFill>
              </a:rPr>
              <a:t>How do we ensure we are addressing the critical issues and opportunities that are emerging in the Behavioral Health Epidemic </a:t>
            </a:r>
          </a:p>
        </p:txBody>
      </p:sp>
      <p:sp>
        <p:nvSpPr>
          <p:cNvPr id="4" name="Rectangle 3">
            <a:extLst>
              <a:ext uri="{FF2B5EF4-FFF2-40B4-BE49-F238E27FC236}">
                <a16:creationId xmlns:a16="http://schemas.microsoft.com/office/drawing/2014/main" id="{50818B1C-7512-BF4C-A24D-63537D0ED002}"/>
              </a:ext>
            </a:extLst>
          </p:cNvPr>
          <p:cNvSpPr/>
          <p:nvPr/>
        </p:nvSpPr>
        <p:spPr>
          <a:xfrm>
            <a:off x="298402" y="1136326"/>
            <a:ext cx="8499506" cy="461665"/>
          </a:xfrm>
          <a:prstGeom prst="rect">
            <a:avLst/>
          </a:prstGeom>
        </p:spPr>
        <p:txBody>
          <a:bodyPr wrap="square">
            <a:spAutoFit/>
          </a:bodyPr>
          <a:lstStyle/>
          <a:p>
            <a:r>
              <a:rPr lang="en-US" sz="2400" b="1" dirty="0">
                <a:solidFill>
                  <a:srgbClr val="002060"/>
                </a:solidFill>
              </a:rPr>
              <a:t>Respond to COVID-19 BH Needs</a:t>
            </a:r>
          </a:p>
        </p:txBody>
      </p:sp>
      <p:sp>
        <p:nvSpPr>
          <p:cNvPr id="12" name="Rectangle 11">
            <a:extLst>
              <a:ext uri="{FF2B5EF4-FFF2-40B4-BE49-F238E27FC236}">
                <a16:creationId xmlns:a16="http://schemas.microsoft.com/office/drawing/2014/main" id="{FF75D8D4-2E5B-8141-92F5-2E65763F210A}"/>
              </a:ext>
            </a:extLst>
          </p:cNvPr>
          <p:cNvSpPr/>
          <p:nvPr/>
        </p:nvSpPr>
        <p:spPr>
          <a:xfrm>
            <a:off x="9548037" y="0"/>
            <a:ext cx="3253563" cy="288950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3942695-DEE0-D342-9001-6E26D151834E}"/>
              </a:ext>
            </a:extLst>
          </p:cNvPr>
          <p:cNvSpPr/>
          <p:nvPr/>
        </p:nvSpPr>
        <p:spPr>
          <a:xfrm>
            <a:off x="9548037" y="369169"/>
            <a:ext cx="3253563" cy="338554"/>
          </a:xfrm>
          <a:prstGeom prst="rect">
            <a:avLst/>
          </a:prstGeom>
        </p:spPr>
        <p:txBody>
          <a:bodyPr wrap="square" anchor="t">
            <a:spAutoFit/>
          </a:bodyPr>
          <a:lstStyle/>
          <a:p>
            <a:pPr algn="ctr"/>
            <a:r>
              <a:rPr lang="en-US" sz="1600" b="1" dirty="0">
                <a:solidFill>
                  <a:schemeClr val="bg1"/>
                </a:solidFill>
              </a:rPr>
              <a:t>Critical Problems</a:t>
            </a:r>
          </a:p>
        </p:txBody>
      </p:sp>
      <p:grpSp>
        <p:nvGrpSpPr>
          <p:cNvPr id="5" name="Group 4">
            <a:extLst>
              <a:ext uri="{FF2B5EF4-FFF2-40B4-BE49-F238E27FC236}">
                <a16:creationId xmlns:a16="http://schemas.microsoft.com/office/drawing/2014/main" id="{4010EF52-C5D7-364A-9BFE-02E8D06E4633}"/>
              </a:ext>
            </a:extLst>
          </p:cNvPr>
          <p:cNvGrpSpPr/>
          <p:nvPr/>
        </p:nvGrpSpPr>
        <p:grpSpPr>
          <a:xfrm>
            <a:off x="10054011" y="824143"/>
            <a:ext cx="2241613" cy="1631010"/>
            <a:chOff x="1954883" y="224589"/>
            <a:chExt cx="9056437" cy="6589517"/>
          </a:xfrm>
        </p:grpSpPr>
        <p:sp>
          <p:nvSpPr>
            <p:cNvPr id="14" name="TextBox 13">
              <a:extLst>
                <a:ext uri="{FF2B5EF4-FFF2-40B4-BE49-F238E27FC236}">
                  <a16:creationId xmlns:a16="http://schemas.microsoft.com/office/drawing/2014/main" id="{B31051DD-EB23-794F-8BAD-F9F7F16AC8B0}"/>
                </a:ext>
              </a:extLst>
            </p:cNvPr>
            <p:cNvSpPr txBox="1"/>
            <p:nvPr/>
          </p:nvSpPr>
          <p:spPr>
            <a:xfrm>
              <a:off x="8244614" y="1587504"/>
              <a:ext cx="2766706"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Clinician </a:t>
              </a:r>
              <a:br>
                <a:rPr lang="en-US" sz="800" spc="-16" dirty="0">
                  <a:solidFill>
                    <a:schemeClr val="bg1"/>
                  </a:solidFill>
                  <a:latin typeface="+mj-lt"/>
                  <a:ea typeface="Source Sans Pro" panose="020B0503030403020204" pitchFamily="34" charset="0"/>
                </a:rPr>
              </a:br>
              <a:r>
                <a:rPr lang="en-US" sz="800" spc="-16" dirty="0">
                  <a:solidFill>
                    <a:schemeClr val="bg1"/>
                  </a:solidFill>
                  <a:latin typeface="+mj-lt"/>
                  <a:ea typeface="Source Sans Pro" panose="020B0503030403020204" pitchFamily="34" charset="0"/>
                </a:rPr>
                <a:t>Challenges </a:t>
              </a:r>
            </a:p>
          </p:txBody>
        </p:sp>
        <p:grpSp>
          <p:nvGrpSpPr>
            <p:cNvPr id="15" name="Group 14">
              <a:extLst>
                <a:ext uri="{FF2B5EF4-FFF2-40B4-BE49-F238E27FC236}">
                  <a16:creationId xmlns:a16="http://schemas.microsoft.com/office/drawing/2014/main" id="{6EE47F6B-8362-8A4F-9C3C-2F4D7C87260E}"/>
                </a:ext>
              </a:extLst>
            </p:cNvPr>
            <p:cNvGrpSpPr/>
            <p:nvPr/>
          </p:nvGrpSpPr>
          <p:grpSpPr>
            <a:xfrm>
              <a:off x="4052176" y="1669056"/>
              <a:ext cx="4821704" cy="4177981"/>
              <a:chOff x="3467290" y="2011174"/>
              <a:chExt cx="5867022" cy="5083743"/>
            </a:xfrm>
          </p:grpSpPr>
          <p:sp>
            <p:nvSpPr>
              <p:cNvPr id="16" name="Freeform 176">
                <a:extLst>
                  <a:ext uri="{FF2B5EF4-FFF2-40B4-BE49-F238E27FC236}">
                    <a16:creationId xmlns:a16="http://schemas.microsoft.com/office/drawing/2014/main" id="{172F5DE8-A200-9A4A-AC04-67E7077393A6}"/>
                  </a:ext>
                </a:extLst>
              </p:cNvPr>
              <p:cNvSpPr>
                <a:spLocks/>
              </p:cNvSpPr>
              <p:nvPr/>
            </p:nvSpPr>
            <p:spPr bwMode="auto">
              <a:xfrm>
                <a:off x="4932533" y="4553045"/>
                <a:ext cx="2933511" cy="2541872"/>
              </a:xfrm>
              <a:custGeom>
                <a:avLst/>
                <a:gdLst>
                  <a:gd name="T0" fmla="*/ 1540102 w 4486"/>
                  <a:gd name="T1" fmla="*/ 0 h 3885"/>
                  <a:gd name="T2" fmla="*/ 0 w 4486"/>
                  <a:gd name="T3" fmla="*/ 2667613 h 3885"/>
                  <a:gd name="T4" fmla="*/ 3079517 w 4486"/>
                  <a:gd name="T5" fmla="*/ 2667613 h 3885"/>
                  <a:gd name="T6" fmla="*/ 1540102 w 4486"/>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5">
                    <a:moveTo>
                      <a:pt x="2243" y="0"/>
                    </a:moveTo>
                    <a:lnTo>
                      <a:pt x="0" y="3884"/>
                    </a:lnTo>
                    <a:lnTo>
                      <a:pt x="4485" y="3884"/>
                    </a:lnTo>
                    <a:lnTo>
                      <a:pt x="2243" y="0"/>
                    </a:lnTo>
                  </a:path>
                </a:pathLst>
              </a:custGeom>
              <a:solidFill>
                <a:schemeClr val="accent1"/>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18" name="Freeform 177">
                <a:extLst>
                  <a:ext uri="{FF2B5EF4-FFF2-40B4-BE49-F238E27FC236}">
                    <a16:creationId xmlns:a16="http://schemas.microsoft.com/office/drawing/2014/main" id="{973F8BCD-381C-554A-88BC-12252EE97DCC}"/>
                  </a:ext>
                </a:extLst>
              </p:cNvPr>
              <p:cNvSpPr>
                <a:spLocks/>
              </p:cNvSpPr>
              <p:nvPr/>
            </p:nvSpPr>
            <p:spPr bwMode="auto">
              <a:xfrm>
                <a:off x="6400801" y="2011174"/>
                <a:ext cx="2933511" cy="2541871"/>
              </a:xfrm>
              <a:custGeom>
                <a:avLst/>
                <a:gdLst>
                  <a:gd name="T0" fmla="*/ 1539760 w 4485"/>
                  <a:gd name="T1" fmla="*/ 0 h 3884"/>
                  <a:gd name="T2" fmla="*/ 0 w 4485"/>
                  <a:gd name="T3" fmla="*/ 2667611 h 3884"/>
                  <a:gd name="T4" fmla="*/ 3079519 w 4485"/>
                  <a:gd name="T5" fmla="*/ 2667611 h 3884"/>
                  <a:gd name="T6" fmla="*/ 1539760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2" y="0"/>
                    </a:moveTo>
                    <a:lnTo>
                      <a:pt x="0" y="3883"/>
                    </a:lnTo>
                    <a:lnTo>
                      <a:pt x="4484" y="3883"/>
                    </a:lnTo>
                    <a:lnTo>
                      <a:pt x="2242" y="0"/>
                    </a:lnTo>
                  </a:path>
                </a:pathLst>
              </a:custGeom>
              <a:solidFill>
                <a:schemeClr val="accent2">
                  <a:lumMod val="75000"/>
                </a:schemeClr>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19" name="Freeform 178">
                <a:extLst>
                  <a:ext uri="{FF2B5EF4-FFF2-40B4-BE49-F238E27FC236}">
                    <a16:creationId xmlns:a16="http://schemas.microsoft.com/office/drawing/2014/main" id="{AD19ABC7-281D-C44D-9E92-17522BA0EAD3}"/>
                  </a:ext>
                </a:extLst>
              </p:cNvPr>
              <p:cNvSpPr>
                <a:spLocks/>
              </p:cNvSpPr>
              <p:nvPr/>
            </p:nvSpPr>
            <p:spPr bwMode="auto">
              <a:xfrm>
                <a:off x="4932533" y="2020246"/>
                <a:ext cx="2933511" cy="2540360"/>
              </a:xfrm>
              <a:custGeom>
                <a:avLst/>
                <a:gdLst>
                  <a:gd name="T0" fmla="*/ 1540102 w 4486"/>
                  <a:gd name="T1" fmla="*/ 2667613 h 3883"/>
                  <a:gd name="T2" fmla="*/ 3079517 w 4486"/>
                  <a:gd name="T3" fmla="*/ 0 h 3883"/>
                  <a:gd name="T4" fmla="*/ 0 w 4486"/>
                  <a:gd name="T5" fmla="*/ 0 h 3883"/>
                  <a:gd name="T6" fmla="*/ 1540102 w 4486"/>
                  <a:gd name="T7" fmla="*/ 2667613 h 38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3">
                    <a:moveTo>
                      <a:pt x="2243" y="3882"/>
                    </a:moveTo>
                    <a:lnTo>
                      <a:pt x="4485" y="0"/>
                    </a:lnTo>
                    <a:lnTo>
                      <a:pt x="0" y="0"/>
                    </a:lnTo>
                    <a:lnTo>
                      <a:pt x="2243" y="3882"/>
                    </a:lnTo>
                  </a:path>
                </a:pathLst>
              </a:custGeom>
              <a:solidFill>
                <a:schemeClr val="accent2">
                  <a:lumMod val="75000"/>
                </a:schemeClr>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0" name="Freeform 179">
                <a:extLst>
                  <a:ext uri="{FF2B5EF4-FFF2-40B4-BE49-F238E27FC236}">
                    <a16:creationId xmlns:a16="http://schemas.microsoft.com/office/drawing/2014/main" id="{AF6AA1F1-DB5D-6B48-A577-74C17CE1EC12}"/>
                  </a:ext>
                </a:extLst>
              </p:cNvPr>
              <p:cNvSpPr>
                <a:spLocks/>
              </p:cNvSpPr>
              <p:nvPr/>
            </p:nvSpPr>
            <p:spPr bwMode="auto">
              <a:xfrm>
                <a:off x="6400801" y="4553045"/>
                <a:ext cx="2933511" cy="2541872"/>
              </a:xfrm>
              <a:custGeom>
                <a:avLst/>
                <a:gdLst>
                  <a:gd name="T0" fmla="*/ 0 w 4485"/>
                  <a:gd name="T1" fmla="*/ 0 h 3885"/>
                  <a:gd name="T2" fmla="*/ 1539760 w 4485"/>
                  <a:gd name="T3" fmla="*/ 2667613 h 3885"/>
                  <a:gd name="T4" fmla="*/ 3079519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2"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2" name="Freeform 180">
                <a:extLst>
                  <a:ext uri="{FF2B5EF4-FFF2-40B4-BE49-F238E27FC236}">
                    <a16:creationId xmlns:a16="http://schemas.microsoft.com/office/drawing/2014/main" id="{94282D5D-44FA-5B42-A123-9A93B3B2AD5D}"/>
                  </a:ext>
                </a:extLst>
              </p:cNvPr>
              <p:cNvSpPr>
                <a:spLocks/>
              </p:cNvSpPr>
              <p:nvPr/>
            </p:nvSpPr>
            <p:spPr bwMode="auto">
              <a:xfrm>
                <a:off x="3467290" y="2011174"/>
                <a:ext cx="2933511" cy="2541871"/>
              </a:xfrm>
              <a:custGeom>
                <a:avLst/>
                <a:gdLst>
                  <a:gd name="T0" fmla="*/ 1539072 w 4485"/>
                  <a:gd name="T1" fmla="*/ 0 h 3884"/>
                  <a:gd name="T2" fmla="*/ 0 w 4485"/>
                  <a:gd name="T3" fmla="*/ 2667611 h 3884"/>
                  <a:gd name="T4" fmla="*/ 3079517 w 4485"/>
                  <a:gd name="T5" fmla="*/ 2667611 h 3884"/>
                  <a:gd name="T6" fmla="*/ 1539072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1" y="0"/>
                    </a:moveTo>
                    <a:lnTo>
                      <a:pt x="0" y="3883"/>
                    </a:lnTo>
                    <a:lnTo>
                      <a:pt x="4484" y="3883"/>
                    </a:lnTo>
                    <a:lnTo>
                      <a:pt x="2241"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4" name="Freeform 181">
                <a:extLst>
                  <a:ext uri="{FF2B5EF4-FFF2-40B4-BE49-F238E27FC236}">
                    <a16:creationId xmlns:a16="http://schemas.microsoft.com/office/drawing/2014/main" id="{78693D03-3054-3D4E-9627-E0A7EA652F9E}"/>
                  </a:ext>
                </a:extLst>
              </p:cNvPr>
              <p:cNvSpPr>
                <a:spLocks/>
              </p:cNvSpPr>
              <p:nvPr/>
            </p:nvSpPr>
            <p:spPr bwMode="auto">
              <a:xfrm>
                <a:off x="3467290" y="4553045"/>
                <a:ext cx="2933511" cy="2541872"/>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5" name="TextBox 24">
                <a:extLst>
                  <a:ext uri="{FF2B5EF4-FFF2-40B4-BE49-F238E27FC236}">
                    <a16:creationId xmlns:a16="http://schemas.microsoft.com/office/drawing/2014/main" id="{A4E847B4-3DF6-0346-9E09-2E13EF18D004}"/>
                  </a:ext>
                </a:extLst>
              </p:cNvPr>
              <p:cNvSpPr txBox="1"/>
              <p:nvPr/>
            </p:nvSpPr>
            <p:spPr>
              <a:xfrm>
                <a:off x="4236225" y="2994644"/>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6</a:t>
                </a:r>
              </a:p>
            </p:txBody>
          </p:sp>
          <p:sp>
            <p:nvSpPr>
              <p:cNvPr id="26" name="TextBox 25">
                <a:extLst>
                  <a:ext uri="{FF2B5EF4-FFF2-40B4-BE49-F238E27FC236}">
                    <a16:creationId xmlns:a16="http://schemas.microsoft.com/office/drawing/2014/main" id="{56403C62-669F-FE41-9934-55C0554EAD79}"/>
                  </a:ext>
                </a:extLst>
              </p:cNvPr>
              <p:cNvSpPr txBox="1"/>
              <p:nvPr/>
            </p:nvSpPr>
            <p:spPr>
              <a:xfrm>
                <a:off x="5765762" y="2108319"/>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1</a:t>
                </a:r>
              </a:p>
            </p:txBody>
          </p:sp>
          <p:sp>
            <p:nvSpPr>
              <p:cNvPr id="28" name="TextBox 27">
                <a:extLst>
                  <a:ext uri="{FF2B5EF4-FFF2-40B4-BE49-F238E27FC236}">
                    <a16:creationId xmlns:a16="http://schemas.microsoft.com/office/drawing/2014/main" id="{DA2C1947-9098-DD4B-9FC7-5226288B9885}"/>
                  </a:ext>
                </a:extLst>
              </p:cNvPr>
              <p:cNvSpPr txBox="1"/>
              <p:nvPr/>
            </p:nvSpPr>
            <p:spPr>
              <a:xfrm>
                <a:off x="7228912" y="2999201"/>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2</a:t>
                </a:r>
              </a:p>
            </p:txBody>
          </p:sp>
          <p:sp>
            <p:nvSpPr>
              <p:cNvPr id="30" name="TextBox 29">
                <a:extLst>
                  <a:ext uri="{FF2B5EF4-FFF2-40B4-BE49-F238E27FC236}">
                    <a16:creationId xmlns:a16="http://schemas.microsoft.com/office/drawing/2014/main" id="{A3167FD0-F83D-DD4A-A72D-90405E017D57}"/>
                  </a:ext>
                </a:extLst>
              </p:cNvPr>
              <p:cNvSpPr txBox="1"/>
              <p:nvPr/>
            </p:nvSpPr>
            <p:spPr>
              <a:xfrm>
                <a:off x="7247451" y="475574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3</a:t>
                </a:r>
              </a:p>
            </p:txBody>
          </p:sp>
          <p:sp>
            <p:nvSpPr>
              <p:cNvPr id="31" name="TextBox 30">
                <a:extLst>
                  <a:ext uri="{FF2B5EF4-FFF2-40B4-BE49-F238E27FC236}">
                    <a16:creationId xmlns:a16="http://schemas.microsoft.com/office/drawing/2014/main" id="{CB32858F-D284-8944-839E-5211D8180EC0}"/>
                  </a:ext>
                </a:extLst>
              </p:cNvPr>
              <p:cNvSpPr txBox="1"/>
              <p:nvPr/>
            </p:nvSpPr>
            <p:spPr>
              <a:xfrm>
                <a:off x="5737804" y="5556748"/>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4</a:t>
                </a:r>
              </a:p>
            </p:txBody>
          </p:sp>
          <p:sp>
            <p:nvSpPr>
              <p:cNvPr id="32" name="TextBox 31">
                <a:extLst>
                  <a:ext uri="{FF2B5EF4-FFF2-40B4-BE49-F238E27FC236}">
                    <a16:creationId xmlns:a16="http://schemas.microsoft.com/office/drawing/2014/main" id="{BC7732BD-8AE6-2D4C-8A49-D027171EBC73}"/>
                  </a:ext>
                </a:extLst>
              </p:cNvPr>
              <p:cNvSpPr txBox="1"/>
              <p:nvPr/>
            </p:nvSpPr>
            <p:spPr>
              <a:xfrm>
                <a:off x="4199291" y="472471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5</a:t>
                </a:r>
              </a:p>
            </p:txBody>
          </p:sp>
        </p:grpSp>
        <p:sp>
          <p:nvSpPr>
            <p:cNvPr id="35" name="TextBox 34">
              <a:extLst>
                <a:ext uri="{FF2B5EF4-FFF2-40B4-BE49-F238E27FC236}">
                  <a16:creationId xmlns:a16="http://schemas.microsoft.com/office/drawing/2014/main" id="{A3FF2667-46B6-7849-BE43-553064687CB0}"/>
                </a:ext>
              </a:extLst>
            </p:cNvPr>
            <p:cNvSpPr txBox="1"/>
            <p:nvPr/>
          </p:nvSpPr>
          <p:spPr>
            <a:xfrm>
              <a:off x="5048505" y="224589"/>
              <a:ext cx="2778629"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Value Barriers </a:t>
              </a:r>
            </a:p>
          </p:txBody>
        </p:sp>
        <p:sp>
          <p:nvSpPr>
            <p:cNvPr id="36" name="TextBox 35">
              <a:extLst>
                <a:ext uri="{FF2B5EF4-FFF2-40B4-BE49-F238E27FC236}">
                  <a16:creationId xmlns:a16="http://schemas.microsoft.com/office/drawing/2014/main" id="{76B013F0-AD86-4544-B3B2-B9249653EBF8}"/>
                </a:ext>
              </a:extLst>
            </p:cNvPr>
            <p:cNvSpPr txBox="1"/>
            <p:nvPr/>
          </p:nvSpPr>
          <p:spPr>
            <a:xfrm>
              <a:off x="5204003" y="5943681"/>
              <a:ext cx="2623132"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Proactivity</a:t>
              </a:r>
            </a:p>
          </p:txBody>
        </p:sp>
        <p:sp>
          <p:nvSpPr>
            <p:cNvPr id="37" name="TextBox 36">
              <a:extLst>
                <a:ext uri="{FF2B5EF4-FFF2-40B4-BE49-F238E27FC236}">
                  <a16:creationId xmlns:a16="http://schemas.microsoft.com/office/drawing/2014/main" id="{14359635-1856-764D-AC49-97EC9113F864}"/>
                </a:ext>
              </a:extLst>
            </p:cNvPr>
            <p:cNvSpPr txBox="1"/>
            <p:nvPr/>
          </p:nvSpPr>
          <p:spPr>
            <a:xfrm>
              <a:off x="1954883" y="1624544"/>
              <a:ext cx="280492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Cultural Challenges</a:t>
              </a:r>
            </a:p>
          </p:txBody>
        </p:sp>
        <p:sp>
          <p:nvSpPr>
            <p:cNvPr id="39" name="TextBox 38">
              <a:extLst>
                <a:ext uri="{FF2B5EF4-FFF2-40B4-BE49-F238E27FC236}">
                  <a16:creationId xmlns:a16="http://schemas.microsoft.com/office/drawing/2014/main" id="{5EE6B582-A5AD-7742-A3DB-35B94D69E389}"/>
                </a:ext>
              </a:extLst>
            </p:cNvPr>
            <p:cNvSpPr txBox="1"/>
            <p:nvPr/>
          </p:nvSpPr>
          <p:spPr>
            <a:xfrm>
              <a:off x="2108449" y="4579118"/>
              <a:ext cx="2714734"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Prevention</a:t>
              </a:r>
            </a:p>
          </p:txBody>
        </p:sp>
        <p:sp>
          <p:nvSpPr>
            <p:cNvPr id="40" name="TextBox 39">
              <a:extLst>
                <a:ext uri="{FF2B5EF4-FFF2-40B4-BE49-F238E27FC236}">
                  <a16:creationId xmlns:a16="http://schemas.microsoft.com/office/drawing/2014/main" id="{7842DDC4-618C-EB49-8D92-CC6E8D06A27F}"/>
                </a:ext>
              </a:extLst>
            </p:cNvPr>
            <p:cNvSpPr txBox="1"/>
            <p:nvPr/>
          </p:nvSpPr>
          <p:spPr>
            <a:xfrm>
              <a:off x="8202257" y="4539642"/>
              <a:ext cx="273486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Need/Care Match</a:t>
              </a:r>
            </a:p>
          </p:txBody>
        </p:sp>
      </p:grpSp>
      <p:sp>
        <p:nvSpPr>
          <p:cNvPr id="42" name="Rectangle 41">
            <a:extLst>
              <a:ext uri="{FF2B5EF4-FFF2-40B4-BE49-F238E27FC236}">
                <a16:creationId xmlns:a16="http://schemas.microsoft.com/office/drawing/2014/main" id="{CED96D22-0F74-AF48-B854-0CE3DF5BC976}"/>
              </a:ext>
            </a:extLst>
          </p:cNvPr>
          <p:cNvSpPr/>
          <p:nvPr/>
        </p:nvSpPr>
        <p:spPr>
          <a:xfrm>
            <a:off x="9548037" y="2944368"/>
            <a:ext cx="3253563" cy="4828032"/>
          </a:xfrm>
          <a:prstGeom prst="rect">
            <a:avLst/>
          </a:prstGeom>
          <a:solidFill>
            <a:srgbClr val="0039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13CF5FB-EA21-2E43-8223-310323F91EEC}"/>
              </a:ext>
            </a:extLst>
          </p:cNvPr>
          <p:cNvSpPr/>
          <p:nvPr/>
        </p:nvSpPr>
        <p:spPr>
          <a:xfrm>
            <a:off x="228600" y="534035"/>
            <a:ext cx="6764994" cy="338554"/>
          </a:xfrm>
          <a:prstGeom prst="rect">
            <a:avLst/>
          </a:prstGeom>
        </p:spPr>
        <p:txBody>
          <a:bodyPr wrap="square" anchor="t">
            <a:spAutoFit/>
          </a:bodyPr>
          <a:lstStyle/>
          <a:p>
            <a:r>
              <a:rPr lang="en-US" sz="1600" b="1" dirty="0">
                <a:solidFill>
                  <a:srgbClr val="00A2E2"/>
                </a:solidFill>
              </a:rPr>
              <a:t>Identifying Issues and Opportunities</a:t>
            </a:r>
          </a:p>
        </p:txBody>
      </p:sp>
      <p:sp>
        <p:nvSpPr>
          <p:cNvPr id="44" name="Rectangle 43">
            <a:extLst>
              <a:ext uri="{FF2B5EF4-FFF2-40B4-BE49-F238E27FC236}">
                <a16:creationId xmlns:a16="http://schemas.microsoft.com/office/drawing/2014/main" id="{BEF1FE83-BF87-1E40-BFFF-5C9604484C0C}"/>
              </a:ext>
            </a:extLst>
          </p:cNvPr>
          <p:cNvSpPr/>
          <p:nvPr/>
        </p:nvSpPr>
        <p:spPr>
          <a:xfrm>
            <a:off x="9548037" y="3094081"/>
            <a:ext cx="3253563" cy="584775"/>
          </a:xfrm>
          <a:prstGeom prst="rect">
            <a:avLst/>
          </a:prstGeom>
        </p:spPr>
        <p:txBody>
          <a:bodyPr wrap="square" anchor="t">
            <a:spAutoFit/>
          </a:bodyPr>
          <a:lstStyle/>
          <a:p>
            <a:pPr algn="ctr"/>
            <a:r>
              <a:rPr lang="en-US" sz="1600" b="1" dirty="0">
                <a:solidFill>
                  <a:schemeClr val="bg1"/>
                </a:solidFill>
              </a:rPr>
              <a:t>Competitive / Startup </a:t>
            </a:r>
            <a:br>
              <a:rPr lang="en-US" sz="1600" b="1" dirty="0">
                <a:solidFill>
                  <a:schemeClr val="bg1"/>
                </a:solidFill>
              </a:rPr>
            </a:br>
            <a:r>
              <a:rPr lang="en-US" sz="1600" b="1" dirty="0">
                <a:solidFill>
                  <a:schemeClr val="bg1"/>
                </a:solidFill>
              </a:rPr>
              <a:t>Landscape</a:t>
            </a:r>
          </a:p>
        </p:txBody>
      </p:sp>
      <p:sp>
        <p:nvSpPr>
          <p:cNvPr id="33" name="Rectangle 32">
            <a:extLst>
              <a:ext uri="{FF2B5EF4-FFF2-40B4-BE49-F238E27FC236}">
                <a16:creationId xmlns:a16="http://schemas.microsoft.com/office/drawing/2014/main" id="{CA022BC9-DDE1-2846-9815-D4A9EE06B1C1}"/>
              </a:ext>
            </a:extLst>
          </p:cNvPr>
          <p:cNvSpPr/>
          <p:nvPr/>
        </p:nvSpPr>
        <p:spPr>
          <a:xfrm>
            <a:off x="6429464" y="2609123"/>
            <a:ext cx="2979712" cy="1277273"/>
          </a:xfrm>
          <a:prstGeom prst="rect">
            <a:avLst/>
          </a:prstGeom>
        </p:spPr>
        <p:txBody>
          <a:bodyPr wrap="square">
            <a:spAutoFit/>
          </a:bodyPr>
          <a:lstStyle/>
          <a:p>
            <a:pPr>
              <a:spcAft>
                <a:spcPts val="600"/>
              </a:spcAft>
            </a:pPr>
            <a:r>
              <a:rPr lang="en-US" sz="1200" b="1" dirty="0"/>
              <a:t>How might we…</a:t>
            </a:r>
          </a:p>
          <a:p>
            <a:pPr marL="160020" indent="-160020">
              <a:spcAft>
                <a:spcPts val="600"/>
              </a:spcAft>
              <a:buFont typeface="Arial" panose="020B0604020202020204" pitchFamily="34" charset="0"/>
              <a:buChar char="•"/>
            </a:pPr>
            <a:r>
              <a:rPr lang="en-US" sz="1200" dirty="0"/>
              <a:t>Identify and provide appropriate interventions for COVID-19 frontline clinicians who are experiencing BH symptoms or are at risk of developing chronic BH conditions?</a:t>
            </a:r>
          </a:p>
        </p:txBody>
      </p:sp>
      <p:sp>
        <p:nvSpPr>
          <p:cNvPr id="34" name="Rectangle 33">
            <a:extLst>
              <a:ext uri="{FF2B5EF4-FFF2-40B4-BE49-F238E27FC236}">
                <a16:creationId xmlns:a16="http://schemas.microsoft.com/office/drawing/2014/main" id="{00608CA6-D35B-1546-8E93-F2A95777A872}"/>
              </a:ext>
            </a:extLst>
          </p:cNvPr>
          <p:cNvSpPr/>
          <p:nvPr/>
        </p:nvSpPr>
        <p:spPr>
          <a:xfrm>
            <a:off x="298401" y="2609123"/>
            <a:ext cx="5892087" cy="4693593"/>
          </a:xfrm>
          <a:prstGeom prst="rect">
            <a:avLst/>
          </a:prstGeom>
        </p:spPr>
        <p:txBody>
          <a:bodyPr wrap="square">
            <a:spAutoFit/>
          </a:bodyPr>
          <a:lstStyle/>
          <a:p>
            <a:pPr>
              <a:spcAft>
                <a:spcPts val="600"/>
              </a:spcAft>
            </a:pPr>
            <a:r>
              <a:rPr lang="en-US" sz="1200" b="1" dirty="0"/>
              <a:t>Why is this so critical?</a:t>
            </a:r>
          </a:p>
          <a:p>
            <a:pPr marL="160020" indent="-160020">
              <a:spcAft>
                <a:spcPts val="600"/>
              </a:spcAft>
              <a:buFont typeface="Arial" panose="020B0604020202020204" pitchFamily="34" charset="0"/>
              <a:buChar char="•"/>
            </a:pPr>
            <a:r>
              <a:rPr lang="en-US" sz="1200" dirty="0"/>
              <a:t>The population of un- and under-treated Behavioral Health conditions was a “sleeping giant” with increasing focus that’s now </a:t>
            </a:r>
            <a:r>
              <a:rPr lang="en-US" sz="1200" b="1" dirty="0"/>
              <a:t>accelerated by COVID-19.</a:t>
            </a:r>
          </a:p>
          <a:p>
            <a:pPr marL="160020" indent="-160020">
              <a:spcAft>
                <a:spcPts val="600"/>
              </a:spcAft>
              <a:buFont typeface="Arial" panose="020B0604020202020204" pitchFamily="34" charset="0"/>
              <a:buChar char="•"/>
            </a:pPr>
            <a:r>
              <a:rPr lang="en-US" sz="1200" b="1" dirty="0"/>
              <a:t>Isolation, stress, fear, trauma, grief from loss</a:t>
            </a:r>
            <a:r>
              <a:rPr lang="en-US" sz="1200" dirty="0"/>
              <a:t>—the emotional toll of the pandemic is acute and will be ongoing. </a:t>
            </a:r>
          </a:p>
          <a:p>
            <a:pPr marL="160020" indent="-160020">
              <a:spcAft>
                <a:spcPts val="600"/>
              </a:spcAft>
              <a:buFont typeface="Arial" panose="020B0604020202020204" pitchFamily="34" charset="0"/>
              <a:buChar char="•"/>
            </a:pPr>
            <a:r>
              <a:rPr lang="en-US" sz="1200" b="1" dirty="0"/>
              <a:t>A significant need still exists for the dissemination of tools</a:t>
            </a:r>
            <a:r>
              <a:rPr lang="en-US" sz="1200" dirty="0"/>
              <a:t> to help individuals deal with stress, manage anxiety, and determine when to seek additional help as the number of people emotionally effected by COVID-19 continues to rise.</a:t>
            </a:r>
          </a:p>
          <a:p>
            <a:pPr marL="160020" indent="-160020">
              <a:spcAft>
                <a:spcPts val="600"/>
              </a:spcAft>
              <a:buFont typeface="Arial" panose="020B0604020202020204" pitchFamily="34" charset="0"/>
              <a:buChar char="•"/>
            </a:pPr>
            <a:r>
              <a:rPr lang="en-US" sz="1200" dirty="0"/>
              <a:t>Many low-resource settings in high-, middle-, and low-income countries where the economic, physical health, and </a:t>
            </a:r>
            <a:r>
              <a:rPr lang="en-US" sz="1200" b="1" dirty="0"/>
              <a:t>mental health repercussions of this pandemic will likely be felt for a long time.</a:t>
            </a:r>
          </a:p>
          <a:p>
            <a:pPr marL="160020" indent="-160020">
              <a:spcAft>
                <a:spcPts val="600"/>
              </a:spcAft>
              <a:buFont typeface="Arial" panose="020B0604020202020204" pitchFamily="34" charset="0"/>
              <a:buChar char="•"/>
            </a:pPr>
            <a:r>
              <a:rPr lang="en-US" sz="1200" b="1" dirty="0"/>
              <a:t>In this fast-moving situation, we can learn from the international response to the epidemic. </a:t>
            </a:r>
            <a:r>
              <a:rPr lang="en-US" sz="1200" dirty="0"/>
              <a:t>Psychosocial hotlines were quickly established in Italy and China to support individuals experiencing acute and impairing levels of stress, depression, and anxiety. Collective efforts, including government and healthcare response, to develop and disseminate information about mental health during the epidemic have resulted in numerous new self-help books, videos, pamphlets, and online-courses. </a:t>
            </a:r>
          </a:p>
          <a:p>
            <a:pPr marL="160020" indent="-160020">
              <a:spcAft>
                <a:spcPts val="600"/>
              </a:spcAft>
              <a:buFont typeface="Arial" panose="020B0604020202020204" pitchFamily="34" charset="0"/>
              <a:buChar char="•"/>
            </a:pPr>
            <a:r>
              <a:rPr lang="en-US" sz="1200" b="1" dirty="0"/>
              <a:t>The Department of Mental Health</a:t>
            </a:r>
            <a:r>
              <a:rPr lang="en-US" sz="1200" dirty="0"/>
              <a:t> is working to adapt the current system and considering novel uses of technology to maintain and strengthen psychological supports. </a:t>
            </a:r>
          </a:p>
          <a:p>
            <a:pPr marL="160020" indent="-160020">
              <a:buFont typeface="Arial" panose="020B0604020202020204" pitchFamily="34" charset="0"/>
              <a:buChar char="•"/>
            </a:pPr>
            <a:endParaRPr lang="en-US" sz="1200" dirty="0"/>
          </a:p>
        </p:txBody>
      </p:sp>
      <p:sp>
        <p:nvSpPr>
          <p:cNvPr id="38" name="Rectangle 37">
            <a:extLst>
              <a:ext uri="{FF2B5EF4-FFF2-40B4-BE49-F238E27FC236}">
                <a16:creationId xmlns:a16="http://schemas.microsoft.com/office/drawing/2014/main" id="{F4BEF5A8-B6E9-9F4F-95F4-FA7CE14E724A}"/>
              </a:ext>
            </a:extLst>
          </p:cNvPr>
          <p:cNvSpPr/>
          <p:nvPr/>
        </p:nvSpPr>
        <p:spPr>
          <a:xfrm>
            <a:off x="298402" y="1704715"/>
            <a:ext cx="9051944" cy="584775"/>
          </a:xfrm>
          <a:prstGeom prst="rect">
            <a:avLst/>
          </a:prstGeom>
        </p:spPr>
        <p:txBody>
          <a:bodyPr wrap="square">
            <a:spAutoFit/>
          </a:bodyPr>
          <a:lstStyle/>
          <a:p>
            <a:r>
              <a:rPr lang="en-US" sz="1600" dirty="0"/>
              <a:t>Address the wave of emerging and exacerbated Behavioral Health conditions that are a result of the COVID-19 crisis to address community needs and avoid longer-term costs of acute care.</a:t>
            </a:r>
          </a:p>
        </p:txBody>
      </p:sp>
    </p:spTree>
    <p:extLst>
      <p:ext uri="{BB962C8B-B14F-4D97-AF65-F5344CB8AC3E}">
        <p14:creationId xmlns:p14="http://schemas.microsoft.com/office/powerpoint/2010/main" val="24605950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1AEC8755-968C-E94A-B115-1636F814A717}"/>
              </a:ext>
            </a:extLst>
          </p:cNvPr>
          <p:cNvSpPr/>
          <p:nvPr/>
        </p:nvSpPr>
        <p:spPr>
          <a:xfrm>
            <a:off x="168964" y="-2218162"/>
            <a:ext cx="7549587" cy="1015663"/>
          </a:xfrm>
          <a:prstGeom prst="rect">
            <a:avLst/>
          </a:prstGeom>
        </p:spPr>
        <p:txBody>
          <a:bodyPr wrap="square" anchor="t">
            <a:spAutoFit/>
          </a:bodyPr>
          <a:lstStyle/>
          <a:p>
            <a:r>
              <a:rPr lang="en-US" sz="2400" b="1" dirty="0">
                <a:solidFill>
                  <a:srgbClr val="003963"/>
                </a:solidFill>
              </a:rPr>
              <a:t>The urgency is now: </a:t>
            </a:r>
          </a:p>
          <a:p>
            <a:r>
              <a:rPr lang="en-US" sz="1800" dirty="0">
                <a:solidFill>
                  <a:srgbClr val="00A2E2"/>
                </a:solidFill>
              </a:rPr>
              <a:t>How do we ensure we are addressing the critical issues and opportunities that are emerging in the Behavioral Health Epidemic </a:t>
            </a:r>
          </a:p>
        </p:txBody>
      </p:sp>
      <p:sp>
        <p:nvSpPr>
          <p:cNvPr id="4" name="Rectangle 3">
            <a:extLst>
              <a:ext uri="{FF2B5EF4-FFF2-40B4-BE49-F238E27FC236}">
                <a16:creationId xmlns:a16="http://schemas.microsoft.com/office/drawing/2014/main" id="{50818B1C-7512-BF4C-A24D-63537D0ED002}"/>
              </a:ext>
            </a:extLst>
          </p:cNvPr>
          <p:cNvSpPr/>
          <p:nvPr/>
        </p:nvSpPr>
        <p:spPr>
          <a:xfrm>
            <a:off x="298402" y="1081608"/>
            <a:ext cx="9066848" cy="830997"/>
          </a:xfrm>
          <a:prstGeom prst="rect">
            <a:avLst/>
          </a:prstGeom>
        </p:spPr>
        <p:txBody>
          <a:bodyPr wrap="square">
            <a:spAutoFit/>
          </a:bodyPr>
          <a:lstStyle/>
          <a:p>
            <a:r>
              <a:rPr lang="en-US" sz="2400" b="1" dirty="0">
                <a:solidFill>
                  <a:srgbClr val="002060"/>
                </a:solidFill>
              </a:rPr>
              <a:t>Ensure clinical protocols address (and have access to) Behavioral Health resources</a:t>
            </a:r>
          </a:p>
        </p:txBody>
      </p:sp>
      <p:sp>
        <p:nvSpPr>
          <p:cNvPr id="12" name="Rectangle 11">
            <a:extLst>
              <a:ext uri="{FF2B5EF4-FFF2-40B4-BE49-F238E27FC236}">
                <a16:creationId xmlns:a16="http://schemas.microsoft.com/office/drawing/2014/main" id="{FF75D8D4-2E5B-8141-92F5-2E65763F210A}"/>
              </a:ext>
            </a:extLst>
          </p:cNvPr>
          <p:cNvSpPr/>
          <p:nvPr/>
        </p:nvSpPr>
        <p:spPr>
          <a:xfrm>
            <a:off x="9548037" y="0"/>
            <a:ext cx="3253563" cy="288950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3942695-DEE0-D342-9001-6E26D151834E}"/>
              </a:ext>
            </a:extLst>
          </p:cNvPr>
          <p:cNvSpPr/>
          <p:nvPr/>
        </p:nvSpPr>
        <p:spPr>
          <a:xfrm>
            <a:off x="9548037" y="369169"/>
            <a:ext cx="3253563" cy="338554"/>
          </a:xfrm>
          <a:prstGeom prst="rect">
            <a:avLst/>
          </a:prstGeom>
        </p:spPr>
        <p:txBody>
          <a:bodyPr wrap="square" anchor="t">
            <a:spAutoFit/>
          </a:bodyPr>
          <a:lstStyle/>
          <a:p>
            <a:pPr algn="ctr"/>
            <a:r>
              <a:rPr lang="en-US" sz="1600" b="1" dirty="0">
                <a:solidFill>
                  <a:schemeClr val="bg1"/>
                </a:solidFill>
              </a:rPr>
              <a:t>Critical Issues</a:t>
            </a:r>
          </a:p>
        </p:txBody>
      </p:sp>
      <p:grpSp>
        <p:nvGrpSpPr>
          <p:cNvPr id="5" name="Group 4">
            <a:extLst>
              <a:ext uri="{FF2B5EF4-FFF2-40B4-BE49-F238E27FC236}">
                <a16:creationId xmlns:a16="http://schemas.microsoft.com/office/drawing/2014/main" id="{4010EF52-C5D7-364A-9BFE-02E8D06E4633}"/>
              </a:ext>
            </a:extLst>
          </p:cNvPr>
          <p:cNvGrpSpPr/>
          <p:nvPr/>
        </p:nvGrpSpPr>
        <p:grpSpPr>
          <a:xfrm>
            <a:off x="10054011" y="824143"/>
            <a:ext cx="2241613" cy="1631010"/>
            <a:chOff x="1954883" y="224589"/>
            <a:chExt cx="9056437" cy="6589517"/>
          </a:xfrm>
        </p:grpSpPr>
        <p:sp>
          <p:nvSpPr>
            <p:cNvPr id="14" name="TextBox 13">
              <a:extLst>
                <a:ext uri="{FF2B5EF4-FFF2-40B4-BE49-F238E27FC236}">
                  <a16:creationId xmlns:a16="http://schemas.microsoft.com/office/drawing/2014/main" id="{B31051DD-EB23-794F-8BAD-F9F7F16AC8B0}"/>
                </a:ext>
              </a:extLst>
            </p:cNvPr>
            <p:cNvSpPr txBox="1"/>
            <p:nvPr/>
          </p:nvSpPr>
          <p:spPr>
            <a:xfrm>
              <a:off x="8244614" y="1587504"/>
              <a:ext cx="2766706"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Clinician </a:t>
              </a:r>
              <a:br>
                <a:rPr lang="en-US" sz="800" spc="-16" dirty="0">
                  <a:solidFill>
                    <a:schemeClr val="bg1"/>
                  </a:solidFill>
                  <a:latin typeface="+mj-lt"/>
                  <a:ea typeface="Source Sans Pro" panose="020B0503030403020204" pitchFamily="34" charset="0"/>
                </a:rPr>
              </a:br>
              <a:r>
                <a:rPr lang="en-US" sz="800" spc="-16" dirty="0">
                  <a:solidFill>
                    <a:schemeClr val="bg1"/>
                  </a:solidFill>
                  <a:latin typeface="+mj-lt"/>
                  <a:ea typeface="Source Sans Pro" panose="020B0503030403020204" pitchFamily="34" charset="0"/>
                </a:rPr>
                <a:t>Challenges </a:t>
              </a:r>
            </a:p>
          </p:txBody>
        </p:sp>
        <p:grpSp>
          <p:nvGrpSpPr>
            <p:cNvPr id="15" name="Group 14">
              <a:extLst>
                <a:ext uri="{FF2B5EF4-FFF2-40B4-BE49-F238E27FC236}">
                  <a16:creationId xmlns:a16="http://schemas.microsoft.com/office/drawing/2014/main" id="{6EE47F6B-8362-8A4F-9C3C-2F4D7C87260E}"/>
                </a:ext>
              </a:extLst>
            </p:cNvPr>
            <p:cNvGrpSpPr/>
            <p:nvPr/>
          </p:nvGrpSpPr>
          <p:grpSpPr>
            <a:xfrm>
              <a:off x="4052176" y="1669056"/>
              <a:ext cx="4821704" cy="4177981"/>
              <a:chOff x="3467290" y="2011174"/>
              <a:chExt cx="5867022" cy="5083743"/>
            </a:xfrm>
          </p:grpSpPr>
          <p:sp>
            <p:nvSpPr>
              <p:cNvPr id="16" name="Freeform 176">
                <a:extLst>
                  <a:ext uri="{FF2B5EF4-FFF2-40B4-BE49-F238E27FC236}">
                    <a16:creationId xmlns:a16="http://schemas.microsoft.com/office/drawing/2014/main" id="{172F5DE8-A200-9A4A-AC04-67E7077393A6}"/>
                  </a:ext>
                </a:extLst>
              </p:cNvPr>
              <p:cNvSpPr>
                <a:spLocks/>
              </p:cNvSpPr>
              <p:nvPr/>
            </p:nvSpPr>
            <p:spPr bwMode="auto">
              <a:xfrm>
                <a:off x="4932533" y="4553045"/>
                <a:ext cx="2933511" cy="2541872"/>
              </a:xfrm>
              <a:custGeom>
                <a:avLst/>
                <a:gdLst>
                  <a:gd name="T0" fmla="*/ 1540102 w 4486"/>
                  <a:gd name="T1" fmla="*/ 0 h 3885"/>
                  <a:gd name="T2" fmla="*/ 0 w 4486"/>
                  <a:gd name="T3" fmla="*/ 2667613 h 3885"/>
                  <a:gd name="T4" fmla="*/ 3079517 w 4486"/>
                  <a:gd name="T5" fmla="*/ 2667613 h 3885"/>
                  <a:gd name="T6" fmla="*/ 1540102 w 4486"/>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5">
                    <a:moveTo>
                      <a:pt x="2243" y="0"/>
                    </a:moveTo>
                    <a:lnTo>
                      <a:pt x="0" y="3884"/>
                    </a:lnTo>
                    <a:lnTo>
                      <a:pt x="4485" y="3884"/>
                    </a:lnTo>
                    <a:lnTo>
                      <a:pt x="2243" y="0"/>
                    </a:lnTo>
                  </a:path>
                </a:pathLst>
              </a:custGeom>
              <a:solidFill>
                <a:schemeClr val="accent1"/>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18" name="Freeform 177">
                <a:extLst>
                  <a:ext uri="{FF2B5EF4-FFF2-40B4-BE49-F238E27FC236}">
                    <a16:creationId xmlns:a16="http://schemas.microsoft.com/office/drawing/2014/main" id="{973F8BCD-381C-554A-88BC-12252EE97DCC}"/>
                  </a:ext>
                </a:extLst>
              </p:cNvPr>
              <p:cNvSpPr>
                <a:spLocks/>
              </p:cNvSpPr>
              <p:nvPr/>
            </p:nvSpPr>
            <p:spPr bwMode="auto">
              <a:xfrm>
                <a:off x="6400801" y="2011174"/>
                <a:ext cx="2933511" cy="2541871"/>
              </a:xfrm>
              <a:custGeom>
                <a:avLst/>
                <a:gdLst>
                  <a:gd name="T0" fmla="*/ 1539760 w 4485"/>
                  <a:gd name="T1" fmla="*/ 0 h 3884"/>
                  <a:gd name="T2" fmla="*/ 0 w 4485"/>
                  <a:gd name="T3" fmla="*/ 2667611 h 3884"/>
                  <a:gd name="T4" fmla="*/ 3079519 w 4485"/>
                  <a:gd name="T5" fmla="*/ 2667611 h 3884"/>
                  <a:gd name="T6" fmla="*/ 1539760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2" y="0"/>
                    </a:moveTo>
                    <a:lnTo>
                      <a:pt x="0" y="3883"/>
                    </a:lnTo>
                    <a:lnTo>
                      <a:pt x="4484" y="3883"/>
                    </a:lnTo>
                    <a:lnTo>
                      <a:pt x="2242" y="0"/>
                    </a:lnTo>
                  </a:path>
                </a:pathLst>
              </a:custGeom>
              <a:solidFill>
                <a:schemeClr val="accent1"/>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0" name="Freeform 179">
                <a:extLst>
                  <a:ext uri="{FF2B5EF4-FFF2-40B4-BE49-F238E27FC236}">
                    <a16:creationId xmlns:a16="http://schemas.microsoft.com/office/drawing/2014/main" id="{AF6AA1F1-DB5D-6B48-A577-74C17CE1EC12}"/>
                  </a:ext>
                </a:extLst>
              </p:cNvPr>
              <p:cNvSpPr>
                <a:spLocks/>
              </p:cNvSpPr>
              <p:nvPr/>
            </p:nvSpPr>
            <p:spPr bwMode="auto">
              <a:xfrm>
                <a:off x="6400801" y="4553045"/>
                <a:ext cx="2933511" cy="2541872"/>
              </a:xfrm>
              <a:custGeom>
                <a:avLst/>
                <a:gdLst>
                  <a:gd name="T0" fmla="*/ 0 w 4485"/>
                  <a:gd name="T1" fmla="*/ 0 h 3885"/>
                  <a:gd name="T2" fmla="*/ 1539760 w 4485"/>
                  <a:gd name="T3" fmla="*/ 2667613 h 3885"/>
                  <a:gd name="T4" fmla="*/ 3079519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2"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4" name="Freeform 181">
                <a:extLst>
                  <a:ext uri="{FF2B5EF4-FFF2-40B4-BE49-F238E27FC236}">
                    <a16:creationId xmlns:a16="http://schemas.microsoft.com/office/drawing/2014/main" id="{78693D03-3054-3D4E-9627-E0A7EA652F9E}"/>
                  </a:ext>
                </a:extLst>
              </p:cNvPr>
              <p:cNvSpPr>
                <a:spLocks/>
              </p:cNvSpPr>
              <p:nvPr/>
            </p:nvSpPr>
            <p:spPr bwMode="auto">
              <a:xfrm>
                <a:off x="3467290" y="4553045"/>
                <a:ext cx="2933511" cy="2541872"/>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5" name="TextBox 24">
                <a:extLst>
                  <a:ext uri="{FF2B5EF4-FFF2-40B4-BE49-F238E27FC236}">
                    <a16:creationId xmlns:a16="http://schemas.microsoft.com/office/drawing/2014/main" id="{A4E847B4-3DF6-0346-9E09-2E13EF18D004}"/>
                  </a:ext>
                </a:extLst>
              </p:cNvPr>
              <p:cNvSpPr txBox="1"/>
              <p:nvPr/>
            </p:nvSpPr>
            <p:spPr>
              <a:xfrm>
                <a:off x="4236225" y="2994644"/>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6</a:t>
                </a:r>
              </a:p>
            </p:txBody>
          </p:sp>
          <p:sp>
            <p:nvSpPr>
              <p:cNvPr id="26" name="TextBox 25">
                <a:extLst>
                  <a:ext uri="{FF2B5EF4-FFF2-40B4-BE49-F238E27FC236}">
                    <a16:creationId xmlns:a16="http://schemas.microsoft.com/office/drawing/2014/main" id="{56403C62-669F-FE41-9934-55C0554EAD79}"/>
                  </a:ext>
                </a:extLst>
              </p:cNvPr>
              <p:cNvSpPr txBox="1"/>
              <p:nvPr/>
            </p:nvSpPr>
            <p:spPr>
              <a:xfrm>
                <a:off x="5765762" y="2108319"/>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1</a:t>
                </a:r>
              </a:p>
            </p:txBody>
          </p:sp>
          <p:sp>
            <p:nvSpPr>
              <p:cNvPr id="28" name="TextBox 27">
                <a:extLst>
                  <a:ext uri="{FF2B5EF4-FFF2-40B4-BE49-F238E27FC236}">
                    <a16:creationId xmlns:a16="http://schemas.microsoft.com/office/drawing/2014/main" id="{DA2C1947-9098-DD4B-9FC7-5226288B9885}"/>
                  </a:ext>
                </a:extLst>
              </p:cNvPr>
              <p:cNvSpPr txBox="1"/>
              <p:nvPr/>
            </p:nvSpPr>
            <p:spPr>
              <a:xfrm>
                <a:off x="7228912" y="2999201"/>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2</a:t>
                </a:r>
              </a:p>
            </p:txBody>
          </p:sp>
          <p:sp>
            <p:nvSpPr>
              <p:cNvPr id="30" name="TextBox 29">
                <a:extLst>
                  <a:ext uri="{FF2B5EF4-FFF2-40B4-BE49-F238E27FC236}">
                    <a16:creationId xmlns:a16="http://schemas.microsoft.com/office/drawing/2014/main" id="{A3167FD0-F83D-DD4A-A72D-90405E017D57}"/>
                  </a:ext>
                </a:extLst>
              </p:cNvPr>
              <p:cNvSpPr txBox="1"/>
              <p:nvPr/>
            </p:nvSpPr>
            <p:spPr>
              <a:xfrm>
                <a:off x="7247451" y="475574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3</a:t>
                </a:r>
              </a:p>
            </p:txBody>
          </p:sp>
          <p:sp>
            <p:nvSpPr>
              <p:cNvPr id="31" name="TextBox 30">
                <a:extLst>
                  <a:ext uri="{FF2B5EF4-FFF2-40B4-BE49-F238E27FC236}">
                    <a16:creationId xmlns:a16="http://schemas.microsoft.com/office/drawing/2014/main" id="{CB32858F-D284-8944-839E-5211D8180EC0}"/>
                  </a:ext>
                </a:extLst>
              </p:cNvPr>
              <p:cNvSpPr txBox="1"/>
              <p:nvPr/>
            </p:nvSpPr>
            <p:spPr>
              <a:xfrm>
                <a:off x="5737804" y="5556748"/>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4</a:t>
                </a:r>
              </a:p>
            </p:txBody>
          </p:sp>
          <p:sp>
            <p:nvSpPr>
              <p:cNvPr id="32" name="TextBox 31">
                <a:extLst>
                  <a:ext uri="{FF2B5EF4-FFF2-40B4-BE49-F238E27FC236}">
                    <a16:creationId xmlns:a16="http://schemas.microsoft.com/office/drawing/2014/main" id="{BC7732BD-8AE6-2D4C-8A49-D027171EBC73}"/>
                  </a:ext>
                </a:extLst>
              </p:cNvPr>
              <p:cNvSpPr txBox="1"/>
              <p:nvPr/>
            </p:nvSpPr>
            <p:spPr>
              <a:xfrm>
                <a:off x="4199291" y="472471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5</a:t>
                </a:r>
              </a:p>
            </p:txBody>
          </p:sp>
        </p:grpSp>
        <p:sp>
          <p:nvSpPr>
            <p:cNvPr id="35" name="TextBox 34">
              <a:extLst>
                <a:ext uri="{FF2B5EF4-FFF2-40B4-BE49-F238E27FC236}">
                  <a16:creationId xmlns:a16="http://schemas.microsoft.com/office/drawing/2014/main" id="{A3FF2667-46B6-7849-BE43-553064687CB0}"/>
                </a:ext>
              </a:extLst>
            </p:cNvPr>
            <p:cNvSpPr txBox="1"/>
            <p:nvPr/>
          </p:nvSpPr>
          <p:spPr>
            <a:xfrm>
              <a:off x="5048505" y="224589"/>
              <a:ext cx="2778629"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Value Barriers </a:t>
              </a:r>
            </a:p>
          </p:txBody>
        </p:sp>
        <p:sp>
          <p:nvSpPr>
            <p:cNvPr id="36" name="TextBox 35">
              <a:extLst>
                <a:ext uri="{FF2B5EF4-FFF2-40B4-BE49-F238E27FC236}">
                  <a16:creationId xmlns:a16="http://schemas.microsoft.com/office/drawing/2014/main" id="{76B013F0-AD86-4544-B3B2-B9249653EBF8}"/>
                </a:ext>
              </a:extLst>
            </p:cNvPr>
            <p:cNvSpPr txBox="1"/>
            <p:nvPr/>
          </p:nvSpPr>
          <p:spPr>
            <a:xfrm>
              <a:off x="5204003" y="5943681"/>
              <a:ext cx="2623132"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Proactivity</a:t>
              </a:r>
            </a:p>
          </p:txBody>
        </p:sp>
        <p:sp>
          <p:nvSpPr>
            <p:cNvPr id="37" name="TextBox 36">
              <a:extLst>
                <a:ext uri="{FF2B5EF4-FFF2-40B4-BE49-F238E27FC236}">
                  <a16:creationId xmlns:a16="http://schemas.microsoft.com/office/drawing/2014/main" id="{14359635-1856-764D-AC49-97EC9113F864}"/>
                </a:ext>
              </a:extLst>
            </p:cNvPr>
            <p:cNvSpPr txBox="1"/>
            <p:nvPr/>
          </p:nvSpPr>
          <p:spPr>
            <a:xfrm>
              <a:off x="1954883" y="1624544"/>
              <a:ext cx="280492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Cultural Challenges</a:t>
              </a:r>
            </a:p>
          </p:txBody>
        </p:sp>
        <p:sp>
          <p:nvSpPr>
            <p:cNvPr id="39" name="TextBox 38">
              <a:extLst>
                <a:ext uri="{FF2B5EF4-FFF2-40B4-BE49-F238E27FC236}">
                  <a16:creationId xmlns:a16="http://schemas.microsoft.com/office/drawing/2014/main" id="{5EE6B582-A5AD-7742-A3DB-35B94D69E389}"/>
                </a:ext>
              </a:extLst>
            </p:cNvPr>
            <p:cNvSpPr txBox="1"/>
            <p:nvPr/>
          </p:nvSpPr>
          <p:spPr>
            <a:xfrm>
              <a:off x="2108449" y="4579118"/>
              <a:ext cx="2714734"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Prevention</a:t>
              </a:r>
            </a:p>
          </p:txBody>
        </p:sp>
        <p:sp>
          <p:nvSpPr>
            <p:cNvPr id="40" name="TextBox 39">
              <a:extLst>
                <a:ext uri="{FF2B5EF4-FFF2-40B4-BE49-F238E27FC236}">
                  <a16:creationId xmlns:a16="http://schemas.microsoft.com/office/drawing/2014/main" id="{7842DDC4-618C-EB49-8D92-CC6E8D06A27F}"/>
                </a:ext>
              </a:extLst>
            </p:cNvPr>
            <p:cNvSpPr txBox="1"/>
            <p:nvPr/>
          </p:nvSpPr>
          <p:spPr>
            <a:xfrm>
              <a:off x="8202257" y="4539642"/>
              <a:ext cx="273486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Need/Care Match</a:t>
              </a:r>
            </a:p>
          </p:txBody>
        </p:sp>
      </p:grpSp>
      <p:sp>
        <p:nvSpPr>
          <p:cNvPr id="42" name="Rectangle 41">
            <a:extLst>
              <a:ext uri="{FF2B5EF4-FFF2-40B4-BE49-F238E27FC236}">
                <a16:creationId xmlns:a16="http://schemas.microsoft.com/office/drawing/2014/main" id="{CED96D22-0F74-AF48-B854-0CE3DF5BC976}"/>
              </a:ext>
            </a:extLst>
          </p:cNvPr>
          <p:cNvSpPr/>
          <p:nvPr/>
        </p:nvSpPr>
        <p:spPr>
          <a:xfrm>
            <a:off x="9548037" y="2944368"/>
            <a:ext cx="3253563" cy="4828032"/>
          </a:xfrm>
          <a:prstGeom prst="rect">
            <a:avLst/>
          </a:prstGeom>
          <a:solidFill>
            <a:srgbClr val="0039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13CF5FB-EA21-2E43-8223-310323F91EEC}"/>
              </a:ext>
            </a:extLst>
          </p:cNvPr>
          <p:cNvSpPr/>
          <p:nvPr/>
        </p:nvSpPr>
        <p:spPr>
          <a:xfrm>
            <a:off x="228600" y="534035"/>
            <a:ext cx="6764994" cy="338554"/>
          </a:xfrm>
          <a:prstGeom prst="rect">
            <a:avLst/>
          </a:prstGeom>
        </p:spPr>
        <p:txBody>
          <a:bodyPr wrap="square" anchor="t">
            <a:spAutoFit/>
          </a:bodyPr>
          <a:lstStyle/>
          <a:p>
            <a:r>
              <a:rPr lang="en-US" sz="1600" b="1" dirty="0">
                <a:solidFill>
                  <a:srgbClr val="00A2E2"/>
                </a:solidFill>
              </a:rPr>
              <a:t>Identifying Issues and Opportunities</a:t>
            </a:r>
          </a:p>
        </p:txBody>
      </p:sp>
      <p:sp>
        <p:nvSpPr>
          <p:cNvPr id="44" name="Rectangle 43">
            <a:extLst>
              <a:ext uri="{FF2B5EF4-FFF2-40B4-BE49-F238E27FC236}">
                <a16:creationId xmlns:a16="http://schemas.microsoft.com/office/drawing/2014/main" id="{BEF1FE83-BF87-1E40-BFFF-5C9604484C0C}"/>
              </a:ext>
            </a:extLst>
          </p:cNvPr>
          <p:cNvSpPr/>
          <p:nvPr/>
        </p:nvSpPr>
        <p:spPr>
          <a:xfrm>
            <a:off x="9548037" y="3094081"/>
            <a:ext cx="3253563" cy="584775"/>
          </a:xfrm>
          <a:prstGeom prst="rect">
            <a:avLst/>
          </a:prstGeom>
        </p:spPr>
        <p:txBody>
          <a:bodyPr wrap="square" anchor="t">
            <a:spAutoFit/>
          </a:bodyPr>
          <a:lstStyle/>
          <a:p>
            <a:pPr algn="ctr"/>
            <a:r>
              <a:rPr lang="en-US" sz="1600" b="1" dirty="0">
                <a:solidFill>
                  <a:schemeClr val="bg1"/>
                </a:solidFill>
              </a:rPr>
              <a:t>Competitive / Startup </a:t>
            </a:r>
            <a:br>
              <a:rPr lang="en-US" sz="1600" b="1" dirty="0">
                <a:solidFill>
                  <a:schemeClr val="bg1"/>
                </a:solidFill>
              </a:rPr>
            </a:br>
            <a:r>
              <a:rPr lang="en-US" sz="1600" b="1" dirty="0">
                <a:solidFill>
                  <a:schemeClr val="bg1"/>
                </a:solidFill>
              </a:rPr>
              <a:t>Landscape</a:t>
            </a:r>
          </a:p>
        </p:txBody>
      </p:sp>
      <p:sp>
        <p:nvSpPr>
          <p:cNvPr id="41" name="Rectangle 40">
            <a:extLst>
              <a:ext uri="{FF2B5EF4-FFF2-40B4-BE49-F238E27FC236}">
                <a16:creationId xmlns:a16="http://schemas.microsoft.com/office/drawing/2014/main" id="{E11BF3BD-C614-444D-B302-F8AFD54BAEB6}"/>
              </a:ext>
            </a:extLst>
          </p:cNvPr>
          <p:cNvSpPr/>
          <p:nvPr/>
        </p:nvSpPr>
        <p:spPr>
          <a:xfrm>
            <a:off x="5718629" y="2609123"/>
            <a:ext cx="3690547" cy="4724370"/>
          </a:xfrm>
          <a:prstGeom prst="rect">
            <a:avLst/>
          </a:prstGeom>
        </p:spPr>
        <p:txBody>
          <a:bodyPr wrap="square">
            <a:spAutoFit/>
          </a:bodyPr>
          <a:lstStyle/>
          <a:p>
            <a:pPr>
              <a:spcAft>
                <a:spcPts val="600"/>
              </a:spcAft>
            </a:pPr>
            <a:r>
              <a:rPr lang="en-US" sz="1400" b="1" dirty="0"/>
              <a:t>How might we…</a:t>
            </a:r>
          </a:p>
          <a:p>
            <a:pPr marL="342900" indent="-342900">
              <a:spcBef>
                <a:spcPts val="600"/>
              </a:spcBef>
              <a:buFont typeface="Arial" panose="020B0604020202020204" pitchFamily="34" charset="0"/>
              <a:buChar char="•"/>
            </a:pPr>
            <a:r>
              <a:rPr lang="en-US" sz="1300" dirty="0"/>
              <a:t>Monitor, advocate, and train practitioners on best and emerging practices</a:t>
            </a:r>
          </a:p>
          <a:p>
            <a:pPr marL="342900" indent="-342900">
              <a:spcBef>
                <a:spcPts val="600"/>
              </a:spcBef>
              <a:buFont typeface="Arial" panose="020B0604020202020204" pitchFamily="34" charset="0"/>
              <a:buChar char="•"/>
            </a:pPr>
            <a:r>
              <a:rPr lang="en-US" sz="1300" dirty="0"/>
              <a:t>Directly integrate and “reverse integrate” behavioral health and physical health locations</a:t>
            </a:r>
          </a:p>
          <a:p>
            <a:pPr marL="342900" indent="-342900">
              <a:spcBef>
                <a:spcPts val="600"/>
              </a:spcBef>
              <a:buFont typeface="Arial" panose="020B0604020202020204" pitchFamily="34" charset="0"/>
              <a:buChar char="•"/>
            </a:pPr>
            <a:r>
              <a:rPr lang="en-US" sz="1300" dirty="0"/>
              <a:t>Reduce and remove clinical bias and encourage BH discussions be a priority</a:t>
            </a:r>
          </a:p>
          <a:p>
            <a:pPr marL="342900" indent="-342900">
              <a:spcBef>
                <a:spcPts val="600"/>
              </a:spcBef>
              <a:buFont typeface="Arial" panose="020B0604020202020204" pitchFamily="34" charset="0"/>
              <a:buChar char="•"/>
            </a:pPr>
            <a:r>
              <a:rPr lang="en-US" sz="1300" dirty="0"/>
              <a:t>Administer and expand universal screening protocol, deploy screenings digitally, and conduct appropriate follow-up</a:t>
            </a:r>
          </a:p>
          <a:p>
            <a:pPr marL="342900" indent="-342900">
              <a:spcBef>
                <a:spcPts val="600"/>
              </a:spcBef>
              <a:buFont typeface="Arial" panose="020B0604020202020204" pitchFamily="34" charset="0"/>
              <a:buChar char="•"/>
            </a:pPr>
            <a:r>
              <a:rPr lang="en-US" sz="1300" dirty="0"/>
              <a:t>Develop scoring models to enhance referral capabilities to psychotherapists, rotating BHC, and other BH providers</a:t>
            </a:r>
          </a:p>
          <a:p>
            <a:pPr marL="342900" indent="-342900">
              <a:spcBef>
                <a:spcPts val="600"/>
              </a:spcBef>
              <a:buFont typeface="Arial" panose="020B0604020202020204" pitchFamily="34" charset="0"/>
              <a:buChar char="•"/>
            </a:pPr>
            <a:r>
              <a:rPr lang="en-US" sz="1300" dirty="0"/>
              <a:t>Identify sub-specialty needs in individuals and algorithmically refer them to clinicians of appropriate specialty and performance</a:t>
            </a:r>
          </a:p>
          <a:p>
            <a:pPr marL="342900" indent="-342900">
              <a:spcBef>
                <a:spcPts val="600"/>
              </a:spcBef>
              <a:buFont typeface="Arial" panose="020B0604020202020204" pitchFamily="34" charset="0"/>
              <a:buChar char="•"/>
            </a:pPr>
            <a:r>
              <a:rPr lang="en-US" sz="1300" dirty="0"/>
              <a:t>Build a virtual BH team inclusive of </a:t>
            </a:r>
            <a:r>
              <a:rPr lang="en-US" sz="1300" dirty="0" err="1"/>
              <a:t>telepsychiatry</a:t>
            </a:r>
            <a:r>
              <a:rPr lang="en-US" sz="1300" dirty="0"/>
              <a:t>, </a:t>
            </a:r>
            <a:r>
              <a:rPr lang="en-US" sz="1300" dirty="0" err="1"/>
              <a:t>teletherapy</a:t>
            </a:r>
            <a:r>
              <a:rPr lang="en-US" sz="1300" dirty="0"/>
              <a:t>, BH coaches, peer specialists and SW/case managers </a:t>
            </a:r>
          </a:p>
        </p:txBody>
      </p:sp>
      <p:sp>
        <p:nvSpPr>
          <p:cNvPr id="45" name="Rectangle 44">
            <a:extLst>
              <a:ext uri="{FF2B5EF4-FFF2-40B4-BE49-F238E27FC236}">
                <a16:creationId xmlns:a16="http://schemas.microsoft.com/office/drawing/2014/main" id="{3DF5AF01-2516-C644-A77F-55D0C8703EF3}"/>
              </a:ext>
            </a:extLst>
          </p:cNvPr>
          <p:cNvSpPr/>
          <p:nvPr/>
        </p:nvSpPr>
        <p:spPr>
          <a:xfrm>
            <a:off x="168964" y="2609123"/>
            <a:ext cx="5549665" cy="5309146"/>
          </a:xfrm>
          <a:prstGeom prst="rect">
            <a:avLst/>
          </a:prstGeom>
        </p:spPr>
        <p:txBody>
          <a:bodyPr wrap="square">
            <a:spAutoFit/>
          </a:bodyPr>
          <a:lstStyle/>
          <a:p>
            <a:pPr>
              <a:spcAft>
                <a:spcPts val="600"/>
              </a:spcAft>
            </a:pPr>
            <a:r>
              <a:rPr lang="en-US" sz="1400" b="1" dirty="0"/>
              <a:t>Why is this so critical?</a:t>
            </a:r>
            <a:endParaRPr lang="en-US" sz="1400" dirty="0"/>
          </a:p>
          <a:p>
            <a:pPr marL="160020" indent="-160020">
              <a:spcBef>
                <a:spcPts val="600"/>
              </a:spcBef>
              <a:spcAft>
                <a:spcPts val="600"/>
              </a:spcAft>
              <a:buFont typeface="Arial" panose="020B0604020202020204" pitchFamily="34" charset="0"/>
              <a:buChar char="•"/>
            </a:pPr>
            <a:r>
              <a:rPr lang="en-US" sz="1300" b="1" dirty="0"/>
              <a:t>Physical Health and Behavioral Health are deeply connected. </a:t>
            </a:r>
            <a:r>
              <a:rPr lang="en-US" sz="1300" dirty="0"/>
              <a:t>In some instances they are completely inseparable. The treatment or mistreatment of one effects the other and currently clinicians experience a lot of blind spots and missed opportunities when it comes to treating patients effectively.</a:t>
            </a:r>
          </a:p>
          <a:p>
            <a:pPr marL="160020" indent="-160020">
              <a:spcBef>
                <a:spcPts val="600"/>
              </a:spcBef>
              <a:spcAft>
                <a:spcPts val="600"/>
              </a:spcAft>
              <a:buFont typeface="Arial" panose="020B0604020202020204" pitchFamily="34" charset="0"/>
              <a:buChar char="•"/>
            </a:pPr>
            <a:r>
              <a:rPr lang="en-US" sz="1300" b="1" dirty="0"/>
              <a:t>Untreated or incorrectly treated Behavioral Health issues become very costly somewhere along the line. </a:t>
            </a:r>
            <a:r>
              <a:rPr lang="en-US" sz="1300" dirty="0"/>
              <a:t>Issues that may start as small cases (usually in childhood) will grow to become much larger and much more costly if left untreated or misdiagnosed.</a:t>
            </a:r>
          </a:p>
          <a:p>
            <a:pPr marL="160020" indent="-160020">
              <a:spcBef>
                <a:spcPts val="600"/>
              </a:spcBef>
              <a:spcAft>
                <a:spcPts val="600"/>
              </a:spcAft>
              <a:buFont typeface="Arial" panose="020B0604020202020204" pitchFamily="34" charset="0"/>
              <a:buChar char="•"/>
            </a:pPr>
            <a:r>
              <a:rPr lang="en-US" sz="1300" b="1" dirty="0"/>
              <a:t>Individualized care is part of our Living Health Model.</a:t>
            </a:r>
            <a:r>
              <a:rPr lang="en-US" sz="1300" dirty="0"/>
              <a:t> The Whole-Health takes into consideration who that patient is a total person, making connections between previously fragmented views of a person to achieve the best care possible.</a:t>
            </a:r>
          </a:p>
          <a:p>
            <a:pPr marL="160020" indent="-160020">
              <a:spcBef>
                <a:spcPts val="600"/>
              </a:spcBef>
              <a:spcAft>
                <a:spcPts val="600"/>
              </a:spcAft>
              <a:buFont typeface="Arial" panose="020B0604020202020204" pitchFamily="34" charset="0"/>
              <a:buChar char="•"/>
            </a:pPr>
            <a:r>
              <a:rPr lang="en-US" sz="1300" b="1" dirty="0"/>
              <a:t>Bias can lead to decreased quality of care. </a:t>
            </a:r>
            <a:r>
              <a:rPr lang="en-US" sz="1300" dirty="0"/>
              <a:t>If clinicians hold biases about BH issues they may not take certain conditions seriously or at the very least may treat the patient in a way that is not as effective as it could be. In addition, clinicians may neglect their own self care as a result of biases they hold.</a:t>
            </a:r>
            <a:endParaRPr lang="en-US" sz="1300" dirty="0">
              <a:solidFill>
                <a:srgbClr val="58656E"/>
              </a:solidFill>
            </a:endParaRPr>
          </a:p>
          <a:p>
            <a:pPr marL="171450" indent="-171450">
              <a:spcBef>
                <a:spcPts val="200"/>
              </a:spcBef>
              <a:spcAft>
                <a:spcPts val="400"/>
              </a:spcAft>
              <a:buFont typeface="Arial" panose="020B0604020202020204" pitchFamily="34" charset="0"/>
              <a:buChar char="•"/>
            </a:pPr>
            <a:endParaRPr lang="en-US" sz="1200" dirty="0">
              <a:solidFill>
                <a:srgbClr val="58656E"/>
              </a:solidFill>
            </a:endParaRPr>
          </a:p>
          <a:p>
            <a:pPr marL="160020" indent="-160020">
              <a:spcAft>
                <a:spcPts val="600"/>
              </a:spcAft>
              <a:buFont typeface="Arial" panose="020B0604020202020204" pitchFamily="34" charset="0"/>
              <a:buChar char="•"/>
            </a:pPr>
            <a:endParaRPr lang="en-US" sz="1200" b="1" dirty="0"/>
          </a:p>
          <a:p>
            <a:pPr marL="160020" indent="-160020">
              <a:buFont typeface="Arial" panose="020B0604020202020204" pitchFamily="34" charset="0"/>
              <a:buChar char="•"/>
            </a:pPr>
            <a:endParaRPr lang="en-US" sz="1200" dirty="0"/>
          </a:p>
        </p:txBody>
      </p:sp>
      <p:sp>
        <p:nvSpPr>
          <p:cNvPr id="46" name="Rectangle 45">
            <a:extLst>
              <a:ext uri="{FF2B5EF4-FFF2-40B4-BE49-F238E27FC236}">
                <a16:creationId xmlns:a16="http://schemas.microsoft.com/office/drawing/2014/main" id="{3E6984A4-862A-1040-BCAD-1784109DCF84}"/>
              </a:ext>
            </a:extLst>
          </p:cNvPr>
          <p:cNvSpPr/>
          <p:nvPr/>
        </p:nvSpPr>
        <p:spPr>
          <a:xfrm>
            <a:off x="298402" y="1849857"/>
            <a:ext cx="8808666" cy="584775"/>
          </a:xfrm>
          <a:prstGeom prst="rect">
            <a:avLst/>
          </a:prstGeom>
        </p:spPr>
        <p:txBody>
          <a:bodyPr wrap="square">
            <a:spAutoFit/>
          </a:bodyPr>
          <a:lstStyle/>
          <a:p>
            <a:pPr>
              <a:defRPr/>
            </a:pPr>
            <a:r>
              <a:rPr lang="en-US" sz="1600" dirty="0"/>
              <a:t>Provide clinician access to BH tools, resources, and integrated capabilities to supplement physical health care and reframe perceptions of wellness to always include Behavioral Health</a:t>
            </a:r>
            <a:endParaRPr lang="en-US" sz="1200" dirty="0"/>
          </a:p>
        </p:txBody>
      </p:sp>
    </p:spTree>
    <p:extLst>
      <p:ext uri="{BB962C8B-B14F-4D97-AF65-F5344CB8AC3E}">
        <p14:creationId xmlns:p14="http://schemas.microsoft.com/office/powerpoint/2010/main" val="42546506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F75D8D4-2E5B-8141-92F5-2E65763F210A}"/>
              </a:ext>
            </a:extLst>
          </p:cNvPr>
          <p:cNvSpPr/>
          <p:nvPr/>
        </p:nvSpPr>
        <p:spPr>
          <a:xfrm>
            <a:off x="9548037" y="0"/>
            <a:ext cx="3253563" cy="288950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1AEC8755-968C-E94A-B115-1636F814A717}"/>
              </a:ext>
            </a:extLst>
          </p:cNvPr>
          <p:cNvSpPr/>
          <p:nvPr/>
        </p:nvSpPr>
        <p:spPr>
          <a:xfrm>
            <a:off x="168964" y="-2218162"/>
            <a:ext cx="7549587" cy="1015663"/>
          </a:xfrm>
          <a:prstGeom prst="rect">
            <a:avLst/>
          </a:prstGeom>
        </p:spPr>
        <p:txBody>
          <a:bodyPr wrap="square" anchor="t">
            <a:spAutoFit/>
          </a:bodyPr>
          <a:lstStyle/>
          <a:p>
            <a:r>
              <a:rPr lang="en-US" sz="2400" b="1" dirty="0">
                <a:solidFill>
                  <a:srgbClr val="003963"/>
                </a:solidFill>
              </a:rPr>
              <a:t>The urgency is now: </a:t>
            </a:r>
          </a:p>
          <a:p>
            <a:r>
              <a:rPr lang="en-US" sz="1800" dirty="0">
                <a:solidFill>
                  <a:srgbClr val="00A2E2"/>
                </a:solidFill>
              </a:rPr>
              <a:t>How do we ensure we are addressing the critical issues and opportunities that are emerging in the Behavioral Health Epidemic </a:t>
            </a:r>
          </a:p>
        </p:txBody>
      </p:sp>
      <p:sp>
        <p:nvSpPr>
          <p:cNvPr id="3" name="Rectangle 2">
            <a:extLst>
              <a:ext uri="{FF2B5EF4-FFF2-40B4-BE49-F238E27FC236}">
                <a16:creationId xmlns:a16="http://schemas.microsoft.com/office/drawing/2014/main" id="{322914B9-0928-8C47-989E-3946B358255E}"/>
              </a:ext>
            </a:extLst>
          </p:cNvPr>
          <p:cNvSpPr/>
          <p:nvPr/>
        </p:nvSpPr>
        <p:spPr>
          <a:xfrm>
            <a:off x="298402" y="1704715"/>
            <a:ext cx="9051944" cy="830997"/>
          </a:xfrm>
          <a:prstGeom prst="rect">
            <a:avLst/>
          </a:prstGeom>
        </p:spPr>
        <p:txBody>
          <a:bodyPr wrap="square">
            <a:spAutoFit/>
          </a:bodyPr>
          <a:lstStyle/>
          <a:p>
            <a:r>
              <a:rPr lang="en-US" sz="1600" dirty="0"/>
              <a:t>Identify individuals (e.g. actively through identification or passively through education/awareness) with BH conditions in order to prevent undiagnosed chronic BH conditions which lead to complex care and high costs.</a:t>
            </a:r>
          </a:p>
        </p:txBody>
      </p:sp>
      <p:sp>
        <p:nvSpPr>
          <p:cNvPr id="4" name="Rectangle 3">
            <a:extLst>
              <a:ext uri="{FF2B5EF4-FFF2-40B4-BE49-F238E27FC236}">
                <a16:creationId xmlns:a16="http://schemas.microsoft.com/office/drawing/2014/main" id="{50818B1C-7512-BF4C-A24D-63537D0ED002}"/>
              </a:ext>
            </a:extLst>
          </p:cNvPr>
          <p:cNvSpPr/>
          <p:nvPr/>
        </p:nvSpPr>
        <p:spPr>
          <a:xfrm>
            <a:off x="298402" y="1145470"/>
            <a:ext cx="9051944" cy="461665"/>
          </a:xfrm>
          <a:prstGeom prst="rect">
            <a:avLst/>
          </a:prstGeom>
        </p:spPr>
        <p:txBody>
          <a:bodyPr wrap="square">
            <a:spAutoFit/>
          </a:bodyPr>
          <a:lstStyle/>
          <a:p>
            <a:r>
              <a:rPr lang="en-US" sz="2400" b="1" dirty="0">
                <a:solidFill>
                  <a:srgbClr val="002060"/>
                </a:solidFill>
              </a:rPr>
              <a:t>Identify and Prevent</a:t>
            </a:r>
          </a:p>
        </p:txBody>
      </p:sp>
      <p:sp>
        <p:nvSpPr>
          <p:cNvPr id="13" name="Rectangle 12">
            <a:extLst>
              <a:ext uri="{FF2B5EF4-FFF2-40B4-BE49-F238E27FC236}">
                <a16:creationId xmlns:a16="http://schemas.microsoft.com/office/drawing/2014/main" id="{83942695-DEE0-D342-9001-6E26D151834E}"/>
              </a:ext>
            </a:extLst>
          </p:cNvPr>
          <p:cNvSpPr/>
          <p:nvPr/>
        </p:nvSpPr>
        <p:spPr>
          <a:xfrm>
            <a:off x="9548037" y="369169"/>
            <a:ext cx="3253563" cy="338554"/>
          </a:xfrm>
          <a:prstGeom prst="rect">
            <a:avLst/>
          </a:prstGeom>
        </p:spPr>
        <p:txBody>
          <a:bodyPr wrap="square" anchor="t">
            <a:spAutoFit/>
          </a:bodyPr>
          <a:lstStyle/>
          <a:p>
            <a:pPr algn="ctr"/>
            <a:r>
              <a:rPr lang="en-US" sz="1600" b="1" dirty="0">
                <a:solidFill>
                  <a:schemeClr val="bg1"/>
                </a:solidFill>
              </a:rPr>
              <a:t>Critical Problems</a:t>
            </a:r>
          </a:p>
        </p:txBody>
      </p:sp>
      <p:sp>
        <p:nvSpPr>
          <p:cNvPr id="42" name="Rectangle 41">
            <a:extLst>
              <a:ext uri="{FF2B5EF4-FFF2-40B4-BE49-F238E27FC236}">
                <a16:creationId xmlns:a16="http://schemas.microsoft.com/office/drawing/2014/main" id="{CED96D22-0F74-AF48-B854-0CE3DF5BC976}"/>
              </a:ext>
            </a:extLst>
          </p:cNvPr>
          <p:cNvSpPr/>
          <p:nvPr/>
        </p:nvSpPr>
        <p:spPr>
          <a:xfrm>
            <a:off x="9548037" y="2944368"/>
            <a:ext cx="3253563" cy="4828032"/>
          </a:xfrm>
          <a:prstGeom prst="rect">
            <a:avLst/>
          </a:prstGeom>
          <a:solidFill>
            <a:srgbClr val="0039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13CF5FB-EA21-2E43-8223-310323F91EEC}"/>
              </a:ext>
            </a:extLst>
          </p:cNvPr>
          <p:cNvSpPr/>
          <p:nvPr/>
        </p:nvSpPr>
        <p:spPr>
          <a:xfrm>
            <a:off x="228600" y="534035"/>
            <a:ext cx="6764994" cy="338554"/>
          </a:xfrm>
          <a:prstGeom prst="rect">
            <a:avLst/>
          </a:prstGeom>
        </p:spPr>
        <p:txBody>
          <a:bodyPr wrap="square" anchor="t">
            <a:spAutoFit/>
          </a:bodyPr>
          <a:lstStyle/>
          <a:p>
            <a:r>
              <a:rPr lang="en-US" sz="1600" b="1" dirty="0">
                <a:solidFill>
                  <a:srgbClr val="00A2E2"/>
                </a:solidFill>
              </a:rPr>
              <a:t>Identifying Issues and Opportunities</a:t>
            </a:r>
          </a:p>
        </p:txBody>
      </p:sp>
      <p:sp>
        <p:nvSpPr>
          <p:cNvPr id="44" name="Rectangle 43">
            <a:extLst>
              <a:ext uri="{FF2B5EF4-FFF2-40B4-BE49-F238E27FC236}">
                <a16:creationId xmlns:a16="http://schemas.microsoft.com/office/drawing/2014/main" id="{BEF1FE83-BF87-1E40-BFFF-5C9604484C0C}"/>
              </a:ext>
            </a:extLst>
          </p:cNvPr>
          <p:cNvSpPr/>
          <p:nvPr/>
        </p:nvSpPr>
        <p:spPr>
          <a:xfrm>
            <a:off x="9548037" y="3094081"/>
            <a:ext cx="3253563" cy="584775"/>
          </a:xfrm>
          <a:prstGeom prst="rect">
            <a:avLst/>
          </a:prstGeom>
        </p:spPr>
        <p:txBody>
          <a:bodyPr wrap="square" anchor="t">
            <a:spAutoFit/>
          </a:bodyPr>
          <a:lstStyle/>
          <a:p>
            <a:pPr algn="ctr"/>
            <a:r>
              <a:rPr lang="en-US" sz="1600" b="1" dirty="0">
                <a:solidFill>
                  <a:schemeClr val="bg1"/>
                </a:solidFill>
              </a:rPr>
              <a:t>Competitive / Startup </a:t>
            </a:r>
            <a:br>
              <a:rPr lang="en-US" sz="1600" b="1" dirty="0">
                <a:solidFill>
                  <a:schemeClr val="bg1"/>
                </a:solidFill>
              </a:rPr>
            </a:br>
            <a:r>
              <a:rPr lang="en-US" sz="1600" b="1" dirty="0">
                <a:solidFill>
                  <a:schemeClr val="bg1"/>
                </a:solidFill>
              </a:rPr>
              <a:t>Landscape</a:t>
            </a:r>
          </a:p>
        </p:txBody>
      </p:sp>
      <p:sp>
        <p:nvSpPr>
          <p:cNvPr id="45" name="Rectangle 44">
            <a:extLst>
              <a:ext uri="{FF2B5EF4-FFF2-40B4-BE49-F238E27FC236}">
                <a16:creationId xmlns:a16="http://schemas.microsoft.com/office/drawing/2014/main" id="{F918DC94-DC3E-7A45-B2F3-A01A329AB7C3}"/>
              </a:ext>
            </a:extLst>
          </p:cNvPr>
          <p:cNvSpPr/>
          <p:nvPr/>
        </p:nvSpPr>
        <p:spPr>
          <a:xfrm>
            <a:off x="9652000" y="3828569"/>
            <a:ext cx="2970551" cy="1897955"/>
          </a:xfrm>
          <a:prstGeom prst="rect">
            <a:avLst/>
          </a:prstGeom>
          <a:ln>
            <a:noFill/>
          </a:ln>
        </p:spPr>
        <p:txBody>
          <a:bodyPr wrap="square">
            <a:spAutoFit/>
          </a:bodyPr>
          <a:lstStyle/>
          <a:p>
            <a:pPr defTabSz="914378">
              <a:lnSpc>
                <a:spcPct val="95000"/>
              </a:lnSpc>
              <a:spcBef>
                <a:spcPts val="200"/>
              </a:spcBef>
              <a:spcAft>
                <a:spcPts val="200"/>
              </a:spcAft>
            </a:pPr>
            <a:r>
              <a:rPr lang="en-US" sz="1200" b="1" kern="0" dirty="0">
                <a:solidFill>
                  <a:srgbClr val="B1E2FF"/>
                </a:solidFill>
                <a:latin typeface="Arial" panose="020B0604020202020204" pitchFamily="34" charset="0"/>
                <a:cs typeface="Arial" panose="020B0604020202020204" pitchFamily="34" charset="0"/>
              </a:rPr>
              <a:t>Emilio Health</a:t>
            </a:r>
          </a:p>
          <a:p>
            <a:pPr defTabSz="914378">
              <a:lnSpc>
                <a:spcPct val="95000"/>
              </a:lnSpc>
              <a:spcBef>
                <a:spcPts val="200"/>
              </a:spcBef>
              <a:spcAft>
                <a:spcPts val="200"/>
              </a:spcAft>
            </a:pPr>
            <a:r>
              <a:rPr lang="en-US" sz="1200" kern="0" dirty="0">
                <a:solidFill>
                  <a:schemeClr val="bg1"/>
                </a:solidFill>
                <a:latin typeface="Arial" panose="020B0604020202020204" pitchFamily="34" charset="0"/>
                <a:cs typeface="Arial" panose="020B0604020202020204" pitchFamily="34" charset="0"/>
              </a:rPr>
              <a:t>They have created clinics that are designed with children, adolescents, and teens in mind. Clinics are multi-specialty for therapy, occupational therapy and other needs. Based on a care collaboration model between therapists, physicians, families and schools so that all the people involved in a child’s life know what’s needed to support them.</a:t>
            </a:r>
          </a:p>
        </p:txBody>
      </p:sp>
      <p:sp>
        <p:nvSpPr>
          <p:cNvPr id="6" name="Rectangle 5">
            <a:extLst>
              <a:ext uri="{FF2B5EF4-FFF2-40B4-BE49-F238E27FC236}">
                <a16:creationId xmlns:a16="http://schemas.microsoft.com/office/drawing/2014/main" id="{92DE37C2-15C3-8249-B408-CC76D4CE75C9}"/>
              </a:ext>
            </a:extLst>
          </p:cNvPr>
          <p:cNvSpPr/>
          <p:nvPr/>
        </p:nvSpPr>
        <p:spPr>
          <a:xfrm>
            <a:off x="6429464" y="2609123"/>
            <a:ext cx="2835538" cy="4616648"/>
          </a:xfrm>
          <a:prstGeom prst="rect">
            <a:avLst/>
          </a:prstGeom>
        </p:spPr>
        <p:txBody>
          <a:bodyPr wrap="square">
            <a:spAutoFit/>
          </a:bodyPr>
          <a:lstStyle/>
          <a:p>
            <a:pPr>
              <a:spcAft>
                <a:spcPts val="600"/>
              </a:spcAft>
            </a:pPr>
            <a:r>
              <a:rPr lang="en-US" sz="1200" b="1" dirty="0"/>
              <a:t>How might we…</a:t>
            </a:r>
          </a:p>
          <a:p>
            <a:pPr marL="160020" indent="-160020">
              <a:spcAft>
                <a:spcPts val="600"/>
              </a:spcAft>
              <a:buFont typeface="Arial" panose="020B0604020202020204" pitchFamily="34" charset="0"/>
              <a:buChar char="•"/>
            </a:pPr>
            <a:r>
              <a:rPr lang="en-US" sz="1200" dirty="0"/>
              <a:t>Identify and proactively but not intrusively reach out to people with potential BH conditions and/or high risk for BH?</a:t>
            </a:r>
          </a:p>
          <a:p>
            <a:pPr marL="160020" indent="-160020">
              <a:spcAft>
                <a:spcPts val="600"/>
              </a:spcAft>
              <a:buFont typeface="Arial" panose="020B0604020202020204" pitchFamily="34" charset="0"/>
              <a:buChar char="•"/>
            </a:pPr>
            <a:r>
              <a:rPr lang="en-US" sz="1200" dirty="0"/>
              <a:t>Leverage predictive analytics to conduct and prioritize outreach?</a:t>
            </a:r>
          </a:p>
          <a:p>
            <a:pPr marL="160020" indent="-160020">
              <a:spcAft>
                <a:spcPts val="600"/>
              </a:spcAft>
              <a:buFont typeface="Arial" panose="020B0604020202020204" pitchFamily="34" charset="0"/>
              <a:buChar char="•"/>
            </a:pPr>
            <a:r>
              <a:rPr lang="en-US" sz="1200" dirty="0"/>
              <a:t>Build and track ongoing data of people that might be healthy but have risk of BH?</a:t>
            </a:r>
          </a:p>
          <a:p>
            <a:pPr marL="160020" indent="-160020">
              <a:spcAft>
                <a:spcPts val="600"/>
              </a:spcAft>
              <a:buFont typeface="Arial" panose="020B0604020202020204" pitchFamily="34" charset="0"/>
              <a:buChar char="•"/>
            </a:pPr>
            <a:r>
              <a:rPr lang="en-US" sz="1200" dirty="0"/>
              <a:t>Understand what communities need the most help, and are at the most risk for BH conditions?</a:t>
            </a:r>
          </a:p>
          <a:p>
            <a:pPr marL="160020" indent="-160020">
              <a:spcAft>
                <a:spcPts val="600"/>
              </a:spcAft>
              <a:buFont typeface="Arial" panose="020B0604020202020204" pitchFamily="34" charset="0"/>
              <a:buChar char="•"/>
            </a:pPr>
            <a:r>
              <a:rPr lang="en-US" sz="1200" dirty="0"/>
              <a:t>Engage with adolescents and young adults about BH in a meaningful way that will help them recognize/prevent current and future BH conditions?</a:t>
            </a:r>
          </a:p>
          <a:p>
            <a:pPr marL="160020" indent="-160020">
              <a:spcAft>
                <a:spcPts val="600"/>
              </a:spcAft>
              <a:buFont typeface="Arial" panose="020B0604020202020204" pitchFamily="34" charset="0"/>
              <a:buChar char="•"/>
            </a:pPr>
            <a:r>
              <a:rPr lang="en-US" sz="1200" dirty="0"/>
              <a:t>Identify members who may be struggling with BH symptoms but not know they are BH conditions, thus delaying care, particularly in this time of COVID-19?</a:t>
            </a:r>
          </a:p>
        </p:txBody>
      </p:sp>
      <p:sp>
        <p:nvSpPr>
          <p:cNvPr id="46" name="Rectangle 45">
            <a:extLst>
              <a:ext uri="{FF2B5EF4-FFF2-40B4-BE49-F238E27FC236}">
                <a16:creationId xmlns:a16="http://schemas.microsoft.com/office/drawing/2014/main" id="{68154331-EF27-2C4A-8A51-C6802B33C165}"/>
              </a:ext>
            </a:extLst>
          </p:cNvPr>
          <p:cNvSpPr/>
          <p:nvPr/>
        </p:nvSpPr>
        <p:spPr>
          <a:xfrm>
            <a:off x="298401" y="2609123"/>
            <a:ext cx="6073736" cy="4431983"/>
          </a:xfrm>
          <a:prstGeom prst="rect">
            <a:avLst/>
          </a:prstGeom>
        </p:spPr>
        <p:txBody>
          <a:bodyPr wrap="square">
            <a:spAutoFit/>
          </a:bodyPr>
          <a:lstStyle/>
          <a:p>
            <a:pPr>
              <a:spcAft>
                <a:spcPts val="600"/>
              </a:spcAft>
            </a:pPr>
            <a:r>
              <a:rPr lang="en-US" sz="1200" b="1" dirty="0"/>
              <a:t>Why is this so critical?</a:t>
            </a:r>
          </a:p>
          <a:p>
            <a:pPr marL="160020" indent="-160020">
              <a:spcAft>
                <a:spcPts val="600"/>
              </a:spcAft>
              <a:buFont typeface="Arial" panose="020B0604020202020204" pitchFamily="34" charset="0"/>
              <a:buChar char="•"/>
            </a:pPr>
            <a:r>
              <a:rPr lang="en-US" sz="1200" b="1" dirty="0"/>
              <a:t>BH starts young. </a:t>
            </a:r>
            <a:r>
              <a:rPr lang="en-US" sz="1200" dirty="0"/>
              <a:t>Many BH conditions we see in adults are linked to Adverse Childhood Experiences (ACE) that can affect their mental health throughout their life.</a:t>
            </a:r>
          </a:p>
          <a:p>
            <a:pPr marL="160020" indent="-160020">
              <a:spcAft>
                <a:spcPts val="600"/>
              </a:spcAft>
              <a:buFont typeface="Arial" panose="020B0604020202020204" pitchFamily="34" charset="0"/>
              <a:buChar char="•"/>
            </a:pPr>
            <a:r>
              <a:rPr lang="en-US" sz="1200" dirty="0"/>
              <a:t>According to WHO, five out of the ten leading causes of disability and premature death worldwide are psychiatric conditions and given the current limitations in effectiveness of treatment for mental and behavioral disorders, the only sustainable method for reducing the burden of these disorders is prevention.</a:t>
            </a:r>
          </a:p>
          <a:p>
            <a:pPr marL="160020" indent="-160020">
              <a:spcAft>
                <a:spcPts val="600"/>
              </a:spcAft>
              <a:buFont typeface="Arial" panose="020B0604020202020204" pitchFamily="34" charset="0"/>
              <a:buChar char="•"/>
            </a:pPr>
            <a:r>
              <a:rPr lang="en-US" sz="1200" b="1" dirty="0"/>
              <a:t>It will benefit everyone</a:t>
            </a:r>
            <a:r>
              <a:rPr lang="en-US" sz="1200" dirty="0"/>
              <a:t>. If we can prevent the increase of conditions in BH, we can effectively lower future costs and complexity, avoid lost productivity and quality of life. WHO has estimated it costs the global economy one trillion US dollars per year in lost productivity due to depression and anxiety. Additionally, prevention can help decrease morbidity and suffering of individuals, families and others affected.</a:t>
            </a:r>
          </a:p>
          <a:p>
            <a:pPr marL="160020" indent="-160020">
              <a:spcAft>
                <a:spcPts val="600"/>
              </a:spcAft>
              <a:buFont typeface="Arial" panose="020B0604020202020204" pitchFamily="34" charset="0"/>
              <a:buChar char="•"/>
            </a:pPr>
            <a:r>
              <a:rPr lang="en-US" sz="1200" b="1" dirty="0"/>
              <a:t>Suicide rate is increasing each year. </a:t>
            </a:r>
            <a:r>
              <a:rPr lang="en-US" sz="1200" dirty="0"/>
              <a:t>Suicide from untreated mental illness is the third leading cause of death among children ages 10-14, and the second leading cause of death among adolescents and young adults between the ages of 15 and 24.</a:t>
            </a:r>
          </a:p>
          <a:p>
            <a:pPr marL="160020" indent="-160020">
              <a:spcAft>
                <a:spcPts val="600"/>
              </a:spcAft>
              <a:buFont typeface="Arial" panose="020B0604020202020204" pitchFamily="34" charset="0"/>
              <a:buChar char="•"/>
            </a:pPr>
            <a:r>
              <a:rPr lang="en-US" sz="1200" dirty="0"/>
              <a:t>“On an intuitive level, preventing mental, emotional, and behavioral (MEB) disorders among young people is one of the soundest investments a society could make. The benefits include higher productivity, lower treatment costs, less suffering and premature mortality, and more cohesive families—and, of course, happier, better adjusted, more successful young people.” </a:t>
            </a:r>
            <a:r>
              <a:rPr lang="en-US" sz="1200" baseline="30000" dirty="0"/>
              <a:t>1</a:t>
            </a:r>
            <a:endParaRPr lang="en-US" sz="1200" dirty="0"/>
          </a:p>
          <a:p>
            <a:pPr marL="160020" indent="-160020">
              <a:buFont typeface="Arial" panose="020B0604020202020204" pitchFamily="34" charset="0"/>
              <a:buChar char="•"/>
            </a:pPr>
            <a:endParaRPr lang="en-US" sz="1200" dirty="0"/>
          </a:p>
        </p:txBody>
      </p:sp>
      <p:grpSp>
        <p:nvGrpSpPr>
          <p:cNvPr id="7" name="Group 6">
            <a:extLst>
              <a:ext uri="{FF2B5EF4-FFF2-40B4-BE49-F238E27FC236}">
                <a16:creationId xmlns:a16="http://schemas.microsoft.com/office/drawing/2014/main" id="{A1E09886-C6FB-784F-B968-1CEF0CBAFDB5}"/>
              </a:ext>
            </a:extLst>
          </p:cNvPr>
          <p:cNvGrpSpPr/>
          <p:nvPr/>
        </p:nvGrpSpPr>
        <p:grpSpPr>
          <a:xfrm>
            <a:off x="10054011" y="824143"/>
            <a:ext cx="2241613" cy="1631010"/>
            <a:chOff x="10054011" y="824143"/>
            <a:chExt cx="2241613" cy="1631010"/>
          </a:xfrm>
        </p:grpSpPr>
        <p:sp>
          <p:nvSpPr>
            <p:cNvPr id="38" name="Freeform 180">
              <a:extLst>
                <a:ext uri="{FF2B5EF4-FFF2-40B4-BE49-F238E27FC236}">
                  <a16:creationId xmlns:a16="http://schemas.microsoft.com/office/drawing/2014/main" id="{67FF4B48-626C-BA42-9325-E7CE71275F58}"/>
                </a:ext>
              </a:extLst>
            </p:cNvPr>
            <p:cNvSpPr>
              <a:spLocks/>
            </p:cNvSpPr>
            <p:nvPr/>
          </p:nvSpPr>
          <p:spPr bwMode="auto">
            <a:xfrm>
              <a:off x="10572817" y="1181671"/>
              <a:ext cx="596725" cy="517058"/>
            </a:xfrm>
            <a:custGeom>
              <a:avLst/>
              <a:gdLst>
                <a:gd name="T0" fmla="*/ 1539072 w 4485"/>
                <a:gd name="T1" fmla="*/ 0 h 3884"/>
                <a:gd name="T2" fmla="*/ 0 w 4485"/>
                <a:gd name="T3" fmla="*/ 2667611 h 3884"/>
                <a:gd name="T4" fmla="*/ 3079517 w 4485"/>
                <a:gd name="T5" fmla="*/ 2667611 h 3884"/>
                <a:gd name="T6" fmla="*/ 1539072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1" y="0"/>
                  </a:moveTo>
                  <a:lnTo>
                    <a:pt x="0" y="3883"/>
                  </a:lnTo>
                  <a:lnTo>
                    <a:pt x="4484" y="3883"/>
                  </a:lnTo>
                  <a:lnTo>
                    <a:pt x="2241" y="0"/>
                  </a:lnTo>
                </a:path>
              </a:pathLst>
            </a:custGeom>
            <a:solidFill>
              <a:schemeClr val="accent1"/>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14" name="TextBox 13">
              <a:extLst>
                <a:ext uri="{FF2B5EF4-FFF2-40B4-BE49-F238E27FC236}">
                  <a16:creationId xmlns:a16="http://schemas.microsoft.com/office/drawing/2014/main" id="{B31051DD-EB23-794F-8BAD-F9F7F16AC8B0}"/>
                </a:ext>
              </a:extLst>
            </p:cNvPr>
            <p:cNvSpPr txBox="1"/>
            <p:nvPr/>
          </p:nvSpPr>
          <p:spPr>
            <a:xfrm>
              <a:off x="11610820" y="1161486"/>
              <a:ext cx="684804" cy="338554"/>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Clinician </a:t>
              </a:r>
              <a:br>
                <a:rPr lang="en-US" sz="800" spc="-16" dirty="0">
                  <a:solidFill>
                    <a:schemeClr val="bg1"/>
                  </a:solidFill>
                  <a:latin typeface="+mj-lt"/>
                  <a:ea typeface="Source Sans Pro" panose="020B0503030403020204" pitchFamily="34" charset="0"/>
                </a:rPr>
              </a:br>
              <a:r>
                <a:rPr lang="en-US" sz="800" spc="-16" dirty="0">
                  <a:solidFill>
                    <a:schemeClr val="bg1"/>
                  </a:solidFill>
                  <a:latin typeface="+mj-lt"/>
                  <a:ea typeface="Source Sans Pro" panose="020B0503030403020204" pitchFamily="34" charset="0"/>
                </a:rPr>
                <a:t>Challenges </a:t>
              </a:r>
            </a:p>
          </p:txBody>
        </p:sp>
        <p:sp>
          <p:nvSpPr>
            <p:cNvPr id="16" name="Freeform 176">
              <a:extLst>
                <a:ext uri="{FF2B5EF4-FFF2-40B4-BE49-F238E27FC236}">
                  <a16:creationId xmlns:a16="http://schemas.microsoft.com/office/drawing/2014/main" id="{172F5DE8-A200-9A4A-AC04-67E7077393A6}"/>
                </a:ext>
              </a:extLst>
            </p:cNvPr>
            <p:cNvSpPr>
              <a:spLocks/>
            </p:cNvSpPr>
            <p:nvPr/>
          </p:nvSpPr>
          <p:spPr bwMode="auto">
            <a:xfrm>
              <a:off x="10871180" y="1698729"/>
              <a:ext cx="596725" cy="517059"/>
            </a:xfrm>
            <a:custGeom>
              <a:avLst/>
              <a:gdLst>
                <a:gd name="T0" fmla="*/ 1540102 w 4486"/>
                <a:gd name="T1" fmla="*/ 0 h 3885"/>
                <a:gd name="T2" fmla="*/ 0 w 4486"/>
                <a:gd name="T3" fmla="*/ 2667613 h 3885"/>
                <a:gd name="T4" fmla="*/ 3079517 w 4486"/>
                <a:gd name="T5" fmla="*/ 2667613 h 3885"/>
                <a:gd name="T6" fmla="*/ 1540102 w 4486"/>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5">
                  <a:moveTo>
                    <a:pt x="2243" y="0"/>
                  </a:moveTo>
                  <a:lnTo>
                    <a:pt x="0" y="3884"/>
                  </a:lnTo>
                  <a:lnTo>
                    <a:pt x="4485" y="3884"/>
                  </a:lnTo>
                  <a:lnTo>
                    <a:pt x="2243" y="0"/>
                  </a:lnTo>
                </a:path>
              </a:pathLst>
            </a:custGeom>
            <a:solidFill>
              <a:schemeClr val="accent1"/>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19" name="Freeform 178">
              <a:extLst>
                <a:ext uri="{FF2B5EF4-FFF2-40B4-BE49-F238E27FC236}">
                  <a16:creationId xmlns:a16="http://schemas.microsoft.com/office/drawing/2014/main" id="{AD19ABC7-281D-C44D-9E92-17522BA0EAD3}"/>
                </a:ext>
              </a:extLst>
            </p:cNvPr>
            <p:cNvSpPr>
              <a:spLocks/>
            </p:cNvSpPr>
            <p:nvPr/>
          </p:nvSpPr>
          <p:spPr bwMode="auto">
            <a:xfrm>
              <a:off x="10871180" y="1183516"/>
              <a:ext cx="596725" cy="516751"/>
            </a:xfrm>
            <a:custGeom>
              <a:avLst/>
              <a:gdLst>
                <a:gd name="T0" fmla="*/ 1540102 w 4486"/>
                <a:gd name="T1" fmla="*/ 2667613 h 3883"/>
                <a:gd name="T2" fmla="*/ 3079517 w 4486"/>
                <a:gd name="T3" fmla="*/ 0 h 3883"/>
                <a:gd name="T4" fmla="*/ 0 w 4486"/>
                <a:gd name="T5" fmla="*/ 0 h 3883"/>
                <a:gd name="T6" fmla="*/ 1540102 w 4486"/>
                <a:gd name="T7" fmla="*/ 2667613 h 38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3">
                  <a:moveTo>
                    <a:pt x="2243" y="3882"/>
                  </a:moveTo>
                  <a:lnTo>
                    <a:pt x="4485" y="0"/>
                  </a:lnTo>
                  <a:lnTo>
                    <a:pt x="0" y="0"/>
                  </a:lnTo>
                  <a:lnTo>
                    <a:pt x="2243" y="3882"/>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4" name="Freeform 181">
              <a:extLst>
                <a:ext uri="{FF2B5EF4-FFF2-40B4-BE49-F238E27FC236}">
                  <a16:creationId xmlns:a16="http://schemas.microsoft.com/office/drawing/2014/main" id="{78693D03-3054-3D4E-9627-E0A7EA652F9E}"/>
                </a:ext>
              </a:extLst>
            </p:cNvPr>
            <p:cNvSpPr>
              <a:spLocks/>
            </p:cNvSpPr>
            <p:nvPr/>
          </p:nvSpPr>
          <p:spPr bwMode="auto">
            <a:xfrm>
              <a:off x="10573125" y="1698729"/>
              <a:ext cx="596725" cy="517059"/>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5" name="TextBox 24">
              <a:extLst>
                <a:ext uri="{FF2B5EF4-FFF2-40B4-BE49-F238E27FC236}">
                  <a16:creationId xmlns:a16="http://schemas.microsoft.com/office/drawing/2014/main" id="{A4E847B4-3DF6-0346-9E09-2E13EF18D004}"/>
                </a:ext>
              </a:extLst>
            </p:cNvPr>
            <p:cNvSpPr txBox="1"/>
            <p:nvPr/>
          </p:nvSpPr>
          <p:spPr>
            <a:xfrm>
              <a:off x="10729539" y="1381725"/>
              <a:ext cx="250133" cy="276999"/>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6</a:t>
              </a:r>
            </a:p>
          </p:txBody>
        </p:sp>
        <p:sp>
          <p:nvSpPr>
            <p:cNvPr id="26" name="TextBox 25">
              <a:extLst>
                <a:ext uri="{FF2B5EF4-FFF2-40B4-BE49-F238E27FC236}">
                  <a16:creationId xmlns:a16="http://schemas.microsoft.com/office/drawing/2014/main" id="{56403C62-669F-FE41-9934-55C0554EAD79}"/>
                </a:ext>
              </a:extLst>
            </p:cNvPr>
            <p:cNvSpPr txBox="1"/>
            <p:nvPr/>
          </p:nvSpPr>
          <p:spPr>
            <a:xfrm>
              <a:off x="11040672" y="1201432"/>
              <a:ext cx="250133" cy="276999"/>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1</a:t>
              </a:r>
            </a:p>
          </p:txBody>
        </p:sp>
        <p:sp>
          <p:nvSpPr>
            <p:cNvPr id="28" name="TextBox 27">
              <a:extLst>
                <a:ext uri="{FF2B5EF4-FFF2-40B4-BE49-F238E27FC236}">
                  <a16:creationId xmlns:a16="http://schemas.microsoft.com/office/drawing/2014/main" id="{DA2C1947-9098-DD4B-9FC7-5226288B9885}"/>
                </a:ext>
              </a:extLst>
            </p:cNvPr>
            <p:cNvSpPr txBox="1"/>
            <p:nvPr/>
          </p:nvSpPr>
          <p:spPr>
            <a:xfrm>
              <a:off x="11338301" y="1382652"/>
              <a:ext cx="250133" cy="276999"/>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2</a:t>
              </a:r>
            </a:p>
          </p:txBody>
        </p:sp>
        <p:sp>
          <p:nvSpPr>
            <p:cNvPr id="30" name="TextBox 29">
              <a:extLst>
                <a:ext uri="{FF2B5EF4-FFF2-40B4-BE49-F238E27FC236}">
                  <a16:creationId xmlns:a16="http://schemas.microsoft.com/office/drawing/2014/main" id="{A3167FD0-F83D-DD4A-A72D-90405E017D57}"/>
                </a:ext>
              </a:extLst>
            </p:cNvPr>
            <p:cNvSpPr txBox="1"/>
            <p:nvPr/>
          </p:nvSpPr>
          <p:spPr>
            <a:xfrm>
              <a:off x="11342072" y="1739962"/>
              <a:ext cx="250133" cy="276999"/>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3</a:t>
              </a:r>
            </a:p>
          </p:txBody>
        </p:sp>
        <p:sp>
          <p:nvSpPr>
            <p:cNvPr id="31" name="TextBox 30">
              <a:extLst>
                <a:ext uri="{FF2B5EF4-FFF2-40B4-BE49-F238E27FC236}">
                  <a16:creationId xmlns:a16="http://schemas.microsoft.com/office/drawing/2014/main" id="{CB32858F-D284-8944-839E-5211D8180EC0}"/>
                </a:ext>
              </a:extLst>
            </p:cNvPr>
            <p:cNvSpPr txBox="1"/>
            <p:nvPr/>
          </p:nvSpPr>
          <p:spPr>
            <a:xfrm>
              <a:off x="11034985" y="1902899"/>
              <a:ext cx="250133" cy="276999"/>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4</a:t>
              </a:r>
            </a:p>
          </p:txBody>
        </p:sp>
        <p:sp>
          <p:nvSpPr>
            <p:cNvPr id="32" name="TextBox 31">
              <a:extLst>
                <a:ext uri="{FF2B5EF4-FFF2-40B4-BE49-F238E27FC236}">
                  <a16:creationId xmlns:a16="http://schemas.microsoft.com/office/drawing/2014/main" id="{BC7732BD-8AE6-2D4C-8A49-D027171EBC73}"/>
                </a:ext>
              </a:extLst>
            </p:cNvPr>
            <p:cNvSpPr txBox="1"/>
            <p:nvPr/>
          </p:nvSpPr>
          <p:spPr>
            <a:xfrm>
              <a:off x="10722026" y="1733650"/>
              <a:ext cx="250133" cy="276999"/>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5</a:t>
              </a:r>
            </a:p>
          </p:txBody>
        </p:sp>
        <p:sp>
          <p:nvSpPr>
            <p:cNvPr id="35" name="TextBox 34">
              <a:extLst>
                <a:ext uri="{FF2B5EF4-FFF2-40B4-BE49-F238E27FC236}">
                  <a16:creationId xmlns:a16="http://schemas.microsoft.com/office/drawing/2014/main" id="{A3FF2667-46B6-7849-BE43-553064687CB0}"/>
                </a:ext>
              </a:extLst>
            </p:cNvPr>
            <p:cNvSpPr txBox="1"/>
            <p:nvPr/>
          </p:nvSpPr>
          <p:spPr>
            <a:xfrm>
              <a:off x="10819732" y="824143"/>
              <a:ext cx="687755" cy="338554"/>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Value Barriers </a:t>
              </a:r>
            </a:p>
          </p:txBody>
        </p:sp>
        <p:sp>
          <p:nvSpPr>
            <p:cNvPr id="36" name="TextBox 35">
              <a:extLst>
                <a:ext uri="{FF2B5EF4-FFF2-40B4-BE49-F238E27FC236}">
                  <a16:creationId xmlns:a16="http://schemas.microsoft.com/office/drawing/2014/main" id="{76B013F0-AD86-4544-B3B2-B9249653EBF8}"/>
                </a:ext>
              </a:extLst>
            </p:cNvPr>
            <p:cNvSpPr txBox="1"/>
            <p:nvPr/>
          </p:nvSpPr>
          <p:spPr>
            <a:xfrm>
              <a:off x="10858220" y="2239709"/>
              <a:ext cx="649267" cy="215444"/>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Proactivity</a:t>
              </a:r>
            </a:p>
          </p:txBody>
        </p:sp>
        <p:sp>
          <p:nvSpPr>
            <p:cNvPr id="37" name="TextBox 36">
              <a:extLst>
                <a:ext uri="{FF2B5EF4-FFF2-40B4-BE49-F238E27FC236}">
                  <a16:creationId xmlns:a16="http://schemas.microsoft.com/office/drawing/2014/main" id="{14359635-1856-764D-AC49-97EC9113F864}"/>
                </a:ext>
              </a:extLst>
            </p:cNvPr>
            <p:cNvSpPr txBox="1"/>
            <p:nvPr/>
          </p:nvSpPr>
          <p:spPr>
            <a:xfrm>
              <a:off x="10054011" y="1170654"/>
              <a:ext cx="694263" cy="338554"/>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Cultural Challenges</a:t>
              </a:r>
            </a:p>
          </p:txBody>
        </p:sp>
        <p:sp>
          <p:nvSpPr>
            <p:cNvPr id="39" name="TextBox 38">
              <a:extLst>
                <a:ext uri="{FF2B5EF4-FFF2-40B4-BE49-F238E27FC236}">
                  <a16:creationId xmlns:a16="http://schemas.microsoft.com/office/drawing/2014/main" id="{5EE6B582-A5AD-7742-A3DB-35B94D69E389}"/>
                </a:ext>
              </a:extLst>
            </p:cNvPr>
            <p:cNvSpPr txBox="1"/>
            <p:nvPr/>
          </p:nvSpPr>
          <p:spPr>
            <a:xfrm>
              <a:off x="10092021" y="1901958"/>
              <a:ext cx="671940" cy="215444"/>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Prevention</a:t>
              </a:r>
            </a:p>
          </p:txBody>
        </p:sp>
        <p:sp>
          <p:nvSpPr>
            <p:cNvPr id="40" name="TextBox 39">
              <a:extLst>
                <a:ext uri="{FF2B5EF4-FFF2-40B4-BE49-F238E27FC236}">
                  <a16:creationId xmlns:a16="http://schemas.microsoft.com/office/drawing/2014/main" id="{7842DDC4-618C-EB49-8D92-CC6E8D06A27F}"/>
                </a:ext>
              </a:extLst>
            </p:cNvPr>
            <p:cNvSpPr txBox="1"/>
            <p:nvPr/>
          </p:nvSpPr>
          <p:spPr>
            <a:xfrm>
              <a:off x="11600336" y="1892187"/>
              <a:ext cx="676922" cy="338554"/>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Need/Care Match</a:t>
              </a:r>
            </a:p>
          </p:txBody>
        </p:sp>
      </p:grpSp>
      <p:sp>
        <p:nvSpPr>
          <p:cNvPr id="2" name="TextBox 1">
            <a:extLst>
              <a:ext uri="{FF2B5EF4-FFF2-40B4-BE49-F238E27FC236}">
                <a16:creationId xmlns:a16="http://schemas.microsoft.com/office/drawing/2014/main" id="{DF1D55F8-65A5-CD41-84ED-DD4BA82F89C2}"/>
              </a:ext>
            </a:extLst>
          </p:cNvPr>
          <p:cNvSpPr txBox="1"/>
          <p:nvPr/>
        </p:nvSpPr>
        <p:spPr>
          <a:xfrm>
            <a:off x="298401" y="6929851"/>
            <a:ext cx="5848028" cy="369332"/>
          </a:xfrm>
          <a:prstGeom prst="rect">
            <a:avLst/>
          </a:prstGeom>
          <a:noFill/>
        </p:spPr>
        <p:txBody>
          <a:bodyPr wrap="square" rtlCol="0">
            <a:spAutoFit/>
          </a:bodyPr>
          <a:lstStyle/>
          <a:p>
            <a:r>
              <a:rPr lang="en-US" sz="600" dirty="0"/>
              <a:t>1 National Research Council (US) and Institute of Medicine (US) Committee on the Prevention of Mental Disorders and Substance Abuse Among Children, Youth, and Young Adults: Research Advances and Promising Interventions; O'Connell ME, Boat T, Warner KE, editors. Preventing Mental, Emotional, and Behavioral Disorders Among Young People: Progress and Possibilities. Washington (DC): National Academies Press (US); 2009. 9, Benefits and Costs of Prevention.</a:t>
            </a:r>
          </a:p>
        </p:txBody>
      </p:sp>
    </p:spTree>
    <p:extLst>
      <p:ext uri="{BB962C8B-B14F-4D97-AF65-F5344CB8AC3E}">
        <p14:creationId xmlns:p14="http://schemas.microsoft.com/office/powerpoint/2010/main" val="36137924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1AEC8755-968C-E94A-B115-1636F814A717}"/>
              </a:ext>
            </a:extLst>
          </p:cNvPr>
          <p:cNvSpPr/>
          <p:nvPr/>
        </p:nvSpPr>
        <p:spPr>
          <a:xfrm>
            <a:off x="168964" y="-2218162"/>
            <a:ext cx="7549587" cy="1015663"/>
          </a:xfrm>
          <a:prstGeom prst="rect">
            <a:avLst/>
          </a:prstGeom>
        </p:spPr>
        <p:txBody>
          <a:bodyPr wrap="square" anchor="t">
            <a:spAutoFit/>
          </a:bodyPr>
          <a:lstStyle/>
          <a:p>
            <a:r>
              <a:rPr lang="en-US" sz="2400" b="1" dirty="0">
                <a:solidFill>
                  <a:srgbClr val="003963"/>
                </a:solidFill>
              </a:rPr>
              <a:t>The urgency is now: </a:t>
            </a:r>
          </a:p>
          <a:p>
            <a:r>
              <a:rPr lang="en-US" sz="1800" dirty="0">
                <a:solidFill>
                  <a:srgbClr val="00A2E2"/>
                </a:solidFill>
              </a:rPr>
              <a:t>How do we ensure we are addressing the critical issues and opportunities that are emerging in the Behavioral Health Epidemic </a:t>
            </a:r>
          </a:p>
        </p:txBody>
      </p:sp>
      <p:sp>
        <p:nvSpPr>
          <p:cNvPr id="4" name="Rectangle 3">
            <a:extLst>
              <a:ext uri="{FF2B5EF4-FFF2-40B4-BE49-F238E27FC236}">
                <a16:creationId xmlns:a16="http://schemas.microsoft.com/office/drawing/2014/main" id="{50818B1C-7512-BF4C-A24D-63537D0ED002}"/>
              </a:ext>
            </a:extLst>
          </p:cNvPr>
          <p:cNvSpPr/>
          <p:nvPr/>
        </p:nvSpPr>
        <p:spPr>
          <a:xfrm>
            <a:off x="298402" y="1136326"/>
            <a:ext cx="8499506" cy="461665"/>
          </a:xfrm>
          <a:prstGeom prst="rect">
            <a:avLst/>
          </a:prstGeom>
        </p:spPr>
        <p:txBody>
          <a:bodyPr wrap="square">
            <a:spAutoFit/>
          </a:bodyPr>
          <a:lstStyle/>
          <a:p>
            <a:r>
              <a:rPr lang="en-US" sz="2400" b="1" dirty="0">
                <a:solidFill>
                  <a:srgbClr val="002060"/>
                </a:solidFill>
              </a:rPr>
              <a:t>Identify and Improve</a:t>
            </a:r>
          </a:p>
        </p:txBody>
      </p:sp>
      <p:sp>
        <p:nvSpPr>
          <p:cNvPr id="12" name="Rectangle 11">
            <a:extLst>
              <a:ext uri="{FF2B5EF4-FFF2-40B4-BE49-F238E27FC236}">
                <a16:creationId xmlns:a16="http://schemas.microsoft.com/office/drawing/2014/main" id="{FF75D8D4-2E5B-8141-92F5-2E65763F210A}"/>
              </a:ext>
            </a:extLst>
          </p:cNvPr>
          <p:cNvSpPr/>
          <p:nvPr/>
        </p:nvSpPr>
        <p:spPr>
          <a:xfrm>
            <a:off x="9548037" y="0"/>
            <a:ext cx="3253563" cy="288950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3942695-DEE0-D342-9001-6E26D151834E}"/>
              </a:ext>
            </a:extLst>
          </p:cNvPr>
          <p:cNvSpPr/>
          <p:nvPr/>
        </p:nvSpPr>
        <p:spPr>
          <a:xfrm>
            <a:off x="9548037" y="369169"/>
            <a:ext cx="3253563" cy="338554"/>
          </a:xfrm>
          <a:prstGeom prst="rect">
            <a:avLst/>
          </a:prstGeom>
        </p:spPr>
        <p:txBody>
          <a:bodyPr wrap="square" anchor="t">
            <a:spAutoFit/>
          </a:bodyPr>
          <a:lstStyle/>
          <a:p>
            <a:pPr algn="ctr"/>
            <a:r>
              <a:rPr lang="en-US" sz="1600" b="1" dirty="0">
                <a:solidFill>
                  <a:schemeClr val="bg1"/>
                </a:solidFill>
              </a:rPr>
              <a:t>Critical Problems</a:t>
            </a:r>
          </a:p>
        </p:txBody>
      </p:sp>
      <p:grpSp>
        <p:nvGrpSpPr>
          <p:cNvPr id="5" name="Group 4">
            <a:extLst>
              <a:ext uri="{FF2B5EF4-FFF2-40B4-BE49-F238E27FC236}">
                <a16:creationId xmlns:a16="http://schemas.microsoft.com/office/drawing/2014/main" id="{4010EF52-C5D7-364A-9BFE-02E8D06E4633}"/>
              </a:ext>
            </a:extLst>
          </p:cNvPr>
          <p:cNvGrpSpPr/>
          <p:nvPr/>
        </p:nvGrpSpPr>
        <p:grpSpPr>
          <a:xfrm>
            <a:off x="10054011" y="824143"/>
            <a:ext cx="2241613" cy="1631010"/>
            <a:chOff x="1954883" y="224589"/>
            <a:chExt cx="9056437" cy="6589517"/>
          </a:xfrm>
        </p:grpSpPr>
        <p:sp>
          <p:nvSpPr>
            <p:cNvPr id="14" name="TextBox 13">
              <a:extLst>
                <a:ext uri="{FF2B5EF4-FFF2-40B4-BE49-F238E27FC236}">
                  <a16:creationId xmlns:a16="http://schemas.microsoft.com/office/drawing/2014/main" id="{B31051DD-EB23-794F-8BAD-F9F7F16AC8B0}"/>
                </a:ext>
              </a:extLst>
            </p:cNvPr>
            <p:cNvSpPr txBox="1"/>
            <p:nvPr/>
          </p:nvSpPr>
          <p:spPr>
            <a:xfrm>
              <a:off x="8244614" y="1587504"/>
              <a:ext cx="2766706"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Clinician </a:t>
              </a:r>
              <a:br>
                <a:rPr lang="en-US" sz="800" spc="-16" dirty="0">
                  <a:solidFill>
                    <a:schemeClr val="bg1"/>
                  </a:solidFill>
                  <a:latin typeface="+mj-lt"/>
                  <a:ea typeface="Source Sans Pro" panose="020B0503030403020204" pitchFamily="34" charset="0"/>
                </a:rPr>
              </a:br>
              <a:r>
                <a:rPr lang="en-US" sz="800" spc="-16" dirty="0">
                  <a:solidFill>
                    <a:schemeClr val="bg1"/>
                  </a:solidFill>
                  <a:latin typeface="+mj-lt"/>
                  <a:ea typeface="Source Sans Pro" panose="020B0503030403020204" pitchFamily="34" charset="0"/>
                </a:rPr>
                <a:t>Challenges </a:t>
              </a:r>
            </a:p>
          </p:txBody>
        </p:sp>
        <p:grpSp>
          <p:nvGrpSpPr>
            <p:cNvPr id="15" name="Group 14">
              <a:extLst>
                <a:ext uri="{FF2B5EF4-FFF2-40B4-BE49-F238E27FC236}">
                  <a16:creationId xmlns:a16="http://schemas.microsoft.com/office/drawing/2014/main" id="{6EE47F6B-8362-8A4F-9C3C-2F4D7C87260E}"/>
                </a:ext>
              </a:extLst>
            </p:cNvPr>
            <p:cNvGrpSpPr/>
            <p:nvPr/>
          </p:nvGrpSpPr>
          <p:grpSpPr>
            <a:xfrm>
              <a:off x="4653754" y="1669056"/>
              <a:ext cx="4220120" cy="4177981"/>
              <a:chOff x="4199291" y="2011174"/>
              <a:chExt cx="5135021" cy="5083743"/>
            </a:xfrm>
          </p:grpSpPr>
          <p:sp>
            <p:nvSpPr>
              <p:cNvPr id="16" name="Freeform 176">
                <a:extLst>
                  <a:ext uri="{FF2B5EF4-FFF2-40B4-BE49-F238E27FC236}">
                    <a16:creationId xmlns:a16="http://schemas.microsoft.com/office/drawing/2014/main" id="{172F5DE8-A200-9A4A-AC04-67E7077393A6}"/>
                  </a:ext>
                </a:extLst>
              </p:cNvPr>
              <p:cNvSpPr>
                <a:spLocks/>
              </p:cNvSpPr>
              <p:nvPr/>
            </p:nvSpPr>
            <p:spPr bwMode="auto">
              <a:xfrm>
                <a:off x="4932533" y="4553045"/>
                <a:ext cx="2933511" cy="2541872"/>
              </a:xfrm>
              <a:custGeom>
                <a:avLst/>
                <a:gdLst>
                  <a:gd name="T0" fmla="*/ 1540102 w 4486"/>
                  <a:gd name="T1" fmla="*/ 0 h 3885"/>
                  <a:gd name="T2" fmla="*/ 0 w 4486"/>
                  <a:gd name="T3" fmla="*/ 2667613 h 3885"/>
                  <a:gd name="T4" fmla="*/ 3079517 w 4486"/>
                  <a:gd name="T5" fmla="*/ 2667613 h 3885"/>
                  <a:gd name="T6" fmla="*/ 1540102 w 4486"/>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5">
                    <a:moveTo>
                      <a:pt x="2243" y="0"/>
                    </a:moveTo>
                    <a:lnTo>
                      <a:pt x="0" y="3884"/>
                    </a:lnTo>
                    <a:lnTo>
                      <a:pt x="4485" y="3884"/>
                    </a:lnTo>
                    <a:lnTo>
                      <a:pt x="2243" y="0"/>
                    </a:lnTo>
                  </a:path>
                </a:pathLst>
              </a:custGeom>
              <a:solidFill>
                <a:schemeClr val="accent1"/>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18" name="Freeform 177">
                <a:extLst>
                  <a:ext uri="{FF2B5EF4-FFF2-40B4-BE49-F238E27FC236}">
                    <a16:creationId xmlns:a16="http://schemas.microsoft.com/office/drawing/2014/main" id="{973F8BCD-381C-554A-88BC-12252EE97DCC}"/>
                  </a:ext>
                </a:extLst>
              </p:cNvPr>
              <p:cNvSpPr>
                <a:spLocks/>
              </p:cNvSpPr>
              <p:nvPr/>
            </p:nvSpPr>
            <p:spPr bwMode="auto">
              <a:xfrm>
                <a:off x="6400801" y="2011174"/>
                <a:ext cx="2933511" cy="2541871"/>
              </a:xfrm>
              <a:custGeom>
                <a:avLst/>
                <a:gdLst>
                  <a:gd name="T0" fmla="*/ 1539760 w 4485"/>
                  <a:gd name="T1" fmla="*/ 0 h 3884"/>
                  <a:gd name="T2" fmla="*/ 0 w 4485"/>
                  <a:gd name="T3" fmla="*/ 2667611 h 3884"/>
                  <a:gd name="T4" fmla="*/ 3079519 w 4485"/>
                  <a:gd name="T5" fmla="*/ 2667611 h 3884"/>
                  <a:gd name="T6" fmla="*/ 1539760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2" y="0"/>
                    </a:moveTo>
                    <a:lnTo>
                      <a:pt x="0" y="3883"/>
                    </a:lnTo>
                    <a:lnTo>
                      <a:pt x="4484" y="3883"/>
                    </a:lnTo>
                    <a:lnTo>
                      <a:pt x="2242" y="0"/>
                    </a:lnTo>
                  </a:path>
                </a:pathLst>
              </a:custGeom>
              <a:solidFill>
                <a:schemeClr val="accent2">
                  <a:lumMod val="75000"/>
                </a:schemeClr>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19" name="Freeform 178">
                <a:extLst>
                  <a:ext uri="{FF2B5EF4-FFF2-40B4-BE49-F238E27FC236}">
                    <a16:creationId xmlns:a16="http://schemas.microsoft.com/office/drawing/2014/main" id="{AD19ABC7-281D-C44D-9E92-17522BA0EAD3}"/>
                  </a:ext>
                </a:extLst>
              </p:cNvPr>
              <p:cNvSpPr>
                <a:spLocks/>
              </p:cNvSpPr>
              <p:nvPr/>
            </p:nvSpPr>
            <p:spPr bwMode="auto">
              <a:xfrm>
                <a:off x="4932533" y="2020246"/>
                <a:ext cx="2933511" cy="2540360"/>
              </a:xfrm>
              <a:custGeom>
                <a:avLst/>
                <a:gdLst>
                  <a:gd name="T0" fmla="*/ 1540102 w 4486"/>
                  <a:gd name="T1" fmla="*/ 2667613 h 3883"/>
                  <a:gd name="T2" fmla="*/ 3079517 w 4486"/>
                  <a:gd name="T3" fmla="*/ 0 h 3883"/>
                  <a:gd name="T4" fmla="*/ 0 w 4486"/>
                  <a:gd name="T5" fmla="*/ 0 h 3883"/>
                  <a:gd name="T6" fmla="*/ 1540102 w 4486"/>
                  <a:gd name="T7" fmla="*/ 2667613 h 38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3">
                    <a:moveTo>
                      <a:pt x="2243" y="3882"/>
                    </a:moveTo>
                    <a:lnTo>
                      <a:pt x="4485" y="0"/>
                    </a:lnTo>
                    <a:lnTo>
                      <a:pt x="0" y="0"/>
                    </a:lnTo>
                    <a:lnTo>
                      <a:pt x="2243" y="3882"/>
                    </a:lnTo>
                  </a:path>
                </a:pathLst>
              </a:custGeom>
              <a:solidFill>
                <a:schemeClr val="accent2">
                  <a:lumMod val="75000"/>
                </a:schemeClr>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0" name="Freeform 179">
                <a:extLst>
                  <a:ext uri="{FF2B5EF4-FFF2-40B4-BE49-F238E27FC236}">
                    <a16:creationId xmlns:a16="http://schemas.microsoft.com/office/drawing/2014/main" id="{AF6AA1F1-DB5D-6B48-A577-74C17CE1EC12}"/>
                  </a:ext>
                </a:extLst>
              </p:cNvPr>
              <p:cNvSpPr>
                <a:spLocks/>
              </p:cNvSpPr>
              <p:nvPr/>
            </p:nvSpPr>
            <p:spPr bwMode="auto">
              <a:xfrm>
                <a:off x="6400801" y="4553045"/>
                <a:ext cx="2933511" cy="2541872"/>
              </a:xfrm>
              <a:custGeom>
                <a:avLst/>
                <a:gdLst>
                  <a:gd name="T0" fmla="*/ 0 w 4485"/>
                  <a:gd name="T1" fmla="*/ 0 h 3885"/>
                  <a:gd name="T2" fmla="*/ 1539760 w 4485"/>
                  <a:gd name="T3" fmla="*/ 2667613 h 3885"/>
                  <a:gd name="T4" fmla="*/ 3079519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2"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2" name="Freeform 180">
                <a:extLst>
                  <a:ext uri="{FF2B5EF4-FFF2-40B4-BE49-F238E27FC236}">
                    <a16:creationId xmlns:a16="http://schemas.microsoft.com/office/drawing/2014/main" id="{94282D5D-44FA-5B42-A123-9A93B3B2AD5D}"/>
                  </a:ext>
                </a:extLst>
              </p:cNvPr>
              <p:cNvSpPr>
                <a:spLocks/>
              </p:cNvSpPr>
              <p:nvPr/>
            </p:nvSpPr>
            <p:spPr bwMode="auto">
              <a:xfrm rot="10800000">
                <a:off x="4943371" y="2167715"/>
                <a:ext cx="2933511" cy="2541869"/>
              </a:xfrm>
              <a:custGeom>
                <a:avLst/>
                <a:gdLst>
                  <a:gd name="T0" fmla="*/ 1539072 w 4485"/>
                  <a:gd name="T1" fmla="*/ 0 h 3884"/>
                  <a:gd name="T2" fmla="*/ 0 w 4485"/>
                  <a:gd name="T3" fmla="*/ 2667611 h 3884"/>
                  <a:gd name="T4" fmla="*/ 3079517 w 4485"/>
                  <a:gd name="T5" fmla="*/ 2667611 h 3884"/>
                  <a:gd name="T6" fmla="*/ 1539072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1" y="0"/>
                    </a:moveTo>
                    <a:lnTo>
                      <a:pt x="0" y="3883"/>
                    </a:lnTo>
                    <a:lnTo>
                      <a:pt x="4484" y="3883"/>
                    </a:lnTo>
                    <a:lnTo>
                      <a:pt x="2241"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4" name="Freeform 181">
                <a:extLst>
                  <a:ext uri="{FF2B5EF4-FFF2-40B4-BE49-F238E27FC236}">
                    <a16:creationId xmlns:a16="http://schemas.microsoft.com/office/drawing/2014/main" id="{78693D03-3054-3D4E-9627-E0A7EA652F9E}"/>
                  </a:ext>
                </a:extLst>
              </p:cNvPr>
              <p:cNvSpPr>
                <a:spLocks/>
              </p:cNvSpPr>
              <p:nvPr/>
            </p:nvSpPr>
            <p:spPr bwMode="auto">
              <a:xfrm rot="3600000">
                <a:off x="5982563" y="2801666"/>
                <a:ext cx="2933514" cy="2541874"/>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5" name="TextBox 24">
                <a:extLst>
                  <a:ext uri="{FF2B5EF4-FFF2-40B4-BE49-F238E27FC236}">
                    <a16:creationId xmlns:a16="http://schemas.microsoft.com/office/drawing/2014/main" id="{A4E847B4-3DF6-0346-9E09-2E13EF18D004}"/>
                  </a:ext>
                </a:extLst>
              </p:cNvPr>
              <p:cNvSpPr txBox="1"/>
              <p:nvPr/>
            </p:nvSpPr>
            <p:spPr>
              <a:xfrm>
                <a:off x="4236225" y="2994644"/>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6</a:t>
                </a:r>
              </a:p>
            </p:txBody>
          </p:sp>
          <p:sp>
            <p:nvSpPr>
              <p:cNvPr id="26" name="TextBox 25">
                <a:extLst>
                  <a:ext uri="{FF2B5EF4-FFF2-40B4-BE49-F238E27FC236}">
                    <a16:creationId xmlns:a16="http://schemas.microsoft.com/office/drawing/2014/main" id="{56403C62-669F-FE41-9934-55C0554EAD79}"/>
                  </a:ext>
                </a:extLst>
              </p:cNvPr>
              <p:cNvSpPr txBox="1"/>
              <p:nvPr/>
            </p:nvSpPr>
            <p:spPr>
              <a:xfrm>
                <a:off x="5765762" y="2108319"/>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1</a:t>
                </a:r>
              </a:p>
            </p:txBody>
          </p:sp>
          <p:sp>
            <p:nvSpPr>
              <p:cNvPr id="28" name="TextBox 27">
                <a:extLst>
                  <a:ext uri="{FF2B5EF4-FFF2-40B4-BE49-F238E27FC236}">
                    <a16:creationId xmlns:a16="http://schemas.microsoft.com/office/drawing/2014/main" id="{DA2C1947-9098-DD4B-9FC7-5226288B9885}"/>
                  </a:ext>
                </a:extLst>
              </p:cNvPr>
              <p:cNvSpPr txBox="1"/>
              <p:nvPr/>
            </p:nvSpPr>
            <p:spPr>
              <a:xfrm>
                <a:off x="7228912" y="2999201"/>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2</a:t>
                </a:r>
              </a:p>
            </p:txBody>
          </p:sp>
          <p:sp>
            <p:nvSpPr>
              <p:cNvPr id="30" name="TextBox 29">
                <a:extLst>
                  <a:ext uri="{FF2B5EF4-FFF2-40B4-BE49-F238E27FC236}">
                    <a16:creationId xmlns:a16="http://schemas.microsoft.com/office/drawing/2014/main" id="{A3167FD0-F83D-DD4A-A72D-90405E017D57}"/>
                  </a:ext>
                </a:extLst>
              </p:cNvPr>
              <p:cNvSpPr txBox="1"/>
              <p:nvPr/>
            </p:nvSpPr>
            <p:spPr>
              <a:xfrm>
                <a:off x="7247451" y="475574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3</a:t>
                </a:r>
              </a:p>
            </p:txBody>
          </p:sp>
          <p:sp>
            <p:nvSpPr>
              <p:cNvPr id="31" name="TextBox 30">
                <a:extLst>
                  <a:ext uri="{FF2B5EF4-FFF2-40B4-BE49-F238E27FC236}">
                    <a16:creationId xmlns:a16="http://schemas.microsoft.com/office/drawing/2014/main" id="{CB32858F-D284-8944-839E-5211D8180EC0}"/>
                  </a:ext>
                </a:extLst>
              </p:cNvPr>
              <p:cNvSpPr txBox="1"/>
              <p:nvPr/>
            </p:nvSpPr>
            <p:spPr>
              <a:xfrm>
                <a:off x="5737804" y="5556748"/>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4</a:t>
                </a:r>
              </a:p>
            </p:txBody>
          </p:sp>
          <p:sp>
            <p:nvSpPr>
              <p:cNvPr id="32" name="TextBox 31">
                <a:extLst>
                  <a:ext uri="{FF2B5EF4-FFF2-40B4-BE49-F238E27FC236}">
                    <a16:creationId xmlns:a16="http://schemas.microsoft.com/office/drawing/2014/main" id="{BC7732BD-8AE6-2D4C-8A49-D027171EBC73}"/>
                  </a:ext>
                </a:extLst>
              </p:cNvPr>
              <p:cNvSpPr txBox="1"/>
              <p:nvPr/>
            </p:nvSpPr>
            <p:spPr>
              <a:xfrm>
                <a:off x="4199291" y="472471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5</a:t>
                </a:r>
              </a:p>
            </p:txBody>
          </p:sp>
        </p:grpSp>
        <p:sp>
          <p:nvSpPr>
            <p:cNvPr id="35" name="TextBox 34">
              <a:extLst>
                <a:ext uri="{FF2B5EF4-FFF2-40B4-BE49-F238E27FC236}">
                  <a16:creationId xmlns:a16="http://schemas.microsoft.com/office/drawing/2014/main" id="{A3FF2667-46B6-7849-BE43-553064687CB0}"/>
                </a:ext>
              </a:extLst>
            </p:cNvPr>
            <p:cNvSpPr txBox="1"/>
            <p:nvPr/>
          </p:nvSpPr>
          <p:spPr>
            <a:xfrm>
              <a:off x="5048505" y="224589"/>
              <a:ext cx="2778629"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Value Barriers </a:t>
              </a:r>
            </a:p>
          </p:txBody>
        </p:sp>
        <p:sp>
          <p:nvSpPr>
            <p:cNvPr id="36" name="TextBox 35">
              <a:extLst>
                <a:ext uri="{FF2B5EF4-FFF2-40B4-BE49-F238E27FC236}">
                  <a16:creationId xmlns:a16="http://schemas.microsoft.com/office/drawing/2014/main" id="{76B013F0-AD86-4544-B3B2-B9249653EBF8}"/>
                </a:ext>
              </a:extLst>
            </p:cNvPr>
            <p:cNvSpPr txBox="1"/>
            <p:nvPr/>
          </p:nvSpPr>
          <p:spPr>
            <a:xfrm>
              <a:off x="5204003" y="5943681"/>
              <a:ext cx="2623132"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Proactivity</a:t>
              </a:r>
            </a:p>
          </p:txBody>
        </p:sp>
        <p:sp>
          <p:nvSpPr>
            <p:cNvPr id="37" name="TextBox 36">
              <a:extLst>
                <a:ext uri="{FF2B5EF4-FFF2-40B4-BE49-F238E27FC236}">
                  <a16:creationId xmlns:a16="http://schemas.microsoft.com/office/drawing/2014/main" id="{14359635-1856-764D-AC49-97EC9113F864}"/>
                </a:ext>
              </a:extLst>
            </p:cNvPr>
            <p:cNvSpPr txBox="1"/>
            <p:nvPr/>
          </p:nvSpPr>
          <p:spPr>
            <a:xfrm>
              <a:off x="1954883" y="1624544"/>
              <a:ext cx="280492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Cultural Challenges</a:t>
              </a:r>
            </a:p>
          </p:txBody>
        </p:sp>
        <p:sp>
          <p:nvSpPr>
            <p:cNvPr id="39" name="TextBox 38">
              <a:extLst>
                <a:ext uri="{FF2B5EF4-FFF2-40B4-BE49-F238E27FC236}">
                  <a16:creationId xmlns:a16="http://schemas.microsoft.com/office/drawing/2014/main" id="{5EE6B582-A5AD-7742-A3DB-35B94D69E389}"/>
                </a:ext>
              </a:extLst>
            </p:cNvPr>
            <p:cNvSpPr txBox="1"/>
            <p:nvPr/>
          </p:nvSpPr>
          <p:spPr>
            <a:xfrm>
              <a:off x="2108449" y="4579118"/>
              <a:ext cx="2714734"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Prevention</a:t>
              </a:r>
            </a:p>
          </p:txBody>
        </p:sp>
        <p:sp>
          <p:nvSpPr>
            <p:cNvPr id="40" name="TextBox 39">
              <a:extLst>
                <a:ext uri="{FF2B5EF4-FFF2-40B4-BE49-F238E27FC236}">
                  <a16:creationId xmlns:a16="http://schemas.microsoft.com/office/drawing/2014/main" id="{7842DDC4-618C-EB49-8D92-CC6E8D06A27F}"/>
                </a:ext>
              </a:extLst>
            </p:cNvPr>
            <p:cNvSpPr txBox="1"/>
            <p:nvPr/>
          </p:nvSpPr>
          <p:spPr>
            <a:xfrm>
              <a:off x="8202257" y="4539642"/>
              <a:ext cx="273486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Need/Care Match</a:t>
              </a:r>
            </a:p>
          </p:txBody>
        </p:sp>
      </p:grpSp>
      <p:sp>
        <p:nvSpPr>
          <p:cNvPr id="42" name="Rectangle 41">
            <a:extLst>
              <a:ext uri="{FF2B5EF4-FFF2-40B4-BE49-F238E27FC236}">
                <a16:creationId xmlns:a16="http://schemas.microsoft.com/office/drawing/2014/main" id="{CED96D22-0F74-AF48-B854-0CE3DF5BC976}"/>
              </a:ext>
            </a:extLst>
          </p:cNvPr>
          <p:cNvSpPr/>
          <p:nvPr/>
        </p:nvSpPr>
        <p:spPr>
          <a:xfrm>
            <a:off x="9548037" y="2944368"/>
            <a:ext cx="3253563" cy="4828032"/>
          </a:xfrm>
          <a:prstGeom prst="rect">
            <a:avLst/>
          </a:prstGeom>
          <a:solidFill>
            <a:srgbClr val="0039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13CF5FB-EA21-2E43-8223-310323F91EEC}"/>
              </a:ext>
            </a:extLst>
          </p:cNvPr>
          <p:cNvSpPr/>
          <p:nvPr/>
        </p:nvSpPr>
        <p:spPr>
          <a:xfrm>
            <a:off x="228600" y="534035"/>
            <a:ext cx="6764994" cy="338554"/>
          </a:xfrm>
          <a:prstGeom prst="rect">
            <a:avLst/>
          </a:prstGeom>
        </p:spPr>
        <p:txBody>
          <a:bodyPr wrap="square" anchor="t">
            <a:spAutoFit/>
          </a:bodyPr>
          <a:lstStyle/>
          <a:p>
            <a:r>
              <a:rPr lang="en-US" sz="1600" b="1" dirty="0">
                <a:solidFill>
                  <a:srgbClr val="00A2E2"/>
                </a:solidFill>
              </a:rPr>
              <a:t>Identifying Issues and Opportunities</a:t>
            </a:r>
          </a:p>
        </p:txBody>
      </p:sp>
      <p:sp>
        <p:nvSpPr>
          <p:cNvPr id="44" name="Rectangle 43">
            <a:extLst>
              <a:ext uri="{FF2B5EF4-FFF2-40B4-BE49-F238E27FC236}">
                <a16:creationId xmlns:a16="http://schemas.microsoft.com/office/drawing/2014/main" id="{BEF1FE83-BF87-1E40-BFFF-5C9604484C0C}"/>
              </a:ext>
            </a:extLst>
          </p:cNvPr>
          <p:cNvSpPr/>
          <p:nvPr/>
        </p:nvSpPr>
        <p:spPr>
          <a:xfrm>
            <a:off x="9548037" y="3094081"/>
            <a:ext cx="3253563" cy="584775"/>
          </a:xfrm>
          <a:prstGeom prst="rect">
            <a:avLst/>
          </a:prstGeom>
        </p:spPr>
        <p:txBody>
          <a:bodyPr wrap="square" anchor="t">
            <a:spAutoFit/>
          </a:bodyPr>
          <a:lstStyle/>
          <a:p>
            <a:pPr algn="ctr"/>
            <a:r>
              <a:rPr lang="en-US" sz="1600" b="1" dirty="0">
                <a:solidFill>
                  <a:schemeClr val="bg1"/>
                </a:solidFill>
              </a:rPr>
              <a:t>Competitive / Startup </a:t>
            </a:r>
            <a:br>
              <a:rPr lang="en-US" sz="1600" b="1" dirty="0">
                <a:solidFill>
                  <a:schemeClr val="bg1"/>
                </a:solidFill>
              </a:rPr>
            </a:br>
            <a:r>
              <a:rPr lang="en-US" sz="1600" b="1" dirty="0">
                <a:solidFill>
                  <a:schemeClr val="bg1"/>
                </a:solidFill>
              </a:rPr>
              <a:t>Landscape</a:t>
            </a:r>
          </a:p>
        </p:txBody>
      </p:sp>
      <p:sp>
        <p:nvSpPr>
          <p:cNvPr id="33" name="Rectangle 32">
            <a:extLst>
              <a:ext uri="{FF2B5EF4-FFF2-40B4-BE49-F238E27FC236}">
                <a16:creationId xmlns:a16="http://schemas.microsoft.com/office/drawing/2014/main" id="{CA022BC9-DDE1-2846-9815-D4A9EE06B1C1}"/>
              </a:ext>
            </a:extLst>
          </p:cNvPr>
          <p:cNvSpPr/>
          <p:nvPr/>
        </p:nvSpPr>
        <p:spPr>
          <a:xfrm>
            <a:off x="6429464" y="2609123"/>
            <a:ext cx="2979712" cy="4047262"/>
          </a:xfrm>
          <a:prstGeom prst="rect">
            <a:avLst/>
          </a:prstGeom>
        </p:spPr>
        <p:txBody>
          <a:bodyPr wrap="square">
            <a:spAutoFit/>
          </a:bodyPr>
          <a:lstStyle/>
          <a:p>
            <a:pPr>
              <a:spcAft>
                <a:spcPts val="600"/>
              </a:spcAft>
            </a:pPr>
            <a:r>
              <a:rPr lang="en-US" sz="1200" b="1" dirty="0"/>
              <a:t>How might we…</a:t>
            </a:r>
          </a:p>
          <a:p>
            <a:r>
              <a:rPr lang="en-US" sz="1200" dirty="0">
                <a:latin typeface="Arial" panose="020B0604020202020204" pitchFamily="34" charset="0"/>
                <a:ea typeface="Lato Light" panose="020F0502020204030203" pitchFamily="34" charset="0"/>
                <a:cs typeface="Arial" panose="020B0604020202020204" pitchFamily="34" charset="0"/>
              </a:rPr>
              <a:t>Identify individuals (e.g. actively through identification or passively through education/awareness) with BH conditions in order to prevent undiagnosed chronic BH conditions which lead to complex care and high costs?</a:t>
            </a:r>
          </a:p>
          <a:p>
            <a:endParaRPr lang="en-US" sz="1200" dirty="0">
              <a:latin typeface="Arial" panose="020B0604020202020204" pitchFamily="34" charset="0"/>
              <a:ea typeface="Lato Light" panose="020F0502020204030203" pitchFamily="34" charset="0"/>
              <a:cs typeface="Arial" panose="020B0604020202020204" pitchFamily="34" charset="0"/>
            </a:endParaRPr>
          </a:p>
          <a:p>
            <a:r>
              <a:rPr lang="en-US" sz="1200" dirty="0">
                <a:latin typeface="Arial" panose="020B0604020202020204" pitchFamily="34" charset="0"/>
                <a:ea typeface="Lato Light" panose="020F0502020204030203" pitchFamily="34" charset="0"/>
                <a:cs typeface="Arial" panose="020B0604020202020204" pitchFamily="34" charset="0"/>
              </a:rPr>
              <a:t>Develop or support the development of improved and more objective diagnostic screening tools in order to reduce misdiagnosis and potentially improve identification?</a:t>
            </a:r>
          </a:p>
          <a:p>
            <a:endParaRPr lang="en-US" sz="1200" dirty="0">
              <a:latin typeface="Arial" panose="020B0604020202020204" pitchFamily="34" charset="0"/>
              <a:ea typeface="Lato Light" panose="020F0502020204030203" pitchFamily="34" charset="0"/>
              <a:cs typeface="Arial" panose="020B0604020202020204" pitchFamily="34" charset="0"/>
            </a:endParaRPr>
          </a:p>
          <a:p>
            <a:r>
              <a:rPr lang="en-US" sz="1200" dirty="0"/>
              <a:t>Identify triggering, episodic events in real time?</a:t>
            </a:r>
          </a:p>
          <a:p>
            <a:endParaRPr lang="en-US" sz="1200" dirty="0">
              <a:latin typeface="Arial" panose="020B0604020202020204" pitchFamily="34" charset="0"/>
              <a:ea typeface="Lato Light" panose="020F0502020204030203" pitchFamily="34" charset="0"/>
              <a:cs typeface="Arial" panose="020B0604020202020204" pitchFamily="34" charset="0"/>
            </a:endParaRPr>
          </a:p>
          <a:p>
            <a:r>
              <a:rPr lang="en-US" sz="1200" dirty="0">
                <a:latin typeface="Arial" panose="020B0604020202020204" pitchFamily="34" charset="0"/>
                <a:ea typeface="Lato Light" panose="020F0502020204030203" pitchFamily="34" charset="0"/>
                <a:cs typeface="Arial" panose="020B0604020202020204" pitchFamily="34" charset="0"/>
              </a:rPr>
              <a:t>Train BH specialists in best practices (using and developing) and measure their performance against those practices?</a:t>
            </a:r>
          </a:p>
        </p:txBody>
      </p:sp>
      <p:sp>
        <p:nvSpPr>
          <p:cNvPr id="34" name="Rectangle 33">
            <a:extLst>
              <a:ext uri="{FF2B5EF4-FFF2-40B4-BE49-F238E27FC236}">
                <a16:creationId xmlns:a16="http://schemas.microsoft.com/office/drawing/2014/main" id="{00608CA6-D35B-1546-8E93-F2A95777A872}"/>
              </a:ext>
            </a:extLst>
          </p:cNvPr>
          <p:cNvSpPr/>
          <p:nvPr/>
        </p:nvSpPr>
        <p:spPr>
          <a:xfrm>
            <a:off x="298401" y="2609123"/>
            <a:ext cx="5892087" cy="4616648"/>
          </a:xfrm>
          <a:prstGeom prst="rect">
            <a:avLst/>
          </a:prstGeom>
        </p:spPr>
        <p:txBody>
          <a:bodyPr wrap="square">
            <a:spAutoFit/>
          </a:bodyPr>
          <a:lstStyle/>
          <a:p>
            <a:pPr>
              <a:spcAft>
                <a:spcPts val="600"/>
              </a:spcAft>
            </a:pPr>
            <a:r>
              <a:rPr lang="en-US" sz="1200" b="1" dirty="0"/>
              <a:t>Why is this so critical?</a:t>
            </a:r>
          </a:p>
          <a:p>
            <a:pPr marL="160020" indent="-160020">
              <a:spcAft>
                <a:spcPts val="600"/>
              </a:spcAft>
              <a:buFont typeface="Arial" panose="020B0604020202020204" pitchFamily="34" charset="0"/>
              <a:buChar char="•"/>
            </a:pPr>
            <a:r>
              <a:rPr lang="en-US" sz="1200" b="1" dirty="0"/>
              <a:t>Subjective and asynchronous. </a:t>
            </a:r>
            <a:r>
              <a:rPr lang="en-US" sz="1200" dirty="0"/>
              <a:t>Screening tools rely heavily on subjective measures done asynchronously. BH conditions are often co-morbid and share symptoms in common. As a result, misdiagnoses and delays in diagnosis are not uncommon.</a:t>
            </a:r>
          </a:p>
          <a:p>
            <a:pPr marL="160020" indent="-160020">
              <a:spcAft>
                <a:spcPts val="600"/>
              </a:spcAft>
              <a:buFont typeface="Arial" panose="020B0604020202020204" pitchFamily="34" charset="0"/>
              <a:buChar char="•"/>
            </a:pPr>
            <a:r>
              <a:rPr lang="en-US" sz="1200" b="1" dirty="0"/>
              <a:t>Right clinician, right care.</a:t>
            </a:r>
            <a:r>
              <a:rPr lang="en-US" sz="1200" dirty="0"/>
              <a:t> For depression, almost twice as many patients see a GP/PCP rather than a psychiatrist. The majority of mental health medications are also prescribed by family doctors. This calls into question whether patients are truly getting the best care possible.</a:t>
            </a:r>
          </a:p>
          <a:p>
            <a:pPr marL="160020" indent="-160020">
              <a:spcAft>
                <a:spcPts val="600"/>
              </a:spcAft>
              <a:buFont typeface="Arial" panose="020B0604020202020204" pitchFamily="34" charset="0"/>
              <a:buChar char="•"/>
            </a:pPr>
            <a:r>
              <a:rPr lang="en-US" sz="1200" b="1" dirty="0"/>
              <a:t>Physicians are not trained in BH best practices. </a:t>
            </a:r>
            <a:r>
              <a:rPr lang="en-US" sz="1200" dirty="0"/>
              <a:t>Academic centers aren’t training physicians to use the best science available. As a result, BH specialists often use their own experience and understanding to create their own diagnosis and treatment plans, which can lead to care inconsistencies, slowness to develop best practices, patient confusion, and further stigma around BH.</a:t>
            </a:r>
          </a:p>
          <a:p>
            <a:pPr marL="160020" indent="-160020">
              <a:spcAft>
                <a:spcPts val="600"/>
              </a:spcAft>
              <a:buFont typeface="Arial" panose="020B0604020202020204" pitchFamily="34" charset="0"/>
              <a:buChar char="•"/>
            </a:pPr>
            <a:r>
              <a:rPr lang="en-US" sz="1200" b="1" dirty="0"/>
              <a:t>The science of BH is still young. </a:t>
            </a:r>
            <a:r>
              <a:rPr lang="en-US" sz="1200" dirty="0"/>
              <a:t>Unlike for many physical health conditions, key biomarkers do not exist, making accurate diagnosis a challenge but also leaving unanswered the question of when someone is “well” after treatment.</a:t>
            </a:r>
          </a:p>
          <a:p>
            <a:pPr marL="160020" indent="-160020">
              <a:spcAft>
                <a:spcPts val="600"/>
              </a:spcAft>
              <a:buFont typeface="Arial" panose="020B0604020202020204" pitchFamily="34" charset="0"/>
              <a:buChar char="•"/>
            </a:pPr>
            <a:r>
              <a:rPr lang="en-US" sz="1200" b="1" dirty="0"/>
              <a:t>Not making full use of data. </a:t>
            </a:r>
            <a:r>
              <a:rPr lang="en-US" sz="1200" dirty="0"/>
              <a:t>Although strides are being made, as a blended organization we need to more effectively use our data and our touchpoints with our members to better identify and intervene for those that are at-risk for BH conditions and improve treatments for those dealing with BH conditions.</a:t>
            </a:r>
            <a:endParaRPr lang="en-US" sz="1200" b="1" dirty="0"/>
          </a:p>
          <a:p>
            <a:pPr marL="160020" indent="-160020">
              <a:buFont typeface="Arial" panose="020B0604020202020204" pitchFamily="34" charset="0"/>
              <a:buChar char="•"/>
            </a:pPr>
            <a:endParaRPr lang="en-US" sz="1200" dirty="0"/>
          </a:p>
        </p:txBody>
      </p:sp>
      <p:sp>
        <p:nvSpPr>
          <p:cNvPr id="38" name="Rectangle 37">
            <a:extLst>
              <a:ext uri="{FF2B5EF4-FFF2-40B4-BE49-F238E27FC236}">
                <a16:creationId xmlns:a16="http://schemas.microsoft.com/office/drawing/2014/main" id="{F4BEF5A8-B6E9-9F4F-95F4-FA7CE14E724A}"/>
              </a:ext>
            </a:extLst>
          </p:cNvPr>
          <p:cNvSpPr/>
          <p:nvPr/>
        </p:nvSpPr>
        <p:spPr>
          <a:xfrm>
            <a:off x="298402" y="1704715"/>
            <a:ext cx="9051944" cy="584775"/>
          </a:xfrm>
          <a:prstGeom prst="rect">
            <a:avLst/>
          </a:prstGeom>
        </p:spPr>
        <p:txBody>
          <a:bodyPr wrap="square">
            <a:spAutoFit/>
          </a:bodyPr>
          <a:lstStyle/>
          <a:p>
            <a:r>
              <a:rPr lang="en-US" sz="1600" dirty="0"/>
              <a:t>Identify individuals who are not receiving the most effective or optimal care today and </a:t>
            </a:r>
            <a:r>
              <a:rPr lang="en-US" sz="1600" dirty="0" err="1"/>
              <a:t>activelt</a:t>
            </a:r>
            <a:r>
              <a:rPr lang="en-US" sz="1600" dirty="0"/>
              <a:t> revise their treatment for better outcomes..</a:t>
            </a:r>
          </a:p>
        </p:txBody>
      </p:sp>
      <p:sp>
        <p:nvSpPr>
          <p:cNvPr id="41" name="Rectangle 40">
            <a:extLst>
              <a:ext uri="{FF2B5EF4-FFF2-40B4-BE49-F238E27FC236}">
                <a16:creationId xmlns:a16="http://schemas.microsoft.com/office/drawing/2014/main" id="{1550E77B-27DF-D340-9144-D03C6A251D29}"/>
              </a:ext>
            </a:extLst>
          </p:cNvPr>
          <p:cNvSpPr/>
          <p:nvPr/>
        </p:nvSpPr>
        <p:spPr>
          <a:xfrm>
            <a:off x="9787013" y="3828569"/>
            <a:ext cx="2716185" cy="2845907"/>
          </a:xfrm>
          <a:prstGeom prst="rect">
            <a:avLst/>
          </a:prstGeom>
          <a:ln>
            <a:noFill/>
          </a:ln>
        </p:spPr>
        <p:txBody>
          <a:bodyPr wrap="square">
            <a:spAutoFit/>
          </a:bodyPr>
          <a:lstStyle/>
          <a:p>
            <a:pPr defTabSz="914378">
              <a:lnSpc>
                <a:spcPct val="95000"/>
              </a:lnSpc>
              <a:spcBef>
                <a:spcPts val="200"/>
              </a:spcBef>
              <a:spcAft>
                <a:spcPts val="200"/>
              </a:spcAft>
            </a:pPr>
            <a:r>
              <a:rPr lang="en-US" sz="1200" b="1" kern="0" dirty="0" err="1">
                <a:solidFill>
                  <a:srgbClr val="B1E2FF"/>
                </a:solidFill>
                <a:latin typeface="Arial Narrow" pitchFamily="34" charset="0"/>
              </a:rPr>
              <a:t>Sentio</a:t>
            </a:r>
            <a:r>
              <a:rPr lang="en-US" sz="1200" b="1" kern="0" dirty="0">
                <a:solidFill>
                  <a:srgbClr val="B1E2FF"/>
                </a:solidFill>
                <a:latin typeface="Arial Narrow" pitchFamily="34" charset="0"/>
              </a:rPr>
              <a:t> Solutions (myfeel.co)</a:t>
            </a:r>
            <a:endParaRPr lang="en-US" sz="1200" b="1" kern="0" dirty="0">
              <a:solidFill>
                <a:srgbClr val="0070C0"/>
              </a:solidFill>
              <a:latin typeface="Arial Narrow" pitchFamily="34" charset="0"/>
            </a:endParaRPr>
          </a:p>
          <a:p>
            <a:pPr defTabSz="914378">
              <a:lnSpc>
                <a:spcPct val="95000"/>
              </a:lnSpc>
              <a:spcBef>
                <a:spcPts val="200"/>
              </a:spcBef>
              <a:spcAft>
                <a:spcPts val="200"/>
              </a:spcAft>
            </a:pPr>
            <a:r>
              <a:rPr lang="en-US" sz="1200" b="1" kern="0" dirty="0">
                <a:solidFill>
                  <a:schemeClr val="bg1"/>
                </a:solidFill>
                <a:latin typeface="Arial Narrow" pitchFamily="34" charset="0"/>
              </a:rPr>
              <a:t>Start-up using emotion sensing technology to identify and trigger interventions for behavioral health.</a:t>
            </a:r>
            <a:endParaRPr lang="en-US" sz="1200" kern="0" dirty="0">
              <a:solidFill>
                <a:schemeClr val="bg1"/>
              </a:solidFill>
              <a:latin typeface="Arial Narrow" pitchFamily="34" charset="0"/>
            </a:endParaRPr>
          </a:p>
          <a:p>
            <a:pPr defTabSz="914378">
              <a:lnSpc>
                <a:spcPct val="95000"/>
              </a:lnSpc>
              <a:spcBef>
                <a:spcPts val="200"/>
              </a:spcBef>
              <a:spcAft>
                <a:spcPts val="200"/>
              </a:spcAft>
            </a:pPr>
            <a:endParaRPr lang="en-US" sz="1200" kern="0" dirty="0">
              <a:solidFill>
                <a:schemeClr val="bg1"/>
              </a:solidFill>
              <a:latin typeface="Arial Narrow" pitchFamily="34" charset="0"/>
            </a:endParaRPr>
          </a:p>
          <a:p>
            <a:pPr defTabSz="914378">
              <a:lnSpc>
                <a:spcPct val="95000"/>
              </a:lnSpc>
              <a:spcBef>
                <a:spcPts val="200"/>
              </a:spcBef>
              <a:spcAft>
                <a:spcPts val="200"/>
              </a:spcAft>
            </a:pPr>
            <a:r>
              <a:rPr lang="en-US" sz="1200" b="1" kern="0" dirty="0">
                <a:solidFill>
                  <a:srgbClr val="B1E2FF"/>
                </a:solidFill>
                <a:latin typeface="Arial Narrow" pitchFamily="34" charset="0"/>
              </a:rPr>
              <a:t>Aetna</a:t>
            </a:r>
          </a:p>
          <a:p>
            <a:pPr defTabSz="914400">
              <a:lnSpc>
                <a:spcPct val="90000"/>
              </a:lnSpc>
              <a:spcBef>
                <a:spcPts val="200"/>
              </a:spcBef>
              <a:spcAft>
                <a:spcPts val="200"/>
              </a:spcAft>
            </a:pPr>
            <a:r>
              <a:rPr lang="en-US" sz="1200" b="1" kern="0" dirty="0" err="1">
                <a:solidFill>
                  <a:schemeClr val="bg1"/>
                </a:solidFill>
                <a:latin typeface="Arial Narrow" pitchFamily="34" charset="0"/>
              </a:rPr>
              <a:t>MedQuery</a:t>
            </a:r>
            <a:r>
              <a:rPr lang="en-US" sz="1200" b="1" kern="0" dirty="0">
                <a:solidFill>
                  <a:schemeClr val="bg1"/>
                </a:solidFill>
                <a:latin typeface="Arial Narrow" pitchFamily="34" charset="0"/>
              </a:rPr>
              <a:t> anticipates potential care issues and sends alerts based on proprietary software (The </a:t>
            </a:r>
            <a:r>
              <a:rPr lang="en-US" sz="1200" b="1" kern="0" dirty="0" err="1">
                <a:solidFill>
                  <a:schemeClr val="bg1"/>
                </a:solidFill>
                <a:latin typeface="Arial Narrow" pitchFamily="34" charset="0"/>
              </a:rPr>
              <a:t>CareEngine</a:t>
            </a:r>
            <a:r>
              <a:rPr lang="en-US" sz="1200" b="1" kern="0" baseline="30000" dirty="0">
                <a:solidFill>
                  <a:schemeClr val="bg1"/>
                </a:solidFill>
                <a:latin typeface="Arial Narrow" pitchFamily="34" charset="0"/>
              </a:rPr>
              <a:t>®</a:t>
            </a:r>
            <a:r>
              <a:rPr lang="en-US" sz="1200" b="1" kern="0" dirty="0">
                <a:solidFill>
                  <a:schemeClr val="bg1"/>
                </a:solidFill>
                <a:latin typeface="Arial Narrow" pitchFamily="34" charset="0"/>
              </a:rPr>
              <a:t>). The </a:t>
            </a:r>
            <a:r>
              <a:rPr lang="en-US" sz="1200" b="1" kern="0" dirty="0" err="1">
                <a:solidFill>
                  <a:schemeClr val="bg1"/>
                </a:solidFill>
                <a:latin typeface="Arial Narrow" pitchFamily="34" charset="0"/>
              </a:rPr>
              <a:t>CareEngine</a:t>
            </a:r>
            <a:r>
              <a:rPr lang="en-US" sz="1200" b="1" kern="0" dirty="0">
                <a:solidFill>
                  <a:schemeClr val="bg1"/>
                </a:solidFill>
                <a:latin typeface="Arial Narrow" pitchFamily="34" charset="0"/>
              </a:rPr>
              <a:t> scans every medical claim, lab result, filled prescription, and personal health record data and compares it to thousands of evidence-based algorithms to identify best practices and opportunities for better care.</a:t>
            </a:r>
          </a:p>
        </p:txBody>
      </p:sp>
    </p:spTree>
    <p:extLst>
      <p:ext uri="{BB962C8B-B14F-4D97-AF65-F5344CB8AC3E}">
        <p14:creationId xmlns:p14="http://schemas.microsoft.com/office/powerpoint/2010/main" val="28379998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818B1C-7512-BF4C-A24D-63537D0ED002}"/>
              </a:ext>
            </a:extLst>
          </p:cNvPr>
          <p:cNvSpPr/>
          <p:nvPr/>
        </p:nvSpPr>
        <p:spPr>
          <a:xfrm>
            <a:off x="298402" y="1136326"/>
            <a:ext cx="8499506" cy="461665"/>
          </a:xfrm>
          <a:prstGeom prst="rect">
            <a:avLst/>
          </a:prstGeom>
        </p:spPr>
        <p:txBody>
          <a:bodyPr wrap="square">
            <a:spAutoFit/>
          </a:bodyPr>
          <a:lstStyle/>
          <a:p>
            <a:r>
              <a:rPr lang="en-US" sz="2400" b="1" dirty="0">
                <a:solidFill>
                  <a:srgbClr val="002060"/>
                </a:solidFill>
              </a:rPr>
              <a:t>Leverage Non-Clinical Support Networks</a:t>
            </a:r>
          </a:p>
        </p:txBody>
      </p:sp>
      <p:sp>
        <p:nvSpPr>
          <p:cNvPr id="12" name="Rectangle 11">
            <a:extLst>
              <a:ext uri="{FF2B5EF4-FFF2-40B4-BE49-F238E27FC236}">
                <a16:creationId xmlns:a16="http://schemas.microsoft.com/office/drawing/2014/main" id="{FF75D8D4-2E5B-8141-92F5-2E65763F210A}"/>
              </a:ext>
            </a:extLst>
          </p:cNvPr>
          <p:cNvSpPr/>
          <p:nvPr/>
        </p:nvSpPr>
        <p:spPr>
          <a:xfrm>
            <a:off x="9548037" y="0"/>
            <a:ext cx="3253563" cy="288950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3942695-DEE0-D342-9001-6E26D151834E}"/>
              </a:ext>
            </a:extLst>
          </p:cNvPr>
          <p:cNvSpPr/>
          <p:nvPr/>
        </p:nvSpPr>
        <p:spPr>
          <a:xfrm>
            <a:off x="9548037" y="369169"/>
            <a:ext cx="3253563" cy="338554"/>
          </a:xfrm>
          <a:prstGeom prst="rect">
            <a:avLst/>
          </a:prstGeom>
        </p:spPr>
        <p:txBody>
          <a:bodyPr wrap="square" anchor="t">
            <a:spAutoFit/>
          </a:bodyPr>
          <a:lstStyle/>
          <a:p>
            <a:pPr algn="ctr"/>
            <a:r>
              <a:rPr lang="en-US" sz="1600" b="1" dirty="0">
                <a:solidFill>
                  <a:schemeClr val="bg1"/>
                </a:solidFill>
              </a:rPr>
              <a:t>Critical Problems</a:t>
            </a:r>
          </a:p>
        </p:txBody>
      </p:sp>
      <p:grpSp>
        <p:nvGrpSpPr>
          <p:cNvPr id="5" name="Group 4">
            <a:extLst>
              <a:ext uri="{FF2B5EF4-FFF2-40B4-BE49-F238E27FC236}">
                <a16:creationId xmlns:a16="http://schemas.microsoft.com/office/drawing/2014/main" id="{4010EF52-C5D7-364A-9BFE-02E8D06E4633}"/>
              </a:ext>
            </a:extLst>
          </p:cNvPr>
          <p:cNvGrpSpPr/>
          <p:nvPr/>
        </p:nvGrpSpPr>
        <p:grpSpPr>
          <a:xfrm>
            <a:off x="10054011" y="824143"/>
            <a:ext cx="2241613" cy="1631010"/>
            <a:chOff x="1954883" y="224589"/>
            <a:chExt cx="9056437" cy="6589517"/>
          </a:xfrm>
        </p:grpSpPr>
        <p:sp>
          <p:nvSpPr>
            <p:cNvPr id="14" name="TextBox 13">
              <a:extLst>
                <a:ext uri="{FF2B5EF4-FFF2-40B4-BE49-F238E27FC236}">
                  <a16:creationId xmlns:a16="http://schemas.microsoft.com/office/drawing/2014/main" id="{B31051DD-EB23-794F-8BAD-F9F7F16AC8B0}"/>
                </a:ext>
              </a:extLst>
            </p:cNvPr>
            <p:cNvSpPr txBox="1"/>
            <p:nvPr/>
          </p:nvSpPr>
          <p:spPr>
            <a:xfrm>
              <a:off x="8244614" y="1587504"/>
              <a:ext cx="2766706"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Clinician </a:t>
              </a:r>
              <a:br>
                <a:rPr lang="en-US" sz="800" spc="-16" dirty="0">
                  <a:solidFill>
                    <a:schemeClr val="bg1"/>
                  </a:solidFill>
                  <a:latin typeface="+mj-lt"/>
                  <a:ea typeface="Source Sans Pro" panose="020B0503030403020204" pitchFamily="34" charset="0"/>
                </a:rPr>
              </a:br>
              <a:r>
                <a:rPr lang="en-US" sz="800" spc="-16" dirty="0">
                  <a:solidFill>
                    <a:schemeClr val="bg1"/>
                  </a:solidFill>
                  <a:latin typeface="+mj-lt"/>
                  <a:ea typeface="Source Sans Pro" panose="020B0503030403020204" pitchFamily="34" charset="0"/>
                </a:rPr>
                <a:t>Challenges </a:t>
              </a:r>
            </a:p>
          </p:txBody>
        </p:sp>
        <p:grpSp>
          <p:nvGrpSpPr>
            <p:cNvPr id="15" name="Group 14">
              <a:extLst>
                <a:ext uri="{FF2B5EF4-FFF2-40B4-BE49-F238E27FC236}">
                  <a16:creationId xmlns:a16="http://schemas.microsoft.com/office/drawing/2014/main" id="{6EE47F6B-8362-8A4F-9C3C-2F4D7C87260E}"/>
                </a:ext>
              </a:extLst>
            </p:cNvPr>
            <p:cNvGrpSpPr/>
            <p:nvPr/>
          </p:nvGrpSpPr>
          <p:grpSpPr>
            <a:xfrm>
              <a:off x="4052176" y="1669056"/>
              <a:ext cx="4821704" cy="4177981"/>
              <a:chOff x="3467290" y="2011174"/>
              <a:chExt cx="5867022" cy="5083743"/>
            </a:xfrm>
          </p:grpSpPr>
          <p:sp>
            <p:nvSpPr>
              <p:cNvPr id="16" name="Freeform 176">
                <a:extLst>
                  <a:ext uri="{FF2B5EF4-FFF2-40B4-BE49-F238E27FC236}">
                    <a16:creationId xmlns:a16="http://schemas.microsoft.com/office/drawing/2014/main" id="{172F5DE8-A200-9A4A-AC04-67E7077393A6}"/>
                  </a:ext>
                </a:extLst>
              </p:cNvPr>
              <p:cNvSpPr>
                <a:spLocks/>
              </p:cNvSpPr>
              <p:nvPr/>
            </p:nvSpPr>
            <p:spPr bwMode="auto">
              <a:xfrm>
                <a:off x="4932533" y="4553045"/>
                <a:ext cx="2933511" cy="2541872"/>
              </a:xfrm>
              <a:custGeom>
                <a:avLst/>
                <a:gdLst>
                  <a:gd name="T0" fmla="*/ 1540102 w 4486"/>
                  <a:gd name="T1" fmla="*/ 0 h 3885"/>
                  <a:gd name="T2" fmla="*/ 0 w 4486"/>
                  <a:gd name="T3" fmla="*/ 2667613 h 3885"/>
                  <a:gd name="T4" fmla="*/ 3079517 w 4486"/>
                  <a:gd name="T5" fmla="*/ 2667613 h 3885"/>
                  <a:gd name="T6" fmla="*/ 1540102 w 4486"/>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5">
                    <a:moveTo>
                      <a:pt x="2243" y="0"/>
                    </a:moveTo>
                    <a:lnTo>
                      <a:pt x="0" y="3884"/>
                    </a:lnTo>
                    <a:lnTo>
                      <a:pt x="4485" y="3884"/>
                    </a:lnTo>
                    <a:lnTo>
                      <a:pt x="2243" y="0"/>
                    </a:lnTo>
                  </a:path>
                </a:pathLst>
              </a:custGeom>
              <a:solidFill>
                <a:schemeClr val="accent1"/>
              </a:solidFill>
              <a:ln w="28575">
                <a:solidFill>
                  <a:schemeClr val="accent2">
                    <a:lumMod val="75000"/>
                  </a:schemeClr>
                </a:solidFill>
                <a:round/>
                <a:headEnd/>
                <a:tailEnd/>
              </a:ln>
            </p:spPr>
            <p:txBody>
              <a:bodyPr wrap="none" anchor="ctr"/>
              <a:lstStyle/>
              <a:p>
                <a:endParaRPr lang="en-US" sz="1100" dirty="0">
                  <a:solidFill>
                    <a:schemeClr val="bg1"/>
                  </a:solidFill>
                  <a:latin typeface="+mj-lt"/>
                </a:endParaRPr>
              </a:p>
            </p:txBody>
          </p:sp>
          <p:sp>
            <p:nvSpPr>
              <p:cNvPr id="18" name="Freeform 177">
                <a:extLst>
                  <a:ext uri="{FF2B5EF4-FFF2-40B4-BE49-F238E27FC236}">
                    <a16:creationId xmlns:a16="http://schemas.microsoft.com/office/drawing/2014/main" id="{973F8BCD-381C-554A-88BC-12252EE97DCC}"/>
                  </a:ext>
                </a:extLst>
              </p:cNvPr>
              <p:cNvSpPr>
                <a:spLocks/>
              </p:cNvSpPr>
              <p:nvPr/>
            </p:nvSpPr>
            <p:spPr bwMode="auto">
              <a:xfrm>
                <a:off x="6400801" y="2011174"/>
                <a:ext cx="2933511" cy="2541871"/>
              </a:xfrm>
              <a:custGeom>
                <a:avLst/>
                <a:gdLst>
                  <a:gd name="T0" fmla="*/ 1539760 w 4485"/>
                  <a:gd name="T1" fmla="*/ 0 h 3884"/>
                  <a:gd name="T2" fmla="*/ 0 w 4485"/>
                  <a:gd name="T3" fmla="*/ 2667611 h 3884"/>
                  <a:gd name="T4" fmla="*/ 3079519 w 4485"/>
                  <a:gd name="T5" fmla="*/ 2667611 h 3884"/>
                  <a:gd name="T6" fmla="*/ 1539760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2" y="0"/>
                    </a:moveTo>
                    <a:lnTo>
                      <a:pt x="0" y="3883"/>
                    </a:lnTo>
                    <a:lnTo>
                      <a:pt x="4484" y="3883"/>
                    </a:lnTo>
                    <a:lnTo>
                      <a:pt x="2242" y="0"/>
                    </a:lnTo>
                  </a:path>
                </a:pathLst>
              </a:custGeom>
              <a:solidFill>
                <a:schemeClr val="accent2">
                  <a:lumMod val="75000"/>
                </a:schemeClr>
              </a:solidFill>
              <a:ln w="28575">
                <a:solidFill>
                  <a:schemeClr val="accent2">
                    <a:lumMod val="75000"/>
                  </a:schemeClr>
                </a:solidFill>
                <a:round/>
                <a:headEnd/>
                <a:tailEnd/>
              </a:ln>
            </p:spPr>
            <p:txBody>
              <a:bodyPr wrap="none" anchor="ctr"/>
              <a:lstStyle/>
              <a:p>
                <a:endParaRPr lang="en-US" sz="1100" dirty="0">
                  <a:solidFill>
                    <a:schemeClr val="bg1"/>
                  </a:solidFill>
                  <a:latin typeface="+mj-lt"/>
                </a:endParaRPr>
              </a:p>
            </p:txBody>
          </p:sp>
          <p:sp>
            <p:nvSpPr>
              <p:cNvPr id="19" name="Freeform 178">
                <a:extLst>
                  <a:ext uri="{FF2B5EF4-FFF2-40B4-BE49-F238E27FC236}">
                    <a16:creationId xmlns:a16="http://schemas.microsoft.com/office/drawing/2014/main" id="{AD19ABC7-281D-C44D-9E92-17522BA0EAD3}"/>
                  </a:ext>
                </a:extLst>
              </p:cNvPr>
              <p:cNvSpPr>
                <a:spLocks/>
              </p:cNvSpPr>
              <p:nvPr/>
            </p:nvSpPr>
            <p:spPr bwMode="auto">
              <a:xfrm>
                <a:off x="4932533" y="2020246"/>
                <a:ext cx="2933511" cy="2540360"/>
              </a:xfrm>
              <a:custGeom>
                <a:avLst/>
                <a:gdLst>
                  <a:gd name="T0" fmla="*/ 1540102 w 4486"/>
                  <a:gd name="T1" fmla="*/ 2667613 h 3883"/>
                  <a:gd name="T2" fmla="*/ 3079517 w 4486"/>
                  <a:gd name="T3" fmla="*/ 0 h 3883"/>
                  <a:gd name="T4" fmla="*/ 0 w 4486"/>
                  <a:gd name="T5" fmla="*/ 0 h 3883"/>
                  <a:gd name="T6" fmla="*/ 1540102 w 4486"/>
                  <a:gd name="T7" fmla="*/ 2667613 h 388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6" h="3883">
                    <a:moveTo>
                      <a:pt x="2243" y="3882"/>
                    </a:moveTo>
                    <a:lnTo>
                      <a:pt x="4485" y="0"/>
                    </a:lnTo>
                    <a:lnTo>
                      <a:pt x="0" y="0"/>
                    </a:lnTo>
                    <a:lnTo>
                      <a:pt x="2243" y="3882"/>
                    </a:lnTo>
                  </a:path>
                </a:pathLst>
              </a:custGeom>
              <a:solidFill>
                <a:schemeClr val="accent2">
                  <a:lumMod val="75000"/>
                </a:schemeClr>
              </a:solidFill>
              <a:ln w="28575">
                <a:solidFill>
                  <a:schemeClr val="accent2">
                    <a:lumMod val="75000"/>
                  </a:schemeClr>
                </a:solidFill>
                <a:round/>
                <a:headEnd/>
                <a:tailEnd/>
              </a:ln>
            </p:spPr>
            <p:txBody>
              <a:bodyPr wrap="none" anchor="ctr"/>
              <a:lstStyle/>
              <a:p>
                <a:endParaRPr lang="en-US" sz="1100" dirty="0">
                  <a:solidFill>
                    <a:schemeClr val="bg1"/>
                  </a:solidFill>
                  <a:latin typeface="+mj-lt"/>
                </a:endParaRPr>
              </a:p>
            </p:txBody>
          </p:sp>
          <p:sp>
            <p:nvSpPr>
              <p:cNvPr id="20" name="Freeform 179">
                <a:extLst>
                  <a:ext uri="{FF2B5EF4-FFF2-40B4-BE49-F238E27FC236}">
                    <a16:creationId xmlns:a16="http://schemas.microsoft.com/office/drawing/2014/main" id="{AF6AA1F1-DB5D-6B48-A577-74C17CE1EC12}"/>
                  </a:ext>
                </a:extLst>
              </p:cNvPr>
              <p:cNvSpPr>
                <a:spLocks/>
              </p:cNvSpPr>
              <p:nvPr/>
            </p:nvSpPr>
            <p:spPr bwMode="auto">
              <a:xfrm>
                <a:off x="6400801" y="4553045"/>
                <a:ext cx="2933511" cy="2541872"/>
              </a:xfrm>
              <a:custGeom>
                <a:avLst/>
                <a:gdLst>
                  <a:gd name="T0" fmla="*/ 0 w 4485"/>
                  <a:gd name="T1" fmla="*/ 0 h 3885"/>
                  <a:gd name="T2" fmla="*/ 1539760 w 4485"/>
                  <a:gd name="T3" fmla="*/ 2667613 h 3885"/>
                  <a:gd name="T4" fmla="*/ 3079519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2"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dirty="0">
                  <a:solidFill>
                    <a:schemeClr val="bg1"/>
                  </a:solidFill>
                  <a:latin typeface="+mj-lt"/>
                </a:endParaRPr>
              </a:p>
            </p:txBody>
          </p:sp>
          <p:sp>
            <p:nvSpPr>
              <p:cNvPr id="22" name="Freeform 180">
                <a:extLst>
                  <a:ext uri="{FF2B5EF4-FFF2-40B4-BE49-F238E27FC236}">
                    <a16:creationId xmlns:a16="http://schemas.microsoft.com/office/drawing/2014/main" id="{94282D5D-44FA-5B42-A123-9A93B3B2AD5D}"/>
                  </a:ext>
                </a:extLst>
              </p:cNvPr>
              <p:cNvSpPr>
                <a:spLocks/>
              </p:cNvSpPr>
              <p:nvPr/>
            </p:nvSpPr>
            <p:spPr bwMode="auto">
              <a:xfrm>
                <a:off x="3467290" y="2011174"/>
                <a:ext cx="2933511" cy="2541871"/>
              </a:xfrm>
              <a:custGeom>
                <a:avLst/>
                <a:gdLst>
                  <a:gd name="T0" fmla="*/ 1539072 w 4485"/>
                  <a:gd name="T1" fmla="*/ 0 h 3884"/>
                  <a:gd name="T2" fmla="*/ 0 w 4485"/>
                  <a:gd name="T3" fmla="*/ 2667611 h 3884"/>
                  <a:gd name="T4" fmla="*/ 3079517 w 4485"/>
                  <a:gd name="T5" fmla="*/ 2667611 h 3884"/>
                  <a:gd name="T6" fmla="*/ 1539072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1" y="0"/>
                    </a:moveTo>
                    <a:lnTo>
                      <a:pt x="0" y="3883"/>
                    </a:lnTo>
                    <a:lnTo>
                      <a:pt x="4484" y="3883"/>
                    </a:lnTo>
                    <a:lnTo>
                      <a:pt x="2241" y="0"/>
                    </a:lnTo>
                  </a:path>
                </a:pathLst>
              </a:custGeom>
              <a:solidFill>
                <a:srgbClr val="003963"/>
              </a:solidFill>
              <a:ln w="28575">
                <a:solidFill>
                  <a:schemeClr val="accent2">
                    <a:lumMod val="75000"/>
                  </a:schemeClr>
                </a:solidFill>
                <a:round/>
                <a:headEnd/>
                <a:tailEnd/>
              </a:ln>
            </p:spPr>
            <p:txBody>
              <a:bodyPr wrap="none" anchor="ctr"/>
              <a:lstStyle/>
              <a:p>
                <a:endParaRPr lang="en-US" sz="1100" dirty="0">
                  <a:solidFill>
                    <a:schemeClr val="bg1"/>
                  </a:solidFill>
                  <a:latin typeface="+mj-lt"/>
                </a:endParaRPr>
              </a:p>
            </p:txBody>
          </p:sp>
          <p:sp>
            <p:nvSpPr>
              <p:cNvPr id="24" name="Freeform 181">
                <a:extLst>
                  <a:ext uri="{FF2B5EF4-FFF2-40B4-BE49-F238E27FC236}">
                    <a16:creationId xmlns:a16="http://schemas.microsoft.com/office/drawing/2014/main" id="{78693D03-3054-3D4E-9627-E0A7EA652F9E}"/>
                  </a:ext>
                </a:extLst>
              </p:cNvPr>
              <p:cNvSpPr>
                <a:spLocks/>
              </p:cNvSpPr>
              <p:nvPr/>
            </p:nvSpPr>
            <p:spPr bwMode="auto">
              <a:xfrm>
                <a:off x="3467290" y="4553045"/>
                <a:ext cx="2933511" cy="2541872"/>
              </a:xfrm>
              <a:custGeom>
                <a:avLst/>
                <a:gdLst>
                  <a:gd name="T0" fmla="*/ 0 w 4485"/>
                  <a:gd name="T1" fmla="*/ 0 h 3885"/>
                  <a:gd name="T2" fmla="*/ 1539072 w 4485"/>
                  <a:gd name="T3" fmla="*/ 2667613 h 3885"/>
                  <a:gd name="T4" fmla="*/ 3079517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1"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dirty="0">
                  <a:solidFill>
                    <a:schemeClr val="bg1"/>
                  </a:solidFill>
                  <a:latin typeface="+mj-lt"/>
                </a:endParaRPr>
              </a:p>
            </p:txBody>
          </p:sp>
          <p:sp>
            <p:nvSpPr>
              <p:cNvPr id="25" name="TextBox 24">
                <a:extLst>
                  <a:ext uri="{FF2B5EF4-FFF2-40B4-BE49-F238E27FC236}">
                    <a16:creationId xmlns:a16="http://schemas.microsoft.com/office/drawing/2014/main" id="{A4E847B4-3DF6-0346-9E09-2E13EF18D004}"/>
                  </a:ext>
                </a:extLst>
              </p:cNvPr>
              <p:cNvSpPr txBox="1"/>
              <p:nvPr/>
            </p:nvSpPr>
            <p:spPr>
              <a:xfrm>
                <a:off x="4236225" y="2994644"/>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6</a:t>
                </a:r>
              </a:p>
            </p:txBody>
          </p:sp>
          <p:sp>
            <p:nvSpPr>
              <p:cNvPr id="26" name="TextBox 25">
                <a:extLst>
                  <a:ext uri="{FF2B5EF4-FFF2-40B4-BE49-F238E27FC236}">
                    <a16:creationId xmlns:a16="http://schemas.microsoft.com/office/drawing/2014/main" id="{56403C62-669F-FE41-9934-55C0554EAD79}"/>
                  </a:ext>
                </a:extLst>
              </p:cNvPr>
              <p:cNvSpPr txBox="1"/>
              <p:nvPr/>
            </p:nvSpPr>
            <p:spPr>
              <a:xfrm>
                <a:off x="5765762" y="2108319"/>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1</a:t>
                </a:r>
              </a:p>
            </p:txBody>
          </p:sp>
          <p:sp>
            <p:nvSpPr>
              <p:cNvPr id="28" name="TextBox 27">
                <a:extLst>
                  <a:ext uri="{FF2B5EF4-FFF2-40B4-BE49-F238E27FC236}">
                    <a16:creationId xmlns:a16="http://schemas.microsoft.com/office/drawing/2014/main" id="{DA2C1947-9098-DD4B-9FC7-5226288B9885}"/>
                  </a:ext>
                </a:extLst>
              </p:cNvPr>
              <p:cNvSpPr txBox="1"/>
              <p:nvPr/>
            </p:nvSpPr>
            <p:spPr>
              <a:xfrm>
                <a:off x="7228912" y="2999201"/>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2</a:t>
                </a:r>
              </a:p>
            </p:txBody>
          </p:sp>
          <p:sp>
            <p:nvSpPr>
              <p:cNvPr id="30" name="TextBox 29">
                <a:extLst>
                  <a:ext uri="{FF2B5EF4-FFF2-40B4-BE49-F238E27FC236}">
                    <a16:creationId xmlns:a16="http://schemas.microsoft.com/office/drawing/2014/main" id="{A3167FD0-F83D-DD4A-A72D-90405E017D57}"/>
                  </a:ext>
                </a:extLst>
              </p:cNvPr>
              <p:cNvSpPr txBox="1"/>
              <p:nvPr/>
            </p:nvSpPr>
            <p:spPr>
              <a:xfrm>
                <a:off x="7247451" y="475574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3</a:t>
                </a:r>
              </a:p>
            </p:txBody>
          </p:sp>
          <p:sp>
            <p:nvSpPr>
              <p:cNvPr id="31" name="TextBox 30">
                <a:extLst>
                  <a:ext uri="{FF2B5EF4-FFF2-40B4-BE49-F238E27FC236}">
                    <a16:creationId xmlns:a16="http://schemas.microsoft.com/office/drawing/2014/main" id="{CB32858F-D284-8944-839E-5211D8180EC0}"/>
                  </a:ext>
                </a:extLst>
              </p:cNvPr>
              <p:cNvSpPr txBox="1"/>
              <p:nvPr/>
            </p:nvSpPr>
            <p:spPr>
              <a:xfrm>
                <a:off x="5737804" y="5556748"/>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4</a:t>
                </a:r>
              </a:p>
            </p:txBody>
          </p:sp>
          <p:sp>
            <p:nvSpPr>
              <p:cNvPr id="32" name="TextBox 31">
                <a:extLst>
                  <a:ext uri="{FF2B5EF4-FFF2-40B4-BE49-F238E27FC236}">
                    <a16:creationId xmlns:a16="http://schemas.microsoft.com/office/drawing/2014/main" id="{BC7732BD-8AE6-2D4C-8A49-D027171EBC73}"/>
                  </a:ext>
                </a:extLst>
              </p:cNvPr>
              <p:cNvSpPr txBox="1"/>
              <p:nvPr/>
            </p:nvSpPr>
            <p:spPr>
              <a:xfrm>
                <a:off x="4199291" y="472471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5</a:t>
                </a:r>
              </a:p>
            </p:txBody>
          </p:sp>
        </p:grpSp>
        <p:sp>
          <p:nvSpPr>
            <p:cNvPr id="35" name="TextBox 34">
              <a:extLst>
                <a:ext uri="{FF2B5EF4-FFF2-40B4-BE49-F238E27FC236}">
                  <a16:creationId xmlns:a16="http://schemas.microsoft.com/office/drawing/2014/main" id="{A3FF2667-46B6-7849-BE43-553064687CB0}"/>
                </a:ext>
              </a:extLst>
            </p:cNvPr>
            <p:cNvSpPr txBox="1"/>
            <p:nvPr/>
          </p:nvSpPr>
          <p:spPr>
            <a:xfrm>
              <a:off x="5048505" y="224589"/>
              <a:ext cx="2778629"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Value Barriers </a:t>
              </a:r>
            </a:p>
          </p:txBody>
        </p:sp>
        <p:sp>
          <p:nvSpPr>
            <p:cNvPr id="36" name="TextBox 35">
              <a:extLst>
                <a:ext uri="{FF2B5EF4-FFF2-40B4-BE49-F238E27FC236}">
                  <a16:creationId xmlns:a16="http://schemas.microsoft.com/office/drawing/2014/main" id="{76B013F0-AD86-4544-B3B2-B9249653EBF8}"/>
                </a:ext>
              </a:extLst>
            </p:cNvPr>
            <p:cNvSpPr txBox="1"/>
            <p:nvPr/>
          </p:nvSpPr>
          <p:spPr>
            <a:xfrm>
              <a:off x="5204003" y="5943681"/>
              <a:ext cx="2623132"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Proactivity</a:t>
              </a:r>
            </a:p>
          </p:txBody>
        </p:sp>
        <p:sp>
          <p:nvSpPr>
            <p:cNvPr id="37" name="TextBox 36">
              <a:extLst>
                <a:ext uri="{FF2B5EF4-FFF2-40B4-BE49-F238E27FC236}">
                  <a16:creationId xmlns:a16="http://schemas.microsoft.com/office/drawing/2014/main" id="{14359635-1856-764D-AC49-97EC9113F864}"/>
                </a:ext>
              </a:extLst>
            </p:cNvPr>
            <p:cNvSpPr txBox="1"/>
            <p:nvPr/>
          </p:nvSpPr>
          <p:spPr>
            <a:xfrm>
              <a:off x="1954883" y="1624544"/>
              <a:ext cx="280492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Cultural Challenges</a:t>
              </a:r>
            </a:p>
          </p:txBody>
        </p:sp>
        <p:sp>
          <p:nvSpPr>
            <p:cNvPr id="39" name="TextBox 38">
              <a:extLst>
                <a:ext uri="{FF2B5EF4-FFF2-40B4-BE49-F238E27FC236}">
                  <a16:creationId xmlns:a16="http://schemas.microsoft.com/office/drawing/2014/main" id="{5EE6B582-A5AD-7742-A3DB-35B94D69E389}"/>
                </a:ext>
              </a:extLst>
            </p:cNvPr>
            <p:cNvSpPr txBox="1"/>
            <p:nvPr/>
          </p:nvSpPr>
          <p:spPr>
            <a:xfrm>
              <a:off x="2108449" y="4579118"/>
              <a:ext cx="2714734"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Prevention</a:t>
              </a:r>
            </a:p>
          </p:txBody>
        </p:sp>
        <p:sp>
          <p:nvSpPr>
            <p:cNvPr id="40" name="TextBox 39">
              <a:extLst>
                <a:ext uri="{FF2B5EF4-FFF2-40B4-BE49-F238E27FC236}">
                  <a16:creationId xmlns:a16="http://schemas.microsoft.com/office/drawing/2014/main" id="{7842DDC4-618C-EB49-8D92-CC6E8D06A27F}"/>
                </a:ext>
              </a:extLst>
            </p:cNvPr>
            <p:cNvSpPr txBox="1"/>
            <p:nvPr/>
          </p:nvSpPr>
          <p:spPr>
            <a:xfrm>
              <a:off x="8202257" y="4539642"/>
              <a:ext cx="273486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Need/Care Match</a:t>
              </a:r>
            </a:p>
          </p:txBody>
        </p:sp>
      </p:grpSp>
      <p:sp>
        <p:nvSpPr>
          <p:cNvPr id="42" name="Rectangle 41">
            <a:extLst>
              <a:ext uri="{FF2B5EF4-FFF2-40B4-BE49-F238E27FC236}">
                <a16:creationId xmlns:a16="http://schemas.microsoft.com/office/drawing/2014/main" id="{CED96D22-0F74-AF48-B854-0CE3DF5BC976}"/>
              </a:ext>
            </a:extLst>
          </p:cNvPr>
          <p:cNvSpPr/>
          <p:nvPr/>
        </p:nvSpPr>
        <p:spPr>
          <a:xfrm>
            <a:off x="9548037" y="2944368"/>
            <a:ext cx="3253563" cy="4828032"/>
          </a:xfrm>
          <a:prstGeom prst="rect">
            <a:avLst/>
          </a:prstGeom>
          <a:solidFill>
            <a:srgbClr val="0039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ectangle 42">
            <a:extLst>
              <a:ext uri="{FF2B5EF4-FFF2-40B4-BE49-F238E27FC236}">
                <a16:creationId xmlns:a16="http://schemas.microsoft.com/office/drawing/2014/main" id="{613CF5FB-EA21-2E43-8223-310323F91EEC}"/>
              </a:ext>
            </a:extLst>
          </p:cNvPr>
          <p:cNvSpPr/>
          <p:nvPr/>
        </p:nvSpPr>
        <p:spPr>
          <a:xfrm>
            <a:off x="228600" y="534035"/>
            <a:ext cx="6764994" cy="338554"/>
          </a:xfrm>
          <a:prstGeom prst="rect">
            <a:avLst/>
          </a:prstGeom>
        </p:spPr>
        <p:txBody>
          <a:bodyPr wrap="square" anchor="t">
            <a:spAutoFit/>
          </a:bodyPr>
          <a:lstStyle/>
          <a:p>
            <a:r>
              <a:rPr lang="en-US" sz="1600" b="1" dirty="0">
                <a:solidFill>
                  <a:srgbClr val="00A2E2"/>
                </a:solidFill>
              </a:rPr>
              <a:t>Identifying Issues and Opportunities</a:t>
            </a:r>
          </a:p>
        </p:txBody>
      </p:sp>
      <p:sp>
        <p:nvSpPr>
          <p:cNvPr id="44" name="Rectangle 43">
            <a:extLst>
              <a:ext uri="{FF2B5EF4-FFF2-40B4-BE49-F238E27FC236}">
                <a16:creationId xmlns:a16="http://schemas.microsoft.com/office/drawing/2014/main" id="{BEF1FE83-BF87-1E40-BFFF-5C9604484C0C}"/>
              </a:ext>
            </a:extLst>
          </p:cNvPr>
          <p:cNvSpPr/>
          <p:nvPr/>
        </p:nvSpPr>
        <p:spPr>
          <a:xfrm>
            <a:off x="9548037" y="3094081"/>
            <a:ext cx="3253563" cy="584775"/>
          </a:xfrm>
          <a:prstGeom prst="rect">
            <a:avLst/>
          </a:prstGeom>
        </p:spPr>
        <p:txBody>
          <a:bodyPr wrap="square" anchor="t">
            <a:spAutoFit/>
          </a:bodyPr>
          <a:lstStyle/>
          <a:p>
            <a:pPr algn="ctr"/>
            <a:r>
              <a:rPr lang="en-US" sz="1600" b="1" dirty="0">
                <a:solidFill>
                  <a:schemeClr val="bg1"/>
                </a:solidFill>
              </a:rPr>
              <a:t>Competitive / Startup </a:t>
            </a:r>
            <a:br>
              <a:rPr lang="en-US" sz="1600" b="1" dirty="0">
                <a:solidFill>
                  <a:schemeClr val="bg1"/>
                </a:solidFill>
              </a:rPr>
            </a:br>
            <a:r>
              <a:rPr lang="en-US" sz="1600" b="1" dirty="0">
                <a:solidFill>
                  <a:schemeClr val="bg1"/>
                </a:solidFill>
              </a:rPr>
              <a:t>Landscape</a:t>
            </a:r>
          </a:p>
        </p:txBody>
      </p:sp>
      <p:sp>
        <p:nvSpPr>
          <p:cNvPr id="33" name="Rectangle 32">
            <a:extLst>
              <a:ext uri="{FF2B5EF4-FFF2-40B4-BE49-F238E27FC236}">
                <a16:creationId xmlns:a16="http://schemas.microsoft.com/office/drawing/2014/main" id="{CA022BC9-DDE1-2846-9815-D4A9EE06B1C1}"/>
              </a:ext>
            </a:extLst>
          </p:cNvPr>
          <p:cNvSpPr/>
          <p:nvPr/>
        </p:nvSpPr>
        <p:spPr>
          <a:xfrm>
            <a:off x="6429464" y="2609123"/>
            <a:ext cx="2979712" cy="3862596"/>
          </a:xfrm>
          <a:prstGeom prst="rect">
            <a:avLst/>
          </a:prstGeom>
        </p:spPr>
        <p:txBody>
          <a:bodyPr wrap="square">
            <a:spAutoFit/>
          </a:bodyPr>
          <a:lstStyle/>
          <a:p>
            <a:pPr>
              <a:spcAft>
                <a:spcPts val="600"/>
              </a:spcAft>
            </a:pPr>
            <a:r>
              <a:rPr lang="en-US" sz="1200" b="1" dirty="0"/>
              <a:t>How might we…</a:t>
            </a:r>
          </a:p>
          <a:p>
            <a:pPr marL="342900" indent="-342900">
              <a:buFont typeface="Arial" panose="020B0604020202020204" pitchFamily="34" charset="0"/>
              <a:buChar char="•"/>
            </a:pPr>
            <a:r>
              <a:rPr lang="en-US" sz="1200" dirty="0"/>
              <a:t>Reach out to communities and individuals with social determinants of health that may be preventing them from getting care?</a:t>
            </a:r>
          </a:p>
          <a:p>
            <a:pPr marL="342900" indent="-342900">
              <a:buFont typeface="Arial" panose="020B0604020202020204" pitchFamily="34" charset="0"/>
              <a:buChar char="•"/>
            </a:pPr>
            <a:r>
              <a:rPr lang="en-US" sz="1200" dirty="0"/>
              <a:t>Understand what communities need the most help, and are at the most risk for BH conditions</a:t>
            </a:r>
          </a:p>
          <a:p>
            <a:pPr marL="342900" indent="-342900">
              <a:buFont typeface="Arial" panose="020B0604020202020204" pitchFamily="34" charset="0"/>
              <a:buChar char="•"/>
            </a:pPr>
            <a:r>
              <a:rPr lang="en-US" sz="1200" dirty="0"/>
              <a:t>Provide the necessary resources to the communities that are most at-risk for BH?</a:t>
            </a:r>
          </a:p>
          <a:p>
            <a:pPr marL="342900" indent="-342900">
              <a:buFont typeface="Arial" panose="020B0604020202020204" pitchFamily="34" charset="0"/>
              <a:buChar char="•"/>
            </a:pPr>
            <a:r>
              <a:rPr lang="en-US" sz="1200" dirty="0"/>
              <a:t>Leverage the design of the Chill project to expand to other pockets of communities?</a:t>
            </a:r>
          </a:p>
          <a:p>
            <a:pPr marL="342900" indent="-342900">
              <a:buFont typeface="Arial" panose="020B0604020202020204" pitchFamily="34" charset="0"/>
              <a:buChar char="•"/>
            </a:pPr>
            <a:r>
              <a:rPr lang="en-US" sz="1200" dirty="0"/>
              <a:t>Provide education that highlights the importance of mental wellness and hygiene to people and communities that may not have access to these resources?</a:t>
            </a:r>
          </a:p>
          <a:p>
            <a:pPr marL="342900" indent="-342900">
              <a:buFont typeface="Arial" panose="020B0604020202020204" pitchFamily="34" charset="0"/>
              <a:buChar char="•"/>
            </a:pPr>
            <a:endParaRPr lang="en-US" sz="1200" dirty="0"/>
          </a:p>
        </p:txBody>
      </p:sp>
      <p:sp>
        <p:nvSpPr>
          <p:cNvPr id="34" name="Rectangle 33">
            <a:extLst>
              <a:ext uri="{FF2B5EF4-FFF2-40B4-BE49-F238E27FC236}">
                <a16:creationId xmlns:a16="http://schemas.microsoft.com/office/drawing/2014/main" id="{00608CA6-D35B-1546-8E93-F2A95777A872}"/>
              </a:ext>
            </a:extLst>
          </p:cNvPr>
          <p:cNvSpPr/>
          <p:nvPr/>
        </p:nvSpPr>
        <p:spPr>
          <a:xfrm>
            <a:off x="298401" y="2609123"/>
            <a:ext cx="5892087" cy="3862596"/>
          </a:xfrm>
          <a:prstGeom prst="rect">
            <a:avLst/>
          </a:prstGeom>
        </p:spPr>
        <p:txBody>
          <a:bodyPr wrap="square">
            <a:spAutoFit/>
          </a:bodyPr>
          <a:lstStyle/>
          <a:p>
            <a:pPr>
              <a:spcAft>
                <a:spcPts val="600"/>
              </a:spcAft>
            </a:pPr>
            <a:r>
              <a:rPr lang="en-US" sz="1200" b="1" dirty="0"/>
              <a:t>Why is this so critical?</a:t>
            </a:r>
          </a:p>
          <a:p>
            <a:pPr marL="171450" indent="-171450">
              <a:buFont typeface="Arial" panose="020B0604020202020204" pitchFamily="34" charset="0"/>
              <a:buChar char="•"/>
            </a:pPr>
            <a:r>
              <a:rPr lang="en-US" sz="1200" b="1" dirty="0"/>
              <a:t>Health systems have found success in partnering with schools, community groups and non-profits </a:t>
            </a:r>
            <a:r>
              <a:rPr lang="en-US" sz="1200" dirty="0"/>
              <a:t>to help identify and support people with BH conditions. These non-clinical networks can serve as the first line of defense for early identification and critical support for people with BH conditions.</a:t>
            </a:r>
          </a:p>
          <a:p>
            <a:pPr marL="171450" indent="-171450">
              <a:buFont typeface="Arial" panose="020B0604020202020204" pitchFamily="34" charset="0"/>
              <a:buChar char="•"/>
            </a:pPr>
            <a:r>
              <a:rPr lang="en-US" sz="1200" b="1" dirty="0"/>
              <a:t>Employers have a big role to play in supporting people with BH conditions. </a:t>
            </a:r>
            <a:r>
              <a:rPr lang="en-US" sz="1200" dirty="0"/>
              <a:t>Workers who are depressed miss significantly more work days per year, compared to employees who are not depressed. It is estimated that this costs the economy over $23 billion in lost productivity per year.</a:t>
            </a:r>
          </a:p>
          <a:p>
            <a:pPr marL="171450" indent="-171450">
              <a:buFont typeface="Arial" panose="020B0604020202020204" pitchFamily="34" charset="0"/>
              <a:buChar char="•"/>
            </a:pPr>
            <a:r>
              <a:rPr lang="en-US" sz="1200" b="1" dirty="0"/>
              <a:t>Many</a:t>
            </a:r>
            <a:r>
              <a:rPr lang="en-US" sz="1200" dirty="0"/>
              <a:t> </a:t>
            </a:r>
            <a:r>
              <a:rPr lang="en-US" sz="1200" b="1" dirty="0"/>
              <a:t>rural and underserved communities have minimal or nonexistent BH services, </a:t>
            </a:r>
            <a:r>
              <a:rPr lang="en-US" sz="1200" dirty="0"/>
              <a:t>information, and access to BH care, making it harder for those seeking help to get care when they need it.</a:t>
            </a:r>
          </a:p>
          <a:p>
            <a:pPr marL="171450" indent="-171450">
              <a:buFont typeface="Arial" panose="020B0604020202020204" pitchFamily="34" charset="0"/>
              <a:buChar char="•"/>
            </a:pPr>
            <a:r>
              <a:rPr lang="en-US" sz="1200" b="1" dirty="0"/>
              <a:t>Family and friends of people with BH conditions serve as the “front line.” </a:t>
            </a:r>
            <a:r>
              <a:rPr lang="en-US" sz="1200" dirty="0"/>
              <a:t>Family and friends of those who are at-risk, or who have BH conditions, are often the first ones to identify their loved ones’ condition.</a:t>
            </a:r>
          </a:p>
          <a:p>
            <a:pPr marL="171450" indent="-171450">
              <a:buFont typeface="Arial" panose="020B0604020202020204" pitchFamily="34" charset="0"/>
              <a:buChar char="•"/>
            </a:pPr>
            <a:r>
              <a:rPr lang="en-US" sz="1200" b="1" dirty="0"/>
              <a:t>Quality BH care, particularly in integrated settings, has a “ripple effect.” </a:t>
            </a:r>
            <a:r>
              <a:rPr lang="en-US" sz="1200" dirty="0"/>
              <a:t>Studies show that patients who have had positive BH recovery experiences share their wellness journeys with others, and support their family and friends in getting the care that they may need.</a:t>
            </a:r>
          </a:p>
          <a:p>
            <a:pPr marL="171450" indent="-171450">
              <a:buFont typeface="Arial" panose="020B0604020202020204" pitchFamily="34" charset="0"/>
              <a:buChar char="•"/>
            </a:pPr>
            <a:endParaRPr lang="en-US" sz="1200" dirty="0"/>
          </a:p>
        </p:txBody>
      </p:sp>
      <p:sp>
        <p:nvSpPr>
          <p:cNvPr id="38" name="Rectangle 37">
            <a:extLst>
              <a:ext uri="{FF2B5EF4-FFF2-40B4-BE49-F238E27FC236}">
                <a16:creationId xmlns:a16="http://schemas.microsoft.com/office/drawing/2014/main" id="{F4BEF5A8-B6E9-9F4F-95F4-FA7CE14E724A}"/>
              </a:ext>
            </a:extLst>
          </p:cNvPr>
          <p:cNvSpPr/>
          <p:nvPr/>
        </p:nvSpPr>
        <p:spPr>
          <a:xfrm>
            <a:off x="298402" y="1704715"/>
            <a:ext cx="9051944" cy="584775"/>
          </a:xfrm>
          <a:prstGeom prst="rect">
            <a:avLst/>
          </a:prstGeom>
        </p:spPr>
        <p:txBody>
          <a:bodyPr wrap="square">
            <a:spAutoFit/>
          </a:bodyPr>
          <a:lstStyle/>
          <a:p>
            <a:r>
              <a:rPr lang="en-US" sz="1600" dirty="0"/>
              <a:t>How can employers, families, and other social networks be leveraged so that they serve as structure supportive of behavioral health care?</a:t>
            </a:r>
          </a:p>
        </p:txBody>
      </p:sp>
      <p:sp>
        <p:nvSpPr>
          <p:cNvPr id="41" name="Rectangle 40">
            <a:extLst>
              <a:ext uri="{FF2B5EF4-FFF2-40B4-BE49-F238E27FC236}">
                <a16:creationId xmlns:a16="http://schemas.microsoft.com/office/drawing/2014/main" id="{C9EBC7D5-59F1-7A40-9352-82A38358B202}"/>
              </a:ext>
            </a:extLst>
          </p:cNvPr>
          <p:cNvSpPr/>
          <p:nvPr/>
        </p:nvSpPr>
        <p:spPr>
          <a:xfrm>
            <a:off x="9787013" y="3828569"/>
            <a:ext cx="2835538" cy="3806170"/>
          </a:xfrm>
          <a:prstGeom prst="rect">
            <a:avLst/>
          </a:prstGeom>
          <a:ln>
            <a:noFill/>
          </a:ln>
        </p:spPr>
        <p:txBody>
          <a:bodyPr wrap="square">
            <a:spAutoFit/>
          </a:bodyPr>
          <a:lstStyle/>
          <a:p>
            <a:pPr defTabSz="914378">
              <a:lnSpc>
                <a:spcPct val="95000"/>
              </a:lnSpc>
              <a:spcBef>
                <a:spcPts val="200"/>
              </a:spcBef>
              <a:spcAft>
                <a:spcPts val="200"/>
              </a:spcAft>
            </a:pPr>
            <a:r>
              <a:rPr lang="en-US" sz="1200" b="1" kern="0" dirty="0">
                <a:solidFill>
                  <a:srgbClr val="B1E2FF"/>
                </a:solidFill>
                <a:latin typeface="Arial Narrow" pitchFamily="34" charset="0"/>
              </a:rPr>
              <a:t>Ginger.io</a:t>
            </a:r>
          </a:p>
          <a:p>
            <a:pPr defTabSz="914378">
              <a:lnSpc>
                <a:spcPct val="95000"/>
              </a:lnSpc>
              <a:spcBef>
                <a:spcPts val="200"/>
              </a:spcBef>
              <a:spcAft>
                <a:spcPts val="200"/>
              </a:spcAft>
            </a:pPr>
            <a:r>
              <a:rPr lang="en-US" sz="1200" kern="0" dirty="0">
                <a:solidFill>
                  <a:schemeClr val="bg1"/>
                </a:solidFill>
                <a:latin typeface="Arial Narrow" pitchFamily="34" charset="0"/>
              </a:rPr>
              <a:t>Ginger is leveraging a platform through Employee Assistance Programs (EAPs) to bring BH telehealth to a wider set of people.  They partnered with BuzzFeed to launch a mental health service that transformed the employee experience for 36% of their workforce – including journalists, technologists, advertisers, and more.</a:t>
            </a:r>
          </a:p>
          <a:p>
            <a:pPr defTabSz="914378">
              <a:lnSpc>
                <a:spcPct val="95000"/>
              </a:lnSpc>
              <a:spcBef>
                <a:spcPts val="200"/>
              </a:spcBef>
              <a:spcAft>
                <a:spcPts val="200"/>
              </a:spcAft>
            </a:pPr>
            <a:endParaRPr lang="en-US" sz="1200" kern="0" dirty="0">
              <a:solidFill>
                <a:schemeClr val="bg1"/>
              </a:solidFill>
              <a:latin typeface="Arial Narrow" pitchFamily="34" charset="0"/>
            </a:endParaRPr>
          </a:p>
          <a:p>
            <a:pPr defTabSz="914378">
              <a:lnSpc>
                <a:spcPct val="95000"/>
              </a:lnSpc>
              <a:spcBef>
                <a:spcPts val="200"/>
              </a:spcBef>
              <a:spcAft>
                <a:spcPts val="200"/>
              </a:spcAft>
            </a:pPr>
            <a:r>
              <a:rPr lang="en-US" sz="1200" b="1" kern="0" dirty="0">
                <a:solidFill>
                  <a:srgbClr val="B1E2FF"/>
                </a:solidFill>
                <a:latin typeface="Arial Narrow" pitchFamily="34" charset="0"/>
              </a:rPr>
              <a:t>Chill Project</a:t>
            </a:r>
          </a:p>
          <a:p>
            <a:pPr defTabSz="914378">
              <a:lnSpc>
                <a:spcPct val="95000"/>
              </a:lnSpc>
              <a:spcBef>
                <a:spcPts val="200"/>
              </a:spcBef>
              <a:spcAft>
                <a:spcPts val="200"/>
              </a:spcAft>
            </a:pPr>
            <a:r>
              <a:rPr lang="en-US" sz="1200" kern="0" dirty="0">
                <a:solidFill>
                  <a:schemeClr val="bg1"/>
                </a:solidFill>
                <a:latin typeface="Arial Narrow" pitchFamily="34" charset="0"/>
              </a:rPr>
              <a:t>The CHILL Project is a comprehensive skill-building program that serves the BH needs of the West Jefferson Hills school community. The CHILL Project is designed to increase the wellbeing of all members, ultimately leading to greater resiliency, student success, teacher wellbeing, connected caregivers, and a compassionate learning community that promotes healing and wellbeing.</a:t>
            </a:r>
          </a:p>
        </p:txBody>
      </p:sp>
    </p:spTree>
    <p:extLst>
      <p:ext uri="{BB962C8B-B14F-4D97-AF65-F5344CB8AC3E}">
        <p14:creationId xmlns:p14="http://schemas.microsoft.com/office/powerpoint/2010/main" val="25778220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F75D8D4-2E5B-8141-92F5-2E65763F210A}"/>
              </a:ext>
            </a:extLst>
          </p:cNvPr>
          <p:cNvSpPr/>
          <p:nvPr/>
        </p:nvSpPr>
        <p:spPr>
          <a:xfrm>
            <a:off x="9533268" y="0"/>
            <a:ext cx="3253563" cy="288950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179">
            <a:extLst>
              <a:ext uri="{FF2B5EF4-FFF2-40B4-BE49-F238E27FC236}">
                <a16:creationId xmlns:a16="http://schemas.microsoft.com/office/drawing/2014/main" id="{AF6AA1F1-DB5D-6B48-A577-74C17CE1EC12}"/>
              </a:ext>
            </a:extLst>
          </p:cNvPr>
          <p:cNvSpPr>
            <a:spLocks/>
          </p:cNvSpPr>
          <p:nvPr/>
        </p:nvSpPr>
        <p:spPr bwMode="auto">
          <a:xfrm rot="17754012">
            <a:off x="10973325" y="1838232"/>
            <a:ext cx="596725" cy="517059"/>
          </a:xfrm>
          <a:custGeom>
            <a:avLst/>
            <a:gdLst>
              <a:gd name="T0" fmla="*/ 0 w 4485"/>
              <a:gd name="T1" fmla="*/ 0 h 3885"/>
              <a:gd name="T2" fmla="*/ 1539760 w 4485"/>
              <a:gd name="T3" fmla="*/ 2667613 h 3885"/>
              <a:gd name="T4" fmla="*/ 3079519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2"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47" name="Rectangle 46">
            <a:extLst>
              <a:ext uri="{FF2B5EF4-FFF2-40B4-BE49-F238E27FC236}">
                <a16:creationId xmlns:a16="http://schemas.microsoft.com/office/drawing/2014/main" id="{1AEC8755-968C-E94A-B115-1636F814A717}"/>
              </a:ext>
            </a:extLst>
          </p:cNvPr>
          <p:cNvSpPr/>
          <p:nvPr/>
        </p:nvSpPr>
        <p:spPr>
          <a:xfrm>
            <a:off x="168964" y="-2218162"/>
            <a:ext cx="7549587" cy="1015663"/>
          </a:xfrm>
          <a:prstGeom prst="rect">
            <a:avLst/>
          </a:prstGeom>
        </p:spPr>
        <p:txBody>
          <a:bodyPr wrap="square" anchor="t">
            <a:spAutoFit/>
          </a:bodyPr>
          <a:lstStyle/>
          <a:p>
            <a:r>
              <a:rPr lang="en-US" sz="2400" b="1" dirty="0">
                <a:solidFill>
                  <a:srgbClr val="003963"/>
                </a:solidFill>
              </a:rPr>
              <a:t>The urgency is now: </a:t>
            </a:r>
          </a:p>
          <a:p>
            <a:r>
              <a:rPr lang="en-US" sz="1800" dirty="0">
                <a:solidFill>
                  <a:srgbClr val="00A2E2"/>
                </a:solidFill>
              </a:rPr>
              <a:t>How do we ensure we are addressing the critical issues and opportunities that are emerging in the Behavioral Health Epidemic </a:t>
            </a:r>
          </a:p>
        </p:txBody>
      </p:sp>
      <p:sp>
        <p:nvSpPr>
          <p:cNvPr id="3" name="Rectangle 2">
            <a:extLst>
              <a:ext uri="{FF2B5EF4-FFF2-40B4-BE49-F238E27FC236}">
                <a16:creationId xmlns:a16="http://schemas.microsoft.com/office/drawing/2014/main" id="{322914B9-0928-8C47-989E-3946B358255E}"/>
              </a:ext>
            </a:extLst>
          </p:cNvPr>
          <p:cNvSpPr/>
          <p:nvPr/>
        </p:nvSpPr>
        <p:spPr>
          <a:xfrm>
            <a:off x="5738590" y="2481555"/>
            <a:ext cx="3586540" cy="5370701"/>
          </a:xfrm>
          <a:prstGeom prst="rect">
            <a:avLst/>
          </a:prstGeom>
        </p:spPr>
        <p:txBody>
          <a:bodyPr wrap="square">
            <a:spAutoFit/>
          </a:bodyPr>
          <a:lstStyle/>
          <a:p>
            <a:pPr>
              <a:spcBef>
                <a:spcPts val="600"/>
              </a:spcBef>
            </a:pPr>
            <a:r>
              <a:rPr lang="en-US" sz="1200" dirty="0"/>
              <a:t>Accelerate non-traditional and digital/virtual access, including the adoption of:</a:t>
            </a:r>
          </a:p>
          <a:p>
            <a:pPr marL="171450" indent="-171450">
              <a:spcBef>
                <a:spcPts val="600"/>
              </a:spcBef>
              <a:buFont typeface="Arial" panose="020B0604020202020204" pitchFamily="34" charset="0"/>
              <a:buChar char="•"/>
            </a:pPr>
            <a:r>
              <a:rPr lang="en-US" sz="1200" dirty="0"/>
              <a:t>Remote and group tele-psychiatric services </a:t>
            </a:r>
          </a:p>
          <a:p>
            <a:pPr marL="171450" indent="-171450">
              <a:spcBef>
                <a:spcPts val="600"/>
              </a:spcBef>
              <a:buFont typeface="Arial" panose="020B0604020202020204" pitchFamily="34" charset="0"/>
              <a:buChar char="•"/>
            </a:pPr>
            <a:r>
              <a:rPr lang="en-US" sz="1200" dirty="0"/>
              <a:t>Peer-to-peer and self-coaching mechanisms</a:t>
            </a:r>
          </a:p>
          <a:p>
            <a:pPr marL="171450" indent="-171450">
              <a:spcBef>
                <a:spcPts val="600"/>
              </a:spcBef>
              <a:buFont typeface="Arial" panose="020B0604020202020204" pitchFamily="34" charset="0"/>
              <a:buChar char="•"/>
            </a:pPr>
            <a:r>
              <a:rPr lang="en-US" sz="1200" dirty="0"/>
              <a:t>Proactive outreach, especially those based </a:t>
            </a:r>
            <a:r>
              <a:rPr lang="en-US" sz="1200" dirty="0" err="1"/>
              <a:t>oon</a:t>
            </a:r>
            <a:r>
              <a:rPr lang="en-US" sz="1200" dirty="0"/>
              <a:t> encounters, episodic and biometric events, and member preferences</a:t>
            </a:r>
          </a:p>
          <a:p>
            <a:pPr marL="171450" indent="-171450">
              <a:spcBef>
                <a:spcPts val="600"/>
              </a:spcBef>
              <a:buFont typeface="Arial" panose="020B0604020202020204" pitchFamily="34" charset="0"/>
              <a:buChar char="•"/>
            </a:pPr>
            <a:r>
              <a:rPr lang="en-US" sz="1200" dirty="0"/>
              <a:t>Algorithmic referrals to curated networks</a:t>
            </a:r>
          </a:p>
          <a:p>
            <a:pPr>
              <a:spcBef>
                <a:spcPts val="600"/>
              </a:spcBef>
            </a:pPr>
            <a:endParaRPr lang="en-US" sz="1200" dirty="0"/>
          </a:p>
          <a:p>
            <a:pPr>
              <a:spcBef>
                <a:spcPts val="600"/>
              </a:spcBef>
            </a:pPr>
            <a:r>
              <a:rPr lang="en-US" sz="1200" dirty="0"/>
              <a:t>Offer clinical support to enhance access, including the ability to:</a:t>
            </a:r>
          </a:p>
          <a:p>
            <a:pPr marL="342900" indent="-342900">
              <a:spcBef>
                <a:spcPts val="600"/>
              </a:spcBef>
              <a:buFont typeface="Arial" panose="020B0604020202020204" pitchFamily="34" charset="0"/>
              <a:buChar char="•"/>
            </a:pPr>
            <a:r>
              <a:rPr lang="en-US" sz="1200" dirty="0"/>
              <a:t>Develop authorization &amp; preferential processes for high-performing positions</a:t>
            </a:r>
          </a:p>
          <a:p>
            <a:pPr marL="342900" indent="-342900">
              <a:spcBef>
                <a:spcPts val="600"/>
              </a:spcBef>
              <a:buFont typeface="Arial" panose="020B0604020202020204" pitchFamily="34" charset="0"/>
              <a:buChar char="•"/>
            </a:pPr>
            <a:r>
              <a:rPr lang="en-US" sz="1200" dirty="0"/>
              <a:t>Accelerate the training, development, and certification of BH providers</a:t>
            </a:r>
          </a:p>
          <a:p>
            <a:pPr marL="342900" indent="-342900">
              <a:spcBef>
                <a:spcPts val="600"/>
              </a:spcBef>
              <a:buFont typeface="Arial" panose="020B0604020202020204" pitchFamily="34" charset="0"/>
              <a:buChar char="•"/>
            </a:pPr>
            <a:r>
              <a:rPr lang="en-US" sz="1200" dirty="0"/>
              <a:t>Administer administrative support for preferred providers and multi-channel care</a:t>
            </a:r>
          </a:p>
          <a:p>
            <a:pPr marL="342900" indent="-342900">
              <a:spcBef>
                <a:spcPts val="600"/>
              </a:spcBef>
              <a:buFont typeface="Arial" panose="020B0604020202020204" pitchFamily="34" charset="0"/>
              <a:buChar char="•"/>
            </a:pPr>
            <a:r>
              <a:rPr lang="en-US" sz="1200" dirty="0"/>
              <a:t>Build flexible care models with wide-ranging services and resources tailored to specific &amp; generalized diagnoses</a:t>
            </a:r>
          </a:p>
          <a:p>
            <a:pPr marL="342900" indent="-342900">
              <a:spcBef>
                <a:spcPts val="600"/>
              </a:spcBef>
              <a:buFont typeface="Arial" panose="020B0604020202020204" pitchFamily="34" charset="0"/>
              <a:buChar char="•"/>
            </a:pPr>
            <a:r>
              <a:rPr lang="en-US" sz="1200" dirty="0"/>
              <a:t>Conceptualize shared/rotating resources when needed</a:t>
            </a:r>
          </a:p>
          <a:p>
            <a:pPr marL="342900" indent="-342900">
              <a:buFont typeface="Arial" panose="020B0604020202020204" pitchFamily="34" charset="0"/>
              <a:buChar char="•"/>
            </a:pPr>
            <a:endParaRPr lang="en-US" sz="1200" dirty="0"/>
          </a:p>
          <a:p>
            <a:pPr marL="342900" indent="-342900">
              <a:buFont typeface="Arial" panose="020B0604020202020204" pitchFamily="34" charset="0"/>
              <a:buChar char="•"/>
            </a:pPr>
            <a:endParaRPr lang="en-US" sz="1200" dirty="0"/>
          </a:p>
        </p:txBody>
      </p:sp>
      <p:sp>
        <p:nvSpPr>
          <p:cNvPr id="4" name="Rectangle 3">
            <a:extLst>
              <a:ext uri="{FF2B5EF4-FFF2-40B4-BE49-F238E27FC236}">
                <a16:creationId xmlns:a16="http://schemas.microsoft.com/office/drawing/2014/main" id="{50818B1C-7512-BF4C-A24D-63537D0ED002}"/>
              </a:ext>
            </a:extLst>
          </p:cNvPr>
          <p:cNvSpPr/>
          <p:nvPr/>
        </p:nvSpPr>
        <p:spPr>
          <a:xfrm>
            <a:off x="290270" y="1149681"/>
            <a:ext cx="8499506" cy="461665"/>
          </a:xfrm>
          <a:prstGeom prst="rect">
            <a:avLst/>
          </a:prstGeom>
        </p:spPr>
        <p:txBody>
          <a:bodyPr wrap="square">
            <a:spAutoFit/>
          </a:bodyPr>
          <a:lstStyle/>
          <a:p>
            <a:r>
              <a:rPr lang="en-US" sz="2400" b="1" dirty="0">
                <a:solidFill>
                  <a:srgbClr val="002060"/>
                </a:solidFill>
              </a:rPr>
              <a:t>Open BH resources for all</a:t>
            </a:r>
          </a:p>
        </p:txBody>
      </p:sp>
      <p:sp>
        <p:nvSpPr>
          <p:cNvPr id="13" name="Rectangle 12">
            <a:extLst>
              <a:ext uri="{FF2B5EF4-FFF2-40B4-BE49-F238E27FC236}">
                <a16:creationId xmlns:a16="http://schemas.microsoft.com/office/drawing/2014/main" id="{83942695-DEE0-D342-9001-6E26D151834E}"/>
              </a:ext>
            </a:extLst>
          </p:cNvPr>
          <p:cNvSpPr/>
          <p:nvPr/>
        </p:nvSpPr>
        <p:spPr>
          <a:xfrm>
            <a:off x="9548037" y="369169"/>
            <a:ext cx="3253563" cy="338554"/>
          </a:xfrm>
          <a:prstGeom prst="rect">
            <a:avLst/>
          </a:prstGeom>
        </p:spPr>
        <p:txBody>
          <a:bodyPr wrap="square" anchor="t">
            <a:spAutoFit/>
          </a:bodyPr>
          <a:lstStyle/>
          <a:p>
            <a:pPr algn="ctr"/>
            <a:r>
              <a:rPr lang="en-US" sz="1600" b="1" dirty="0">
                <a:solidFill>
                  <a:schemeClr val="bg1"/>
                </a:solidFill>
              </a:rPr>
              <a:t>Critical Problems</a:t>
            </a:r>
          </a:p>
        </p:txBody>
      </p:sp>
      <p:grpSp>
        <p:nvGrpSpPr>
          <p:cNvPr id="5" name="Group 4">
            <a:extLst>
              <a:ext uri="{FF2B5EF4-FFF2-40B4-BE49-F238E27FC236}">
                <a16:creationId xmlns:a16="http://schemas.microsoft.com/office/drawing/2014/main" id="{4010EF52-C5D7-364A-9BFE-02E8D06E4633}"/>
              </a:ext>
            </a:extLst>
          </p:cNvPr>
          <p:cNvGrpSpPr/>
          <p:nvPr/>
        </p:nvGrpSpPr>
        <p:grpSpPr>
          <a:xfrm>
            <a:off x="10054011" y="824143"/>
            <a:ext cx="2241613" cy="1631010"/>
            <a:chOff x="1954883" y="224589"/>
            <a:chExt cx="9056437" cy="6589517"/>
          </a:xfrm>
        </p:grpSpPr>
        <p:sp>
          <p:nvSpPr>
            <p:cNvPr id="14" name="TextBox 13">
              <a:extLst>
                <a:ext uri="{FF2B5EF4-FFF2-40B4-BE49-F238E27FC236}">
                  <a16:creationId xmlns:a16="http://schemas.microsoft.com/office/drawing/2014/main" id="{B31051DD-EB23-794F-8BAD-F9F7F16AC8B0}"/>
                </a:ext>
              </a:extLst>
            </p:cNvPr>
            <p:cNvSpPr txBox="1"/>
            <p:nvPr/>
          </p:nvSpPr>
          <p:spPr>
            <a:xfrm>
              <a:off x="8244614" y="1587504"/>
              <a:ext cx="2766706"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Clinician </a:t>
              </a:r>
              <a:br>
                <a:rPr lang="en-US" sz="800" spc="-16" dirty="0">
                  <a:solidFill>
                    <a:schemeClr val="bg1"/>
                  </a:solidFill>
                  <a:latin typeface="+mj-lt"/>
                  <a:ea typeface="Source Sans Pro" panose="020B0503030403020204" pitchFamily="34" charset="0"/>
                </a:rPr>
              </a:br>
              <a:r>
                <a:rPr lang="en-US" sz="800" spc="-16" dirty="0">
                  <a:solidFill>
                    <a:schemeClr val="bg1"/>
                  </a:solidFill>
                  <a:latin typeface="+mj-lt"/>
                  <a:ea typeface="Source Sans Pro" panose="020B0503030403020204" pitchFamily="34" charset="0"/>
                </a:rPr>
                <a:t>Challenges </a:t>
              </a:r>
            </a:p>
          </p:txBody>
        </p:sp>
        <p:grpSp>
          <p:nvGrpSpPr>
            <p:cNvPr id="15" name="Group 14">
              <a:extLst>
                <a:ext uri="{FF2B5EF4-FFF2-40B4-BE49-F238E27FC236}">
                  <a16:creationId xmlns:a16="http://schemas.microsoft.com/office/drawing/2014/main" id="{6EE47F6B-8362-8A4F-9C3C-2F4D7C87260E}"/>
                </a:ext>
              </a:extLst>
            </p:cNvPr>
            <p:cNvGrpSpPr/>
            <p:nvPr/>
          </p:nvGrpSpPr>
          <p:grpSpPr>
            <a:xfrm>
              <a:off x="4653757" y="1669056"/>
              <a:ext cx="4220122" cy="4177981"/>
              <a:chOff x="4199291" y="2011174"/>
              <a:chExt cx="5135021" cy="5083743"/>
            </a:xfrm>
          </p:grpSpPr>
          <p:sp>
            <p:nvSpPr>
              <p:cNvPr id="18" name="Freeform 177">
                <a:extLst>
                  <a:ext uri="{FF2B5EF4-FFF2-40B4-BE49-F238E27FC236}">
                    <a16:creationId xmlns:a16="http://schemas.microsoft.com/office/drawing/2014/main" id="{973F8BCD-381C-554A-88BC-12252EE97DCC}"/>
                  </a:ext>
                </a:extLst>
              </p:cNvPr>
              <p:cNvSpPr>
                <a:spLocks/>
              </p:cNvSpPr>
              <p:nvPr/>
            </p:nvSpPr>
            <p:spPr bwMode="auto">
              <a:xfrm>
                <a:off x="6400801" y="2011174"/>
                <a:ext cx="2933511" cy="2541871"/>
              </a:xfrm>
              <a:custGeom>
                <a:avLst/>
                <a:gdLst>
                  <a:gd name="T0" fmla="*/ 1539760 w 4485"/>
                  <a:gd name="T1" fmla="*/ 0 h 3884"/>
                  <a:gd name="T2" fmla="*/ 0 w 4485"/>
                  <a:gd name="T3" fmla="*/ 2667611 h 3884"/>
                  <a:gd name="T4" fmla="*/ 3079519 w 4485"/>
                  <a:gd name="T5" fmla="*/ 2667611 h 3884"/>
                  <a:gd name="T6" fmla="*/ 1539760 w 4485"/>
                  <a:gd name="T7" fmla="*/ 0 h 38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4">
                    <a:moveTo>
                      <a:pt x="2242" y="0"/>
                    </a:moveTo>
                    <a:lnTo>
                      <a:pt x="0" y="3883"/>
                    </a:lnTo>
                    <a:lnTo>
                      <a:pt x="4484" y="3883"/>
                    </a:lnTo>
                    <a:lnTo>
                      <a:pt x="2242" y="0"/>
                    </a:lnTo>
                  </a:path>
                </a:pathLst>
              </a:custGeom>
              <a:solidFill>
                <a:schemeClr val="accent1"/>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0" name="Freeform 179">
                <a:extLst>
                  <a:ext uri="{FF2B5EF4-FFF2-40B4-BE49-F238E27FC236}">
                    <a16:creationId xmlns:a16="http://schemas.microsoft.com/office/drawing/2014/main" id="{AF6AA1F1-DB5D-6B48-A577-74C17CE1EC12}"/>
                  </a:ext>
                </a:extLst>
              </p:cNvPr>
              <p:cNvSpPr>
                <a:spLocks/>
              </p:cNvSpPr>
              <p:nvPr/>
            </p:nvSpPr>
            <p:spPr bwMode="auto">
              <a:xfrm>
                <a:off x="6400801" y="4553045"/>
                <a:ext cx="2933511" cy="2541872"/>
              </a:xfrm>
              <a:custGeom>
                <a:avLst/>
                <a:gdLst>
                  <a:gd name="T0" fmla="*/ 0 w 4485"/>
                  <a:gd name="T1" fmla="*/ 0 h 3885"/>
                  <a:gd name="T2" fmla="*/ 1539760 w 4485"/>
                  <a:gd name="T3" fmla="*/ 2667613 h 3885"/>
                  <a:gd name="T4" fmla="*/ 3079519 w 4485"/>
                  <a:gd name="T5" fmla="*/ 0 h 3885"/>
                  <a:gd name="T6" fmla="*/ 0 w 4485"/>
                  <a:gd name="T7" fmla="*/ 0 h 388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85" h="3885">
                    <a:moveTo>
                      <a:pt x="0" y="0"/>
                    </a:moveTo>
                    <a:lnTo>
                      <a:pt x="2242" y="3884"/>
                    </a:lnTo>
                    <a:lnTo>
                      <a:pt x="4484" y="0"/>
                    </a:lnTo>
                    <a:lnTo>
                      <a:pt x="0" y="0"/>
                    </a:lnTo>
                  </a:path>
                </a:pathLst>
              </a:custGeom>
              <a:solidFill>
                <a:srgbClr val="003963"/>
              </a:solidFill>
              <a:ln w="28575">
                <a:solidFill>
                  <a:schemeClr val="accent2">
                    <a:lumMod val="75000"/>
                  </a:schemeClr>
                </a:solidFill>
                <a:round/>
                <a:headEnd/>
                <a:tailEnd/>
              </a:ln>
            </p:spPr>
            <p:txBody>
              <a:bodyPr wrap="none" anchor="ctr"/>
              <a:lstStyle/>
              <a:p>
                <a:endParaRPr lang="en-US" sz="1100">
                  <a:solidFill>
                    <a:schemeClr val="bg1"/>
                  </a:solidFill>
                  <a:latin typeface="+mj-lt"/>
                </a:endParaRPr>
              </a:p>
            </p:txBody>
          </p:sp>
          <p:sp>
            <p:nvSpPr>
              <p:cNvPr id="25" name="TextBox 24">
                <a:extLst>
                  <a:ext uri="{FF2B5EF4-FFF2-40B4-BE49-F238E27FC236}">
                    <a16:creationId xmlns:a16="http://schemas.microsoft.com/office/drawing/2014/main" id="{A4E847B4-3DF6-0346-9E09-2E13EF18D004}"/>
                  </a:ext>
                </a:extLst>
              </p:cNvPr>
              <p:cNvSpPr txBox="1"/>
              <p:nvPr/>
            </p:nvSpPr>
            <p:spPr>
              <a:xfrm>
                <a:off x="4236225" y="2994644"/>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6</a:t>
                </a:r>
              </a:p>
            </p:txBody>
          </p:sp>
          <p:sp>
            <p:nvSpPr>
              <p:cNvPr id="26" name="TextBox 25">
                <a:extLst>
                  <a:ext uri="{FF2B5EF4-FFF2-40B4-BE49-F238E27FC236}">
                    <a16:creationId xmlns:a16="http://schemas.microsoft.com/office/drawing/2014/main" id="{56403C62-669F-FE41-9934-55C0554EAD79}"/>
                  </a:ext>
                </a:extLst>
              </p:cNvPr>
              <p:cNvSpPr txBox="1"/>
              <p:nvPr/>
            </p:nvSpPr>
            <p:spPr>
              <a:xfrm>
                <a:off x="5765762" y="2108319"/>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1</a:t>
                </a:r>
              </a:p>
            </p:txBody>
          </p:sp>
          <p:sp>
            <p:nvSpPr>
              <p:cNvPr id="28" name="TextBox 27">
                <a:extLst>
                  <a:ext uri="{FF2B5EF4-FFF2-40B4-BE49-F238E27FC236}">
                    <a16:creationId xmlns:a16="http://schemas.microsoft.com/office/drawing/2014/main" id="{DA2C1947-9098-DD4B-9FC7-5226288B9885}"/>
                  </a:ext>
                </a:extLst>
              </p:cNvPr>
              <p:cNvSpPr txBox="1"/>
              <p:nvPr/>
            </p:nvSpPr>
            <p:spPr>
              <a:xfrm>
                <a:off x="7228912" y="2999201"/>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2</a:t>
                </a:r>
              </a:p>
            </p:txBody>
          </p:sp>
          <p:sp>
            <p:nvSpPr>
              <p:cNvPr id="30" name="TextBox 29">
                <a:extLst>
                  <a:ext uri="{FF2B5EF4-FFF2-40B4-BE49-F238E27FC236}">
                    <a16:creationId xmlns:a16="http://schemas.microsoft.com/office/drawing/2014/main" id="{A3167FD0-F83D-DD4A-A72D-90405E017D57}"/>
                  </a:ext>
                </a:extLst>
              </p:cNvPr>
              <p:cNvSpPr txBox="1"/>
              <p:nvPr/>
            </p:nvSpPr>
            <p:spPr>
              <a:xfrm>
                <a:off x="7247451" y="475574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3</a:t>
                </a:r>
              </a:p>
            </p:txBody>
          </p:sp>
          <p:sp>
            <p:nvSpPr>
              <p:cNvPr id="31" name="TextBox 30">
                <a:extLst>
                  <a:ext uri="{FF2B5EF4-FFF2-40B4-BE49-F238E27FC236}">
                    <a16:creationId xmlns:a16="http://schemas.microsoft.com/office/drawing/2014/main" id="{CB32858F-D284-8944-839E-5211D8180EC0}"/>
                  </a:ext>
                </a:extLst>
              </p:cNvPr>
              <p:cNvSpPr txBox="1"/>
              <p:nvPr/>
            </p:nvSpPr>
            <p:spPr>
              <a:xfrm>
                <a:off x="5737804" y="5556748"/>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4</a:t>
                </a:r>
              </a:p>
            </p:txBody>
          </p:sp>
          <p:sp>
            <p:nvSpPr>
              <p:cNvPr id="32" name="TextBox 31">
                <a:extLst>
                  <a:ext uri="{FF2B5EF4-FFF2-40B4-BE49-F238E27FC236}">
                    <a16:creationId xmlns:a16="http://schemas.microsoft.com/office/drawing/2014/main" id="{BC7732BD-8AE6-2D4C-8A49-D027171EBC73}"/>
                  </a:ext>
                </a:extLst>
              </p:cNvPr>
              <p:cNvSpPr txBox="1"/>
              <p:nvPr/>
            </p:nvSpPr>
            <p:spPr>
              <a:xfrm>
                <a:off x="4199291" y="4724716"/>
                <a:ext cx="1229659" cy="1361734"/>
              </a:xfrm>
              <a:prstGeom prst="rect">
                <a:avLst/>
              </a:prstGeom>
              <a:noFill/>
            </p:spPr>
            <p:txBody>
              <a:bodyPr wrap="none" rtlCol="0" anchor="ctr">
                <a:spAutoFit/>
              </a:bodyPr>
              <a:lstStyle/>
              <a:p>
                <a:pPr algn="ctr"/>
                <a:r>
                  <a:rPr lang="en-US" sz="1200" b="1" spc="-152" dirty="0">
                    <a:solidFill>
                      <a:schemeClr val="bg1"/>
                    </a:solidFill>
                    <a:latin typeface="+mj-lt"/>
                    <a:ea typeface="Source Sans Pro" panose="020B0503030403020204" pitchFamily="34" charset="0"/>
                  </a:rPr>
                  <a:t>5</a:t>
                </a:r>
              </a:p>
            </p:txBody>
          </p:sp>
        </p:grpSp>
        <p:sp>
          <p:nvSpPr>
            <p:cNvPr id="35" name="TextBox 34">
              <a:extLst>
                <a:ext uri="{FF2B5EF4-FFF2-40B4-BE49-F238E27FC236}">
                  <a16:creationId xmlns:a16="http://schemas.microsoft.com/office/drawing/2014/main" id="{A3FF2667-46B6-7849-BE43-553064687CB0}"/>
                </a:ext>
              </a:extLst>
            </p:cNvPr>
            <p:cNvSpPr txBox="1"/>
            <p:nvPr/>
          </p:nvSpPr>
          <p:spPr>
            <a:xfrm>
              <a:off x="5048505" y="224589"/>
              <a:ext cx="2778629"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Value Barriers </a:t>
              </a:r>
            </a:p>
          </p:txBody>
        </p:sp>
        <p:sp>
          <p:nvSpPr>
            <p:cNvPr id="36" name="TextBox 35">
              <a:extLst>
                <a:ext uri="{FF2B5EF4-FFF2-40B4-BE49-F238E27FC236}">
                  <a16:creationId xmlns:a16="http://schemas.microsoft.com/office/drawing/2014/main" id="{76B013F0-AD86-4544-B3B2-B9249653EBF8}"/>
                </a:ext>
              </a:extLst>
            </p:cNvPr>
            <p:cNvSpPr txBox="1"/>
            <p:nvPr/>
          </p:nvSpPr>
          <p:spPr>
            <a:xfrm>
              <a:off x="5204003" y="5943681"/>
              <a:ext cx="2623132"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Proactivity</a:t>
              </a:r>
            </a:p>
          </p:txBody>
        </p:sp>
        <p:sp>
          <p:nvSpPr>
            <p:cNvPr id="37" name="TextBox 36">
              <a:extLst>
                <a:ext uri="{FF2B5EF4-FFF2-40B4-BE49-F238E27FC236}">
                  <a16:creationId xmlns:a16="http://schemas.microsoft.com/office/drawing/2014/main" id="{14359635-1856-764D-AC49-97EC9113F864}"/>
                </a:ext>
              </a:extLst>
            </p:cNvPr>
            <p:cNvSpPr txBox="1"/>
            <p:nvPr/>
          </p:nvSpPr>
          <p:spPr>
            <a:xfrm>
              <a:off x="1954883" y="1624544"/>
              <a:ext cx="280492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Cultural Challenges</a:t>
              </a:r>
            </a:p>
          </p:txBody>
        </p:sp>
        <p:sp>
          <p:nvSpPr>
            <p:cNvPr id="39" name="TextBox 38">
              <a:extLst>
                <a:ext uri="{FF2B5EF4-FFF2-40B4-BE49-F238E27FC236}">
                  <a16:creationId xmlns:a16="http://schemas.microsoft.com/office/drawing/2014/main" id="{5EE6B582-A5AD-7742-A3DB-35B94D69E389}"/>
                </a:ext>
              </a:extLst>
            </p:cNvPr>
            <p:cNvSpPr txBox="1"/>
            <p:nvPr/>
          </p:nvSpPr>
          <p:spPr>
            <a:xfrm>
              <a:off x="2108449" y="4579118"/>
              <a:ext cx="2714734" cy="870425"/>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Prevention</a:t>
              </a:r>
            </a:p>
          </p:txBody>
        </p:sp>
        <p:sp>
          <p:nvSpPr>
            <p:cNvPr id="40" name="TextBox 39">
              <a:extLst>
                <a:ext uri="{FF2B5EF4-FFF2-40B4-BE49-F238E27FC236}">
                  <a16:creationId xmlns:a16="http://schemas.microsoft.com/office/drawing/2014/main" id="{7842DDC4-618C-EB49-8D92-CC6E8D06A27F}"/>
                </a:ext>
              </a:extLst>
            </p:cNvPr>
            <p:cNvSpPr txBox="1"/>
            <p:nvPr/>
          </p:nvSpPr>
          <p:spPr>
            <a:xfrm>
              <a:off x="8202257" y="4539642"/>
              <a:ext cx="2734862" cy="1367807"/>
            </a:xfrm>
            <a:prstGeom prst="rect">
              <a:avLst/>
            </a:prstGeom>
            <a:noFill/>
          </p:spPr>
          <p:txBody>
            <a:bodyPr wrap="square" rtlCol="0" anchor="b">
              <a:spAutoFit/>
            </a:bodyPr>
            <a:lstStyle/>
            <a:p>
              <a:pPr algn="ctr"/>
              <a:r>
                <a:rPr lang="en-US" sz="800" spc="-16" dirty="0">
                  <a:solidFill>
                    <a:schemeClr val="bg1"/>
                  </a:solidFill>
                  <a:latin typeface="+mj-lt"/>
                  <a:ea typeface="Source Sans Pro" panose="020B0503030403020204" pitchFamily="34" charset="0"/>
                </a:rPr>
                <a:t>Need/Care Match</a:t>
              </a:r>
            </a:p>
          </p:txBody>
        </p:sp>
      </p:grpSp>
      <p:sp>
        <p:nvSpPr>
          <p:cNvPr id="42" name="Rectangle 41">
            <a:extLst>
              <a:ext uri="{FF2B5EF4-FFF2-40B4-BE49-F238E27FC236}">
                <a16:creationId xmlns:a16="http://schemas.microsoft.com/office/drawing/2014/main" id="{CED96D22-0F74-AF48-B854-0CE3DF5BC976}"/>
              </a:ext>
            </a:extLst>
          </p:cNvPr>
          <p:cNvSpPr/>
          <p:nvPr/>
        </p:nvSpPr>
        <p:spPr>
          <a:xfrm>
            <a:off x="9548037" y="2944368"/>
            <a:ext cx="3253563" cy="4828032"/>
          </a:xfrm>
          <a:prstGeom prst="rect">
            <a:avLst/>
          </a:prstGeom>
          <a:solidFill>
            <a:srgbClr val="0039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613CF5FB-EA21-2E43-8223-310323F91EEC}"/>
              </a:ext>
            </a:extLst>
          </p:cNvPr>
          <p:cNvSpPr/>
          <p:nvPr/>
        </p:nvSpPr>
        <p:spPr>
          <a:xfrm>
            <a:off x="228600" y="534035"/>
            <a:ext cx="6764994" cy="338554"/>
          </a:xfrm>
          <a:prstGeom prst="rect">
            <a:avLst/>
          </a:prstGeom>
        </p:spPr>
        <p:txBody>
          <a:bodyPr wrap="square" anchor="t">
            <a:spAutoFit/>
          </a:bodyPr>
          <a:lstStyle/>
          <a:p>
            <a:r>
              <a:rPr lang="en-US" sz="1600" b="1" dirty="0">
                <a:solidFill>
                  <a:srgbClr val="00A2E2"/>
                </a:solidFill>
              </a:rPr>
              <a:t>Identifying Issues and Opportunities</a:t>
            </a:r>
          </a:p>
        </p:txBody>
      </p:sp>
      <p:sp>
        <p:nvSpPr>
          <p:cNvPr id="44" name="Rectangle 43">
            <a:extLst>
              <a:ext uri="{FF2B5EF4-FFF2-40B4-BE49-F238E27FC236}">
                <a16:creationId xmlns:a16="http://schemas.microsoft.com/office/drawing/2014/main" id="{BEF1FE83-BF87-1E40-BFFF-5C9604484C0C}"/>
              </a:ext>
            </a:extLst>
          </p:cNvPr>
          <p:cNvSpPr/>
          <p:nvPr/>
        </p:nvSpPr>
        <p:spPr>
          <a:xfrm>
            <a:off x="9548037" y="3094081"/>
            <a:ext cx="3253563" cy="584775"/>
          </a:xfrm>
          <a:prstGeom prst="rect">
            <a:avLst/>
          </a:prstGeom>
        </p:spPr>
        <p:txBody>
          <a:bodyPr wrap="square" anchor="t">
            <a:spAutoFit/>
          </a:bodyPr>
          <a:lstStyle/>
          <a:p>
            <a:pPr algn="ctr"/>
            <a:r>
              <a:rPr lang="en-US" sz="1600" b="1" dirty="0">
                <a:solidFill>
                  <a:schemeClr val="bg1"/>
                </a:solidFill>
              </a:rPr>
              <a:t>Competitive / Startup </a:t>
            </a:r>
            <a:br>
              <a:rPr lang="en-US" sz="1600" b="1" dirty="0">
                <a:solidFill>
                  <a:schemeClr val="bg1"/>
                </a:solidFill>
              </a:rPr>
            </a:br>
            <a:r>
              <a:rPr lang="en-US" sz="1600" b="1" dirty="0">
                <a:solidFill>
                  <a:schemeClr val="bg1"/>
                </a:solidFill>
              </a:rPr>
              <a:t>Landscape</a:t>
            </a:r>
          </a:p>
        </p:txBody>
      </p:sp>
      <p:sp>
        <p:nvSpPr>
          <p:cNvPr id="34" name="Rectangle 33">
            <a:extLst>
              <a:ext uri="{FF2B5EF4-FFF2-40B4-BE49-F238E27FC236}">
                <a16:creationId xmlns:a16="http://schemas.microsoft.com/office/drawing/2014/main" id="{88A87FB6-4B43-1D4F-BD4B-BAA896D9FE8F}"/>
              </a:ext>
            </a:extLst>
          </p:cNvPr>
          <p:cNvSpPr/>
          <p:nvPr/>
        </p:nvSpPr>
        <p:spPr>
          <a:xfrm>
            <a:off x="5735266" y="2188209"/>
            <a:ext cx="2979712" cy="538609"/>
          </a:xfrm>
          <a:prstGeom prst="rect">
            <a:avLst/>
          </a:prstGeom>
        </p:spPr>
        <p:txBody>
          <a:bodyPr wrap="square">
            <a:spAutoFit/>
          </a:bodyPr>
          <a:lstStyle/>
          <a:p>
            <a:pPr>
              <a:spcAft>
                <a:spcPts val="600"/>
              </a:spcAft>
            </a:pPr>
            <a:r>
              <a:rPr lang="en-US" sz="1200" b="1" dirty="0"/>
              <a:t>How might we…</a:t>
            </a:r>
          </a:p>
          <a:p>
            <a:pPr marL="160020" indent="-160020">
              <a:spcAft>
                <a:spcPts val="600"/>
              </a:spcAft>
              <a:buFont typeface="Arial" panose="020B0604020202020204" pitchFamily="34" charset="0"/>
              <a:buChar char="•"/>
            </a:pPr>
            <a:endParaRPr lang="en-US" sz="1200" dirty="0"/>
          </a:p>
        </p:txBody>
      </p:sp>
      <p:sp>
        <p:nvSpPr>
          <p:cNvPr id="38" name="Rectangle 37">
            <a:extLst>
              <a:ext uri="{FF2B5EF4-FFF2-40B4-BE49-F238E27FC236}">
                <a16:creationId xmlns:a16="http://schemas.microsoft.com/office/drawing/2014/main" id="{4900BCE3-15B8-BD45-A339-EE4992ABD056}"/>
              </a:ext>
            </a:extLst>
          </p:cNvPr>
          <p:cNvSpPr/>
          <p:nvPr/>
        </p:nvSpPr>
        <p:spPr>
          <a:xfrm>
            <a:off x="298402" y="2188209"/>
            <a:ext cx="5156286" cy="4647426"/>
          </a:xfrm>
          <a:prstGeom prst="rect">
            <a:avLst/>
          </a:prstGeom>
        </p:spPr>
        <p:txBody>
          <a:bodyPr wrap="square">
            <a:spAutoFit/>
          </a:bodyPr>
          <a:lstStyle/>
          <a:p>
            <a:pPr>
              <a:spcAft>
                <a:spcPts val="600"/>
              </a:spcAft>
            </a:pPr>
            <a:r>
              <a:rPr lang="en-US" sz="1200" b="1" dirty="0"/>
              <a:t>Why is this so critical?</a:t>
            </a:r>
          </a:p>
          <a:p>
            <a:pPr marL="174625" indent="-174625">
              <a:spcBef>
                <a:spcPts val="300"/>
              </a:spcBef>
              <a:buFont typeface="Arial" panose="020B0604020202020204" pitchFamily="34" charset="0"/>
              <a:buChar char="•"/>
            </a:pPr>
            <a:r>
              <a:rPr lang="en-US" sz="1200" b="1" dirty="0"/>
              <a:t>Access to behavioral health clinicians is extremely limited, particularly in rural and underserved areas; </a:t>
            </a:r>
            <a:r>
              <a:rPr lang="en-US" sz="1200" dirty="0"/>
              <a:t>in fact, more than 60 percent of all counties in the United States—including 80 percent of all rural counties—do not have a single psychiatrist</a:t>
            </a:r>
            <a:r>
              <a:rPr lang="en-US" sz="1200" dirty="0">
                <a:solidFill>
                  <a:srgbClr val="FF0000"/>
                </a:solidFill>
              </a:rPr>
              <a:t>. </a:t>
            </a:r>
          </a:p>
          <a:p>
            <a:pPr marL="174625" indent="-174625">
              <a:spcBef>
                <a:spcPts val="300"/>
              </a:spcBef>
              <a:buFont typeface="Arial" panose="020B0604020202020204" pitchFamily="34" charset="0"/>
              <a:buChar char="•"/>
            </a:pPr>
            <a:endParaRPr lang="en-US" sz="1200" dirty="0">
              <a:solidFill>
                <a:srgbClr val="FF0000"/>
              </a:solidFill>
            </a:endParaRPr>
          </a:p>
          <a:p>
            <a:pPr marL="174625" indent="-174625">
              <a:spcBef>
                <a:spcPts val="300"/>
              </a:spcBef>
              <a:buFont typeface="Arial" panose="020B0604020202020204" pitchFamily="34" charset="0"/>
              <a:buChar char="•"/>
            </a:pPr>
            <a:r>
              <a:rPr lang="en-US" sz="1200" b="1" dirty="0"/>
              <a:t>Immediate access is frequently unavailable. </a:t>
            </a:r>
            <a:r>
              <a:rPr lang="en-US" sz="1200" dirty="0"/>
              <a:t>Many BH conditions require immediate support – yet Americans aren’t getting it; In fact, 94 million Americans have had to wait longer than one week for mental health services. And, “For every one day of wait time,” says NCBH President and CEO Linda Rosenberg, “you lose 1 percent of the patients — so if you have a 21-day wait, 21 percent of the patients seeking care just will give up and not show up .”</a:t>
            </a:r>
          </a:p>
          <a:p>
            <a:endParaRPr lang="en-US" sz="1200" dirty="0"/>
          </a:p>
          <a:p>
            <a:pPr marL="174625" indent="-174625">
              <a:spcBef>
                <a:spcPts val="300"/>
              </a:spcBef>
              <a:buFont typeface="Arial" panose="020B0604020202020204" pitchFamily="34" charset="0"/>
              <a:buChar char="•"/>
            </a:pPr>
            <a:r>
              <a:rPr lang="en-US" sz="1200" b="1" dirty="0"/>
              <a:t>Clinical and sub-clinical populations have drastically different cost structures – so effective care modeling will need to reach all members more effectively</a:t>
            </a:r>
            <a:r>
              <a:rPr lang="en-US" sz="1200" dirty="0"/>
              <a:t>, yet the subclinical in a way that prevents exacerbation and prohibitive costs. At Highmark, just 5% of members drive 35% of care costs.</a:t>
            </a:r>
          </a:p>
          <a:p>
            <a:pPr marL="174625" indent="-174625">
              <a:spcBef>
                <a:spcPts val="300"/>
              </a:spcBef>
              <a:buFont typeface="Arial" panose="020B0604020202020204" pitchFamily="34" charset="0"/>
              <a:buChar char="•"/>
            </a:pPr>
            <a:endParaRPr lang="en-US" sz="1200" dirty="0"/>
          </a:p>
          <a:p>
            <a:pPr marL="174625" indent="-174625">
              <a:spcBef>
                <a:spcPts val="300"/>
              </a:spcBef>
              <a:buFont typeface="Arial" panose="020B0604020202020204" pitchFamily="34" charset="0"/>
              <a:buChar char="•"/>
            </a:pPr>
            <a:r>
              <a:rPr lang="en-US" sz="1200" b="1" dirty="0"/>
              <a:t>Referring members to the right care at the right time will require measurement and algorithmic abilities that </a:t>
            </a:r>
            <a:r>
              <a:rPr lang="en-US" sz="1200" b="1" dirty="0" err="1"/>
              <a:t>te</a:t>
            </a:r>
            <a:r>
              <a:rPr lang="en-US" sz="1200" b="1" dirty="0"/>
              <a:t> system does not well support today</a:t>
            </a:r>
            <a:endParaRPr lang="en-US" sz="1200" dirty="0"/>
          </a:p>
        </p:txBody>
      </p:sp>
      <p:sp>
        <p:nvSpPr>
          <p:cNvPr id="41" name="Rectangle 40">
            <a:extLst>
              <a:ext uri="{FF2B5EF4-FFF2-40B4-BE49-F238E27FC236}">
                <a16:creationId xmlns:a16="http://schemas.microsoft.com/office/drawing/2014/main" id="{5E3BAE5A-11DD-D54A-8D26-665D6B316A37}"/>
              </a:ext>
            </a:extLst>
          </p:cNvPr>
          <p:cNvSpPr/>
          <p:nvPr/>
        </p:nvSpPr>
        <p:spPr>
          <a:xfrm>
            <a:off x="298401" y="1530545"/>
            <a:ext cx="8950965" cy="584775"/>
          </a:xfrm>
          <a:prstGeom prst="rect">
            <a:avLst/>
          </a:prstGeom>
        </p:spPr>
        <p:txBody>
          <a:bodyPr wrap="square">
            <a:spAutoFit/>
          </a:bodyPr>
          <a:lstStyle/>
          <a:p>
            <a:r>
              <a:rPr lang="en-US" sz="1600" dirty="0"/>
              <a:t>Design a behavioral health care model that is scalable, can reach all clinical and sub-clinical populations – and do so both appropriately and affordably. </a:t>
            </a:r>
          </a:p>
        </p:txBody>
      </p:sp>
    </p:spTree>
    <p:extLst>
      <p:ext uri="{BB962C8B-B14F-4D97-AF65-F5344CB8AC3E}">
        <p14:creationId xmlns:p14="http://schemas.microsoft.com/office/powerpoint/2010/main" val="31518771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291994-35EB-E849-8F05-2F8B5FD87631}"/>
              </a:ext>
            </a:extLst>
          </p:cNvPr>
          <p:cNvSpPr/>
          <p:nvPr/>
        </p:nvSpPr>
        <p:spPr>
          <a:xfrm>
            <a:off x="682437" y="3322012"/>
            <a:ext cx="8033290" cy="434606"/>
          </a:xfrm>
          <a:prstGeom prst="rect">
            <a:avLst/>
          </a:prstGeom>
        </p:spPr>
        <p:txBody>
          <a:bodyPr wrap="square" anchor="t">
            <a:spAutoFit/>
          </a:bodyPr>
          <a:lstStyle/>
          <a:p>
            <a:r>
              <a:rPr lang="en-US" sz="2224" b="1" dirty="0">
                <a:solidFill>
                  <a:srgbClr val="003963"/>
                </a:solidFill>
              </a:rPr>
              <a:t>Problem Area Issue Trees</a:t>
            </a:r>
          </a:p>
        </p:txBody>
      </p:sp>
    </p:spTree>
    <p:extLst>
      <p:ext uri="{BB962C8B-B14F-4D97-AF65-F5344CB8AC3E}">
        <p14:creationId xmlns:p14="http://schemas.microsoft.com/office/powerpoint/2010/main" val="15783822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736E9F-099F-6E49-8413-5352C763CACD}"/>
              </a:ext>
            </a:extLst>
          </p:cNvPr>
          <p:cNvSpPr txBox="1"/>
          <p:nvPr/>
        </p:nvSpPr>
        <p:spPr>
          <a:xfrm>
            <a:off x="881791" y="2839426"/>
            <a:ext cx="1996059" cy="263470"/>
          </a:xfrm>
          <a:prstGeom prst="rect">
            <a:avLst/>
          </a:prstGeom>
          <a:noFill/>
        </p:spPr>
        <p:txBody>
          <a:bodyPr wrap="none" rtlCol="0">
            <a:spAutoFit/>
          </a:bodyPr>
          <a:lstStyle/>
          <a:p>
            <a:pPr defTabSz="847210"/>
            <a:r>
              <a:rPr lang="en-US" sz="1112" dirty="0">
                <a:solidFill>
                  <a:schemeClr val="bg1">
                    <a:lumMod val="50000"/>
                  </a:schemeClr>
                </a:solidFill>
                <a:latin typeface="+mj-lt"/>
                <a:cs typeface="Calibri Light" panose="020F0302020204030204" pitchFamily="34" charset="0"/>
              </a:rPr>
              <a:t>Proof | Payment | Perception</a:t>
            </a:r>
          </a:p>
        </p:txBody>
      </p:sp>
      <p:sp>
        <p:nvSpPr>
          <p:cNvPr id="5" name="Скругленный прямоугольник 11">
            <a:extLst>
              <a:ext uri="{FF2B5EF4-FFF2-40B4-BE49-F238E27FC236}">
                <a16:creationId xmlns:a16="http://schemas.microsoft.com/office/drawing/2014/main" id="{6D4ED8D2-B85B-6440-ADA5-E55C9A6E7547}"/>
              </a:ext>
            </a:extLst>
          </p:cNvPr>
          <p:cNvSpPr/>
          <p:nvPr/>
        </p:nvSpPr>
        <p:spPr bwMode="auto">
          <a:xfrm>
            <a:off x="4273530" y="1963174"/>
            <a:ext cx="3767986" cy="423465"/>
          </a:xfrm>
          <a:prstGeom prst="roundRect">
            <a:avLst>
              <a:gd name="adj" fmla="val 5329"/>
            </a:avLst>
          </a:prstGeom>
          <a:solidFill>
            <a:schemeClr val="accent1"/>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8" name="Скругленный прямоугольник 7">
            <a:extLst>
              <a:ext uri="{FF2B5EF4-FFF2-40B4-BE49-F238E27FC236}">
                <a16:creationId xmlns:a16="http://schemas.microsoft.com/office/drawing/2014/main" id="{4F178C1C-13B0-4E42-B36B-605AC91A406C}"/>
              </a:ext>
            </a:extLst>
          </p:cNvPr>
          <p:cNvSpPr/>
          <p:nvPr/>
        </p:nvSpPr>
        <p:spPr bwMode="auto">
          <a:xfrm>
            <a:off x="3268106" y="2752309"/>
            <a:ext cx="1508218" cy="423465"/>
          </a:xfrm>
          <a:prstGeom prst="roundRect">
            <a:avLst>
              <a:gd name="adj" fmla="val 5329"/>
            </a:avLst>
          </a:prstGeom>
          <a:solidFill>
            <a:schemeClr val="accent1">
              <a:lumMod val="75000"/>
              <a:lumOff val="25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1" name="Скругленный прямоугольник 12">
            <a:extLst>
              <a:ext uri="{FF2B5EF4-FFF2-40B4-BE49-F238E27FC236}">
                <a16:creationId xmlns:a16="http://schemas.microsoft.com/office/drawing/2014/main" id="{2F8D9C5A-394C-4D4C-8753-180DD6BE1EC1}"/>
              </a:ext>
            </a:extLst>
          </p:cNvPr>
          <p:cNvSpPr/>
          <p:nvPr/>
        </p:nvSpPr>
        <p:spPr bwMode="auto">
          <a:xfrm>
            <a:off x="5491939" y="2755132"/>
            <a:ext cx="1358978" cy="423465"/>
          </a:xfrm>
          <a:prstGeom prst="roundRect">
            <a:avLst>
              <a:gd name="adj" fmla="val 5329"/>
            </a:avLst>
          </a:prstGeom>
          <a:solidFill>
            <a:schemeClr val="accent1">
              <a:lumMod val="75000"/>
              <a:lumOff val="25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4" name="Скругленный прямоугольник 16">
            <a:extLst>
              <a:ext uri="{FF2B5EF4-FFF2-40B4-BE49-F238E27FC236}">
                <a16:creationId xmlns:a16="http://schemas.microsoft.com/office/drawing/2014/main" id="{1365C2A3-A805-F644-A880-05726AE7537F}"/>
              </a:ext>
            </a:extLst>
          </p:cNvPr>
          <p:cNvSpPr/>
          <p:nvPr/>
        </p:nvSpPr>
        <p:spPr bwMode="auto">
          <a:xfrm>
            <a:off x="8695853" y="2758577"/>
            <a:ext cx="1454047" cy="423465"/>
          </a:xfrm>
          <a:prstGeom prst="roundRect">
            <a:avLst>
              <a:gd name="adj" fmla="val 5329"/>
            </a:avLst>
          </a:prstGeom>
          <a:solidFill>
            <a:schemeClr val="accent1">
              <a:lumMod val="75000"/>
              <a:lumOff val="25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cxnSp>
        <p:nvCxnSpPr>
          <p:cNvPr id="17" name="Соединительная линия уступом 25">
            <a:extLst>
              <a:ext uri="{FF2B5EF4-FFF2-40B4-BE49-F238E27FC236}">
                <a16:creationId xmlns:a16="http://schemas.microsoft.com/office/drawing/2014/main" id="{95FEE179-CF9B-7545-B726-794C8847B32A}"/>
              </a:ext>
            </a:extLst>
          </p:cNvPr>
          <p:cNvCxnSpPr>
            <a:cxnSpLocks/>
            <a:stCxn id="5" idx="2"/>
            <a:endCxn id="14" idx="0"/>
          </p:cNvCxnSpPr>
          <p:nvPr/>
        </p:nvCxnSpPr>
        <p:spPr bwMode="auto">
          <a:xfrm rot="16200000" flipH="1">
            <a:off x="7604230" y="939932"/>
            <a:ext cx="371937" cy="3265352"/>
          </a:xfrm>
          <a:prstGeom prst="bentConnector3">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8" name="Соединительная линия уступом 27">
            <a:extLst>
              <a:ext uri="{FF2B5EF4-FFF2-40B4-BE49-F238E27FC236}">
                <a16:creationId xmlns:a16="http://schemas.microsoft.com/office/drawing/2014/main" id="{56F0D251-F772-6546-B888-4E963921C609}"/>
              </a:ext>
            </a:extLst>
          </p:cNvPr>
          <p:cNvCxnSpPr>
            <a:cxnSpLocks/>
            <a:stCxn id="5" idx="2"/>
            <a:endCxn id="8" idx="0"/>
          </p:cNvCxnSpPr>
          <p:nvPr/>
        </p:nvCxnSpPr>
        <p:spPr bwMode="auto">
          <a:xfrm rot="5400000">
            <a:off x="4907037" y="1501821"/>
            <a:ext cx="365670" cy="2135308"/>
          </a:xfrm>
          <a:prstGeom prst="bentConnector3">
            <a:avLst>
              <a:gd name="adj1" fmla="val 50000"/>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20" name="Скругленный прямоугольник 59">
            <a:extLst>
              <a:ext uri="{FF2B5EF4-FFF2-40B4-BE49-F238E27FC236}">
                <a16:creationId xmlns:a16="http://schemas.microsoft.com/office/drawing/2014/main" id="{48EA4E42-DB7D-A94B-888D-E936EC0C4E0E}"/>
              </a:ext>
            </a:extLst>
          </p:cNvPr>
          <p:cNvSpPr>
            <a:spLocks/>
          </p:cNvSpPr>
          <p:nvPr/>
        </p:nvSpPr>
        <p:spPr bwMode="auto">
          <a:xfrm>
            <a:off x="3346641" y="3510600"/>
            <a:ext cx="1053546"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23" name="Скругленный прямоугольник 72">
            <a:extLst>
              <a:ext uri="{FF2B5EF4-FFF2-40B4-BE49-F238E27FC236}">
                <a16:creationId xmlns:a16="http://schemas.microsoft.com/office/drawing/2014/main" id="{26BDD212-7D19-E643-870C-D3C4D6B53526}"/>
              </a:ext>
            </a:extLst>
          </p:cNvPr>
          <p:cNvSpPr>
            <a:spLocks/>
          </p:cNvSpPr>
          <p:nvPr/>
        </p:nvSpPr>
        <p:spPr bwMode="auto">
          <a:xfrm>
            <a:off x="5566631" y="3510600"/>
            <a:ext cx="106915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29" name="Скругленный прямоугольник 80">
            <a:extLst>
              <a:ext uri="{FF2B5EF4-FFF2-40B4-BE49-F238E27FC236}">
                <a16:creationId xmlns:a16="http://schemas.microsoft.com/office/drawing/2014/main" id="{645E27A1-C2FB-DD4B-B126-34D135B5C50E}"/>
              </a:ext>
            </a:extLst>
          </p:cNvPr>
          <p:cNvSpPr>
            <a:spLocks/>
          </p:cNvSpPr>
          <p:nvPr/>
        </p:nvSpPr>
        <p:spPr bwMode="auto">
          <a:xfrm>
            <a:off x="6682394" y="3510600"/>
            <a:ext cx="975688"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32" name="Скругленный прямоугольник 84">
            <a:extLst>
              <a:ext uri="{FF2B5EF4-FFF2-40B4-BE49-F238E27FC236}">
                <a16:creationId xmlns:a16="http://schemas.microsoft.com/office/drawing/2014/main" id="{0594F8BE-B3AF-C84B-8492-8A2D86CFE89C}"/>
              </a:ext>
            </a:extLst>
          </p:cNvPr>
          <p:cNvSpPr>
            <a:spLocks/>
          </p:cNvSpPr>
          <p:nvPr/>
        </p:nvSpPr>
        <p:spPr bwMode="auto">
          <a:xfrm>
            <a:off x="11006462" y="3510600"/>
            <a:ext cx="933554"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35" name="Скругленный прямоугольник 88">
            <a:extLst>
              <a:ext uri="{FF2B5EF4-FFF2-40B4-BE49-F238E27FC236}">
                <a16:creationId xmlns:a16="http://schemas.microsoft.com/office/drawing/2014/main" id="{EBDE1CE4-6D4D-A548-B0DE-F17D28164F55}"/>
              </a:ext>
            </a:extLst>
          </p:cNvPr>
          <p:cNvSpPr>
            <a:spLocks/>
          </p:cNvSpPr>
          <p:nvPr/>
        </p:nvSpPr>
        <p:spPr bwMode="auto">
          <a:xfrm>
            <a:off x="8977387" y="3510600"/>
            <a:ext cx="956092"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cxnSp>
        <p:nvCxnSpPr>
          <p:cNvPr id="38" name="Соединительная линия уступом 19">
            <a:extLst>
              <a:ext uri="{FF2B5EF4-FFF2-40B4-BE49-F238E27FC236}">
                <a16:creationId xmlns:a16="http://schemas.microsoft.com/office/drawing/2014/main" id="{08C3E3A9-C245-A44E-BAF7-7A5723D1925B}"/>
              </a:ext>
            </a:extLst>
          </p:cNvPr>
          <p:cNvCxnSpPr>
            <a:cxnSpLocks/>
          </p:cNvCxnSpPr>
          <p:nvPr/>
        </p:nvCxnSpPr>
        <p:spPr bwMode="auto">
          <a:xfrm rot="16200000" flipH="1">
            <a:off x="4347057" y="2856795"/>
            <a:ext cx="337668" cy="963471"/>
          </a:xfrm>
          <a:prstGeom prst="bentConnector3">
            <a:avLst>
              <a:gd name="adj1" fmla="val 52307"/>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41" name="Соединительная линия уступом 34">
            <a:extLst>
              <a:ext uri="{FF2B5EF4-FFF2-40B4-BE49-F238E27FC236}">
                <a16:creationId xmlns:a16="http://schemas.microsoft.com/office/drawing/2014/main" id="{8A567054-5A1D-FD4B-BD23-D23EFC96BA80}"/>
              </a:ext>
            </a:extLst>
          </p:cNvPr>
          <p:cNvCxnSpPr>
            <a:cxnSpLocks/>
            <a:endCxn id="29" idx="0"/>
          </p:cNvCxnSpPr>
          <p:nvPr/>
        </p:nvCxnSpPr>
        <p:spPr bwMode="auto">
          <a:xfrm>
            <a:off x="5727359" y="3347677"/>
            <a:ext cx="1442880" cy="162922"/>
          </a:xfrm>
          <a:prstGeom prst="bentConnector2">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42" name="Соединительная линия уступом 36">
            <a:extLst>
              <a:ext uri="{FF2B5EF4-FFF2-40B4-BE49-F238E27FC236}">
                <a16:creationId xmlns:a16="http://schemas.microsoft.com/office/drawing/2014/main" id="{010113D0-801D-4E4A-A914-AC04A84C1C38}"/>
              </a:ext>
            </a:extLst>
          </p:cNvPr>
          <p:cNvCxnSpPr>
            <a:cxnSpLocks/>
            <a:stCxn id="14" idx="2"/>
            <a:endCxn id="32" idx="0"/>
          </p:cNvCxnSpPr>
          <p:nvPr/>
        </p:nvCxnSpPr>
        <p:spPr bwMode="auto">
          <a:xfrm rot="16200000" flipH="1">
            <a:off x="10283779" y="2321138"/>
            <a:ext cx="328558" cy="2050362"/>
          </a:xfrm>
          <a:prstGeom prst="bentConnector3">
            <a:avLst>
              <a:gd name="adj1" fmla="val 50000"/>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74" name="Subtitle 2">
            <a:extLst>
              <a:ext uri="{FF2B5EF4-FFF2-40B4-BE49-F238E27FC236}">
                <a16:creationId xmlns:a16="http://schemas.microsoft.com/office/drawing/2014/main" id="{8C979760-C4B7-B541-8C3C-4C5F3E929482}"/>
              </a:ext>
            </a:extLst>
          </p:cNvPr>
          <p:cNvSpPr txBox="1">
            <a:spLocks/>
          </p:cNvSpPr>
          <p:nvPr/>
        </p:nvSpPr>
        <p:spPr>
          <a:xfrm>
            <a:off x="4311204" y="1987300"/>
            <a:ext cx="3780665" cy="358853"/>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Systemic barriers to BH funding persist, despite agreement that treatment can impact overall health outcomes.</a:t>
            </a:r>
          </a:p>
        </p:txBody>
      </p:sp>
      <p:sp>
        <p:nvSpPr>
          <p:cNvPr id="78" name="Subtitle 2">
            <a:extLst>
              <a:ext uri="{FF2B5EF4-FFF2-40B4-BE49-F238E27FC236}">
                <a16:creationId xmlns:a16="http://schemas.microsoft.com/office/drawing/2014/main" id="{661D7864-BE8A-9E40-AAB1-CFF57EBF5715}"/>
              </a:ext>
            </a:extLst>
          </p:cNvPr>
          <p:cNvSpPr txBox="1">
            <a:spLocks/>
          </p:cNvSpPr>
          <p:nvPr/>
        </p:nvSpPr>
        <p:spPr>
          <a:xfrm>
            <a:off x="5542162" y="2774831"/>
            <a:ext cx="1278032" cy="359237"/>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81" dirty="0">
                <a:solidFill>
                  <a:schemeClr val="bg1"/>
                </a:solidFill>
                <a:latin typeface="Arial" panose="020B0604020202020204" pitchFamily="34" charset="0"/>
                <a:ea typeface="Lato Light" panose="020F0502020204030203" pitchFamily="34" charset="0"/>
                <a:cs typeface="Arial" panose="020B0604020202020204" pitchFamily="34" charset="0"/>
              </a:rPr>
              <a:t>The current BH payment model does not reimburse based on outcomes.  </a:t>
            </a:r>
          </a:p>
        </p:txBody>
      </p:sp>
      <p:sp>
        <p:nvSpPr>
          <p:cNvPr id="90" name="Subtitle 2">
            <a:extLst>
              <a:ext uri="{FF2B5EF4-FFF2-40B4-BE49-F238E27FC236}">
                <a16:creationId xmlns:a16="http://schemas.microsoft.com/office/drawing/2014/main" id="{52FA099A-FD0F-094C-AC92-B54180A8B276}"/>
              </a:ext>
            </a:extLst>
          </p:cNvPr>
          <p:cNvSpPr txBox="1">
            <a:spLocks/>
          </p:cNvSpPr>
          <p:nvPr/>
        </p:nvSpPr>
        <p:spPr>
          <a:xfrm>
            <a:off x="3304970" y="2768565"/>
            <a:ext cx="1436139" cy="359237"/>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81" dirty="0">
                <a:solidFill>
                  <a:schemeClr val="bg1"/>
                </a:solidFill>
                <a:latin typeface="Arial" panose="020B0604020202020204" pitchFamily="34" charset="0"/>
                <a:ea typeface="Lato Light" panose="020F0502020204030203" pitchFamily="34" charset="0"/>
                <a:cs typeface="Arial" panose="020B0604020202020204" pitchFamily="34" charset="0"/>
              </a:rPr>
              <a:t>It’s more difficult to articulate the value of BH care because of challenges with existing data.</a:t>
            </a:r>
          </a:p>
        </p:txBody>
      </p:sp>
      <p:sp>
        <p:nvSpPr>
          <p:cNvPr id="93" name="Subtitle 2">
            <a:extLst>
              <a:ext uri="{FF2B5EF4-FFF2-40B4-BE49-F238E27FC236}">
                <a16:creationId xmlns:a16="http://schemas.microsoft.com/office/drawing/2014/main" id="{DD733BBC-A258-1B4E-92A8-2961DB283588}"/>
              </a:ext>
            </a:extLst>
          </p:cNvPr>
          <p:cNvSpPr txBox="1">
            <a:spLocks/>
          </p:cNvSpPr>
          <p:nvPr/>
        </p:nvSpPr>
        <p:spPr>
          <a:xfrm>
            <a:off x="8745538" y="2774831"/>
            <a:ext cx="1341275" cy="359237"/>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81" dirty="0">
                <a:solidFill>
                  <a:schemeClr val="bg1"/>
                </a:solidFill>
                <a:latin typeface="Arial" panose="020B0604020202020204" pitchFamily="34" charset="0"/>
                <a:ea typeface="Lato Light" panose="020F0502020204030203" pitchFamily="34" charset="0"/>
                <a:cs typeface="Arial" panose="020B0604020202020204" pitchFamily="34" charset="0"/>
              </a:rPr>
              <a:t>There’s a perception that BH services don’t return same value as physical health care. </a:t>
            </a:r>
          </a:p>
        </p:txBody>
      </p:sp>
      <p:sp>
        <p:nvSpPr>
          <p:cNvPr id="96" name="Subtitle 2">
            <a:extLst>
              <a:ext uri="{FF2B5EF4-FFF2-40B4-BE49-F238E27FC236}">
                <a16:creationId xmlns:a16="http://schemas.microsoft.com/office/drawing/2014/main" id="{D26846BB-0938-324F-B54F-5B8852EFD1FA}"/>
              </a:ext>
            </a:extLst>
          </p:cNvPr>
          <p:cNvSpPr txBox="1">
            <a:spLocks/>
          </p:cNvSpPr>
          <p:nvPr/>
        </p:nvSpPr>
        <p:spPr>
          <a:xfrm>
            <a:off x="8979354" y="3523725"/>
            <a:ext cx="954126" cy="457213"/>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Many payers still put up barriers to BH, because of cost perceptions, despite state oversight established by the 2008 Parity Act.</a:t>
            </a:r>
          </a:p>
        </p:txBody>
      </p:sp>
      <p:sp>
        <p:nvSpPr>
          <p:cNvPr id="99" name="Subtitle 2">
            <a:extLst>
              <a:ext uri="{FF2B5EF4-FFF2-40B4-BE49-F238E27FC236}">
                <a16:creationId xmlns:a16="http://schemas.microsoft.com/office/drawing/2014/main" id="{791E6E07-594D-EA46-A45D-CDC3DB2CDA38}"/>
              </a:ext>
            </a:extLst>
          </p:cNvPr>
          <p:cNvSpPr txBox="1">
            <a:spLocks/>
          </p:cNvSpPr>
          <p:nvPr/>
        </p:nvSpPr>
        <p:spPr>
          <a:xfrm>
            <a:off x="11006461" y="3530493"/>
            <a:ext cx="925552" cy="374754"/>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The tackling the “epidemic sized” problem creates anxiety and hesitation about cost impact. </a:t>
            </a:r>
          </a:p>
        </p:txBody>
      </p:sp>
      <p:sp>
        <p:nvSpPr>
          <p:cNvPr id="102" name="Subtitle 2">
            <a:extLst>
              <a:ext uri="{FF2B5EF4-FFF2-40B4-BE49-F238E27FC236}">
                <a16:creationId xmlns:a16="http://schemas.microsoft.com/office/drawing/2014/main" id="{F4A1A281-5C8D-F44A-89AD-7B4073A0F4F0}"/>
              </a:ext>
            </a:extLst>
          </p:cNvPr>
          <p:cNvSpPr txBox="1">
            <a:spLocks/>
          </p:cNvSpPr>
          <p:nvPr/>
        </p:nvSpPr>
        <p:spPr>
          <a:xfrm>
            <a:off x="5580440" y="3530492"/>
            <a:ext cx="887244" cy="29229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Reimbursement of BH services in fee-for-service model is low. </a:t>
            </a:r>
          </a:p>
        </p:txBody>
      </p:sp>
      <p:sp>
        <p:nvSpPr>
          <p:cNvPr id="108" name="Subtitle 2">
            <a:extLst>
              <a:ext uri="{FF2B5EF4-FFF2-40B4-BE49-F238E27FC236}">
                <a16:creationId xmlns:a16="http://schemas.microsoft.com/office/drawing/2014/main" id="{8B8B7266-6B4E-D14D-B07D-C38C5EEDEF7C}"/>
              </a:ext>
            </a:extLst>
          </p:cNvPr>
          <p:cNvSpPr txBox="1">
            <a:spLocks/>
          </p:cNvSpPr>
          <p:nvPr/>
        </p:nvSpPr>
        <p:spPr>
          <a:xfrm>
            <a:off x="6689340" y="3538078"/>
            <a:ext cx="988095" cy="374754"/>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Value-based-care models that use evidence-based practices are not consistently adopted by BH clinicians.</a:t>
            </a:r>
          </a:p>
        </p:txBody>
      </p:sp>
      <p:sp>
        <p:nvSpPr>
          <p:cNvPr id="111" name="Subtitle 2">
            <a:extLst>
              <a:ext uri="{FF2B5EF4-FFF2-40B4-BE49-F238E27FC236}">
                <a16:creationId xmlns:a16="http://schemas.microsoft.com/office/drawing/2014/main" id="{41CE4F21-E6F6-4E42-8405-A353E2B35EBF}"/>
              </a:ext>
            </a:extLst>
          </p:cNvPr>
          <p:cNvSpPr txBox="1">
            <a:spLocks/>
          </p:cNvSpPr>
          <p:nvPr/>
        </p:nvSpPr>
        <p:spPr>
          <a:xfrm>
            <a:off x="3353883" y="3523960"/>
            <a:ext cx="1026504" cy="457213"/>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The complex and interconnected nature of BH and PH factors make attribution of outcomes difficult.</a:t>
            </a:r>
          </a:p>
        </p:txBody>
      </p:sp>
      <p:sp>
        <p:nvSpPr>
          <p:cNvPr id="75" name="Скругленный прямоугольник 59">
            <a:extLst>
              <a:ext uri="{FF2B5EF4-FFF2-40B4-BE49-F238E27FC236}">
                <a16:creationId xmlns:a16="http://schemas.microsoft.com/office/drawing/2014/main" id="{920717B6-DDA2-3C43-BA52-72827FD01722}"/>
              </a:ext>
            </a:extLst>
          </p:cNvPr>
          <p:cNvSpPr>
            <a:spLocks/>
          </p:cNvSpPr>
          <p:nvPr/>
        </p:nvSpPr>
        <p:spPr bwMode="auto">
          <a:xfrm>
            <a:off x="2203162" y="3510600"/>
            <a:ext cx="105965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cxnSp>
        <p:nvCxnSpPr>
          <p:cNvPr id="76" name="Соединительная линия уступом 29">
            <a:extLst>
              <a:ext uri="{FF2B5EF4-FFF2-40B4-BE49-F238E27FC236}">
                <a16:creationId xmlns:a16="http://schemas.microsoft.com/office/drawing/2014/main" id="{2BD89E4F-6DAA-1E43-BA46-A5FD6E7A02D8}"/>
              </a:ext>
            </a:extLst>
          </p:cNvPr>
          <p:cNvCxnSpPr>
            <a:cxnSpLocks/>
            <a:endCxn id="75" idx="0"/>
          </p:cNvCxnSpPr>
          <p:nvPr/>
        </p:nvCxnSpPr>
        <p:spPr bwMode="auto">
          <a:xfrm rot="10800000" flipV="1">
            <a:off x="2732991" y="3352184"/>
            <a:ext cx="1470082" cy="158414"/>
          </a:xfrm>
          <a:prstGeom prst="bentConnector2">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79" name="Subtitle 2">
            <a:extLst>
              <a:ext uri="{FF2B5EF4-FFF2-40B4-BE49-F238E27FC236}">
                <a16:creationId xmlns:a16="http://schemas.microsoft.com/office/drawing/2014/main" id="{CFDB561B-C247-D24B-88AD-4424530E9805}"/>
              </a:ext>
            </a:extLst>
          </p:cNvPr>
          <p:cNvSpPr txBox="1">
            <a:spLocks/>
          </p:cNvSpPr>
          <p:nvPr/>
        </p:nvSpPr>
        <p:spPr>
          <a:xfrm>
            <a:off x="2196399" y="3527611"/>
            <a:ext cx="1059658" cy="374754"/>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Data and analysis that show financial ROI of BH care is very limited, both internally and within the industry.</a:t>
            </a:r>
          </a:p>
        </p:txBody>
      </p:sp>
      <p:sp>
        <p:nvSpPr>
          <p:cNvPr id="36" name="Скругленный прямоугольник 80">
            <a:extLst>
              <a:ext uri="{FF2B5EF4-FFF2-40B4-BE49-F238E27FC236}">
                <a16:creationId xmlns:a16="http://schemas.microsoft.com/office/drawing/2014/main" id="{645E27A1-C2FB-DD4B-B126-34D135B5C50E}"/>
              </a:ext>
            </a:extLst>
          </p:cNvPr>
          <p:cNvSpPr>
            <a:spLocks/>
          </p:cNvSpPr>
          <p:nvPr/>
        </p:nvSpPr>
        <p:spPr bwMode="auto">
          <a:xfrm>
            <a:off x="4451108" y="3513444"/>
            <a:ext cx="106915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44" name="Subtitle 2">
            <a:extLst>
              <a:ext uri="{FF2B5EF4-FFF2-40B4-BE49-F238E27FC236}">
                <a16:creationId xmlns:a16="http://schemas.microsoft.com/office/drawing/2014/main" id="{F4A1A281-5C8D-F44A-89AD-7B4073A0F4F0}"/>
              </a:ext>
            </a:extLst>
          </p:cNvPr>
          <p:cNvSpPr txBox="1">
            <a:spLocks/>
          </p:cNvSpPr>
          <p:nvPr/>
        </p:nvSpPr>
        <p:spPr>
          <a:xfrm>
            <a:off x="4474935" y="3521038"/>
            <a:ext cx="977597" cy="374754"/>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There’s no objective, global assessment tool to measure outcomes. (WHODAS Functional Outcome Scale)</a:t>
            </a:r>
          </a:p>
        </p:txBody>
      </p:sp>
      <p:sp>
        <p:nvSpPr>
          <p:cNvPr id="60" name="Скругленный прямоугольник 84">
            <a:extLst>
              <a:ext uri="{FF2B5EF4-FFF2-40B4-BE49-F238E27FC236}">
                <a16:creationId xmlns:a16="http://schemas.microsoft.com/office/drawing/2014/main" id="{0594F8BE-B3AF-C84B-8492-8A2D86CFE89C}"/>
              </a:ext>
            </a:extLst>
          </p:cNvPr>
          <p:cNvSpPr>
            <a:spLocks/>
          </p:cNvSpPr>
          <p:nvPr/>
        </p:nvSpPr>
        <p:spPr bwMode="auto">
          <a:xfrm>
            <a:off x="1840412" y="4352016"/>
            <a:ext cx="739390"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61" name="Скругленный прямоугольник 88">
            <a:extLst>
              <a:ext uri="{FF2B5EF4-FFF2-40B4-BE49-F238E27FC236}">
                <a16:creationId xmlns:a16="http://schemas.microsoft.com/office/drawing/2014/main" id="{EBDE1CE4-6D4D-A548-B0DE-F17D28164F55}"/>
              </a:ext>
            </a:extLst>
          </p:cNvPr>
          <p:cNvSpPr>
            <a:spLocks/>
          </p:cNvSpPr>
          <p:nvPr/>
        </p:nvSpPr>
        <p:spPr bwMode="auto">
          <a:xfrm>
            <a:off x="2632931" y="4352016"/>
            <a:ext cx="739390"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cxnSp>
        <p:nvCxnSpPr>
          <p:cNvPr id="62" name="Соединительная линия уступом 36">
            <a:extLst>
              <a:ext uri="{FF2B5EF4-FFF2-40B4-BE49-F238E27FC236}">
                <a16:creationId xmlns:a16="http://schemas.microsoft.com/office/drawing/2014/main" id="{010113D0-801D-4E4A-A914-AC04A84C1C38}"/>
              </a:ext>
            </a:extLst>
          </p:cNvPr>
          <p:cNvCxnSpPr>
            <a:cxnSpLocks/>
            <a:endCxn id="60" idx="0"/>
          </p:cNvCxnSpPr>
          <p:nvPr/>
        </p:nvCxnSpPr>
        <p:spPr bwMode="auto">
          <a:xfrm rot="5400000">
            <a:off x="2292725" y="3940840"/>
            <a:ext cx="328557" cy="493792"/>
          </a:xfrm>
          <a:prstGeom prst="bentConnector3">
            <a:avLst>
              <a:gd name="adj1" fmla="val 50000"/>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63" name="Соединительная линия уступом 91">
            <a:extLst>
              <a:ext uri="{FF2B5EF4-FFF2-40B4-BE49-F238E27FC236}">
                <a16:creationId xmlns:a16="http://schemas.microsoft.com/office/drawing/2014/main" id="{9961B9D7-BC69-9449-A462-326C8CE436CF}"/>
              </a:ext>
            </a:extLst>
          </p:cNvPr>
          <p:cNvCxnSpPr>
            <a:cxnSpLocks/>
          </p:cNvCxnSpPr>
          <p:nvPr/>
        </p:nvCxnSpPr>
        <p:spPr bwMode="auto">
          <a:xfrm rot="16200000" flipH="1">
            <a:off x="2723052" y="4003697"/>
            <a:ext cx="328557" cy="366863"/>
          </a:xfrm>
          <a:prstGeom prst="bentConnector3">
            <a:avLst>
              <a:gd name="adj1" fmla="val 50000"/>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64" name="Subtitle 2">
            <a:extLst>
              <a:ext uri="{FF2B5EF4-FFF2-40B4-BE49-F238E27FC236}">
                <a16:creationId xmlns:a16="http://schemas.microsoft.com/office/drawing/2014/main" id="{D26846BB-0938-324F-B54F-5B8852EFD1FA}"/>
              </a:ext>
            </a:extLst>
          </p:cNvPr>
          <p:cNvSpPr txBox="1">
            <a:spLocks/>
          </p:cNvSpPr>
          <p:nvPr/>
        </p:nvSpPr>
        <p:spPr>
          <a:xfrm>
            <a:off x="2647890" y="4375572"/>
            <a:ext cx="708849" cy="29229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N is low on some of our existing analysis.  </a:t>
            </a:r>
          </a:p>
        </p:txBody>
      </p:sp>
      <p:sp>
        <p:nvSpPr>
          <p:cNvPr id="65" name="Subtitle 2">
            <a:extLst>
              <a:ext uri="{FF2B5EF4-FFF2-40B4-BE49-F238E27FC236}">
                <a16:creationId xmlns:a16="http://schemas.microsoft.com/office/drawing/2014/main" id="{791E6E07-594D-EA46-A45D-CDC3DB2CDA38}"/>
              </a:ext>
            </a:extLst>
          </p:cNvPr>
          <p:cNvSpPr txBox="1">
            <a:spLocks/>
          </p:cNvSpPr>
          <p:nvPr/>
        </p:nvSpPr>
        <p:spPr>
          <a:xfrm>
            <a:off x="1848602" y="4375570"/>
            <a:ext cx="754807" cy="457213"/>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Data that’s collected is not being actively analyzed to understand outcomes. </a:t>
            </a:r>
          </a:p>
        </p:txBody>
      </p:sp>
      <p:sp>
        <p:nvSpPr>
          <p:cNvPr id="68" name="Скругленный прямоугольник 59">
            <a:extLst>
              <a:ext uri="{FF2B5EF4-FFF2-40B4-BE49-F238E27FC236}">
                <a16:creationId xmlns:a16="http://schemas.microsoft.com/office/drawing/2014/main" id="{920717B6-DDA2-3C43-BA52-72827FD01722}"/>
              </a:ext>
            </a:extLst>
          </p:cNvPr>
          <p:cNvSpPr>
            <a:spLocks/>
          </p:cNvSpPr>
          <p:nvPr/>
        </p:nvSpPr>
        <p:spPr bwMode="auto">
          <a:xfrm>
            <a:off x="1097268" y="3510600"/>
            <a:ext cx="105965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cxnSp>
        <p:nvCxnSpPr>
          <p:cNvPr id="69" name="Соединительная линия уступом 29">
            <a:extLst>
              <a:ext uri="{FF2B5EF4-FFF2-40B4-BE49-F238E27FC236}">
                <a16:creationId xmlns:a16="http://schemas.microsoft.com/office/drawing/2014/main" id="{2BD89E4F-6DAA-1E43-BA46-A5FD6E7A02D8}"/>
              </a:ext>
            </a:extLst>
          </p:cNvPr>
          <p:cNvCxnSpPr>
            <a:cxnSpLocks/>
            <a:endCxn id="68" idx="0"/>
          </p:cNvCxnSpPr>
          <p:nvPr/>
        </p:nvCxnSpPr>
        <p:spPr bwMode="auto">
          <a:xfrm rot="10800000" flipV="1">
            <a:off x="1627097" y="3348959"/>
            <a:ext cx="1240616" cy="161640"/>
          </a:xfrm>
          <a:prstGeom prst="bentConnector2">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70" name="Subtitle 2">
            <a:extLst>
              <a:ext uri="{FF2B5EF4-FFF2-40B4-BE49-F238E27FC236}">
                <a16:creationId xmlns:a16="http://schemas.microsoft.com/office/drawing/2014/main" id="{CFDB561B-C247-D24B-88AD-4424530E9805}"/>
              </a:ext>
            </a:extLst>
          </p:cNvPr>
          <p:cNvSpPr txBox="1">
            <a:spLocks/>
          </p:cNvSpPr>
          <p:nvPr/>
        </p:nvSpPr>
        <p:spPr>
          <a:xfrm>
            <a:off x="1143315" y="3527611"/>
            <a:ext cx="989184" cy="457213"/>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Data and analysis that would be useful in measuring BH health outcomes are not consistently captured and shared across sites of care.</a:t>
            </a:r>
          </a:p>
        </p:txBody>
      </p:sp>
      <p:sp>
        <p:nvSpPr>
          <p:cNvPr id="71" name="Скругленный прямоугольник 80">
            <a:extLst>
              <a:ext uri="{FF2B5EF4-FFF2-40B4-BE49-F238E27FC236}">
                <a16:creationId xmlns:a16="http://schemas.microsoft.com/office/drawing/2014/main" id="{645E27A1-C2FB-DD4B-B126-34D135B5C50E}"/>
              </a:ext>
            </a:extLst>
          </p:cNvPr>
          <p:cNvSpPr>
            <a:spLocks/>
          </p:cNvSpPr>
          <p:nvPr/>
        </p:nvSpPr>
        <p:spPr bwMode="auto">
          <a:xfrm>
            <a:off x="5047851" y="4351477"/>
            <a:ext cx="1106594" cy="652030"/>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cxnSp>
        <p:nvCxnSpPr>
          <p:cNvPr id="72" name="Соединительная линия уступом 34">
            <a:extLst>
              <a:ext uri="{FF2B5EF4-FFF2-40B4-BE49-F238E27FC236}">
                <a16:creationId xmlns:a16="http://schemas.microsoft.com/office/drawing/2014/main" id="{8A567054-5A1D-FD4B-BD23-D23EFC96BA80}"/>
              </a:ext>
            </a:extLst>
          </p:cNvPr>
          <p:cNvCxnSpPr>
            <a:cxnSpLocks/>
            <a:stCxn id="23" idx="2"/>
          </p:cNvCxnSpPr>
          <p:nvPr/>
        </p:nvCxnSpPr>
        <p:spPr bwMode="auto">
          <a:xfrm rot="5400000">
            <a:off x="5782951" y="4028484"/>
            <a:ext cx="323626" cy="312892"/>
          </a:xfrm>
          <a:prstGeom prst="bentConnector3">
            <a:avLst>
              <a:gd name="adj1" fmla="val 50000"/>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77" name="Subtitle 2">
            <a:extLst>
              <a:ext uri="{FF2B5EF4-FFF2-40B4-BE49-F238E27FC236}">
                <a16:creationId xmlns:a16="http://schemas.microsoft.com/office/drawing/2014/main" id="{F4A1A281-5C8D-F44A-89AD-7B4073A0F4F0}"/>
              </a:ext>
            </a:extLst>
          </p:cNvPr>
          <p:cNvSpPr txBox="1">
            <a:spLocks/>
          </p:cNvSpPr>
          <p:nvPr/>
        </p:nvSpPr>
        <p:spPr>
          <a:xfrm>
            <a:off x="5050378" y="4381817"/>
            <a:ext cx="1104069" cy="622130"/>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Non-BH clinicians, who could perform some BH services, may choose not to because of low reimbursement, additional documentation, and reserving of time other higher-reimbursement services. </a:t>
            </a:r>
          </a:p>
        </p:txBody>
      </p:sp>
      <p:sp>
        <p:nvSpPr>
          <p:cNvPr id="66" name="Скругленный прямоугольник 80">
            <a:extLst>
              <a:ext uri="{FF2B5EF4-FFF2-40B4-BE49-F238E27FC236}">
                <a16:creationId xmlns:a16="http://schemas.microsoft.com/office/drawing/2014/main" id="{645E27A1-C2FB-DD4B-B126-34D135B5C50E}"/>
              </a:ext>
            </a:extLst>
          </p:cNvPr>
          <p:cNvSpPr>
            <a:spLocks/>
          </p:cNvSpPr>
          <p:nvPr/>
        </p:nvSpPr>
        <p:spPr bwMode="auto">
          <a:xfrm>
            <a:off x="6398274" y="4360205"/>
            <a:ext cx="705875" cy="38986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67" name="Subtitle 2">
            <a:extLst>
              <a:ext uri="{FF2B5EF4-FFF2-40B4-BE49-F238E27FC236}">
                <a16:creationId xmlns:a16="http://schemas.microsoft.com/office/drawing/2014/main" id="{F4A1A281-5C8D-F44A-89AD-7B4073A0F4F0}"/>
              </a:ext>
            </a:extLst>
          </p:cNvPr>
          <p:cNvSpPr txBox="1">
            <a:spLocks/>
          </p:cNvSpPr>
          <p:nvPr/>
        </p:nvSpPr>
        <p:spPr>
          <a:xfrm>
            <a:off x="6400801" y="4373610"/>
            <a:ext cx="703348" cy="29229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There is rampant inconsistency in treatment methods. </a:t>
            </a:r>
          </a:p>
        </p:txBody>
      </p:sp>
      <p:cxnSp>
        <p:nvCxnSpPr>
          <p:cNvPr id="73" name="Соединительная линия уступом 34">
            <a:extLst>
              <a:ext uri="{FF2B5EF4-FFF2-40B4-BE49-F238E27FC236}">
                <a16:creationId xmlns:a16="http://schemas.microsoft.com/office/drawing/2014/main" id="{8A567054-5A1D-FD4B-BD23-D23EFC96BA80}"/>
              </a:ext>
            </a:extLst>
          </p:cNvPr>
          <p:cNvCxnSpPr>
            <a:cxnSpLocks/>
          </p:cNvCxnSpPr>
          <p:nvPr/>
        </p:nvCxnSpPr>
        <p:spPr bwMode="auto">
          <a:xfrm>
            <a:off x="6085558" y="4184190"/>
            <a:ext cx="634719" cy="168817"/>
          </a:xfrm>
          <a:prstGeom prst="bentConnector2">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81" name="Скругленный прямоугольник 84">
            <a:extLst>
              <a:ext uri="{FF2B5EF4-FFF2-40B4-BE49-F238E27FC236}">
                <a16:creationId xmlns:a16="http://schemas.microsoft.com/office/drawing/2014/main" id="{0594F8BE-B3AF-C84B-8492-8A2D86CFE89C}"/>
              </a:ext>
            </a:extLst>
          </p:cNvPr>
          <p:cNvSpPr>
            <a:spLocks/>
          </p:cNvSpPr>
          <p:nvPr/>
        </p:nvSpPr>
        <p:spPr bwMode="auto">
          <a:xfrm>
            <a:off x="8930131" y="4336621"/>
            <a:ext cx="921194" cy="761193"/>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82" name="Subtitle 2">
            <a:extLst>
              <a:ext uri="{FF2B5EF4-FFF2-40B4-BE49-F238E27FC236}">
                <a16:creationId xmlns:a16="http://schemas.microsoft.com/office/drawing/2014/main" id="{D26846BB-0938-324F-B54F-5B8852EFD1FA}"/>
              </a:ext>
            </a:extLst>
          </p:cNvPr>
          <p:cNvSpPr txBox="1">
            <a:spLocks/>
          </p:cNvSpPr>
          <p:nvPr/>
        </p:nvSpPr>
        <p:spPr>
          <a:xfrm>
            <a:off x="8930131" y="4362399"/>
            <a:ext cx="950031" cy="704588"/>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Barriers: Prior-</a:t>
            </a:r>
            <a:r>
              <a:rPr lang="en-US" sz="536" dirty="0" err="1">
                <a:solidFill>
                  <a:schemeClr val="bg1"/>
                </a:solidFill>
                <a:latin typeface="Arial" panose="020B0604020202020204" pitchFamily="34" charset="0"/>
                <a:ea typeface="Lato Light" panose="020F0502020204030203" pitchFamily="34" charset="0"/>
                <a:cs typeface="Arial" panose="020B0604020202020204" pitchFamily="34" charset="0"/>
              </a:rPr>
              <a:t>auths</a:t>
            </a: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 med necessity, separate copays and deductibles, limited in-network services, lower reimbursement and undocumented non-quantitative treatment limitation reviews (NQTLs) .</a:t>
            </a:r>
          </a:p>
        </p:txBody>
      </p:sp>
      <p:sp>
        <p:nvSpPr>
          <p:cNvPr id="115" name="Скругленный прямоугольник 59">
            <a:extLst>
              <a:ext uri="{FF2B5EF4-FFF2-40B4-BE49-F238E27FC236}">
                <a16:creationId xmlns:a16="http://schemas.microsoft.com/office/drawing/2014/main" id="{920717B6-DDA2-3C43-BA52-72827FD01722}"/>
              </a:ext>
            </a:extLst>
          </p:cNvPr>
          <p:cNvSpPr>
            <a:spLocks/>
          </p:cNvSpPr>
          <p:nvPr/>
        </p:nvSpPr>
        <p:spPr bwMode="auto">
          <a:xfrm>
            <a:off x="7836462" y="3510600"/>
            <a:ext cx="105965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16" name="Subtitle 2">
            <a:extLst>
              <a:ext uri="{FF2B5EF4-FFF2-40B4-BE49-F238E27FC236}">
                <a16:creationId xmlns:a16="http://schemas.microsoft.com/office/drawing/2014/main" id="{CFDB561B-C247-D24B-88AD-4424530E9805}"/>
              </a:ext>
            </a:extLst>
          </p:cNvPr>
          <p:cNvSpPr txBox="1">
            <a:spLocks/>
          </p:cNvSpPr>
          <p:nvPr/>
        </p:nvSpPr>
        <p:spPr>
          <a:xfrm>
            <a:off x="7851590" y="3533659"/>
            <a:ext cx="1059657" cy="457213"/>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There’s a perceived intangible nature to BH outcomes. There are now better tools and data, but results are more subtle than PH.</a:t>
            </a:r>
          </a:p>
        </p:txBody>
      </p:sp>
      <p:cxnSp>
        <p:nvCxnSpPr>
          <p:cNvPr id="85" name="Соединительная линия уступом 91">
            <a:extLst>
              <a:ext uri="{FF2B5EF4-FFF2-40B4-BE49-F238E27FC236}">
                <a16:creationId xmlns:a16="http://schemas.microsoft.com/office/drawing/2014/main" id="{928702B7-AEC4-E541-ABF8-6BA404B72D40}"/>
              </a:ext>
            </a:extLst>
          </p:cNvPr>
          <p:cNvCxnSpPr>
            <a:cxnSpLocks/>
          </p:cNvCxnSpPr>
          <p:nvPr/>
        </p:nvCxnSpPr>
        <p:spPr bwMode="auto">
          <a:xfrm rot="10800000" flipV="1">
            <a:off x="8364188" y="3344008"/>
            <a:ext cx="1061091" cy="172200"/>
          </a:xfrm>
          <a:prstGeom prst="bentConnector3">
            <a:avLst>
              <a:gd name="adj1" fmla="val 100224"/>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91" name="Скругленный прямоугольник 84">
            <a:extLst>
              <a:ext uri="{FF2B5EF4-FFF2-40B4-BE49-F238E27FC236}">
                <a16:creationId xmlns:a16="http://schemas.microsoft.com/office/drawing/2014/main" id="{8917FA60-E242-3945-A8AE-B11F650356C5}"/>
              </a:ext>
            </a:extLst>
          </p:cNvPr>
          <p:cNvSpPr>
            <a:spLocks/>
          </p:cNvSpPr>
          <p:nvPr/>
        </p:nvSpPr>
        <p:spPr bwMode="auto">
          <a:xfrm>
            <a:off x="7832365" y="5178262"/>
            <a:ext cx="1055933" cy="527373"/>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92" name="Subtitle 2">
            <a:extLst>
              <a:ext uri="{FF2B5EF4-FFF2-40B4-BE49-F238E27FC236}">
                <a16:creationId xmlns:a16="http://schemas.microsoft.com/office/drawing/2014/main" id="{DBADEE90-B192-2841-8397-2992425C301A}"/>
              </a:ext>
            </a:extLst>
          </p:cNvPr>
          <p:cNvSpPr txBox="1">
            <a:spLocks/>
          </p:cNvSpPr>
          <p:nvPr/>
        </p:nvSpPr>
        <p:spPr>
          <a:xfrm>
            <a:off x="7832365" y="5204040"/>
            <a:ext cx="1055933" cy="457213"/>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Collaborative care codes improve BH flexibility and reimbursable services, but only apply in integrated primary and specialty care settings. </a:t>
            </a:r>
          </a:p>
        </p:txBody>
      </p:sp>
      <p:cxnSp>
        <p:nvCxnSpPr>
          <p:cNvPr id="101" name="Соединительная линия уступом 36">
            <a:extLst>
              <a:ext uri="{FF2B5EF4-FFF2-40B4-BE49-F238E27FC236}">
                <a16:creationId xmlns:a16="http://schemas.microsoft.com/office/drawing/2014/main" id="{8CC1D515-DBB1-ED42-8F4C-1FAD48087F14}"/>
              </a:ext>
            </a:extLst>
          </p:cNvPr>
          <p:cNvCxnSpPr>
            <a:cxnSpLocks/>
            <a:stCxn id="29" idx="2"/>
          </p:cNvCxnSpPr>
          <p:nvPr/>
        </p:nvCxnSpPr>
        <p:spPr bwMode="auto">
          <a:xfrm rot="5400000">
            <a:off x="6863019" y="4044186"/>
            <a:ext cx="328289" cy="286150"/>
          </a:xfrm>
          <a:prstGeom prst="bentConnector3">
            <a:avLst>
              <a:gd name="adj1" fmla="val 50000"/>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10" name="Elbow Connector 109">
            <a:extLst>
              <a:ext uri="{FF2B5EF4-FFF2-40B4-BE49-F238E27FC236}">
                <a16:creationId xmlns:a16="http://schemas.microsoft.com/office/drawing/2014/main" id="{BBAB1A1D-79BF-694C-BE1E-25F718CBE3C7}"/>
              </a:ext>
            </a:extLst>
          </p:cNvPr>
          <p:cNvCxnSpPr>
            <a:cxnSpLocks/>
            <a:stCxn id="91" idx="2"/>
          </p:cNvCxnSpPr>
          <p:nvPr/>
        </p:nvCxnSpPr>
        <p:spPr>
          <a:xfrm rot="5400000" flipH="1">
            <a:off x="6492564" y="3837868"/>
            <a:ext cx="704425" cy="3031110"/>
          </a:xfrm>
          <a:prstGeom prst="bentConnector4">
            <a:avLst>
              <a:gd name="adj1" fmla="val -30066"/>
              <a:gd name="adj2" fmla="val 99985"/>
            </a:avLst>
          </a:prstGeom>
          <a:ln w="19050">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3"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9991924" y="3510600"/>
            <a:ext cx="956092"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86" name="Subtitle 2">
            <a:extLst>
              <a:ext uri="{FF2B5EF4-FFF2-40B4-BE49-F238E27FC236}">
                <a16:creationId xmlns:a16="http://schemas.microsoft.com/office/drawing/2014/main" id="{DF2DFF69-ACDE-4046-A537-554CEA57FCD3}"/>
              </a:ext>
            </a:extLst>
          </p:cNvPr>
          <p:cNvSpPr txBox="1">
            <a:spLocks/>
          </p:cNvSpPr>
          <p:nvPr/>
        </p:nvSpPr>
        <p:spPr>
          <a:xfrm>
            <a:off x="9993889" y="3523726"/>
            <a:ext cx="990434" cy="457213"/>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When insurers and providers negotiate reimbursements, focus is on the highest-cost services, making progress on BH a second-thought.</a:t>
            </a:r>
          </a:p>
        </p:txBody>
      </p:sp>
      <p:cxnSp>
        <p:nvCxnSpPr>
          <p:cNvPr id="87" name="Соединительная линия уступом 91">
            <a:extLst>
              <a:ext uri="{FF2B5EF4-FFF2-40B4-BE49-F238E27FC236}">
                <a16:creationId xmlns:a16="http://schemas.microsoft.com/office/drawing/2014/main" id="{D45F2E45-3143-D241-B927-651D6F3FEAB4}"/>
              </a:ext>
            </a:extLst>
          </p:cNvPr>
          <p:cNvCxnSpPr>
            <a:cxnSpLocks/>
          </p:cNvCxnSpPr>
          <p:nvPr/>
        </p:nvCxnSpPr>
        <p:spPr bwMode="auto">
          <a:xfrm>
            <a:off x="9467813" y="3344284"/>
            <a:ext cx="992837" cy="160432"/>
          </a:xfrm>
          <a:prstGeom prst="bentConnector3">
            <a:avLst>
              <a:gd name="adj1" fmla="val 99727"/>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88" name="Rectangle 87">
            <a:extLst>
              <a:ext uri="{FF2B5EF4-FFF2-40B4-BE49-F238E27FC236}">
                <a16:creationId xmlns:a16="http://schemas.microsoft.com/office/drawing/2014/main" id="{4B25B938-7149-CB48-AFF3-E87F0AA28C57}"/>
              </a:ext>
            </a:extLst>
          </p:cNvPr>
          <p:cNvSpPr/>
          <p:nvPr/>
        </p:nvSpPr>
        <p:spPr>
          <a:xfrm>
            <a:off x="682438" y="780519"/>
            <a:ext cx="6267568" cy="320537"/>
          </a:xfrm>
          <a:prstGeom prst="rect">
            <a:avLst/>
          </a:prstGeom>
        </p:spPr>
        <p:txBody>
          <a:bodyPr wrap="square" anchor="t">
            <a:spAutoFit/>
          </a:bodyPr>
          <a:lstStyle/>
          <a:p>
            <a:r>
              <a:rPr lang="en-US" sz="1483" dirty="0">
                <a:solidFill>
                  <a:srgbClr val="003963"/>
                </a:solidFill>
              </a:rPr>
              <a:t>PROBLEM AREA 1: </a:t>
            </a:r>
            <a:r>
              <a:rPr lang="en-US" sz="1483" b="1" dirty="0">
                <a:solidFill>
                  <a:srgbClr val="00A2E2"/>
                </a:solidFill>
              </a:rPr>
              <a:t>Remove Barriers to Value Realization</a:t>
            </a:r>
          </a:p>
        </p:txBody>
      </p:sp>
      <p:cxnSp>
        <p:nvCxnSpPr>
          <p:cNvPr id="89" name="Соединительная линия уступом 29">
            <a:extLst>
              <a:ext uri="{FF2B5EF4-FFF2-40B4-BE49-F238E27FC236}">
                <a16:creationId xmlns:a16="http://schemas.microsoft.com/office/drawing/2014/main" id="{93A476C4-8FC5-0540-8725-77135B9C1456}"/>
              </a:ext>
            </a:extLst>
          </p:cNvPr>
          <p:cNvCxnSpPr>
            <a:cxnSpLocks/>
          </p:cNvCxnSpPr>
          <p:nvPr/>
        </p:nvCxnSpPr>
        <p:spPr bwMode="auto">
          <a:xfrm rot="10800000" flipV="1">
            <a:off x="5117766" y="3346301"/>
            <a:ext cx="1470082" cy="158414"/>
          </a:xfrm>
          <a:prstGeom prst="bentConnector2">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21" name="Straight Arrow Connector 20">
            <a:extLst>
              <a:ext uri="{FF2B5EF4-FFF2-40B4-BE49-F238E27FC236}">
                <a16:creationId xmlns:a16="http://schemas.microsoft.com/office/drawing/2014/main" id="{85A23ADE-5887-AF42-9110-8FBF4DAC89E1}"/>
              </a:ext>
            </a:extLst>
          </p:cNvPr>
          <p:cNvCxnSpPr>
            <a:stCxn id="5" idx="2"/>
          </p:cNvCxnSpPr>
          <p:nvPr/>
        </p:nvCxnSpPr>
        <p:spPr>
          <a:xfrm flipH="1">
            <a:off x="6157524" y="2386640"/>
            <a:ext cx="1" cy="365670"/>
          </a:xfrm>
          <a:prstGeom prst="straightConnector1">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98" name="Скругленный прямоугольник 84">
            <a:extLst>
              <a:ext uri="{FF2B5EF4-FFF2-40B4-BE49-F238E27FC236}">
                <a16:creationId xmlns:a16="http://schemas.microsoft.com/office/drawing/2014/main" id="{E540C237-2522-3E4B-9B45-57091AFFF3E8}"/>
              </a:ext>
            </a:extLst>
          </p:cNvPr>
          <p:cNvSpPr>
            <a:spLocks/>
          </p:cNvSpPr>
          <p:nvPr/>
        </p:nvSpPr>
        <p:spPr bwMode="auto">
          <a:xfrm>
            <a:off x="7832364" y="4343270"/>
            <a:ext cx="1044953" cy="520725"/>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03" name="Subtitle 2">
            <a:extLst>
              <a:ext uri="{FF2B5EF4-FFF2-40B4-BE49-F238E27FC236}">
                <a16:creationId xmlns:a16="http://schemas.microsoft.com/office/drawing/2014/main" id="{A080C6BC-5240-D24E-8F7D-8E927BE39035}"/>
              </a:ext>
            </a:extLst>
          </p:cNvPr>
          <p:cNvSpPr txBox="1">
            <a:spLocks/>
          </p:cNvSpPr>
          <p:nvPr/>
        </p:nvSpPr>
        <p:spPr>
          <a:xfrm>
            <a:off x="7885177" y="4371370"/>
            <a:ext cx="925552" cy="457213"/>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Integrated care is more readily accepted because BH and PH care traveling together has a more direct ROI story. </a:t>
            </a:r>
          </a:p>
        </p:txBody>
      </p:sp>
      <p:cxnSp>
        <p:nvCxnSpPr>
          <p:cNvPr id="104" name="Straight Arrow Connector 103">
            <a:extLst>
              <a:ext uri="{FF2B5EF4-FFF2-40B4-BE49-F238E27FC236}">
                <a16:creationId xmlns:a16="http://schemas.microsoft.com/office/drawing/2014/main" id="{2ABCC7AD-AA9C-9F41-82C3-74818BD86EB2}"/>
              </a:ext>
            </a:extLst>
          </p:cNvPr>
          <p:cNvCxnSpPr>
            <a:cxnSpLocks/>
            <a:endCxn id="98" idx="0"/>
          </p:cNvCxnSpPr>
          <p:nvPr/>
        </p:nvCxnSpPr>
        <p:spPr>
          <a:xfrm flipH="1">
            <a:off x="8354841" y="4022138"/>
            <a:ext cx="2135" cy="321131"/>
          </a:xfrm>
          <a:prstGeom prst="straightConnector1">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05" name="Straight Arrow Connector 104">
            <a:extLst>
              <a:ext uri="{FF2B5EF4-FFF2-40B4-BE49-F238E27FC236}">
                <a16:creationId xmlns:a16="http://schemas.microsoft.com/office/drawing/2014/main" id="{D70CA322-46BC-1142-A6C5-08F4C9AB0D20}"/>
              </a:ext>
            </a:extLst>
          </p:cNvPr>
          <p:cNvCxnSpPr>
            <a:cxnSpLocks/>
            <a:endCxn id="91" idx="0"/>
          </p:cNvCxnSpPr>
          <p:nvPr/>
        </p:nvCxnSpPr>
        <p:spPr>
          <a:xfrm flipH="1">
            <a:off x="8360332" y="4857536"/>
            <a:ext cx="2527" cy="320726"/>
          </a:xfrm>
          <a:prstGeom prst="straightConnector1">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06" name="Straight Arrow Connector 105">
            <a:extLst>
              <a:ext uri="{FF2B5EF4-FFF2-40B4-BE49-F238E27FC236}">
                <a16:creationId xmlns:a16="http://schemas.microsoft.com/office/drawing/2014/main" id="{218BD083-5311-3F4C-84DD-7D3C7897C60A}"/>
              </a:ext>
            </a:extLst>
          </p:cNvPr>
          <p:cNvCxnSpPr>
            <a:cxnSpLocks/>
          </p:cNvCxnSpPr>
          <p:nvPr/>
        </p:nvCxnSpPr>
        <p:spPr>
          <a:xfrm flipH="1">
            <a:off x="6137743" y="3180857"/>
            <a:ext cx="2135" cy="321131"/>
          </a:xfrm>
          <a:prstGeom prst="straightConnector1">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07" name="Straight Arrow Connector 106">
            <a:extLst>
              <a:ext uri="{FF2B5EF4-FFF2-40B4-BE49-F238E27FC236}">
                <a16:creationId xmlns:a16="http://schemas.microsoft.com/office/drawing/2014/main" id="{5FF7A5D3-0CCC-8A43-B53F-6C9B85DCE365}"/>
              </a:ext>
            </a:extLst>
          </p:cNvPr>
          <p:cNvCxnSpPr>
            <a:cxnSpLocks/>
          </p:cNvCxnSpPr>
          <p:nvPr/>
        </p:nvCxnSpPr>
        <p:spPr>
          <a:xfrm flipH="1">
            <a:off x="4025714" y="3180857"/>
            <a:ext cx="2135" cy="321131"/>
          </a:xfrm>
          <a:prstGeom prst="straightConnector1">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80" name="Скругленный прямоугольник 59">
            <a:extLst>
              <a:ext uri="{FF2B5EF4-FFF2-40B4-BE49-F238E27FC236}">
                <a16:creationId xmlns:a16="http://schemas.microsoft.com/office/drawing/2014/main" id="{FBEDFEF8-DD96-264E-B160-B7D15F9166CE}"/>
              </a:ext>
            </a:extLst>
          </p:cNvPr>
          <p:cNvSpPr>
            <a:spLocks/>
          </p:cNvSpPr>
          <p:nvPr/>
        </p:nvSpPr>
        <p:spPr bwMode="auto">
          <a:xfrm>
            <a:off x="730036" y="4354359"/>
            <a:ext cx="105965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84" name="Subtitle 2">
            <a:extLst>
              <a:ext uri="{FF2B5EF4-FFF2-40B4-BE49-F238E27FC236}">
                <a16:creationId xmlns:a16="http://schemas.microsoft.com/office/drawing/2014/main" id="{BDE07C95-2909-7C4D-996C-3347F10180E8}"/>
              </a:ext>
            </a:extLst>
          </p:cNvPr>
          <p:cNvSpPr txBox="1">
            <a:spLocks/>
          </p:cNvSpPr>
          <p:nvPr/>
        </p:nvSpPr>
        <p:spPr>
          <a:xfrm>
            <a:off x="723274" y="4371370"/>
            <a:ext cx="1059658" cy="457213"/>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Absence of reliable BH biomarkers/biotypes makes BH conditions more difficult than PH to identify conditions and measure treatment outcomes.  </a:t>
            </a:r>
          </a:p>
        </p:txBody>
      </p:sp>
      <p:cxnSp>
        <p:nvCxnSpPr>
          <p:cNvPr id="94" name="Соединительная линия уступом 36">
            <a:extLst>
              <a:ext uri="{FF2B5EF4-FFF2-40B4-BE49-F238E27FC236}">
                <a16:creationId xmlns:a16="http://schemas.microsoft.com/office/drawing/2014/main" id="{ACEF9508-E180-1B4A-B0C9-08746B654A7D}"/>
              </a:ext>
            </a:extLst>
          </p:cNvPr>
          <p:cNvCxnSpPr>
            <a:cxnSpLocks/>
          </p:cNvCxnSpPr>
          <p:nvPr/>
        </p:nvCxnSpPr>
        <p:spPr bwMode="auto">
          <a:xfrm rot="5400000">
            <a:off x="1192120" y="3947325"/>
            <a:ext cx="328557" cy="493792"/>
          </a:xfrm>
          <a:prstGeom prst="bentConnector3">
            <a:avLst>
              <a:gd name="adj1" fmla="val 50000"/>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97" name="Соединительная линия уступом 91">
            <a:extLst>
              <a:ext uri="{FF2B5EF4-FFF2-40B4-BE49-F238E27FC236}">
                <a16:creationId xmlns:a16="http://schemas.microsoft.com/office/drawing/2014/main" id="{FA28FDB0-8EFB-9443-9AF4-FE5CE6E5E438}"/>
              </a:ext>
            </a:extLst>
          </p:cNvPr>
          <p:cNvCxnSpPr>
            <a:cxnSpLocks/>
          </p:cNvCxnSpPr>
          <p:nvPr/>
        </p:nvCxnSpPr>
        <p:spPr bwMode="auto">
          <a:xfrm rot="16200000" flipH="1">
            <a:off x="1865540" y="4003699"/>
            <a:ext cx="328557" cy="366863"/>
          </a:xfrm>
          <a:prstGeom prst="bentConnector3">
            <a:avLst>
              <a:gd name="adj1" fmla="val 50000"/>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119" name="Скругленный прямоугольник 88">
            <a:extLst>
              <a:ext uri="{FF2B5EF4-FFF2-40B4-BE49-F238E27FC236}">
                <a16:creationId xmlns:a16="http://schemas.microsoft.com/office/drawing/2014/main" id="{80C90022-F0EA-914F-ABCD-3D0CB57035EF}"/>
              </a:ext>
            </a:extLst>
          </p:cNvPr>
          <p:cNvSpPr>
            <a:spLocks/>
          </p:cNvSpPr>
          <p:nvPr/>
        </p:nvSpPr>
        <p:spPr bwMode="auto">
          <a:xfrm>
            <a:off x="4261822" y="4352016"/>
            <a:ext cx="739390"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20" name="Subtitle 2">
            <a:extLst>
              <a:ext uri="{FF2B5EF4-FFF2-40B4-BE49-F238E27FC236}">
                <a16:creationId xmlns:a16="http://schemas.microsoft.com/office/drawing/2014/main" id="{F18E1214-173A-664B-A480-E0C2E16300D4}"/>
              </a:ext>
            </a:extLst>
          </p:cNvPr>
          <p:cNvSpPr txBox="1">
            <a:spLocks/>
          </p:cNvSpPr>
          <p:nvPr/>
        </p:nvSpPr>
        <p:spPr>
          <a:xfrm>
            <a:off x="4276781" y="4375572"/>
            <a:ext cx="708849" cy="29229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Currently used GAF scores are too subjective.</a:t>
            </a:r>
          </a:p>
        </p:txBody>
      </p:sp>
      <p:cxnSp>
        <p:nvCxnSpPr>
          <p:cNvPr id="121" name="Соединительная линия уступом 36">
            <a:extLst>
              <a:ext uri="{FF2B5EF4-FFF2-40B4-BE49-F238E27FC236}">
                <a16:creationId xmlns:a16="http://schemas.microsoft.com/office/drawing/2014/main" id="{E34BEDF7-3DAD-F749-9B63-D2F665B108C3}"/>
              </a:ext>
            </a:extLst>
          </p:cNvPr>
          <p:cNvCxnSpPr>
            <a:cxnSpLocks/>
            <a:stCxn id="36" idx="2"/>
            <a:endCxn id="119" idx="0"/>
          </p:cNvCxnSpPr>
          <p:nvPr/>
        </p:nvCxnSpPr>
        <p:spPr bwMode="auto">
          <a:xfrm rot="5400000">
            <a:off x="4645576" y="4011904"/>
            <a:ext cx="326052" cy="354169"/>
          </a:xfrm>
          <a:prstGeom prst="bentConnector3">
            <a:avLst>
              <a:gd name="adj1" fmla="val 50000"/>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122" name="Скругленный прямоугольник 88">
            <a:extLst>
              <a:ext uri="{FF2B5EF4-FFF2-40B4-BE49-F238E27FC236}">
                <a16:creationId xmlns:a16="http://schemas.microsoft.com/office/drawing/2014/main" id="{BE4731AC-A811-1249-9245-F3A7F7EAE21A}"/>
              </a:ext>
            </a:extLst>
          </p:cNvPr>
          <p:cNvSpPr>
            <a:spLocks/>
          </p:cNvSpPr>
          <p:nvPr/>
        </p:nvSpPr>
        <p:spPr bwMode="auto">
          <a:xfrm>
            <a:off x="10775976" y="4352016"/>
            <a:ext cx="739390"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23" name="Subtitle 2">
            <a:extLst>
              <a:ext uri="{FF2B5EF4-FFF2-40B4-BE49-F238E27FC236}">
                <a16:creationId xmlns:a16="http://schemas.microsoft.com/office/drawing/2014/main" id="{CDD49DFA-592A-F748-9A9E-B530CD8D2B00}"/>
              </a:ext>
            </a:extLst>
          </p:cNvPr>
          <p:cNvSpPr txBox="1">
            <a:spLocks/>
          </p:cNvSpPr>
          <p:nvPr/>
        </p:nvSpPr>
        <p:spPr>
          <a:xfrm>
            <a:off x="10790935" y="4375571"/>
            <a:ext cx="708849" cy="374754"/>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Scale of population affected by BH makes it difficult to know where to start. </a:t>
            </a:r>
          </a:p>
        </p:txBody>
      </p:sp>
      <p:sp>
        <p:nvSpPr>
          <p:cNvPr id="124" name="Скругленный прямоугольник 88">
            <a:extLst>
              <a:ext uri="{FF2B5EF4-FFF2-40B4-BE49-F238E27FC236}">
                <a16:creationId xmlns:a16="http://schemas.microsoft.com/office/drawing/2014/main" id="{9F597D21-2D05-6A44-A7A8-D56548484563}"/>
              </a:ext>
            </a:extLst>
          </p:cNvPr>
          <p:cNvSpPr>
            <a:spLocks/>
          </p:cNvSpPr>
          <p:nvPr/>
        </p:nvSpPr>
        <p:spPr bwMode="auto">
          <a:xfrm>
            <a:off x="11562630" y="4352016"/>
            <a:ext cx="739390"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25" name="Subtitle 2">
            <a:extLst>
              <a:ext uri="{FF2B5EF4-FFF2-40B4-BE49-F238E27FC236}">
                <a16:creationId xmlns:a16="http://schemas.microsoft.com/office/drawing/2014/main" id="{A7F964B9-F146-A744-A7EC-6D9D39EF5B14}"/>
              </a:ext>
            </a:extLst>
          </p:cNvPr>
          <p:cNvSpPr txBox="1">
            <a:spLocks/>
          </p:cNvSpPr>
          <p:nvPr/>
        </p:nvSpPr>
        <p:spPr>
          <a:xfrm>
            <a:off x="11577589" y="4375571"/>
            <a:ext cx="708849" cy="457213"/>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Length of time from investment to outcome/ROI coupled with risk of losing customer</a:t>
            </a:r>
          </a:p>
        </p:txBody>
      </p:sp>
      <p:sp>
        <p:nvSpPr>
          <p:cNvPr id="126" name="Скругленный прямоугольник 80">
            <a:extLst>
              <a:ext uri="{FF2B5EF4-FFF2-40B4-BE49-F238E27FC236}">
                <a16:creationId xmlns:a16="http://schemas.microsoft.com/office/drawing/2014/main" id="{0149B4EB-A694-504B-B16B-94C456CEFF73}"/>
              </a:ext>
            </a:extLst>
          </p:cNvPr>
          <p:cNvSpPr>
            <a:spLocks/>
          </p:cNvSpPr>
          <p:nvPr/>
        </p:nvSpPr>
        <p:spPr bwMode="auto">
          <a:xfrm>
            <a:off x="5819865" y="5101684"/>
            <a:ext cx="1154290" cy="66737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27" name="Subtitle 2">
            <a:extLst>
              <a:ext uri="{FF2B5EF4-FFF2-40B4-BE49-F238E27FC236}">
                <a16:creationId xmlns:a16="http://schemas.microsoft.com/office/drawing/2014/main" id="{2FDB7F71-6A48-F840-936C-C2F71639CF23}"/>
              </a:ext>
            </a:extLst>
          </p:cNvPr>
          <p:cNvSpPr txBox="1">
            <a:spLocks/>
          </p:cNvSpPr>
          <p:nvPr/>
        </p:nvSpPr>
        <p:spPr>
          <a:xfrm>
            <a:off x="5822392" y="5132025"/>
            <a:ext cx="1151763" cy="622130"/>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For BH clinicians carrying heavy case-loads, it’s time prohibitive to implement new types of treatment, tools and best practices, and perform additional data capture and reporting that may come with new care models. </a:t>
            </a:r>
          </a:p>
        </p:txBody>
      </p:sp>
      <p:sp>
        <p:nvSpPr>
          <p:cNvPr id="128" name="Скругленный прямоугольник 80">
            <a:extLst>
              <a:ext uri="{FF2B5EF4-FFF2-40B4-BE49-F238E27FC236}">
                <a16:creationId xmlns:a16="http://schemas.microsoft.com/office/drawing/2014/main" id="{F88DC890-7FCC-EE40-852B-04D75C09157E}"/>
              </a:ext>
            </a:extLst>
          </p:cNvPr>
          <p:cNvSpPr>
            <a:spLocks/>
          </p:cNvSpPr>
          <p:nvPr/>
        </p:nvSpPr>
        <p:spPr bwMode="auto">
          <a:xfrm>
            <a:off x="7029117" y="5102739"/>
            <a:ext cx="705875" cy="38986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29" name="Subtitle 2">
            <a:extLst>
              <a:ext uri="{FF2B5EF4-FFF2-40B4-BE49-F238E27FC236}">
                <a16:creationId xmlns:a16="http://schemas.microsoft.com/office/drawing/2014/main" id="{A6D6947C-40B7-5943-B77B-ECF8BB91D887}"/>
              </a:ext>
            </a:extLst>
          </p:cNvPr>
          <p:cNvSpPr txBox="1">
            <a:spLocks/>
          </p:cNvSpPr>
          <p:nvPr/>
        </p:nvSpPr>
        <p:spPr>
          <a:xfrm>
            <a:off x="7031645" y="5116144"/>
            <a:ext cx="703348" cy="29229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Some BH Clinicians feel that their own methods are best.</a:t>
            </a:r>
          </a:p>
        </p:txBody>
      </p:sp>
      <p:cxnSp>
        <p:nvCxnSpPr>
          <p:cNvPr id="130" name="Соединительная линия уступом 36">
            <a:extLst>
              <a:ext uri="{FF2B5EF4-FFF2-40B4-BE49-F238E27FC236}">
                <a16:creationId xmlns:a16="http://schemas.microsoft.com/office/drawing/2014/main" id="{F07C0549-78A6-2544-9F9C-EC2451466A68}"/>
              </a:ext>
            </a:extLst>
          </p:cNvPr>
          <p:cNvCxnSpPr>
            <a:cxnSpLocks/>
            <a:stCxn id="66" idx="2"/>
            <a:endCxn id="126" idx="0"/>
          </p:cNvCxnSpPr>
          <p:nvPr/>
        </p:nvCxnSpPr>
        <p:spPr bwMode="auto">
          <a:xfrm rot="5400000">
            <a:off x="6398307" y="4748779"/>
            <a:ext cx="351609" cy="354202"/>
          </a:xfrm>
          <a:prstGeom prst="bentConnector3">
            <a:avLst>
              <a:gd name="adj1" fmla="val 50000"/>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31" name="Соединительная линия уступом 91">
            <a:extLst>
              <a:ext uri="{FF2B5EF4-FFF2-40B4-BE49-F238E27FC236}">
                <a16:creationId xmlns:a16="http://schemas.microsoft.com/office/drawing/2014/main" id="{40E44479-F694-7849-9FA3-25466B5ED540}"/>
              </a:ext>
            </a:extLst>
          </p:cNvPr>
          <p:cNvCxnSpPr>
            <a:cxnSpLocks/>
          </p:cNvCxnSpPr>
          <p:nvPr/>
        </p:nvCxnSpPr>
        <p:spPr bwMode="auto">
          <a:xfrm>
            <a:off x="6742117" y="4923150"/>
            <a:ext cx="639937" cy="174663"/>
          </a:xfrm>
          <a:prstGeom prst="bentConnector2">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58" name="TextBox 57">
            <a:extLst>
              <a:ext uri="{FF2B5EF4-FFF2-40B4-BE49-F238E27FC236}">
                <a16:creationId xmlns:a16="http://schemas.microsoft.com/office/drawing/2014/main" id="{DDB728C7-51E9-9640-BFBA-DCB0F25254CF}"/>
              </a:ext>
            </a:extLst>
          </p:cNvPr>
          <p:cNvSpPr txBox="1"/>
          <p:nvPr/>
        </p:nvSpPr>
        <p:spPr>
          <a:xfrm>
            <a:off x="9210608" y="831668"/>
            <a:ext cx="2820558" cy="406265"/>
          </a:xfrm>
          <a:prstGeom prst="rect">
            <a:avLst/>
          </a:prstGeom>
          <a:noFill/>
        </p:spPr>
        <p:txBody>
          <a:bodyPr wrap="square" rtlCol="0">
            <a:spAutoFit/>
          </a:bodyPr>
          <a:lstStyle/>
          <a:p>
            <a:r>
              <a:rPr lang="en-US" sz="1020" dirty="0">
                <a:solidFill>
                  <a:schemeClr val="bg1">
                    <a:lumMod val="50000"/>
                  </a:schemeClr>
                </a:solidFill>
              </a:rPr>
              <a:t>Value = Health Outcomes and Cost Reduction</a:t>
            </a:r>
          </a:p>
        </p:txBody>
      </p:sp>
      <p:cxnSp>
        <p:nvCxnSpPr>
          <p:cNvPr id="134" name="Straight Arrow Connector 133">
            <a:extLst>
              <a:ext uri="{FF2B5EF4-FFF2-40B4-BE49-F238E27FC236}">
                <a16:creationId xmlns:a16="http://schemas.microsoft.com/office/drawing/2014/main" id="{D72F6B0D-B6A5-D747-BE5B-3AF6C8679B49}"/>
              </a:ext>
            </a:extLst>
          </p:cNvPr>
          <p:cNvCxnSpPr>
            <a:cxnSpLocks/>
          </p:cNvCxnSpPr>
          <p:nvPr/>
        </p:nvCxnSpPr>
        <p:spPr>
          <a:xfrm flipH="1">
            <a:off x="9424594" y="3180857"/>
            <a:ext cx="2135" cy="321131"/>
          </a:xfrm>
          <a:prstGeom prst="straightConnector1">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35" name="Соединительная линия уступом 34">
            <a:extLst>
              <a:ext uri="{FF2B5EF4-FFF2-40B4-BE49-F238E27FC236}">
                <a16:creationId xmlns:a16="http://schemas.microsoft.com/office/drawing/2014/main" id="{3C288D69-E697-5C40-9656-9E4850E6C160}"/>
              </a:ext>
            </a:extLst>
          </p:cNvPr>
          <p:cNvCxnSpPr>
            <a:cxnSpLocks/>
          </p:cNvCxnSpPr>
          <p:nvPr/>
        </p:nvCxnSpPr>
        <p:spPr bwMode="auto">
          <a:xfrm rot="5400000">
            <a:off x="11157328" y="4028484"/>
            <a:ext cx="323626" cy="312892"/>
          </a:xfrm>
          <a:prstGeom prst="bentConnector3">
            <a:avLst>
              <a:gd name="adj1" fmla="val 50000"/>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36" name="Соединительная линия уступом 34">
            <a:extLst>
              <a:ext uri="{FF2B5EF4-FFF2-40B4-BE49-F238E27FC236}">
                <a16:creationId xmlns:a16="http://schemas.microsoft.com/office/drawing/2014/main" id="{18E73768-4084-C747-98B0-453BE05A8D23}"/>
              </a:ext>
            </a:extLst>
          </p:cNvPr>
          <p:cNvCxnSpPr>
            <a:cxnSpLocks/>
          </p:cNvCxnSpPr>
          <p:nvPr/>
        </p:nvCxnSpPr>
        <p:spPr bwMode="auto">
          <a:xfrm>
            <a:off x="11444855" y="4184190"/>
            <a:ext cx="634719" cy="168817"/>
          </a:xfrm>
          <a:prstGeom prst="bentConnector2">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100" name="Скругленный прямоугольник 88">
            <a:extLst>
              <a:ext uri="{FF2B5EF4-FFF2-40B4-BE49-F238E27FC236}">
                <a16:creationId xmlns:a16="http://schemas.microsoft.com/office/drawing/2014/main" id="{A44D9292-B30A-8948-8C57-E2A9476BFBD9}"/>
              </a:ext>
            </a:extLst>
          </p:cNvPr>
          <p:cNvSpPr>
            <a:spLocks/>
          </p:cNvSpPr>
          <p:nvPr/>
        </p:nvSpPr>
        <p:spPr bwMode="auto">
          <a:xfrm>
            <a:off x="9900799" y="4336622"/>
            <a:ext cx="739390" cy="536075"/>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09" name="Subtitle 2">
            <a:extLst>
              <a:ext uri="{FF2B5EF4-FFF2-40B4-BE49-F238E27FC236}">
                <a16:creationId xmlns:a16="http://schemas.microsoft.com/office/drawing/2014/main" id="{D39D9028-68BB-FE4B-8B30-9146E147BEF4}"/>
              </a:ext>
            </a:extLst>
          </p:cNvPr>
          <p:cNvSpPr txBox="1">
            <a:spLocks/>
          </p:cNvSpPr>
          <p:nvPr/>
        </p:nvSpPr>
        <p:spPr>
          <a:xfrm>
            <a:off x="9915757" y="4360179"/>
            <a:ext cx="724432" cy="539671"/>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Providers may use expensive inpatient treatment when outpatient services could be effective and less costly.</a:t>
            </a:r>
          </a:p>
        </p:txBody>
      </p:sp>
      <p:cxnSp>
        <p:nvCxnSpPr>
          <p:cNvPr id="112" name="Соединительная линия уступом 34">
            <a:extLst>
              <a:ext uri="{FF2B5EF4-FFF2-40B4-BE49-F238E27FC236}">
                <a16:creationId xmlns:a16="http://schemas.microsoft.com/office/drawing/2014/main" id="{CC3794BB-6B92-2147-A7EB-9E0DF704C8E5}"/>
              </a:ext>
            </a:extLst>
          </p:cNvPr>
          <p:cNvCxnSpPr>
            <a:cxnSpLocks/>
          </p:cNvCxnSpPr>
          <p:nvPr/>
        </p:nvCxnSpPr>
        <p:spPr bwMode="auto">
          <a:xfrm rot="5400000">
            <a:off x="9204671" y="4028484"/>
            <a:ext cx="323626" cy="312892"/>
          </a:xfrm>
          <a:prstGeom prst="bentConnector3">
            <a:avLst>
              <a:gd name="adj1" fmla="val 50000"/>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13" name="Соединительная линия уступом 34">
            <a:extLst>
              <a:ext uri="{FF2B5EF4-FFF2-40B4-BE49-F238E27FC236}">
                <a16:creationId xmlns:a16="http://schemas.microsoft.com/office/drawing/2014/main" id="{5FD9FEE8-8622-E940-B3A1-67C6A5B6DE1D}"/>
              </a:ext>
            </a:extLst>
          </p:cNvPr>
          <p:cNvCxnSpPr>
            <a:cxnSpLocks/>
            <a:endCxn id="100" idx="0"/>
          </p:cNvCxnSpPr>
          <p:nvPr/>
        </p:nvCxnSpPr>
        <p:spPr bwMode="auto">
          <a:xfrm>
            <a:off x="9492198" y="4184190"/>
            <a:ext cx="778297" cy="152432"/>
          </a:xfrm>
          <a:prstGeom prst="bentConnector2">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151" name="Скругленный прямоугольник 88">
            <a:extLst>
              <a:ext uri="{FF2B5EF4-FFF2-40B4-BE49-F238E27FC236}">
                <a16:creationId xmlns:a16="http://schemas.microsoft.com/office/drawing/2014/main" id="{98BCEDF1-7E4D-4445-BF88-EFFEA3853A01}"/>
              </a:ext>
            </a:extLst>
          </p:cNvPr>
          <p:cNvSpPr>
            <a:spLocks/>
          </p:cNvSpPr>
          <p:nvPr/>
        </p:nvSpPr>
        <p:spPr bwMode="auto">
          <a:xfrm>
            <a:off x="3411141" y="4352016"/>
            <a:ext cx="739390"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52" name="Subtitle 2">
            <a:extLst>
              <a:ext uri="{FF2B5EF4-FFF2-40B4-BE49-F238E27FC236}">
                <a16:creationId xmlns:a16="http://schemas.microsoft.com/office/drawing/2014/main" id="{6AB4FD8B-3D7A-9441-9DE8-710761F92D57}"/>
              </a:ext>
            </a:extLst>
          </p:cNvPr>
          <p:cNvSpPr txBox="1">
            <a:spLocks/>
          </p:cNvSpPr>
          <p:nvPr/>
        </p:nvSpPr>
        <p:spPr>
          <a:xfrm>
            <a:off x="3426099" y="4375571"/>
            <a:ext cx="708849" cy="374754"/>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There are more restrictive HIPPA and SAMHSA Rules on BH data </a:t>
            </a:r>
          </a:p>
        </p:txBody>
      </p:sp>
      <p:cxnSp>
        <p:nvCxnSpPr>
          <p:cNvPr id="154" name="Соединительная линия уступом 34">
            <a:extLst>
              <a:ext uri="{FF2B5EF4-FFF2-40B4-BE49-F238E27FC236}">
                <a16:creationId xmlns:a16="http://schemas.microsoft.com/office/drawing/2014/main" id="{8F51646D-565C-C343-B516-FF33EAFF11F8}"/>
              </a:ext>
            </a:extLst>
          </p:cNvPr>
          <p:cNvCxnSpPr>
            <a:cxnSpLocks/>
          </p:cNvCxnSpPr>
          <p:nvPr/>
        </p:nvCxnSpPr>
        <p:spPr bwMode="auto">
          <a:xfrm>
            <a:off x="3086004" y="4184190"/>
            <a:ext cx="634719" cy="168817"/>
          </a:xfrm>
          <a:prstGeom prst="bentConnector2">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Tree>
    <p:extLst>
      <p:ext uri="{BB962C8B-B14F-4D97-AF65-F5344CB8AC3E}">
        <p14:creationId xmlns:p14="http://schemas.microsoft.com/office/powerpoint/2010/main" val="238682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Arc 104">
            <a:extLst>
              <a:ext uri="{FF2B5EF4-FFF2-40B4-BE49-F238E27FC236}">
                <a16:creationId xmlns:a16="http://schemas.microsoft.com/office/drawing/2014/main" id="{4C1497BB-9F1D-7E45-AAA7-31BCD90E9BF5}"/>
              </a:ext>
            </a:extLst>
          </p:cNvPr>
          <p:cNvSpPr/>
          <p:nvPr/>
        </p:nvSpPr>
        <p:spPr>
          <a:xfrm>
            <a:off x="8892243" y="4472688"/>
            <a:ext cx="1644012" cy="1418624"/>
          </a:xfrm>
          <a:prstGeom prst="arc">
            <a:avLst>
              <a:gd name="adj1" fmla="val 4336495"/>
              <a:gd name="adj2" fmla="val 10398410"/>
            </a:avLst>
          </a:prstGeom>
          <a:ln w="222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67"/>
          </a:p>
        </p:txBody>
      </p:sp>
      <p:sp>
        <p:nvSpPr>
          <p:cNvPr id="41" name="Arc 40">
            <a:extLst>
              <a:ext uri="{FF2B5EF4-FFF2-40B4-BE49-F238E27FC236}">
                <a16:creationId xmlns:a16="http://schemas.microsoft.com/office/drawing/2014/main" id="{08B3D195-11B2-774E-9241-53529CCDAE14}"/>
              </a:ext>
            </a:extLst>
          </p:cNvPr>
          <p:cNvSpPr/>
          <p:nvPr/>
        </p:nvSpPr>
        <p:spPr>
          <a:xfrm>
            <a:off x="2794671" y="4181199"/>
            <a:ext cx="4357965" cy="1831129"/>
          </a:xfrm>
          <a:prstGeom prst="arc">
            <a:avLst>
              <a:gd name="adj1" fmla="val 157224"/>
              <a:gd name="adj2" fmla="val 10357326"/>
            </a:avLst>
          </a:prstGeom>
          <a:ln w="22225">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67"/>
          </a:p>
        </p:txBody>
      </p:sp>
      <p:sp>
        <p:nvSpPr>
          <p:cNvPr id="5" name="Скругленный прямоугольник 11">
            <a:extLst>
              <a:ext uri="{FF2B5EF4-FFF2-40B4-BE49-F238E27FC236}">
                <a16:creationId xmlns:a16="http://schemas.microsoft.com/office/drawing/2014/main" id="{6D4ED8D2-B85B-6440-ADA5-E55C9A6E7547}"/>
              </a:ext>
            </a:extLst>
          </p:cNvPr>
          <p:cNvSpPr/>
          <p:nvPr/>
        </p:nvSpPr>
        <p:spPr bwMode="auto">
          <a:xfrm>
            <a:off x="4909128" y="1185115"/>
            <a:ext cx="2969266" cy="423465"/>
          </a:xfrm>
          <a:prstGeom prst="roundRect">
            <a:avLst>
              <a:gd name="adj" fmla="val 5329"/>
            </a:avLst>
          </a:prstGeom>
          <a:solidFill>
            <a:schemeClr val="accent1"/>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926" b="1" dirty="0">
                <a:solidFill>
                  <a:schemeClr val="bg1"/>
                </a:solidFill>
                <a:latin typeface="Arial" panose="020B0604020202020204" pitchFamily="34" charset="0"/>
                <a:ea typeface="Lato Light" panose="020F0502020204030203" pitchFamily="34" charset="0"/>
                <a:cs typeface="Arial" panose="020B0604020202020204" pitchFamily="34" charset="0"/>
              </a:rPr>
              <a:t>Clinicians experience significant challenges when it comes to serving the BH population</a:t>
            </a:r>
          </a:p>
        </p:txBody>
      </p:sp>
      <p:sp>
        <p:nvSpPr>
          <p:cNvPr id="8" name="Скругленный прямоугольник 7">
            <a:extLst>
              <a:ext uri="{FF2B5EF4-FFF2-40B4-BE49-F238E27FC236}">
                <a16:creationId xmlns:a16="http://schemas.microsoft.com/office/drawing/2014/main" id="{4F178C1C-13B0-4E42-B36B-605AC91A406C}"/>
              </a:ext>
            </a:extLst>
          </p:cNvPr>
          <p:cNvSpPr/>
          <p:nvPr/>
        </p:nvSpPr>
        <p:spPr bwMode="auto">
          <a:xfrm>
            <a:off x="1254193" y="2056388"/>
            <a:ext cx="2668734" cy="423465"/>
          </a:xfrm>
          <a:prstGeom prst="roundRect">
            <a:avLst>
              <a:gd name="adj" fmla="val 5329"/>
            </a:avLst>
          </a:prstGeom>
          <a:solidFill>
            <a:schemeClr val="accent1">
              <a:lumMod val="75000"/>
              <a:lumOff val="25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926" b="1" dirty="0">
                <a:solidFill>
                  <a:schemeClr val="bg1"/>
                </a:solidFill>
                <a:latin typeface="Arial" panose="020B0604020202020204" pitchFamily="34" charset="0"/>
                <a:ea typeface="Lato Light" panose="020F0502020204030203" pitchFamily="34" charset="0"/>
                <a:cs typeface="Arial" panose="020B0604020202020204" pitchFamily="34" charset="0"/>
              </a:rPr>
              <a:t>Non-BH clinicians face barriers connecting patients with the right kinds of care </a:t>
            </a:r>
          </a:p>
        </p:txBody>
      </p:sp>
      <p:sp>
        <p:nvSpPr>
          <p:cNvPr id="11" name="Скругленный прямоугольник 12">
            <a:extLst>
              <a:ext uri="{FF2B5EF4-FFF2-40B4-BE49-F238E27FC236}">
                <a16:creationId xmlns:a16="http://schemas.microsoft.com/office/drawing/2014/main" id="{2F8D9C5A-394C-4D4C-8753-180DD6BE1EC1}"/>
              </a:ext>
            </a:extLst>
          </p:cNvPr>
          <p:cNvSpPr/>
          <p:nvPr/>
        </p:nvSpPr>
        <p:spPr bwMode="auto">
          <a:xfrm>
            <a:off x="5249674" y="2050811"/>
            <a:ext cx="2288175" cy="423465"/>
          </a:xfrm>
          <a:prstGeom prst="roundRect">
            <a:avLst>
              <a:gd name="adj" fmla="val 5329"/>
            </a:avLst>
          </a:prstGeom>
          <a:solidFill>
            <a:schemeClr val="accent1">
              <a:lumMod val="75000"/>
              <a:lumOff val="25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926" b="1" dirty="0">
                <a:solidFill>
                  <a:schemeClr val="bg1"/>
                </a:solidFill>
                <a:latin typeface="Arial" panose="020B0604020202020204" pitchFamily="34" charset="0"/>
                <a:ea typeface="Lato Light" panose="020F0502020204030203" pitchFamily="34" charset="0"/>
                <a:cs typeface="Arial" panose="020B0604020202020204" pitchFamily="34" charset="0"/>
              </a:rPr>
              <a:t>Clinicians of all kinds face barriers to delivering their best care possible</a:t>
            </a:r>
          </a:p>
        </p:txBody>
      </p:sp>
      <p:sp>
        <p:nvSpPr>
          <p:cNvPr id="14" name="Скругленный прямоугольник 16">
            <a:extLst>
              <a:ext uri="{FF2B5EF4-FFF2-40B4-BE49-F238E27FC236}">
                <a16:creationId xmlns:a16="http://schemas.microsoft.com/office/drawing/2014/main" id="{1365C2A3-A805-F644-A880-05726AE7537F}"/>
              </a:ext>
            </a:extLst>
          </p:cNvPr>
          <p:cNvSpPr/>
          <p:nvPr/>
        </p:nvSpPr>
        <p:spPr bwMode="auto">
          <a:xfrm>
            <a:off x="9042193" y="2056387"/>
            <a:ext cx="2341696" cy="423465"/>
          </a:xfrm>
          <a:prstGeom prst="roundRect">
            <a:avLst>
              <a:gd name="adj" fmla="val 5329"/>
            </a:avLst>
          </a:prstGeom>
          <a:solidFill>
            <a:schemeClr val="accent1">
              <a:lumMod val="75000"/>
              <a:lumOff val="25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926" b="1" dirty="0">
                <a:solidFill>
                  <a:schemeClr val="bg1"/>
                </a:solidFill>
                <a:latin typeface="Arial" panose="020B0604020202020204" pitchFamily="34" charset="0"/>
                <a:ea typeface="Lato Light" panose="020F0502020204030203" pitchFamily="34" charset="0"/>
                <a:cs typeface="Arial" panose="020B0604020202020204" pitchFamily="34" charset="0"/>
              </a:rPr>
              <a:t>BH clinicians face barriers to delivering their best care possible</a:t>
            </a:r>
          </a:p>
        </p:txBody>
      </p:sp>
      <p:cxnSp>
        <p:nvCxnSpPr>
          <p:cNvPr id="17" name="Соединительная линия уступом 25">
            <a:extLst>
              <a:ext uri="{FF2B5EF4-FFF2-40B4-BE49-F238E27FC236}">
                <a16:creationId xmlns:a16="http://schemas.microsoft.com/office/drawing/2014/main" id="{95FEE179-CF9B-7545-B726-794C8847B32A}"/>
              </a:ext>
            </a:extLst>
          </p:cNvPr>
          <p:cNvCxnSpPr>
            <a:cxnSpLocks/>
            <a:stCxn id="5" idx="2"/>
            <a:endCxn id="14" idx="0"/>
          </p:cNvCxnSpPr>
          <p:nvPr/>
        </p:nvCxnSpPr>
        <p:spPr bwMode="auto">
          <a:xfrm rot="16200000" flipH="1">
            <a:off x="8079497" y="-77158"/>
            <a:ext cx="447808" cy="3819281"/>
          </a:xfrm>
          <a:prstGeom prst="bentConnector3">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8" name="Соединительная линия уступом 27">
            <a:extLst>
              <a:ext uri="{FF2B5EF4-FFF2-40B4-BE49-F238E27FC236}">
                <a16:creationId xmlns:a16="http://schemas.microsoft.com/office/drawing/2014/main" id="{56F0D251-F772-6546-B888-4E963921C609}"/>
              </a:ext>
            </a:extLst>
          </p:cNvPr>
          <p:cNvCxnSpPr>
            <a:cxnSpLocks/>
            <a:stCxn id="5" idx="2"/>
            <a:endCxn id="8" idx="0"/>
          </p:cNvCxnSpPr>
          <p:nvPr/>
        </p:nvCxnSpPr>
        <p:spPr bwMode="auto">
          <a:xfrm rot="5400000">
            <a:off x="4267257" y="-70118"/>
            <a:ext cx="447808" cy="3805202"/>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9" name="Соединительная линия уступом 30">
            <a:extLst>
              <a:ext uri="{FF2B5EF4-FFF2-40B4-BE49-F238E27FC236}">
                <a16:creationId xmlns:a16="http://schemas.microsoft.com/office/drawing/2014/main" id="{9A944230-0A90-8844-873A-6BEE48A694F6}"/>
              </a:ext>
            </a:extLst>
          </p:cNvPr>
          <p:cNvCxnSpPr>
            <a:cxnSpLocks/>
            <a:stCxn id="5" idx="2"/>
            <a:endCxn id="11" idx="0"/>
          </p:cNvCxnSpPr>
          <p:nvPr/>
        </p:nvCxnSpPr>
        <p:spPr bwMode="auto">
          <a:xfrm rot="16200000" flipH="1">
            <a:off x="6172645" y="1829695"/>
            <a:ext cx="442231" cy="1"/>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32" name="Скругленный прямоугольник 84">
            <a:extLst>
              <a:ext uri="{FF2B5EF4-FFF2-40B4-BE49-F238E27FC236}">
                <a16:creationId xmlns:a16="http://schemas.microsoft.com/office/drawing/2014/main" id="{0594F8BE-B3AF-C84B-8492-8A2D86CFE89C}"/>
              </a:ext>
            </a:extLst>
          </p:cNvPr>
          <p:cNvSpPr>
            <a:spLocks/>
          </p:cNvSpPr>
          <p:nvPr/>
        </p:nvSpPr>
        <p:spPr bwMode="auto">
          <a:xfrm>
            <a:off x="9731650" y="2827865"/>
            <a:ext cx="953528"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b="1" dirty="0">
                <a:solidFill>
                  <a:schemeClr val="bg1"/>
                </a:solidFill>
                <a:latin typeface="Arial" panose="020B0604020202020204" pitchFamily="34" charset="0"/>
                <a:ea typeface="Lato Light" panose="020F0502020204030203" pitchFamily="34" charset="0"/>
                <a:cs typeface="Arial" panose="020B0604020202020204" pitchFamily="34" charset="0"/>
              </a:rPr>
              <a:t>The system does not incentivize BH clinicians to deliver their best care possible</a:t>
            </a:r>
          </a:p>
        </p:txBody>
      </p:sp>
      <p:sp>
        <p:nvSpPr>
          <p:cNvPr id="35" name="Скругленный прямоугольник 88">
            <a:extLst>
              <a:ext uri="{FF2B5EF4-FFF2-40B4-BE49-F238E27FC236}">
                <a16:creationId xmlns:a16="http://schemas.microsoft.com/office/drawing/2014/main" id="{EBDE1CE4-6D4D-A548-B0DE-F17D28164F55}"/>
              </a:ext>
            </a:extLst>
          </p:cNvPr>
          <p:cNvSpPr>
            <a:spLocks/>
          </p:cNvSpPr>
          <p:nvPr/>
        </p:nvSpPr>
        <p:spPr bwMode="auto">
          <a:xfrm>
            <a:off x="10905844" y="4756778"/>
            <a:ext cx="1217501" cy="394948"/>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High case loads to drive revenue to compensate for low-reimbursement</a:t>
            </a:r>
          </a:p>
        </p:txBody>
      </p:sp>
      <p:sp>
        <p:nvSpPr>
          <p:cNvPr id="75" name="Скругленный прямоугольник 59">
            <a:extLst>
              <a:ext uri="{FF2B5EF4-FFF2-40B4-BE49-F238E27FC236}">
                <a16:creationId xmlns:a16="http://schemas.microsoft.com/office/drawing/2014/main" id="{920717B6-DDA2-3C43-BA52-72827FD01722}"/>
              </a:ext>
            </a:extLst>
          </p:cNvPr>
          <p:cNvSpPr>
            <a:spLocks/>
          </p:cNvSpPr>
          <p:nvPr/>
        </p:nvSpPr>
        <p:spPr bwMode="auto">
          <a:xfrm>
            <a:off x="2054270" y="3597956"/>
            <a:ext cx="1070818" cy="420692"/>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Talking with patients about BH is difficult and uncomfortable.</a:t>
            </a:r>
          </a:p>
        </p:txBody>
      </p:sp>
      <p:sp>
        <p:nvSpPr>
          <p:cNvPr id="60" name="Скругленный прямоугольник 84">
            <a:extLst>
              <a:ext uri="{FF2B5EF4-FFF2-40B4-BE49-F238E27FC236}">
                <a16:creationId xmlns:a16="http://schemas.microsoft.com/office/drawing/2014/main" id="{0594F8BE-B3AF-C84B-8492-8A2D86CFE89C}"/>
              </a:ext>
            </a:extLst>
          </p:cNvPr>
          <p:cNvSpPr>
            <a:spLocks/>
          </p:cNvSpPr>
          <p:nvPr/>
        </p:nvSpPr>
        <p:spPr bwMode="auto">
          <a:xfrm>
            <a:off x="7139004" y="3582179"/>
            <a:ext cx="951870" cy="820896"/>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Screening questionnaires are not always available or are not utilized (Methods that are currently more widely adopted are not as effective as less adopted options)</a:t>
            </a:r>
          </a:p>
        </p:txBody>
      </p:sp>
      <p:sp>
        <p:nvSpPr>
          <p:cNvPr id="61" name="Скругленный прямоугольник 88">
            <a:extLst>
              <a:ext uri="{FF2B5EF4-FFF2-40B4-BE49-F238E27FC236}">
                <a16:creationId xmlns:a16="http://schemas.microsoft.com/office/drawing/2014/main" id="{EBDE1CE4-6D4D-A548-B0DE-F17D28164F55}"/>
              </a:ext>
            </a:extLst>
          </p:cNvPr>
          <p:cNvSpPr>
            <a:spLocks/>
          </p:cNvSpPr>
          <p:nvPr/>
        </p:nvSpPr>
        <p:spPr bwMode="auto">
          <a:xfrm>
            <a:off x="2041308" y="2832527"/>
            <a:ext cx="1083779" cy="469777"/>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b="1" dirty="0">
                <a:solidFill>
                  <a:schemeClr val="bg1"/>
                </a:solidFill>
                <a:latin typeface="Arial" panose="020B0604020202020204" pitchFamily="34" charset="0"/>
                <a:ea typeface="Lato Light" panose="020F0502020204030203" pitchFamily="34" charset="0"/>
                <a:cs typeface="Arial" panose="020B0604020202020204" pitchFamily="34" charset="0"/>
              </a:rPr>
              <a:t>Non-BH Clinicians may hesitate when approaching or avoid initiating discussions about BH</a:t>
            </a:r>
          </a:p>
        </p:txBody>
      </p:sp>
      <p:sp>
        <p:nvSpPr>
          <p:cNvPr id="68" name="Скругленный прямоугольник 59">
            <a:extLst>
              <a:ext uri="{FF2B5EF4-FFF2-40B4-BE49-F238E27FC236}">
                <a16:creationId xmlns:a16="http://schemas.microsoft.com/office/drawing/2014/main" id="{920717B6-DDA2-3C43-BA52-72827FD01722}"/>
              </a:ext>
            </a:extLst>
          </p:cNvPr>
          <p:cNvSpPr>
            <a:spLocks/>
          </p:cNvSpPr>
          <p:nvPr/>
        </p:nvSpPr>
        <p:spPr bwMode="auto">
          <a:xfrm>
            <a:off x="2054269" y="4314300"/>
            <a:ext cx="1070818" cy="488457"/>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Identifying BH conditions and assessing their acuity is difficult for a clinician without BH expertise.</a:t>
            </a:r>
          </a:p>
        </p:txBody>
      </p:sp>
      <p:sp>
        <p:nvSpPr>
          <p:cNvPr id="71" name="Скругленный прямоугольник 80">
            <a:extLst>
              <a:ext uri="{FF2B5EF4-FFF2-40B4-BE49-F238E27FC236}">
                <a16:creationId xmlns:a16="http://schemas.microsoft.com/office/drawing/2014/main" id="{645E27A1-C2FB-DD4B-B126-34D135B5C50E}"/>
              </a:ext>
            </a:extLst>
          </p:cNvPr>
          <p:cNvSpPr>
            <a:spLocks/>
          </p:cNvSpPr>
          <p:nvPr/>
        </p:nvSpPr>
        <p:spPr bwMode="auto">
          <a:xfrm>
            <a:off x="682439" y="2827245"/>
            <a:ext cx="908906" cy="469858"/>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b="1" dirty="0">
                <a:solidFill>
                  <a:schemeClr val="bg1"/>
                </a:solidFill>
                <a:latin typeface="Arial" panose="020B0604020202020204" pitchFamily="34" charset="0"/>
                <a:ea typeface="Lato Light" panose="020F0502020204030203" pitchFamily="34" charset="0"/>
                <a:cs typeface="Arial" panose="020B0604020202020204" pitchFamily="34" charset="0"/>
              </a:rPr>
              <a:t>It’s difficult for non-BH clinicians to refer patients to the right care</a:t>
            </a:r>
          </a:p>
        </p:txBody>
      </p:sp>
      <p:sp>
        <p:nvSpPr>
          <p:cNvPr id="66" name="Скругленный прямоугольник 80">
            <a:extLst>
              <a:ext uri="{FF2B5EF4-FFF2-40B4-BE49-F238E27FC236}">
                <a16:creationId xmlns:a16="http://schemas.microsoft.com/office/drawing/2014/main" id="{645E27A1-C2FB-DD4B-B126-34D135B5C50E}"/>
              </a:ext>
            </a:extLst>
          </p:cNvPr>
          <p:cNvSpPr>
            <a:spLocks/>
          </p:cNvSpPr>
          <p:nvPr/>
        </p:nvSpPr>
        <p:spPr bwMode="auto">
          <a:xfrm>
            <a:off x="10901661" y="4162706"/>
            <a:ext cx="1217501" cy="347251"/>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Bed space in BH Inpatient settings is limited</a:t>
            </a:r>
          </a:p>
        </p:txBody>
      </p:sp>
      <p:sp>
        <p:nvSpPr>
          <p:cNvPr id="115" name="Скругленный прямоугольник 59">
            <a:extLst>
              <a:ext uri="{FF2B5EF4-FFF2-40B4-BE49-F238E27FC236}">
                <a16:creationId xmlns:a16="http://schemas.microsoft.com/office/drawing/2014/main" id="{920717B6-DDA2-3C43-BA52-72827FD01722}"/>
              </a:ext>
            </a:extLst>
          </p:cNvPr>
          <p:cNvSpPr>
            <a:spLocks/>
          </p:cNvSpPr>
          <p:nvPr/>
        </p:nvSpPr>
        <p:spPr bwMode="auto">
          <a:xfrm>
            <a:off x="9751625" y="4329294"/>
            <a:ext cx="933553" cy="52686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BH services are reimbursed at lower rates than PH services making the BH field less lucrative for clinicians</a:t>
            </a:r>
          </a:p>
        </p:txBody>
      </p:sp>
      <p:sp>
        <p:nvSpPr>
          <p:cNvPr id="91" name="Скругленный прямоугольник 84">
            <a:extLst>
              <a:ext uri="{FF2B5EF4-FFF2-40B4-BE49-F238E27FC236}">
                <a16:creationId xmlns:a16="http://schemas.microsoft.com/office/drawing/2014/main" id="{8917FA60-E242-3945-A8AE-B11F650356C5}"/>
              </a:ext>
            </a:extLst>
          </p:cNvPr>
          <p:cNvSpPr>
            <a:spLocks/>
          </p:cNvSpPr>
          <p:nvPr/>
        </p:nvSpPr>
        <p:spPr bwMode="auto">
          <a:xfrm>
            <a:off x="10901662" y="3577539"/>
            <a:ext cx="1215094" cy="347250"/>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Number of practice staff must stay small to be profitable</a:t>
            </a:r>
          </a:p>
        </p:txBody>
      </p:sp>
      <p:sp>
        <p:nvSpPr>
          <p:cNvPr id="83"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10896508" y="5891311"/>
            <a:ext cx="1208100"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Due to administrative burden and low reimbursement rates, some BH clinicians don’t accept insurance for services.</a:t>
            </a:r>
          </a:p>
        </p:txBody>
      </p:sp>
      <p:sp>
        <p:nvSpPr>
          <p:cNvPr id="88" name="Rectangle 87">
            <a:extLst>
              <a:ext uri="{FF2B5EF4-FFF2-40B4-BE49-F238E27FC236}">
                <a16:creationId xmlns:a16="http://schemas.microsoft.com/office/drawing/2014/main" id="{4B25B938-7149-CB48-AFF3-E87F0AA28C57}"/>
              </a:ext>
            </a:extLst>
          </p:cNvPr>
          <p:cNvSpPr/>
          <p:nvPr/>
        </p:nvSpPr>
        <p:spPr>
          <a:xfrm>
            <a:off x="682438" y="780519"/>
            <a:ext cx="6267568" cy="320537"/>
          </a:xfrm>
          <a:prstGeom prst="rect">
            <a:avLst/>
          </a:prstGeom>
        </p:spPr>
        <p:txBody>
          <a:bodyPr wrap="square" anchor="t">
            <a:spAutoFit/>
          </a:bodyPr>
          <a:lstStyle/>
          <a:p>
            <a:r>
              <a:rPr lang="en-US" sz="1483" dirty="0">
                <a:solidFill>
                  <a:srgbClr val="003963"/>
                </a:solidFill>
              </a:rPr>
              <a:t>PROBLEM AREA 2: </a:t>
            </a:r>
            <a:r>
              <a:rPr lang="en-US" sz="1483" b="1" dirty="0">
                <a:solidFill>
                  <a:srgbClr val="00A2E2"/>
                </a:solidFill>
              </a:rPr>
              <a:t>Address Clinician Challenges </a:t>
            </a:r>
          </a:p>
        </p:txBody>
      </p:sp>
      <p:sp>
        <p:nvSpPr>
          <p:cNvPr id="89" name="Скругленный прямоугольник 88">
            <a:extLst>
              <a:ext uri="{FF2B5EF4-FFF2-40B4-BE49-F238E27FC236}">
                <a16:creationId xmlns:a16="http://schemas.microsoft.com/office/drawing/2014/main" id="{81207567-D971-334A-9662-0B0798FC204F}"/>
              </a:ext>
            </a:extLst>
          </p:cNvPr>
          <p:cNvSpPr>
            <a:spLocks/>
          </p:cNvSpPr>
          <p:nvPr/>
        </p:nvSpPr>
        <p:spPr bwMode="auto">
          <a:xfrm>
            <a:off x="4743807" y="3550148"/>
            <a:ext cx="981668" cy="492945"/>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Clinicians can hold unconscious bias and stigma toward BH patients.</a:t>
            </a:r>
          </a:p>
        </p:txBody>
      </p:sp>
      <p:sp>
        <p:nvSpPr>
          <p:cNvPr id="98" name="Скругленный прямоугольник 84">
            <a:extLst>
              <a:ext uri="{FF2B5EF4-FFF2-40B4-BE49-F238E27FC236}">
                <a16:creationId xmlns:a16="http://schemas.microsoft.com/office/drawing/2014/main" id="{5F40DF53-F17D-E847-A742-36C5DF3956FE}"/>
              </a:ext>
            </a:extLst>
          </p:cNvPr>
          <p:cNvSpPr>
            <a:spLocks/>
          </p:cNvSpPr>
          <p:nvPr/>
        </p:nvSpPr>
        <p:spPr bwMode="auto">
          <a:xfrm>
            <a:off x="3543283" y="2832527"/>
            <a:ext cx="951398" cy="469777"/>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b="1" dirty="0">
                <a:solidFill>
                  <a:schemeClr val="bg1"/>
                </a:solidFill>
                <a:latin typeface="Arial" panose="020B0604020202020204" pitchFamily="34" charset="0"/>
                <a:ea typeface="Lato Light" panose="020F0502020204030203" pitchFamily="34" charset="0"/>
                <a:cs typeface="Arial" panose="020B0604020202020204" pitchFamily="34" charset="0"/>
              </a:rPr>
              <a:t>Non-BH clinicians may not pursue the best course of treatment for the patient</a:t>
            </a:r>
          </a:p>
        </p:txBody>
      </p:sp>
      <p:sp>
        <p:nvSpPr>
          <p:cNvPr id="104" name="Скругленный прямоугольник 84">
            <a:extLst>
              <a:ext uri="{FF2B5EF4-FFF2-40B4-BE49-F238E27FC236}">
                <a16:creationId xmlns:a16="http://schemas.microsoft.com/office/drawing/2014/main" id="{25060A6A-5BC0-C04C-8659-E39B5976F689}"/>
              </a:ext>
            </a:extLst>
          </p:cNvPr>
          <p:cNvSpPr>
            <a:spLocks/>
          </p:cNvSpPr>
          <p:nvPr/>
        </p:nvSpPr>
        <p:spPr bwMode="auto">
          <a:xfrm>
            <a:off x="7139004" y="4688899"/>
            <a:ext cx="949960"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Shortage of clinicians (especially for children and adolescents in WPA)</a:t>
            </a:r>
          </a:p>
        </p:txBody>
      </p:sp>
      <p:sp>
        <p:nvSpPr>
          <p:cNvPr id="106" name="Скругленный прямоугольник 84">
            <a:extLst>
              <a:ext uri="{FF2B5EF4-FFF2-40B4-BE49-F238E27FC236}">
                <a16:creationId xmlns:a16="http://schemas.microsoft.com/office/drawing/2014/main" id="{630EAE35-61C6-B141-80EC-06DEA74ED990}"/>
              </a:ext>
            </a:extLst>
          </p:cNvPr>
          <p:cNvSpPr>
            <a:spLocks/>
          </p:cNvSpPr>
          <p:nvPr/>
        </p:nvSpPr>
        <p:spPr bwMode="auto">
          <a:xfrm>
            <a:off x="4743807" y="4300144"/>
            <a:ext cx="981668"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Clinicians don’t have the full picture on BH and SDOH factors.</a:t>
            </a:r>
          </a:p>
        </p:txBody>
      </p:sp>
      <p:sp>
        <p:nvSpPr>
          <p:cNvPr id="109" name="Скругленный прямоугольник 80">
            <a:extLst>
              <a:ext uri="{FF2B5EF4-FFF2-40B4-BE49-F238E27FC236}">
                <a16:creationId xmlns:a16="http://schemas.microsoft.com/office/drawing/2014/main" id="{CFEBF604-1ED1-244F-8407-FC712E232CB8}"/>
              </a:ext>
            </a:extLst>
          </p:cNvPr>
          <p:cNvSpPr>
            <a:spLocks/>
          </p:cNvSpPr>
          <p:nvPr/>
        </p:nvSpPr>
        <p:spPr bwMode="auto">
          <a:xfrm>
            <a:off x="2054267" y="5098409"/>
            <a:ext cx="1070817" cy="350183"/>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Shortage of BH specialists at all levels of care. </a:t>
            </a:r>
          </a:p>
        </p:txBody>
      </p:sp>
      <p:sp>
        <p:nvSpPr>
          <p:cNvPr id="113" name="Скругленный прямоугольник 84">
            <a:extLst>
              <a:ext uri="{FF2B5EF4-FFF2-40B4-BE49-F238E27FC236}">
                <a16:creationId xmlns:a16="http://schemas.microsoft.com/office/drawing/2014/main" id="{88A95778-A0F1-8D46-A565-446FE2089B82}"/>
              </a:ext>
            </a:extLst>
          </p:cNvPr>
          <p:cNvSpPr>
            <a:spLocks/>
          </p:cNvSpPr>
          <p:nvPr/>
        </p:nvSpPr>
        <p:spPr bwMode="auto">
          <a:xfrm>
            <a:off x="3534042" y="3597956"/>
            <a:ext cx="960638" cy="8051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Care provided by clinicians without BH expertise may not be effective or may rely on drug treatments (Balancing treating with therapy and/or medication)</a:t>
            </a:r>
          </a:p>
        </p:txBody>
      </p:sp>
      <p:sp>
        <p:nvSpPr>
          <p:cNvPr id="53" name="Скругленный прямоугольник 88">
            <a:extLst>
              <a:ext uri="{FF2B5EF4-FFF2-40B4-BE49-F238E27FC236}">
                <a16:creationId xmlns:a16="http://schemas.microsoft.com/office/drawing/2014/main" id="{FC2263D2-583D-C54B-A31C-C22FA6DB0BBB}"/>
              </a:ext>
            </a:extLst>
          </p:cNvPr>
          <p:cNvSpPr>
            <a:spLocks/>
          </p:cNvSpPr>
          <p:nvPr/>
        </p:nvSpPr>
        <p:spPr bwMode="auto">
          <a:xfrm>
            <a:off x="5933093" y="3582178"/>
            <a:ext cx="933553" cy="596424"/>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There’s often not an organization with the resources to effectively disseminate new methods and knowledge</a:t>
            </a:r>
          </a:p>
        </p:txBody>
      </p:sp>
      <p:sp>
        <p:nvSpPr>
          <p:cNvPr id="72" name="Скругленный прямоугольник 88">
            <a:extLst>
              <a:ext uri="{FF2B5EF4-FFF2-40B4-BE49-F238E27FC236}">
                <a16:creationId xmlns:a16="http://schemas.microsoft.com/office/drawing/2014/main" id="{C073A04C-C2B6-F44F-97D4-54F19B5DECD6}"/>
              </a:ext>
            </a:extLst>
          </p:cNvPr>
          <p:cNvSpPr>
            <a:spLocks/>
          </p:cNvSpPr>
          <p:nvPr/>
        </p:nvSpPr>
        <p:spPr bwMode="auto">
          <a:xfrm>
            <a:off x="10906290" y="2827101"/>
            <a:ext cx="1212872"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r>
              <a:rPr lang="en-US" sz="536" b="1" dirty="0">
                <a:solidFill>
                  <a:schemeClr val="bg1"/>
                </a:solidFill>
                <a:latin typeface="Arial" panose="020B0604020202020204" pitchFamily="34" charset="0"/>
                <a:ea typeface="Lato Light" panose="020F0502020204030203" pitchFamily="34" charset="0"/>
                <a:cs typeface="Arial" panose="020B0604020202020204" pitchFamily="34" charset="0"/>
              </a:rPr>
              <a:t>BH clinicians and practices are not able to operate in a way that allows them to deliver their best care possible</a:t>
            </a:r>
          </a:p>
        </p:txBody>
      </p:sp>
      <p:sp>
        <p:nvSpPr>
          <p:cNvPr id="76" name="Скругленный прямоугольник 88">
            <a:extLst>
              <a:ext uri="{FF2B5EF4-FFF2-40B4-BE49-F238E27FC236}">
                <a16:creationId xmlns:a16="http://schemas.microsoft.com/office/drawing/2014/main" id="{30F79237-16BB-7642-94F8-84B20FDC143A}"/>
              </a:ext>
            </a:extLst>
          </p:cNvPr>
          <p:cNvSpPr>
            <a:spLocks/>
          </p:cNvSpPr>
          <p:nvPr/>
        </p:nvSpPr>
        <p:spPr bwMode="auto">
          <a:xfrm>
            <a:off x="9751624" y="3592884"/>
            <a:ext cx="933553"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Clinicians are incentivized to deliver greater quantity of care rather than greater quality</a:t>
            </a:r>
          </a:p>
        </p:txBody>
      </p:sp>
      <p:sp>
        <p:nvSpPr>
          <p:cNvPr id="81" name="Скругленный прямоугольник 59">
            <a:extLst>
              <a:ext uri="{FF2B5EF4-FFF2-40B4-BE49-F238E27FC236}">
                <a16:creationId xmlns:a16="http://schemas.microsoft.com/office/drawing/2014/main" id="{B6B573CD-873E-4D4F-8718-40EFC873FB97}"/>
              </a:ext>
            </a:extLst>
          </p:cNvPr>
          <p:cNvSpPr>
            <a:spLocks/>
          </p:cNvSpPr>
          <p:nvPr/>
        </p:nvSpPr>
        <p:spPr bwMode="auto">
          <a:xfrm>
            <a:off x="2054268" y="5744246"/>
            <a:ext cx="105965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Non BH clinicians are hesitant to address potential BH issues because of the amount of work that would follow</a:t>
            </a:r>
          </a:p>
        </p:txBody>
      </p:sp>
      <p:sp>
        <p:nvSpPr>
          <p:cNvPr id="84" name="Скругленный прямоугольник 88">
            <a:extLst>
              <a:ext uri="{FF2B5EF4-FFF2-40B4-BE49-F238E27FC236}">
                <a16:creationId xmlns:a16="http://schemas.microsoft.com/office/drawing/2014/main" id="{65CCCFDB-2BDA-F740-9514-7E8A542153E5}"/>
              </a:ext>
            </a:extLst>
          </p:cNvPr>
          <p:cNvSpPr>
            <a:spLocks/>
          </p:cNvSpPr>
          <p:nvPr/>
        </p:nvSpPr>
        <p:spPr bwMode="auto">
          <a:xfrm>
            <a:off x="4743807" y="2830180"/>
            <a:ext cx="981669" cy="466923"/>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b="1" dirty="0">
                <a:solidFill>
                  <a:schemeClr val="bg1"/>
                </a:solidFill>
                <a:latin typeface="Arial" panose="020B0604020202020204" pitchFamily="34" charset="0"/>
                <a:ea typeface="Lato Light" panose="020F0502020204030203" pitchFamily="34" charset="0"/>
                <a:cs typeface="Arial" panose="020B0604020202020204" pitchFamily="34" charset="0"/>
              </a:rPr>
              <a:t>Clinicians may not hold the proper mindset to best treat patients with BH issues</a:t>
            </a:r>
          </a:p>
        </p:txBody>
      </p:sp>
      <p:sp>
        <p:nvSpPr>
          <p:cNvPr id="87" name="Скругленный прямоугольник 88">
            <a:extLst>
              <a:ext uri="{FF2B5EF4-FFF2-40B4-BE49-F238E27FC236}">
                <a16:creationId xmlns:a16="http://schemas.microsoft.com/office/drawing/2014/main" id="{7D66E785-E7EE-C74B-93F2-EC6A67AF2A1B}"/>
              </a:ext>
            </a:extLst>
          </p:cNvPr>
          <p:cNvSpPr>
            <a:spLocks/>
          </p:cNvSpPr>
          <p:nvPr/>
        </p:nvSpPr>
        <p:spPr bwMode="auto">
          <a:xfrm>
            <a:off x="5934024" y="2827245"/>
            <a:ext cx="933553"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b="1" dirty="0">
                <a:solidFill>
                  <a:schemeClr val="bg1"/>
                </a:solidFill>
                <a:latin typeface="Arial" panose="020B0604020202020204" pitchFamily="34" charset="0"/>
                <a:ea typeface="Lato Light" panose="020F0502020204030203" pitchFamily="34" charset="0"/>
                <a:cs typeface="Arial" panose="020B0604020202020204" pitchFamily="34" charset="0"/>
              </a:rPr>
              <a:t>Clinicians may not have all of the knowledge necessary to best treat patients with BH issues</a:t>
            </a:r>
          </a:p>
        </p:txBody>
      </p:sp>
      <p:sp>
        <p:nvSpPr>
          <p:cNvPr id="95" name="Скругленный прямоугольник 84">
            <a:extLst>
              <a:ext uri="{FF2B5EF4-FFF2-40B4-BE49-F238E27FC236}">
                <a16:creationId xmlns:a16="http://schemas.microsoft.com/office/drawing/2014/main" id="{0594F8BE-B3AF-C84B-8492-8A2D86CFE89C}"/>
              </a:ext>
            </a:extLst>
          </p:cNvPr>
          <p:cNvSpPr>
            <a:spLocks/>
          </p:cNvSpPr>
          <p:nvPr/>
        </p:nvSpPr>
        <p:spPr bwMode="auto">
          <a:xfrm>
            <a:off x="7140764" y="2827244"/>
            <a:ext cx="955474"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defPPr>
              <a:defRPr lang="en-US"/>
            </a:defPPr>
            <a:lvl1pPr marL="0" algn="l" defTabSz="987552" rtl="0" eaLnBrk="1" latinLnBrk="0" hangingPunct="1">
              <a:defRPr sz="1944" kern="1200">
                <a:solidFill>
                  <a:schemeClr val="tx1"/>
                </a:solidFill>
                <a:latin typeface="+mn-lt"/>
                <a:ea typeface="+mn-ea"/>
                <a:cs typeface="+mn-cs"/>
              </a:defRPr>
            </a:lvl1pPr>
            <a:lvl2pPr marL="493776" algn="l" defTabSz="987552" rtl="0" eaLnBrk="1" latinLnBrk="0" hangingPunct="1">
              <a:defRPr sz="1944" kern="1200">
                <a:solidFill>
                  <a:schemeClr val="tx1"/>
                </a:solidFill>
                <a:latin typeface="+mn-lt"/>
                <a:ea typeface="+mn-ea"/>
                <a:cs typeface="+mn-cs"/>
              </a:defRPr>
            </a:lvl2pPr>
            <a:lvl3pPr marL="987552" algn="l" defTabSz="987552" rtl="0" eaLnBrk="1" latinLnBrk="0" hangingPunct="1">
              <a:defRPr sz="1944" kern="1200">
                <a:solidFill>
                  <a:schemeClr val="tx1"/>
                </a:solidFill>
                <a:latin typeface="+mn-lt"/>
                <a:ea typeface="+mn-ea"/>
                <a:cs typeface="+mn-cs"/>
              </a:defRPr>
            </a:lvl3pPr>
            <a:lvl4pPr marL="1481328" algn="l" defTabSz="987552" rtl="0" eaLnBrk="1" latinLnBrk="0" hangingPunct="1">
              <a:defRPr sz="1944" kern="1200">
                <a:solidFill>
                  <a:schemeClr val="tx1"/>
                </a:solidFill>
                <a:latin typeface="+mn-lt"/>
                <a:ea typeface="+mn-ea"/>
                <a:cs typeface="+mn-cs"/>
              </a:defRPr>
            </a:lvl4pPr>
            <a:lvl5pPr marL="1975104" algn="l" defTabSz="987552" rtl="0" eaLnBrk="1" latinLnBrk="0" hangingPunct="1">
              <a:defRPr sz="1944" kern="1200">
                <a:solidFill>
                  <a:schemeClr val="tx1"/>
                </a:solidFill>
                <a:latin typeface="+mn-lt"/>
                <a:ea typeface="+mn-ea"/>
                <a:cs typeface="+mn-cs"/>
              </a:defRPr>
            </a:lvl5pPr>
            <a:lvl6pPr marL="2468880" algn="l" defTabSz="987552" rtl="0" eaLnBrk="1" latinLnBrk="0" hangingPunct="1">
              <a:defRPr sz="1944" kern="1200">
                <a:solidFill>
                  <a:schemeClr val="tx1"/>
                </a:solidFill>
                <a:latin typeface="+mn-lt"/>
                <a:ea typeface="+mn-ea"/>
                <a:cs typeface="+mn-cs"/>
              </a:defRPr>
            </a:lvl6pPr>
            <a:lvl7pPr marL="2962656" algn="l" defTabSz="987552" rtl="0" eaLnBrk="1" latinLnBrk="0" hangingPunct="1">
              <a:defRPr sz="1944" kern="1200">
                <a:solidFill>
                  <a:schemeClr val="tx1"/>
                </a:solidFill>
                <a:latin typeface="+mn-lt"/>
                <a:ea typeface="+mn-ea"/>
                <a:cs typeface="+mn-cs"/>
              </a:defRPr>
            </a:lvl7pPr>
            <a:lvl8pPr marL="3456432" algn="l" defTabSz="987552" rtl="0" eaLnBrk="1" latinLnBrk="0" hangingPunct="1">
              <a:defRPr sz="1944" kern="1200">
                <a:solidFill>
                  <a:schemeClr val="tx1"/>
                </a:solidFill>
                <a:latin typeface="+mn-lt"/>
                <a:ea typeface="+mn-ea"/>
                <a:cs typeface="+mn-cs"/>
              </a:defRPr>
            </a:lvl8pPr>
            <a:lvl9pPr marL="3950208" algn="l" defTabSz="987552" rtl="0" eaLnBrk="1" latinLnBrk="0" hangingPunct="1">
              <a:defRPr sz="1944" kern="1200">
                <a:solidFill>
                  <a:schemeClr val="tx1"/>
                </a:solidFill>
                <a:latin typeface="+mn-lt"/>
                <a:ea typeface="+mn-ea"/>
                <a:cs typeface="+mn-cs"/>
              </a:defRPr>
            </a:lvl9pPr>
          </a:lstStyle>
          <a:p>
            <a:pPr defTabSz="401498" fontAlgn="base" hangingPunct="0">
              <a:spcBef>
                <a:spcPct val="0"/>
              </a:spcBef>
              <a:spcAft>
                <a:spcPct val="0"/>
              </a:spcAft>
            </a:pPr>
            <a:r>
              <a:rPr lang="en-US" sz="536" b="1" dirty="0">
                <a:solidFill>
                  <a:schemeClr val="bg1"/>
                </a:solidFill>
                <a:latin typeface="Arial" panose="020B0604020202020204" pitchFamily="34" charset="0"/>
                <a:ea typeface="Lato Light" panose="020F0502020204030203" pitchFamily="34" charset="0"/>
                <a:cs typeface="Arial" panose="020B0604020202020204" pitchFamily="34" charset="0"/>
              </a:rPr>
              <a:t>Clinicians may lack the resources necessary to best treat patients with BH issues</a:t>
            </a:r>
          </a:p>
        </p:txBody>
      </p:sp>
      <p:sp>
        <p:nvSpPr>
          <p:cNvPr id="101" name="Скругленный прямоугольник 80">
            <a:extLst>
              <a:ext uri="{FF2B5EF4-FFF2-40B4-BE49-F238E27FC236}">
                <a16:creationId xmlns:a16="http://schemas.microsoft.com/office/drawing/2014/main" id="{4127A0C1-24FA-6340-A818-7533E4CD1FA2}"/>
              </a:ext>
            </a:extLst>
          </p:cNvPr>
          <p:cNvSpPr>
            <a:spLocks/>
          </p:cNvSpPr>
          <p:nvPr/>
        </p:nvSpPr>
        <p:spPr bwMode="auto">
          <a:xfrm>
            <a:off x="8316903" y="2827243"/>
            <a:ext cx="111552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b="1" dirty="0">
                <a:solidFill>
                  <a:schemeClr val="bg1"/>
                </a:solidFill>
                <a:latin typeface="Arial" panose="020B0604020202020204" pitchFamily="34" charset="0"/>
                <a:ea typeface="Lato Light" panose="020F0502020204030203" pitchFamily="34" charset="0"/>
                <a:cs typeface="Arial" panose="020B0604020202020204" pitchFamily="34" charset="0"/>
              </a:rPr>
              <a:t>The value of BH treatment is often not fully understood by those inside and outside of the BH space</a:t>
            </a:r>
          </a:p>
        </p:txBody>
      </p:sp>
      <p:sp>
        <p:nvSpPr>
          <p:cNvPr id="110" name="Скругленный прямоугольник 72">
            <a:extLst>
              <a:ext uri="{FF2B5EF4-FFF2-40B4-BE49-F238E27FC236}">
                <a16:creationId xmlns:a16="http://schemas.microsoft.com/office/drawing/2014/main" id="{4C058404-555D-B041-B463-904F25D260EC}"/>
              </a:ext>
            </a:extLst>
          </p:cNvPr>
          <p:cNvSpPr>
            <a:spLocks/>
          </p:cNvSpPr>
          <p:nvPr/>
        </p:nvSpPr>
        <p:spPr bwMode="auto">
          <a:xfrm>
            <a:off x="682440" y="3599736"/>
            <a:ext cx="908906" cy="650015"/>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Inability to refer to the right BH care due to shortage of clinicians and facilities leads to long wait times for appointments.</a:t>
            </a:r>
          </a:p>
        </p:txBody>
      </p:sp>
      <p:sp>
        <p:nvSpPr>
          <p:cNvPr id="114" name="Скругленный прямоугольник 84">
            <a:extLst>
              <a:ext uri="{FF2B5EF4-FFF2-40B4-BE49-F238E27FC236}">
                <a16:creationId xmlns:a16="http://schemas.microsoft.com/office/drawing/2014/main" id="{1F4A8EDC-A4C3-EA4A-A235-A282615E975A}"/>
              </a:ext>
            </a:extLst>
          </p:cNvPr>
          <p:cNvSpPr>
            <a:spLocks/>
          </p:cNvSpPr>
          <p:nvPr/>
        </p:nvSpPr>
        <p:spPr bwMode="auto">
          <a:xfrm>
            <a:off x="5935518" y="4434541"/>
            <a:ext cx="932058" cy="519166"/>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It’s difficult to adopt to the rapidly evolving amount of knowledge and standards in the BH space</a:t>
            </a:r>
          </a:p>
        </p:txBody>
      </p:sp>
      <p:sp>
        <p:nvSpPr>
          <p:cNvPr id="121" name="Скругленный прямоугольник 88">
            <a:extLst>
              <a:ext uri="{FF2B5EF4-FFF2-40B4-BE49-F238E27FC236}">
                <a16:creationId xmlns:a16="http://schemas.microsoft.com/office/drawing/2014/main" id="{5D8772B6-FE1B-5A40-96CE-DD80C9677107}"/>
              </a:ext>
            </a:extLst>
          </p:cNvPr>
          <p:cNvSpPr>
            <a:spLocks/>
          </p:cNvSpPr>
          <p:nvPr/>
        </p:nvSpPr>
        <p:spPr bwMode="auto">
          <a:xfrm>
            <a:off x="10896508" y="5394283"/>
            <a:ext cx="1226835" cy="276361"/>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Insurance companies keep BH networks small</a:t>
            </a:r>
          </a:p>
        </p:txBody>
      </p:sp>
      <p:sp>
        <p:nvSpPr>
          <p:cNvPr id="123" name="Скругленный прямоугольник 88">
            <a:extLst>
              <a:ext uri="{FF2B5EF4-FFF2-40B4-BE49-F238E27FC236}">
                <a16:creationId xmlns:a16="http://schemas.microsoft.com/office/drawing/2014/main" id="{B429F87B-7416-6E45-9EE8-140AA790F5EE}"/>
              </a:ext>
            </a:extLst>
          </p:cNvPr>
          <p:cNvSpPr>
            <a:spLocks/>
          </p:cNvSpPr>
          <p:nvPr/>
        </p:nvSpPr>
        <p:spPr bwMode="auto">
          <a:xfrm>
            <a:off x="9750504" y="5133140"/>
            <a:ext cx="956092" cy="354101"/>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Training, licensing and certifications are costly in time and money</a:t>
            </a:r>
          </a:p>
        </p:txBody>
      </p:sp>
      <p:sp>
        <p:nvSpPr>
          <p:cNvPr id="125" name="Скругленный прямоугольник 88">
            <a:extLst>
              <a:ext uri="{FF2B5EF4-FFF2-40B4-BE49-F238E27FC236}">
                <a16:creationId xmlns:a16="http://schemas.microsoft.com/office/drawing/2014/main" id="{2AC8BBFD-FD12-194F-B83A-5FDF6E994E7A}"/>
              </a:ext>
            </a:extLst>
          </p:cNvPr>
          <p:cNvSpPr>
            <a:spLocks/>
          </p:cNvSpPr>
          <p:nvPr/>
        </p:nvSpPr>
        <p:spPr bwMode="auto">
          <a:xfrm>
            <a:off x="8316902" y="3582178"/>
            <a:ext cx="1115526" cy="519166"/>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Attribution of health outcomes or cost savings to BH intervention is unclear (nature of the treatment and being tied up with PH)</a:t>
            </a:r>
          </a:p>
        </p:txBody>
      </p:sp>
      <p:sp>
        <p:nvSpPr>
          <p:cNvPr id="127" name="Скругленный прямоугольник 88">
            <a:extLst>
              <a:ext uri="{FF2B5EF4-FFF2-40B4-BE49-F238E27FC236}">
                <a16:creationId xmlns:a16="http://schemas.microsoft.com/office/drawing/2014/main" id="{32F10DE0-A5B1-1E4B-87AB-8BC83CA5703A}"/>
              </a:ext>
            </a:extLst>
          </p:cNvPr>
          <p:cNvSpPr>
            <a:spLocks/>
          </p:cNvSpPr>
          <p:nvPr/>
        </p:nvSpPr>
        <p:spPr bwMode="auto">
          <a:xfrm>
            <a:off x="8316901" y="4329294"/>
            <a:ext cx="1115526" cy="519166"/>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BH is harder for many to understand than PH by nature because of the visibility of the issues, treatment and outcomes</a:t>
            </a:r>
          </a:p>
        </p:txBody>
      </p:sp>
      <p:sp>
        <p:nvSpPr>
          <p:cNvPr id="129" name="Скругленный прямоугольник 84">
            <a:extLst>
              <a:ext uri="{FF2B5EF4-FFF2-40B4-BE49-F238E27FC236}">
                <a16:creationId xmlns:a16="http://schemas.microsoft.com/office/drawing/2014/main" id="{9E2FFF6D-017A-4B4A-B7CA-B5F7670FE04F}"/>
              </a:ext>
            </a:extLst>
          </p:cNvPr>
          <p:cNvSpPr>
            <a:spLocks/>
          </p:cNvSpPr>
          <p:nvPr/>
        </p:nvSpPr>
        <p:spPr bwMode="auto">
          <a:xfrm>
            <a:off x="4743807" y="5069715"/>
            <a:ext cx="981668" cy="611820"/>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Clinician’s personal health and prevention habits influence the likelihood of addressing similar issues with patients.</a:t>
            </a:r>
          </a:p>
        </p:txBody>
      </p:sp>
      <p:sp>
        <p:nvSpPr>
          <p:cNvPr id="131" name="Скругленный прямоугольник 88">
            <a:extLst>
              <a:ext uri="{FF2B5EF4-FFF2-40B4-BE49-F238E27FC236}">
                <a16:creationId xmlns:a16="http://schemas.microsoft.com/office/drawing/2014/main" id="{397CD608-4E24-C941-B54B-EA6E3D2E11CB}"/>
              </a:ext>
            </a:extLst>
          </p:cNvPr>
          <p:cNvSpPr>
            <a:spLocks/>
          </p:cNvSpPr>
          <p:nvPr/>
        </p:nvSpPr>
        <p:spPr bwMode="auto">
          <a:xfrm>
            <a:off x="9739072" y="5735968"/>
            <a:ext cx="956092" cy="276361"/>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Not a lucrative field to enter for clinicians</a:t>
            </a:r>
          </a:p>
        </p:txBody>
      </p:sp>
      <p:cxnSp>
        <p:nvCxnSpPr>
          <p:cNvPr id="9" name="Elbow Connector 8">
            <a:extLst>
              <a:ext uri="{FF2B5EF4-FFF2-40B4-BE49-F238E27FC236}">
                <a16:creationId xmlns:a16="http://schemas.microsoft.com/office/drawing/2014/main" id="{7E13AC53-60F6-E441-939D-71702572438A}"/>
              </a:ext>
            </a:extLst>
          </p:cNvPr>
          <p:cNvCxnSpPr>
            <a:cxnSpLocks/>
            <a:stCxn id="8" idx="2"/>
            <a:endCxn id="71" idx="0"/>
          </p:cNvCxnSpPr>
          <p:nvPr/>
        </p:nvCxnSpPr>
        <p:spPr>
          <a:xfrm rot="5400000">
            <a:off x="1689031" y="1927716"/>
            <a:ext cx="347391" cy="1451667"/>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Elbow Connector 11">
            <a:extLst>
              <a:ext uri="{FF2B5EF4-FFF2-40B4-BE49-F238E27FC236}">
                <a16:creationId xmlns:a16="http://schemas.microsoft.com/office/drawing/2014/main" id="{645A6E84-EDFC-8448-850A-C2015A3585C7}"/>
              </a:ext>
            </a:extLst>
          </p:cNvPr>
          <p:cNvCxnSpPr>
            <a:cxnSpLocks/>
            <a:stCxn id="8" idx="2"/>
            <a:endCxn id="61" idx="0"/>
          </p:cNvCxnSpPr>
          <p:nvPr/>
        </p:nvCxnSpPr>
        <p:spPr>
          <a:xfrm rot="5400000">
            <a:off x="2409544" y="2653510"/>
            <a:ext cx="352673" cy="5361"/>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Elbow Connector 14">
            <a:extLst>
              <a:ext uri="{FF2B5EF4-FFF2-40B4-BE49-F238E27FC236}">
                <a16:creationId xmlns:a16="http://schemas.microsoft.com/office/drawing/2014/main" id="{BB736517-0B60-F546-9C04-5D71F2626FE4}"/>
              </a:ext>
            </a:extLst>
          </p:cNvPr>
          <p:cNvCxnSpPr>
            <a:cxnSpLocks/>
            <a:stCxn id="8" idx="2"/>
            <a:endCxn id="98" idx="0"/>
          </p:cNvCxnSpPr>
          <p:nvPr/>
        </p:nvCxnSpPr>
        <p:spPr>
          <a:xfrm rot="16200000" flipH="1">
            <a:off x="3127435" y="1940978"/>
            <a:ext cx="352673" cy="1430422"/>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030AF1E6-FA3F-F541-9664-7ADAEEEAD1E0}"/>
              </a:ext>
            </a:extLst>
          </p:cNvPr>
          <p:cNvCxnSpPr>
            <a:cxnSpLocks/>
            <a:stCxn id="11" idx="2"/>
            <a:endCxn id="84" idx="0"/>
          </p:cNvCxnSpPr>
          <p:nvPr/>
        </p:nvCxnSpPr>
        <p:spPr>
          <a:xfrm rot="5400000">
            <a:off x="5636250" y="2072666"/>
            <a:ext cx="355905" cy="1159120"/>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21">
            <a:extLst>
              <a:ext uri="{FF2B5EF4-FFF2-40B4-BE49-F238E27FC236}">
                <a16:creationId xmlns:a16="http://schemas.microsoft.com/office/drawing/2014/main" id="{01976299-EE5A-8045-8BE5-A791CF24D5B2}"/>
              </a:ext>
            </a:extLst>
          </p:cNvPr>
          <p:cNvCxnSpPr>
            <a:cxnSpLocks/>
            <a:stCxn id="11" idx="2"/>
            <a:endCxn id="87" idx="0"/>
          </p:cNvCxnSpPr>
          <p:nvPr/>
        </p:nvCxnSpPr>
        <p:spPr>
          <a:xfrm rot="16200000" flipH="1">
            <a:off x="6220797" y="2647241"/>
            <a:ext cx="352969" cy="7038"/>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Elbow Connector 23">
            <a:extLst>
              <a:ext uri="{FF2B5EF4-FFF2-40B4-BE49-F238E27FC236}">
                <a16:creationId xmlns:a16="http://schemas.microsoft.com/office/drawing/2014/main" id="{8BACCB57-B95E-024F-9516-19B6D546BDF6}"/>
              </a:ext>
            </a:extLst>
          </p:cNvPr>
          <p:cNvCxnSpPr>
            <a:cxnSpLocks/>
            <a:stCxn id="11" idx="2"/>
            <a:endCxn id="95" idx="0"/>
          </p:cNvCxnSpPr>
          <p:nvPr/>
        </p:nvCxnSpPr>
        <p:spPr>
          <a:xfrm rot="16200000" flipH="1">
            <a:off x="6829647" y="2038389"/>
            <a:ext cx="352969" cy="1224739"/>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Elbow Connector 25">
            <a:extLst>
              <a:ext uri="{FF2B5EF4-FFF2-40B4-BE49-F238E27FC236}">
                <a16:creationId xmlns:a16="http://schemas.microsoft.com/office/drawing/2014/main" id="{AA907C8F-369E-9E45-9375-3F1511B30BE7}"/>
              </a:ext>
            </a:extLst>
          </p:cNvPr>
          <p:cNvCxnSpPr>
            <a:cxnSpLocks/>
            <a:stCxn id="14" idx="2"/>
            <a:endCxn id="101" idx="0"/>
          </p:cNvCxnSpPr>
          <p:nvPr/>
        </p:nvCxnSpPr>
        <p:spPr>
          <a:xfrm rot="5400000">
            <a:off x="9370159" y="1984358"/>
            <a:ext cx="347390" cy="1338376"/>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E65887A3-F5A0-1D47-BCBB-0E89F4510D03}"/>
              </a:ext>
            </a:extLst>
          </p:cNvPr>
          <p:cNvCxnSpPr>
            <a:cxnSpLocks/>
            <a:stCxn id="14" idx="2"/>
            <a:endCxn id="32" idx="0"/>
          </p:cNvCxnSpPr>
          <p:nvPr/>
        </p:nvCxnSpPr>
        <p:spPr>
          <a:xfrm rot="5400000">
            <a:off x="10036723" y="2651546"/>
            <a:ext cx="348013" cy="4627"/>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Elbow Connector 29">
            <a:extLst>
              <a:ext uri="{FF2B5EF4-FFF2-40B4-BE49-F238E27FC236}">
                <a16:creationId xmlns:a16="http://schemas.microsoft.com/office/drawing/2014/main" id="{3666CA1D-F168-1442-A03B-84C77C336087}"/>
              </a:ext>
            </a:extLst>
          </p:cNvPr>
          <p:cNvCxnSpPr>
            <a:cxnSpLocks/>
            <a:stCxn id="14" idx="2"/>
            <a:endCxn id="72" idx="0"/>
          </p:cNvCxnSpPr>
          <p:nvPr/>
        </p:nvCxnSpPr>
        <p:spPr>
          <a:xfrm rot="16200000" flipH="1">
            <a:off x="10689260" y="2003633"/>
            <a:ext cx="347249" cy="1299686"/>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9" name="Скругленный прямоугольник 88">
            <a:extLst>
              <a:ext uri="{FF2B5EF4-FFF2-40B4-BE49-F238E27FC236}">
                <a16:creationId xmlns:a16="http://schemas.microsoft.com/office/drawing/2014/main" id="{DDF47964-ED99-D644-9BF4-C4A1735B8767}"/>
              </a:ext>
            </a:extLst>
          </p:cNvPr>
          <p:cNvSpPr>
            <a:spLocks/>
          </p:cNvSpPr>
          <p:nvPr/>
        </p:nvSpPr>
        <p:spPr bwMode="auto">
          <a:xfrm>
            <a:off x="9749063" y="6256765"/>
            <a:ext cx="936116" cy="58690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Practices that don’t accept insurance don’t benefit from the volume from an insurance company</a:t>
            </a:r>
          </a:p>
        </p:txBody>
      </p:sp>
      <p:sp>
        <p:nvSpPr>
          <p:cNvPr id="151" name="Скругленный прямоугольник 88">
            <a:extLst>
              <a:ext uri="{FF2B5EF4-FFF2-40B4-BE49-F238E27FC236}">
                <a16:creationId xmlns:a16="http://schemas.microsoft.com/office/drawing/2014/main" id="{EA28D4F8-FD12-5344-AAF5-8831D9CA3FD1}"/>
              </a:ext>
            </a:extLst>
          </p:cNvPr>
          <p:cNvSpPr>
            <a:spLocks/>
          </p:cNvSpPr>
          <p:nvPr/>
        </p:nvSpPr>
        <p:spPr bwMode="auto">
          <a:xfrm>
            <a:off x="8316902" y="5081526"/>
            <a:ext cx="1115525" cy="276361"/>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Value Based Reimbursement for BH lags behind PH</a:t>
            </a:r>
          </a:p>
        </p:txBody>
      </p:sp>
      <p:sp>
        <p:nvSpPr>
          <p:cNvPr id="153" name="Скругленный прямоугольник 84">
            <a:extLst>
              <a:ext uri="{FF2B5EF4-FFF2-40B4-BE49-F238E27FC236}">
                <a16:creationId xmlns:a16="http://schemas.microsoft.com/office/drawing/2014/main" id="{A1723715-1F2E-E644-A2B4-DBE6F4B64EEB}"/>
              </a:ext>
            </a:extLst>
          </p:cNvPr>
          <p:cNvSpPr>
            <a:spLocks/>
          </p:cNvSpPr>
          <p:nvPr/>
        </p:nvSpPr>
        <p:spPr bwMode="auto">
          <a:xfrm>
            <a:off x="7138955" y="5487241"/>
            <a:ext cx="949959" cy="425402"/>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84716" tIns="84716" rIns="84716" bIns="84716"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There is a lack of clear and robust data sources available  </a:t>
            </a:r>
          </a:p>
        </p:txBody>
      </p:sp>
      <p:cxnSp>
        <p:nvCxnSpPr>
          <p:cNvPr id="271" name="Straight Arrow Connector 270">
            <a:extLst>
              <a:ext uri="{FF2B5EF4-FFF2-40B4-BE49-F238E27FC236}">
                <a16:creationId xmlns:a16="http://schemas.microsoft.com/office/drawing/2014/main" id="{9F9CA9BE-669B-D44E-BEC6-9AF76D9E2FFE}"/>
              </a:ext>
            </a:extLst>
          </p:cNvPr>
          <p:cNvCxnSpPr>
            <a:stCxn id="61" idx="2"/>
            <a:endCxn id="75" idx="0"/>
          </p:cNvCxnSpPr>
          <p:nvPr/>
        </p:nvCxnSpPr>
        <p:spPr>
          <a:xfrm>
            <a:off x="2583197" y="3302303"/>
            <a:ext cx="6481" cy="295653"/>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3" name="Straight Arrow Connector 272">
            <a:extLst>
              <a:ext uri="{FF2B5EF4-FFF2-40B4-BE49-F238E27FC236}">
                <a16:creationId xmlns:a16="http://schemas.microsoft.com/office/drawing/2014/main" id="{02FF95B2-C88F-1144-93A3-75B59CF96573}"/>
              </a:ext>
            </a:extLst>
          </p:cNvPr>
          <p:cNvCxnSpPr>
            <a:stCxn id="75" idx="2"/>
            <a:endCxn id="68" idx="0"/>
          </p:cNvCxnSpPr>
          <p:nvPr/>
        </p:nvCxnSpPr>
        <p:spPr>
          <a:xfrm flipH="1">
            <a:off x="2589679" y="4018648"/>
            <a:ext cx="1" cy="295653"/>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5" name="Straight Arrow Connector 274">
            <a:extLst>
              <a:ext uri="{FF2B5EF4-FFF2-40B4-BE49-F238E27FC236}">
                <a16:creationId xmlns:a16="http://schemas.microsoft.com/office/drawing/2014/main" id="{E7E640D3-8DBF-F444-9F88-2A5A99EFE349}"/>
              </a:ext>
            </a:extLst>
          </p:cNvPr>
          <p:cNvCxnSpPr>
            <a:stCxn id="68" idx="2"/>
            <a:endCxn id="109" idx="0"/>
          </p:cNvCxnSpPr>
          <p:nvPr/>
        </p:nvCxnSpPr>
        <p:spPr>
          <a:xfrm flipH="1">
            <a:off x="2589678" y="4802756"/>
            <a:ext cx="1" cy="295653"/>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7" name="Straight Arrow Connector 276">
            <a:extLst>
              <a:ext uri="{FF2B5EF4-FFF2-40B4-BE49-F238E27FC236}">
                <a16:creationId xmlns:a16="http://schemas.microsoft.com/office/drawing/2014/main" id="{85D67D7A-A18E-4746-A22C-C6B75F34BAAC}"/>
              </a:ext>
            </a:extLst>
          </p:cNvPr>
          <p:cNvCxnSpPr>
            <a:stCxn id="109" idx="2"/>
            <a:endCxn id="81" idx="0"/>
          </p:cNvCxnSpPr>
          <p:nvPr/>
        </p:nvCxnSpPr>
        <p:spPr>
          <a:xfrm flipH="1">
            <a:off x="2584096" y="5448593"/>
            <a:ext cx="5580" cy="295653"/>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9" name="Straight Arrow Connector 278">
            <a:extLst>
              <a:ext uri="{FF2B5EF4-FFF2-40B4-BE49-F238E27FC236}">
                <a16:creationId xmlns:a16="http://schemas.microsoft.com/office/drawing/2014/main" id="{98A9CB29-F61C-7B45-BEAD-FBA3848DFB42}"/>
              </a:ext>
            </a:extLst>
          </p:cNvPr>
          <p:cNvCxnSpPr>
            <a:stCxn id="98" idx="2"/>
            <a:endCxn id="113" idx="0"/>
          </p:cNvCxnSpPr>
          <p:nvPr/>
        </p:nvCxnSpPr>
        <p:spPr>
          <a:xfrm flipH="1">
            <a:off x="4014361" y="3302303"/>
            <a:ext cx="4620" cy="295653"/>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1" name="Straight Arrow Connector 280">
            <a:extLst>
              <a:ext uri="{FF2B5EF4-FFF2-40B4-BE49-F238E27FC236}">
                <a16:creationId xmlns:a16="http://schemas.microsoft.com/office/drawing/2014/main" id="{B824C942-DB3C-8840-8096-6BDA72367230}"/>
              </a:ext>
            </a:extLst>
          </p:cNvPr>
          <p:cNvCxnSpPr>
            <a:stCxn id="84" idx="2"/>
            <a:endCxn id="89" idx="0"/>
          </p:cNvCxnSpPr>
          <p:nvPr/>
        </p:nvCxnSpPr>
        <p:spPr>
          <a:xfrm flipH="1">
            <a:off x="5234641" y="3297104"/>
            <a:ext cx="1" cy="253044"/>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3" name="Straight Arrow Connector 282">
            <a:extLst>
              <a:ext uri="{FF2B5EF4-FFF2-40B4-BE49-F238E27FC236}">
                <a16:creationId xmlns:a16="http://schemas.microsoft.com/office/drawing/2014/main" id="{DF35E224-8198-4548-BBEF-4FCF4A350281}"/>
              </a:ext>
            </a:extLst>
          </p:cNvPr>
          <p:cNvCxnSpPr>
            <a:stCxn id="89" idx="2"/>
            <a:endCxn id="106" idx="0"/>
          </p:cNvCxnSpPr>
          <p:nvPr/>
        </p:nvCxnSpPr>
        <p:spPr>
          <a:xfrm>
            <a:off x="5234641" y="4043092"/>
            <a:ext cx="0" cy="257052"/>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5" name="Straight Arrow Connector 284">
            <a:extLst>
              <a:ext uri="{FF2B5EF4-FFF2-40B4-BE49-F238E27FC236}">
                <a16:creationId xmlns:a16="http://schemas.microsoft.com/office/drawing/2014/main" id="{EFD99534-366D-A34B-820A-D0B2B64E8A66}"/>
              </a:ext>
            </a:extLst>
          </p:cNvPr>
          <p:cNvCxnSpPr>
            <a:stCxn id="106" idx="2"/>
            <a:endCxn id="129" idx="0"/>
          </p:cNvCxnSpPr>
          <p:nvPr/>
        </p:nvCxnSpPr>
        <p:spPr>
          <a:xfrm>
            <a:off x="5234641" y="4812664"/>
            <a:ext cx="0" cy="257052"/>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7" name="Straight Arrow Connector 286">
            <a:extLst>
              <a:ext uri="{FF2B5EF4-FFF2-40B4-BE49-F238E27FC236}">
                <a16:creationId xmlns:a16="http://schemas.microsoft.com/office/drawing/2014/main" id="{BA269682-8878-734C-928D-57ABC228AD42}"/>
              </a:ext>
            </a:extLst>
          </p:cNvPr>
          <p:cNvCxnSpPr>
            <a:stCxn id="71" idx="2"/>
            <a:endCxn id="110" idx="0"/>
          </p:cNvCxnSpPr>
          <p:nvPr/>
        </p:nvCxnSpPr>
        <p:spPr>
          <a:xfrm>
            <a:off x="1136892" y="3297104"/>
            <a:ext cx="1" cy="302632"/>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9" name="Straight Arrow Connector 288">
            <a:extLst>
              <a:ext uri="{FF2B5EF4-FFF2-40B4-BE49-F238E27FC236}">
                <a16:creationId xmlns:a16="http://schemas.microsoft.com/office/drawing/2014/main" id="{E5D0A85C-C97C-5745-83A6-F92C5083583C}"/>
              </a:ext>
            </a:extLst>
          </p:cNvPr>
          <p:cNvCxnSpPr>
            <a:stCxn id="87" idx="2"/>
            <a:endCxn id="53" idx="0"/>
          </p:cNvCxnSpPr>
          <p:nvPr/>
        </p:nvCxnSpPr>
        <p:spPr>
          <a:xfrm flipH="1">
            <a:off x="6399870" y="3339764"/>
            <a:ext cx="930" cy="242415"/>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1" name="Straight Arrow Connector 290">
            <a:extLst>
              <a:ext uri="{FF2B5EF4-FFF2-40B4-BE49-F238E27FC236}">
                <a16:creationId xmlns:a16="http://schemas.microsoft.com/office/drawing/2014/main" id="{BBBDD56A-722E-9942-A6F8-B7E43118FD5F}"/>
              </a:ext>
            </a:extLst>
          </p:cNvPr>
          <p:cNvCxnSpPr>
            <a:stCxn id="53" idx="2"/>
            <a:endCxn id="114" idx="0"/>
          </p:cNvCxnSpPr>
          <p:nvPr/>
        </p:nvCxnSpPr>
        <p:spPr>
          <a:xfrm>
            <a:off x="6399870" y="4178602"/>
            <a:ext cx="1677" cy="255940"/>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3" name="Straight Arrow Connector 292">
            <a:extLst>
              <a:ext uri="{FF2B5EF4-FFF2-40B4-BE49-F238E27FC236}">
                <a16:creationId xmlns:a16="http://schemas.microsoft.com/office/drawing/2014/main" id="{BB79006F-E7C2-0D47-B50F-5F0E33EE5C20}"/>
              </a:ext>
            </a:extLst>
          </p:cNvPr>
          <p:cNvCxnSpPr>
            <a:stCxn id="95" idx="2"/>
            <a:endCxn id="60" idx="0"/>
          </p:cNvCxnSpPr>
          <p:nvPr/>
        </p:nvCxnSpPr>
        <p:spPr>
          <a:xfrm flipH="1">
            <a:off x="7614939" y="3339762"/>
            <a:ext cx="3562" cy="242416"/>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5" name="Straight Arrow Connector 294">
            <a:extLst>
              <a:ext uri="{FF2B5EF4-FFF2-40B4-BE49-F238E27FC236}">
                <a16:creationId xmlns:a16="http://schemas.microsoft.com/office/drawing/2014/main" id="{3CA55123-8F62-FD48-BEB0-AD38E07F830A}"/>
              </a:ext>
            </a:extLst>
          </p:cNvPr>
          <p:cNvCxnSpPr>
            <a:stCxn id="60" idx="2"/>
            <a:endCxn id="104" idx="0"/>
          </p:cNvCxnSpPr>
          <p:nvPr/>
        </p:nvCxnSpPr>
        <p:spPr>
          <a:xfrm flipH="1">
            <a:off x="7613983" y="4403074"/>
            <a:ext cx="956" cy="285824"/>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7" name="Straight Arrow Connector 296">
            <a:extLst>
              <a:ext uri="{FF2B5EF4-FFF2-40B4-BE49-F238E27FC236}">
                <a16:creationId xmlns:a16="http://schemas.microsoft.com/office/drawing/2014/main" id="{DF2DD80A-95E3-0D47-AB73-C055A40F78B7}"/>
              </a:ext>
            </a:extLst>
          </p:cNvPr>
          <p:cNvCxnSpPr>
            <a:stCxn id="104" idx="2"/>
            <a:endCxn id="153" idx="0"/>
          </p:cNvCxnSpPr>
          <p:nvPr/>
        </p:nvCxnSpPr>
        <p:spPr>
          <a:xfrm flipH="1">
            <a:off x="7613933" y="5201417"/>
            <a:ext cx="50" cy="285824"/>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9" name="Straight Arrow Connector 298">
            <a:extLst>
              <a:ext uri="{FF2B5EF4-FFF2-40B4-BE49-F238E27FC236}">
                <a16:creationId xmlns:a16="http://schemas.microsoft.com/office/drawing/2014/main" id="{EC58F4A7-309D-B34D-93AE-A9BD360F7262}"/>
              </a:ext>
            </a:extLst>
          </p:cNvPr>
          <p:cNvCxnSpPr>
            <a:stCxn id="101" idx="2"/>
            <a:endCxn id="125" idx="0"/>
          </p:cNvCxnSpPr>
          <p:nvPr/>
        </p:nvCxnSpPr>
        <p:spPr>
          <a:xfrm>
            <a:off x="8874665" y="3339761"/>
            <a:ext cx="0" cy="242417"/>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1" name="Straight Arrow Connector 300">
            <a:extLst>
              <a:ext uri="{FF2B5EF4-FFF2-40B4-BE49-F238E27FC236}">
                <a16:creationId xmlns:a16="http://schemas.microsoft.com/office/drawing/2014/main" id="{206C15ED-6BAC-7F40-B1BD-0F281B54CD04}"/>
              </a:ext>
            </a:extLst>
          </p:cNvPr>
          <p:cNvCxnSpPr>
            <a:stCxn id="125" idx="2"/>
            <a:endCxn id="127" idx="0"/>
          </p:cNvCxnSpPr>
          <p:nvPr/>
        </p:nvCxnSpPr>
        <p:spPr>
          <a:xfrm flipH="1">
            <a:off x="8874666" y="4101345"/>
            <a:ext cx="1" cy="227950"/>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3" name="Straight Arrow Connector 302">
            <a:extLst>
              <a:ext uri="{FF2B5EF4-FFF2-40B4-BE49-F238E27FC236}">
                <a16:creationId xmlns:a16="http://schemas.microsoft.com/office/drawing/2014/main" id="{733282B4-277C-AE44-A4FF-60F5B700891B}"/>
              </a:ext>
            </a:extLst>
          </p:cNvPr>
          <p:cNvCxnSpPr>
            <a:stCxn id="127" idx="2"/>
            <a:endCxn id="151" idx="0"/>
          </p:cNvCxnSpPr>
          <p:nvPr/>
        </p:nvCxnSpPr>
        <p:spPr>
          <a:xfrm flipH="1">
            <a:off x="8874665" y="4848462"/>
            <a:ext cx="1" cy="233065"/>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5" name="Straight Arrow Connector 304">
            <a:extLst>
              <a:ext uri="{FF2B5EF4-FFF2-40B4-BE49-F238E27FC236}">
                <a16:creationId xmlns:a16="http://schemas.microsoft.com/office/drawing/2014/main" id="{58239B6E-B3DA-C545-B085-EB6AC97DE73D}"/>
              </a:ext>
            </a:extLst>
          </p:cNvPr>
          <p:cNvCxnSpPr>
            <a:stCxn id="32" idx="2"/>
            <a:endCxn id="76" idx="0"/>
          </p:cNvCxnSpPr>
          <p:nvPr/>
        </p:nvCxnSpPr>
        <p:spPr>
          <a:xfrm>
            <a:off x="10208413" y="3340384"/>
            <a:ext cx="9988" cy="252500"/>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7" name="Straight Arrow Connector 306">
            <a:extLst>
              <a:ext uri="{FF2B5EF4-FFF2-40B4-BE49-F238E27FC236}">
                <a16:creationId xmlns:a16="http://schemas.microsoft.com/office/drawing/2014/main" id="{6A6E3864-93C1-E740-B4A2-C8904B7FE0B8}"/>
              </a:ext>
            </a:extLst>
          </p:cNvPr>
          <p:cNvCxnSpPr>
            <a:stCxn id="76" idx="2"/>
            <a:endCxn id="115" idx="0"/>
          </p:cNvCxnSpPr>
          <p:nvPr/>
        </p:nvCxnSpPr>
        <p:spPr>
          <a:xfrm>
            <a:off x="10218402" y="4105402"/>
            <a:ext cx="1" cy="223892"/>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9" name="Straight Arrow Connector 308">
            <a:extLst>
              <a:ext uri="{FF2B5EF4-FFF2-40B4-BE49-F238E27FC236}">
                <a16:creationId xmlns:a16="http://schemas.microsoft.com/office/drawing/2014/main" id="{B36385C1-A3D2-9140-B7A6-531416A29E5B}"/>
              </a:ext>
            </a:extLst>
          </p:cNvPr>
          <p:cNvCxnSpPr>
            <a:cxnSpLocks/>
            <a:stCxn id="115" idx="2"/>
            <a:endCxn id="123" idx="0"/>
          </p:cNvCxnSpPr>
          <p:nvPr/>
        </p:nvCxnSpPr>
        <p:spPr>
          <a:xfrm>
            <a:off x="10218403" y="4856164"/>
            <a:ext cx="10147" cy="276976"/>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1" name="Straight Arrow Connector 310">
            <a:extLst>
              <a:ext uri="{FF2B5EF4-FFF2-40B4-BE49-F238E27FC236}">
                <a16:creationId xmlns:a16="http://schemas.microsoft.com/office/drawing/2014/main" id="{BEF8CD6B-0564-3741-80BA-DF7A003FD21A}"/>
              </a:ext>
            </a:extLst>
          </p:cNvPr>
          <p:cNvCxnSpPr>
            <a:cxnSpLocks/>
            <a:stCxn id="123" idx="2"/>
            <a:endCxn id="131" idx="0"/>
          </p:cNvCxnSpPr>
          <p:nvPr/>
        </p:nvCxnSpPr>
        <p:spPr>
          <a:xfrm flipH="1">
            <a:off x="10217119" y="5487242"/>
            <a:ext cx="11430" cy="248727"/>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3" name="Straight Arrow Connector 312">
            <a:extLst>
              <a:ext uri="{FF2B5EF4-FFF2-40B4-BE49-F238E27FC236}">
                <a16:creationId xmlns:a16="http://schemas.microsoft.com/office/drawing/2014/main" id="{2C759C05-9813-7140-8D8A-A712640EAEA7}"/>
              </a:ext>
            </a:extLst>
          </p:cNvPr>
          <p:cNvCxnSpPr>
            <a:cxnSpLocks/>
            <a:stCxn id="131" idx="2"/>
            <a:endCxn id="149" idx="0"/>
          </p:cNvCxnSpPr>
          <p:nvPr/>
        </p:nvCxnSpPr>
        <p:spPr>
          <a:xfrm>
            <a:off x="10217120" y="6012328"/>
            <a:ext cx="1" cy="244436"/>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0" name="Straight Arrow Connector 319">
            <a:extLst>
              <a:ext uri="{FF2B5EF4-FFF2-40B4-BE49-F238E27FC236}">
                <a16:creationId xmlns:a16="http://schemas.microsoft.com/office/drawing/2014/main" id="{35F955BC-89D9-A840-BF27-EA960E303A7F}"/>
              </a:ext>
            </a:extLst>
          </p:cNvPr>
          <p:cNvCxnSpPr>
            <a:stCxn id="72" idx="2"/>
            <a:endCxn id="91" idx="0"/>
          </p:cNvCxnSpPr>
          <p:nvPr/>
        </p:nvCxnSpPr>
        <p:spPr>
          <a:xfrm flipH="1">
            <a:off x="11509209" y="3339621"/>
            <a:ext cx="3518" cy="237918"/>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2" name="Straight Arrow Connector 321">
            <a:extLst>
              <a:ext uri="{FF2B5EF4-FFF2-40B4-BE49-F238E27FC236}">
                <a16:creationId xmlns:a16="http://schemas.microsoft.com/office/drawing/2014/main" id="{B26D29EE-8A59-2143-B226-975BDADD7EF8}"/>
              </a:ext>
            </a:extLst>
          </p:cNvPr>
          <p:cNvCxnSpPr>
            <a:stCxn id="91" idx="2"/>
            <a:endCxn id="66" idx="0"/>
          </p:cNvCxnSpPr>
          <p:nvPr/>
        </p:nvCxnSpPr>
        <p:spPr>
          <a:xfrm>
            <a:off x="11509209" y="3924789"/>
            <a:ext cx="1202" cy="237918"/>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4" name="Straight Arrow Connector 323">
            <a:extLst>
              <a:ext uri="{FF2B5EF4-FFF2-40B4-BE49-F238E27FC236}">
                <a16:creationId xmlns:a16="http://schemas.microsoft.com/office/drawing/2014/main" id="{94E9257F-F208-524B-9D57-F157D7A13237}"/>
              </a:ext>
            </a:extLst>
          </p:cNvPr>
          <p:cNvCxnSpPr>
            <a:stCxn id="66" idx="2"/>
            <a:endCxn id="35" idx="0"/>
          </p:cNvCxnSpPr>
          <p:nvPr/>
        </p:nvCxnSpPr>
        <p:spPr>
          <a:xfrm>
            <a:off x="11510411" y="4509957"/>
            <a:ext cx="4182" cy="246820"/>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6" name="Straight Arrow Connector 325">
            <a:extLst>
              <a:ext uri="{FF2B5EF4-FFF2-40B4-BE49-F238E27FC236}">
                <a16:creationId xmlns:a16="http://schemas.microsoft.com/office/drawing/2014/main" id="{DD1AE3D8-5776-8B4D-9845-5535DDE5B1CF}"/>
              </a:ext>
            </a:extLst>
          </p:cNvPr>
          <p:cNvCxnSpPr>
            <a:stCxn id="35" idx="2"/>
            <a:endCxn id="121" idx="0"/>
          </p:cNvCxnSpPr>
          <p:nvPr/>
        </p:nvCxnSpPr>
        <p:spPr>
          <a:xfrm flipH="1">
            <a:off x="11509926" y="5151725"/>
            <a:ext cx="4667" cy="242558"/>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9" name="Straight Arrow Connector 328">
            <a:extLst>
              <a:ext uri="{FF2B5EF4-FFF2-40B4-BE49-F238E27FC236}">
                <a16:creationId xmlns:a16="http://schemas.microsoft.com/office/drawing/2014/main" id="{8081CB1E-3D6F-8248-A2F8-F13B970185E9}"/>
              </a:ext>
            </a:extLst>
          </p:cNvPr>
          <p:cNvCxnSpPr>
            <a:stCxn id="121" idx="2"/>
            <a:endCxn id="83" idx="0"/>
          </p:cNvCxnSpPr>
          <p:nvPr/>
        </p:nvCxnSpPr>
        <p:spPr>
          <a:xfrm flipH="1">
            <a:off x="11500558" y="5670644"/>
            <a:ext cx="9368" cy="220667"/>
          </a:xfrm>
          <a:prstGeom prst="straightConnector1">
            <a:avLst/>
          </a:prstGeom>
          <a:ln w="381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51358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Скругленный прямоугольник 11">
            <a:extLst>
              <a:ext uri="{FF2B5EF4-FFF2-40B4-BE49-F238E27FC236}">
                <a16:creationId xmlns:a16="http://schemas.microsoft.com/office/drawing/2014/main" id="{6D4ED8D2-B85B-6440-ADA5-E55C9A6E7547}"/>
              </a:ext>
            </a:extLst>
          </p:cNvPr>
          <p:cNvSpPr/>
          <p:nvPr/>
        </p:nvSpPr>
        <p:spPr bwMode="auto">
          <a:xfrm>
            <a:off x="4273530" y="1963174"/>
            <a:ext cx="3767986" cy="423465"/>
          </a:xfrm>
          <a:prstGeom prst="roundRect">
            <a:avLst>
              <a:gd name="adj" fmla="val 5329"/>
            </a:avLst>
          </a:prstGeom>
          <a:solidFill>
            <a:schemeClr val="accent1"/>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r>
              <a:rPr lang="en-US" sz="536" dirty="0">
                <a:solidFill>
                  <a:srgbClr val="74808C"/>
                </a:solidFill>
                <a:latin typeface="Arial" panose="020B0604020202020204" pitchFamily="34" charset="0"/>
                <a:ea typeface="Poppins" charset="0"/>
                <a:cs typeface="Arial" panose="020B0604020202020204" pitchFamily="34" charset="0"/>
                <a:sym typeface="Poppins" charset="0"/>
              </a:rPr>
              <a:t>I</a:t>
            </a: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8" name="Скругленный прямоугольник 7">
            <a:extLst>
              <a:ext uri="{FF2B5EF4-FFF2-40B4-BE49-F238E27FC236}">
                <a16:creationId xmlns:a16="http://schemas.microsoft.com/office/drawing/2014/main" id="{4F178C1C-13B0-4E42-B36B-605AC91A406C}"/>
              </a:ext>
            </a:extLst>
          </p:cNvPr>
          <p:cNvSpPr/>
          <p:nvPr/>
        </p:nvSpPr>
        <p:spPr bwMode="auto">
          <a:xfrm>
            <a:off x="1670301" y="2752309"/>
            <a:ext cx="1508218" cy="423465"/>
          </a:xfrm>
          <a:prstGeom prst="roundRect">
            <a:avLst>
              <a:gd name="adj" fmla="val 5329"/>
            </a:avLst>
          </a:prstGeom>
          <a:solidFill>
            <a:schemeClr val="accent1">
              <a:lumMod val="75000"/>
              <a:lumOff val="25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1" name="Скругленный прямоугольник 12">
            <a:extLst>
              <a:ext uri="{FF2B5EF4-FFF2-40B4-BE49-F238E27FC236}">
                <a16:creationId xmlns:a16="http://schemas.microsoft.com/office/drawing/2014/main" id="{2F8D9C5A-394C-4D4C-8753-180DD6BE1EC1}"/>
              </a:ext>
            </a:extLst>
          </p:cNvPr>
          <p:cNvSpPr/>
          <p:nvPr/>
        </p:nvSpPr>
        <p:spPr bwMode="auto">
          <a:xfrm>
            <a:off x="5475855" y="2755132"/>
            <a:ext cx="1358978" cy="423465"/>
          </a:xfrm>
          <a:prstGeom prst="roundRect">
            <a:avLst>
              <a:gd name="adj" fmla="val 5329"/>
            </a:avLst>
          </a:prstGeom>
          <a:solidFill>
            <a:schemeClr val="accent1">
              <a:lumMod val="75000"/>
              <a:lumOff val="25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4" name="Скругленный прямоугольник 16">
            <a:extLst>
              <a:ext uri="{FF2B5EF4-FFF2-40B4-BE49-F238E27FC236}">
                <a16:creationId xmlns:a16="http://schemas.microsoft.com/office/drawing/2014/main" id="{1365C2A3-A805-F644-A880-05726AE7537F}"/>
              </a:ext>
            </a:extLst>
          </p:cNvPr>
          <p:cNvSpPr/>
          <p:nvPr/>
        </p:nvSpPr>
        <p:spPr bwMode="auto">
          <a:xfrm>
            <a:off x="8979067" y="2758577"/>
            <a:ext cx="1454047" cy="423465"/>
          </a:xfrm>
          <a:prstGeom prst="roundRect">
            <a:avLst>
              <a:gd name="adj" fmla="val 5329"/>
            </a:avLst>
          </a:prstGeom>
          <a:solidFill>
            <a:schemeClr val="accent1">
              <a:lumMod val="75000"/>
              <a:lumOff val="25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cxnSp>
        <p:nvCxnSpPr>
          <p:cNvPr id="17" name="Соединительная линия уступом 25">
            <a:extLst>
              <a:ext uri="{FF2B5EF4-FFF2-40B4-BE49-F238E27FC236}">
                <a16:creationId xmlns:a16="http://schemas.microsoft.com/office/drawing/2014/main" id="{95FEE179-CF9B-7545-B726-794C8847B32A}"/>
              </a:ext>
            </a:extLst>
          </p:cNvPr>
          <p:cNvCxnSpPr>
            <a:cxnSpLocks/>
            <a:stCxn id="5" idx="2"/>
            <a:endCxn id="14" idx="0"/>
          </p:cNvCxnSpPr>
          <p:nvPr/>
        </p:nvCxnSpPr>
        <p:spPr bwMode="auto">
          <a:xfrm rot="16200000" flipH="1">
            <a:off x="7745838" y="798325"/>
            <a:ext cx="371937" cy="3548566"/>
          </a:xfrm>
          <a:prstGeom prst="bentConnector3">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8" name="Соединительная линия уступом 27">
            <a:extLst>
              <a:ext uri="{FF2B5EF4-FFF2-40B4-BE49-F238E27FC236}">
                <a16:creationId xmlns:a16="http://schemas.microsoft.com/office/drawing/2014/main" id="{56F0D251-F772-6546-B888-4E963921C609}"/>
              </a:ext>
            </a:extLst>
          </p:cNvPr>
          <p:cNvCxnSpPr>
            <a:cxnSpLocks/>
            <a:stCxn id="5" idx="2"/>
            <a:endCxn id="8" idx="0"/>
          </p:cNvCxnSpPr>
          <p:nvPr/>
        </p:nvCxnSpPr>
        <p:spPr bwMode="auto">
          <a:xfrm rot="5400000">
            <a:off x="4108134" y="702916"/>
            <a:ext cx="365670" cy="3733113"/>
          </a:xfrm>
          <a:prstGeom prst="bentConnector3">
            <a:avLst>
              <a:gd name="adj1" fmla="val 50000"/>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9" name="Соединительная линия уступом 30">
            <a:extLst>
              <a:ext uri="{FF2B5EF4-FFF2-40B4-BE49-F238E27FC236}">
                <a16:creationId xmlns:a16="http://schemas.microsoft.com/office/drawing/2014/main" id="{9A944230-0A90-8844-873A-6BEE48A694F6}"/>
              </a:ext>
            </a:extLst>
          </p:cNvPr>
          <p:cNvCxnSpPr>
            <a:cxnSpLocks/>
            <a:stCxn id="5" idx="2"/>
            <a:endCxn id="11" idx="0"/>
          </p:cNvCxnSpPr>
          <p:nvPr/>
        </p:nvCxnSpPr>
        <p:spPr bwMode="auto">
          <a:xfrm rot="5400000">
            <a:off x="5972188" y="2569796"/>
            <a:ext cx="368492" cy="2181"/>
          </a:xfrm>
          <a:prstGeom prst="bentConnector3">
            <a:avLst>
              <a:gd name="adj1" fmla="val 50000"/>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20" name="Скругленный прямоугольник 59">
            <a:extLst>
              <a:ext uri="{FF2B5EF4-FFF2-40B4-BE49-F238E27FC236}">
                <a16:creationId xmlns:a16="http://schemas.microsoft.com/office/drawing/2014/main" id="{48EA4E42-DB7D-A94B-888D-E936EC0C4E0E}"/>
              </a:ext>
            </a:extLst>
          </p:cNvPr>
          <p:cNvSpPr>
            <a:spLocks/>
          </p:cNvSpPr>
          <p:nvPr/>
        </p:nvSpPr>
        <p:spPr bwMode="auto">
          <a:xfrm>
            <a:off x="2836019" y="3510600"/>
            <a:ext cx="1053546"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23" name="Скругленный прямоугольник 72">
            <a:extLst>
              <a:ext uri="{FF2B5EF4-FFF2-40B4-BE49-F238E27FC236}">
                <a16:creationId xmlns:a16="http://schemas.microsoft.com/office/drawing/2014/main" id="{26BDD212-7D19-E643-870C-D3C4D6B53526}"/>
              </a:ext>
            </a:extLst>
          </p:cNvPr>
          <p:cNvSpPr>
            <a:spLocks/>
          </p:cNvSpPr>
          <p:nvPr/>
        </p:nvSpPr>
        <p:spPr bwMode="auto">
          <a:xfrm>
            <a:off x="5725297" y="3510600"/>
            <a:ext cx="106915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29" name="Скругленный прямоугольник 80">
            <a:extLst>
              <a:ext uri="{FF2B5EF4-FFF2-40B4-BE49-F238E27FC236}">
                <a16:creationId xmlns:a16="http://schemas.microsoft.com/office/drawing/2014/main" id="{645E27A1-C2FB-DD4B-B126-34D135B5C50E}"/>
              </a:ext>
            </a:extLst>
          </p:cNvPr>
          <p:cNvSpPr>
            <a:spLocks/>
          </p:cNvSpPr>
          <p:nvPr/>
        </p:nvSpPr>
        <p:spPr bwMode="auto">
          <a:xfrm>
            <a:off x="6943062" y="3510600"/>
            <a:ext cx="975688"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35" name="Скругленный прямоугольник 88">
            <a:extLst>
              <a:ext uri="{FF2B5EF4-FFF2-40B4-BE49-F238E27FC236}">
                <a16:creationId xmlns:a16="http://schemas.microsoft.com/office/drawing/2014/main" id="{EBDE1CE4-6D4D-A548-B0DE-F17D28164F55}"/>
              </a:ext>
            </a:extLst>
          </p:cNvPr>
          <p:cNvSpPr>
            <a:spLocks/>
          </p:cNvSpPr>
          <p:nvPr/>
        </p:nvSpPr>
        <p:spPr bwMode="auto">
          <a:xfrm>
            <a:off x="9612194" y="4341187"/>
            <a:ext cx="956092"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cxnSp>
        <p:nvCxnSpPr>
          <p:cNvPr id="41" name="Соединительная линия уступом 34">
            <a:extLst>
              <a:ext uri="{FF2B5EF4-FFF2-40B4-BE49-F238E27FC236}">
                <a16:creationId xmlns:a16="http://schemas.microsoft.com/office/drawing/2014/main" id="{8A567054-5A1D-FD4B-BD23-D23EFC96BA80}"/>
              </a:ext>
            </a:extLst>
          </p:cNvPr>
          <p:cNvCxnSpPr>
            <a:cxnSpLocks/>
          </p:cNvCxnSpPr>
          <p:nvPr/>
        </p:nvCxnSpPr>
        <p:spPr bwMode="auto">
          <a:xfrm>
            <a:off x="5727359" y="3347677"/>
            <a:ext cx="1704384" cy="172200"/>
          </a:xfrm>
          <a:prstGeom prst="bentConnector2">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74" name="Subtitle 2">
            <a:extLst>
              <a:ext uri="{FF2B5EF4-FFF2-40B4-BE49-F238E27FC236}">
                <a16:creationId xmlns:a16="http://schemas.microsoft.com/office/drawing/2014/main" id="{8C979760-C4B7-B541-8C3C-4C5F3E929482}"/>
              </a:ext>
            </a:extLst>
          </p:cNvPr>
          <p:cNvSpPr txBox="1">
            <a:spLocks/>
          </p:cNvSpPr>
          <p:nvPr/>
        </p:nvSpPr>
        <p:spPr>
          <a:xfrm>
            <a:off x="4311204" y="1987301"/>
            <a:ext cx="3626898" cy="209735"/>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Individuals with BH needs are not getting the right care</a:t>
            </a:r>
          </a:p>
        </p:txBody>
      </p:sp>
      <p:sp>
        <p:nvSpPr>
          <p:cNvPr id="78" name="Subtitle 2">
            <a:extLst>
              <a:ext uri="{FF2B5EF4-FFF2-40B4-BE49-F238E27FC236}">
                <a16:creationId xmlns:a16="http://schemas.microsoft.com/office/drawing/2014/main" id="{661D7864-BE8A-9E40-AAB1-CFF57EBF5715}"/>
              </a:ext>
            </a:extLst>
          </p:cNvPr>
          <p:cNvSpPr txBox="1">
            <a:spLocks/>
          </p:cNvSpPr>
          <p:nvPr/>
        </p:nvSpPr>
        <p:spPr>
          <a:xfrm>
            <a:off x="5526078" y="2774831"/>
            <a:ext cx="1278032" cy="254465"/>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81" dirty="0">
                <a:solidFill>
                  <a:schemeClr val="bg1"/>
                </a:solidFill>
                <a:latin typeface="Arial" panose="020B0604020202020204" pitchFamily="34" charset="0"/>
                <a:ea typeface="Lato Light" panose="020F0502020204030203" pitchFamily="34" charset="0"/>
                <a:cs typeface="Arial" panose="020B0604020202020204" pitchFamily="34" charset="0"/>
              </a:rPr>
              <a:t>Barriers exist for accessing care</a:t>
            </a:r>
          </a:p>
        </p:txBody>
      </p:sp>
      <p:sp>
        <p:nvSpPr>
          <p:cNvPr id="90" name="Subtitle 2">
            <a:extLst>
              <a:ext uri="{FF2B5EF4-FFF2-40B4-BE49-F238E27FC236}">
                <a16:creationId xmlns:a16="http://schemas.microsoft.com/office/drawing/2014/main" id="{52FA099A-FD0F-094C-AC92-B54180A8B276}"/>
              </a:ext>
            </a:extLst>
          </p:cNvPr>
          <p:cNvSpPr txBox="1">
            <a:spLocks/>
          </p:cNvSpPr>
          <p:nvPr/>
        </p:nvSpPr>
        <p:spPr>
          <a:xfrm>
            <a:off x="1707165" y="2768564"/>
            <a:ext cx="1436139" cy="254465"/>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81" dirty="0">
                <a:solidFill>
                  <a:schemeClr val="bg1"/>
                </a:solidFill>
                <a:latin typeface="Arial" panose="020B0604020202020204" pitchFamily="34" charset="0"/>
                <a:ea typeface="Lato Light" panose="020F0502020204030203" pitchFamily="34" charset="0"/>
                <a:cs typeface="Arial" panose="020B0604020202020204" pitchFamily="34" charset="0"/>
              </a:rPr>
              <a:t>Individuals are not being properly diagnosed</a:t>
            </a:r>
          </a:p>
        </p:txBody>
      </p:sp>
      <p:sp>
        <p:nvSpPr>
          <p:cNvPr id="93" name="Subtitle 2">
            <a:extLst>
              <a:ext uri="{FF2B5EF4-FFF2-40B4-BE49-F238E27FC236}">
                <a16:creationId xmlns:a16="http://schemas.microsoft.com/office/drawing/2014/main" id="{DD733BBC-A258-1B4E-92A8-2961DB283588}"/>
              </a:ext>
            </a:extLst>
          </p:cNvPr>
          <p:cNvSpPr txBox="1">
            <a:spLocks/>
          </p:cNvSpPr>
          <p:nvPr/>
        </p:nvSpPr>
        <p:spPr>
          <a:xfrm>
            <a:off x="9028752" y="2774832"/>
            <a:ext cx="1404362" cy="254465"/>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81" dirty="0">
                <a:solidFill>
                  <a:schemeClr val="bg1"/>
                </a:solidFill>
                <a:latin typeface="Arial" panose="020B0604020202020204" pitchFamily="34" charset="0"/>
                <a:ea typeface="Lato Light" panose="020F0502020204030203" pitchFamily="34" charset="0"/>
                <a:cs typeface="Arial" panose="020B0604020202020204" pitchFamily="34" charset="0"/>
              </a:rPr>
              <a:t>Care is inconsistently given for a particular diagnosis</a:t>
            </a:r>
          </a:p>
        </p:txBody>
      </p:sp>
      <p:sp>
        <p:nvSpPr>
          <p:cNvPr id="96" name="Subtitle 2">
            <a:extLst>
              <a:ext uri="{FF2B5EF4-FFF2-40B4-BE49-F238E27FC236}">
                <a16:creationId xmlns:a16="http://schemas.microsoft.com/office/drawing/2014/main" id="{D26846BB-0938-324F-B54F-5B8852EFD1FA}"/>
              </a:ext>
            </a:extLst>
          </p:cNvPr>
          <p:cNvSpPr txBox="1">
            <a:spLocks/>
          </p:cNvSpPr>
          <p:nvPr/>
        </p:nvSpPr>
        <p:spPr>
          <a:xfrm>
            <a:off x="9614159" y="4354314"/>
            <a:ext cx="954126" cy="29229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There is a preference for prescribing medication over therapy</a:t>
            </a:r>
          </a:p>
        </p:txBody>
      </p:sp>
      <p:sp>
        <p:nvSpPr>
          <p:cNvPr id="102" name="Subtitle 2">
            <a:extLst>
              <a:ext uri="{FF2B5EF4-FFF2-40B4-BE49-F238E27FC236}">
                <a16:creationId xmlns:a16="http://schemas.microsoft.com/office/drawing/2014/main" id="{F4A1A281-5C8D-F44A-89AD-7B4073A0F4F0}"/>
              </a:ext>
            </a:extLst>
          </p:cNvPr>
          <p:cNvSpPr txBox="1">
            <a:spLocks/>
          </p:cNvSpPr>
          <p:nvPr/>
        </p:nvSpPr>
        <p:spPr>
          <a:xfrm>
            <a:off x="5739106" y="3530492"/>
            <a:ext cx="887244" cy="29229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The cost of BH care puts BH treatment out of reach for many</a:t>
            </a:r>
          </a:p>
        </p:txBody>
      </p:sp>
      <p:sp>
        <p:nvSpPr>
          <p:cNvPr id="108" name="Subtitle 2">
            <a:extLst>
              <a:ext uri="{FF2B5EF4-FFF2-40B4-BE49-F238E27FC236}">
                <a16:creationId xmlns:a16="http://schemas.microsoft.com/office/drawing/2014/main" id="{8B8B7266-6B4E-D14D-B07D-C38C5EEDEF7C}"/>
              </a:ext>
            </a:extLst>
          </p:cNvPr>
          <p:cNvSpPr txBox="1">
            <a:spLocks/>
          </p:cNvSpPr>
          <p:nvPr/>
        </p:nvSpPr>
        <p:spPr>
          <a:xfrm>
            <a:off x="6950007" y="3538078"/>
            <a:ext cx="988095" cy="218084"/>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Insurance does not sufficiently enable care</a:t>
            </a:r>
          </a:p>
        </p:txBody>
      </p:sp>
      <p:sp>
        <p:nvSpPr>
          <p:cNvPr id="75" name="Скругленный прямоугольник 59">
            <a:extLst>
              <a:ext uri="{FF2B5EF4-FFF2-40B4-BE49-F238E27FC236}">
                <a16:creationId xmlns:a16="http://schemas.microsoft.com/office/drawing/2014/main" id="{920717B6-DDA2-3C43-BA52-72827FD01722}"/>
              </a:ext>
            </a:extLst>
          </p:cNvPr>
          <p:cNvSpPr>
            <a:spLocks/>
          </p:cNvSpPr>
          <p:nvPr/>
        </p:nvSpPr>
        <p:spPr bwMode="auto">
          <a:xfrm>
            <a:off x="1684387" y="3510600"/>
            <a:ext cx="105965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79" name="Subtitle 2">
            <a:extLst>
              <a:ext uri="{FF2B5EF4-FFF2-40B4-BE49-F238E27FC236}">
                <a16:creationId xmlns:a16="http://schemas.microsoft.com/office/drawing/2014/main" id="{CFDB561B-C247-D24B-88AD-4424530E9805}"/>
              </a:ext>
            </a:extLst>
          </p:cNvPr>
          <p:cNvSpPr txBox="1">
            <a:spLocks/>
          </p:cNvSpPr>
          <p:nvPr/>
        </p:nvSpPr>
        <p:spPr>
          <a:xfrm>
            <a:off x="1677879" y="3527612"/>
            <a:ext cx="1066420" cy="218084"/>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BH diagnoses are not 100% straightforward</a:t>
            </a:r>
          </a:p>
        </p:txBody>
      </p:sp>
      <p:sp>
        <p:nvSpPr>
          <p:cNvPr id="36" name="Скругленный прямоугольник 80">
            <a:extLst>
              <a:ext uri="{FF2B5EF4-FFF2-40B4-BE49-F238E27FC236}">
                <a16:creationId xmlns:a16="http://schemas.microsoft.com/office/drawing/2014/main" id="{645E27A1-C2FB-DD4B-B126-34D135B5C50E}"/>
              </a:ext>
            </a:extLst>
          </p:cNvPr>
          <p:cNvSpPr>
            <a:spLocks/>
          </p:cNvSpPr>
          <p:nvPr/>
        </p:nvSpPr>
        <p:spPr bwMode="auto">
          <a:xfrm>
            <a:off x="4451108" y="3513444"/>
            <a:ext cx="106915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44" name="Subtitle 2">
            <a:extLst>
              <a:ext uri="{FF2B5EF4-FFF2-40B4-BE49-F238E27FC236}">
                <a16:creationId xmlns:a16="http://schemas.microsoft.com/office/drawing/2014/main" id="{F4A1A281-5C8D-F44A-89AD-7B4073A0F4F0}"/>
              </a:ext>
            </a:extLst>
          </p:cNvPr>
          <p:cNvSpPr txBox="1">
            <a:spLocks/>
          </p:cNvSpPr>
          <p:nvPr/>
        </p:nvSpPr>
        <p:spPr>
          <a:xfrm>
            <a:off x="4474935" y="3521039"/>
            <a:ext cx="977597" cy="29229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Transportation / distance from BH facilities prevents many from accessing care</a:t>
            </a:r>
          </a:p>
        </p:txBody>
      </p:sp>
      <p:sp>
        <p:nvSpPr>
          <p:cNvPr id="60" name="Скругленный прямоугольник 84">
            <a:extLst>
              <a:ext uri="{FF2B5EF4-FFF2-40B4-BE49-F238E27FC236}">
                <a16:creationId xmlns:a16="http://schemas.microsoft.com/office/drawing/2014/main" id="{0594F8BE-B3AF-C84B-8492-8A2D86CFE89C}"/>
              </a:ext>
            </a:extLst>
          </p:cNvPr>
          <p:cNvSpPr>
            <a:spLocks/>
          </p:cNvSpPr>
          <p:nvPr/>
        </p:nvSpPr>
        <p:spPr bwMode="auto">
          <a:xfrm>
            <a:off x="583554" y="4346515"/>
            <a:ext cx="739390"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61" name="Скругленный прямоугольник 88">
            <a:extLst>
              <a:ext uri="{FF2B5EF4-FFF2-40B4-BE49-F238E27FC236}">
                <a16:creationId xmlns:a16="http://schemas.microsoft.com/office/drawing/2014/main" id="{EBDE1CE4-6D4D-A548-B0DE-F17D28164F55}"/>
              </a:ext>
            </a:extLst>
          </p:cNvPr>
          <p:cNvSpPr>
            <a:spLocks/>
          </p:cNvSpPr>
          <p:nvPr/>
        </p:nvSpPr>
        <p:spPr bwMode="auto">
          <a:xfrm>
            <a:off x="2320414" y="4355164"/>
            <a:ext cx="621410"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64" name="Subtitle 2">
            <a:extLst>
              <a:ext uri="{FF2B5EF4-FFF2-40B4-BE49-F238E27FC236}">
                <a16:creationId xmlns:a16="http://schemas.microsoft.com/office/drawing/2014/main" id="{D26846BB-0938-324F-B54F-5B8852EFD1FA}"/>
              </a:ext>
            </a:extLst>
          </p:cNvPr>
          <p:cNvSpPr txBox="1">
            <a:spLocks/>
          </p:cNvSpPr>
          <p:nvPr/>
        </p:nvSpPr>
        <p:spPr>
          <a:xfrm>
            <a:off x="2335373" y="4378721"/>
            <a:ext cx="531588" cy="374754"/>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BH conditions can lead to PH conditions &amp; vice versa</a:t>
            </a:r>
          </a:p>
        </p:txBody>
      </p:sp>
      <p:sp>
        <p:nvSpPr>
          <p:cNvPr id="65" name="Subtitle 2">
            <a:extLst>
              <a:ext uri="{FF2B5EF4-FFF2-40B4-BE49-F238E27FC236}">
                <a16:creationId xmlns:a16="http://schemas.microsoft.com/office/drawing/2014/main" id="{791E6E07-594D-EA46-A45D-CDC3DB2CDA38}"/>
              </a:ext>
            </a:extLst>
          </p:cNvPr>
          <p:cNvSpPr txBox="1">
            <a:spLocks/>
          </p:cNvSpPr>
          <p:nvPr/>
        </p:nvSpPr>
        <p:spPr>
          <a:xfrm>
            <a:off x="591743" y="4370069"/>
            <a:ext cx="754807" cy="374754"/>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Patient questionnaires are a standard part of many diagnoses</a:t>
            </a:r>
          </a:p>
        </p:txBody>
      </p:sp>
      <p:sp>
        <p:nvSpPr>
          <p:cNvPr id="68" name="Скругленный прямоугольник 59">
            <a:extLst>
              <a:ext uri="{FF2B5EF4-FFF2-40B4-BE49-F238E27FC236}">
                <a16:creationId xmlns:a16="http://schemas.microsoft.com/office/drawing/2014/main" id="{920717B6-DDA2-3C43-BA52-72827FD01722}"/>
              </a:ext>
            </a:extLst>
          </p:cNvPr>
          <p:cNvSpPr>
            <a:spLocks/>
          </p:cNvSpPr>
          <p:nvPr/>
        </p:nvSpPr>
        <p:spPr bwMode="auto">
          <a:xfrm>
            <a:off x="1436032" y="4346515"/>
            <a:ext cx="806349" cy="515363"/>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70" name="Subtitle 2">
            <a:extLst>
              <a:ext uri="{FF2B5EF4-FFF2-40B4-BE49-F238E27FC236}">
                <a16:creationId xmlns:a16="http://schemas.microsoft.com/office/drawing/2014/main" id="{CFDB561B-C247-D24B-88AD-4424530E9805}"/>
              </a:ext>
            </a:extLst>
          </p:cNvPr>
          <p:cNvSpPr txBox="1">
            <a:spLocks/>
          </p:cNvSpPr>
          <p:nvPr/>
        </p:nvSpPr>
        <p:spPr>
          <a:xfrm>
            <a:off x="1482078" y="4363527"/>
            <a:ext cx="750164" cy="374754"/>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The science of BH is still trying to catch up the science of physical health</a:t>
            </a:r>
          </a:p>
        </p:txBody>
      </p:sp>
      <p:sp>
        <p:nvSpPr>
          <p:cNvPr id="71" name="Скругленный прямоугольник 80">
            <a:extLst>
              <a:ext uri="{FF2B5EF4-FFF2-40B4-BE49-F238E27FC236}">
                <a16:creationId xmlns:a16="http://schemas.microsoft.com/office/drawing/2014/main" id="{645E27A1-C2FB-DD4B-B126-34D135B5C50E}"/>
              </a:ext>
            </a:extLst>
          </p:cNvPr>
          <p:cNvSpPr>
            <a:spLocks/>
          </p:cNvSpPr>
          <p:nvPr/>
        </p:nvSpPr>
        <p:spPr bwMode="auto">
          <a:xfrm>
            <a:off x="5188915" y="4351476"/>
            <a:ext cx="981328"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77" name="Subtitle 2">
            <a:extLst>
              <a:ext uri="{FF2B5EF4-FFF2-40B4-BE49-F238E27FC236}">
                <a16:creationId xmlns:a16="http://schemas.microsoft.com/office/drawing/2014/main" id="{F4A1A281-5C8D-F44A-89AD-7B4073A0F4F0}"/>
              </a:ext>
            </a:extLst>
          </p:cNvPr>
          <p:cNvSpPr txBox="1">
            <a:spLocks/>
          </p:cNvSpPr>
          <p:nvPr/>
        </p:nvSpPr>
        <p:spPr>
          <a:xfrm>
            <a:off x="5196888" y="4381816"/>
            <a:ext cx="1074924" cy="29229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Long treatment times (# of treatments, medications) contribute to the cost of BH</a:t>
            </a:r>
          </a:p>
        </p:txBody>
      </p:sp>
      <p:cxnSp>
        <p:nvCxnSpPr>
          <p:cNvPr id="80" name="Соединительная линия уступом 36">
            <a:extLst>
              <a:ext uri="{FF2B5EF4-FFF2-40B4-BE49-F238E27FC236}">
                <a16:creationId xmlns:a16="http://schemas.microsoft.com/office/drawing/2014/main" id="{010113D0-801D-4E4A-A914-AC04A84C1C38}"/>
              </a:ext>
            </a:extLst>
          </p:cNvPr>
          <p:cNvCxnSpPr>
            <a:cxnSpLocks/>
          </p:cNvCxnSpPr>
          <p:nvPr/>
        </p:nvCxnSpPr>
        <p:spPr bwMode="auto">
          <a:xfrm rot="5400000">
            <a:off x="5483607" y="2743129"/>
            <a:ext cx="342442" cy="1207694"/>
          </a:xfrm>
          <a:prstGeom prst="bentConnector3">
            <a:avLst>
              <a:gd name="adj1" fmla="val 50000"/>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66" name="Скругленный прямоугольник 80">
            <a:extLst>
              <a:ext uri="{FF2B5EF4-FFF2-40B4-BE49-F238E27FC236}">
                <a16:creationId xmlns:a16="http://schemas.microsoft.com/office/drawing/2014/main" id="{645E27A1-C2FB-DD4B-B126-34D135B5C50E}"/>
              </a:ext>
            </a:extLst>
          </p:cNvPr>
          <p:cNvSpPr>
            <a:spLocks/>
          </p:cNvSpPr>
          <p:nvPr/>
        </p:nvSpPr>
        <p:spPr bwMode="auto">
          <a:xfrm>
            <a:off x="6276342" y="4343270"/>
            <a:ext cx="1164685"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67" name="Subtitle 2">
            <a:extLst>
              <a:ext uri="{FF2B5EF4-FFF2-40B4-BE49-F238E27FC236}">
                <a16:creationId xmlns:a16="http://schemas.microsoft.com/office/drawing/2014/main" id="{F4A1A281-5C8D-F44A-89AD-7B4073A0F4F0}"/>
              </a:ext>
            </a:extLst>
          </p:cNvPr>
          <p:cNvSpPr txBox="1">
            <a:spLocks/>
          </p:cNvSpPr>
          <p:nvPr/>
        </p:nvSpPr>
        <p:spPr>
          <a:xfrm>
            <a:off x="6284314" y="4373609"/>
            <a:ext cx="1091654" cy="29229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Insurance definition of ‘medically necessary” cut many out of the care that they need</a:t>
            </a:r>
          </a:p>
        </p:txBody>
      </p:sp>
      <p:sp>
        <p:nvSpPr>
          <p:cNvPr id="81" name="Скругленный прямоугольник 84">
            <a:extLst>
              <a:ext uri="{FF2B5EF4-FFF2-40B4-BE49-F238E27FC236}">
                <a16:creationId xmlns:a16="http://schemas.microsoft.com/office/drawing/2014/main" id="{0594F8BE-B3AF-C84B-8492-8A2D86CFE89C}"/>
              </a:ext>
            </a:extLst>
          </p:cNvPr>
          <p:cNvSpPr>
            <a:spLocks/>
          </p:cNvSpPr>
          <p:nvPr/>
        </p:nvSpPr>
        <p:spPr bwMode="auto">
          <a:xfrm>
            <a:off x="9797489" y="5122398"/>
            <a:ext cx="1055933" cy="527373"/>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82" name="Subtitle 2">
            <a:extLst>
              <a:ext uri="{FF2B5EF4-FFF2-40B4-BE49-F238E27FC236}">
                <a16:creationId xmlns:a16="http://schemas.microsoft.com/office/drawing/2014/main" id="{D26846BB-0938-324F-B54F-5B8852EFD1FA}"/>
              </a:ext>
            </a:extLst>
          </p:cNvPr>
          <p:cNvSpPr txBox="1">
            <a:spLocks/>
          </p:cNvSpPr>
          <p:nvPr/>
        </p:nvSpPr>
        <p:spPr>
          <a:xfrm>
            <a:off x="9797489" y="5148176"/>
            <a:ext cx="1055933" cy="374754"/>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Clinicians do not or are not able to spend the time needed to provide proper care and follow-up</a:t>
            </a:r>
          </a:p>
        </p:txBody>
      </p:sp>
      <p:cxnSp>
        <p:nvCxnSpPr>
          <p:cNvPr id="84" name="Соединительная линия уступом 34">
            <a:extLst>
              <a:ext uri="{FF2B5EF4-FFF2-40B4-BE49-F238E27FC236}">
                <a16:creationId xmlns:a16="http://schemas.microsoft.com/office/drawing/2014/main" id="{6EDBBE99-5EBE-1146-A55A-B12CF462D865}"/>
              </a:ext>
            </a:extLst>
          </p:cNvPr>
          <p:cNvCxnSpPr>
            <a:cxnSpLocks/>
          </p:cNvCxnSpPr>
          <p:nvPr/>
        </p:nvCxnSpPr>
        <p:spPr bwMode="auto">
          <a:xfrm rot="16200000" flipH="1">
            <a:off x="6180893" y="3428693"/>
            <a:ext cx="161640" cy="2172"/>
          </a:xfrm>
          <a:prstGeom prst="bentConnector3">
            <a:avLst>
              <a:gd name="adj1" fmla="val 54296"/>
            </a:avLst>
          </a:prstGeom>
          <a:blipFill dpi="0" rotWithShape="0">
            <a:blip r:embed="rId3"/>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91" name="Скругленный прямоугольник 84">
            <a:extLst>
              <a:ext uri="{FF2B5EF4-FFF2-40B4-BE49-F238E27FC236}">
                <a16:creationId xmlns:a16="http://schemas.microsoft.com/office/drawing/2014/main" id="{8917FA60-E242-3945-A8AE-B11F650356C5}"/>
              </a:ext>
            </a:extLst>
          </p:cNvPr>
          <p:cNvSpPr>
            <a:spLocks/>
          </p:cNvSpPr>
          <p:nvPr/>
        </p:nvSpPr>
        <p:spPr bwMode="auto">
          <a:xfrm>
            <a:off x="11111314" y="5119421"/>
            <a:ext cx="770611" cy="527373"/>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92" name="Subtitle 2">
            <a:extLst>
              <a:ext uri="{FF2B5EF4-FFF2-40B4-BE49-F238E27FC236}">
                <a16:creationId xmlns:a16="http://schemas.microsoft.com/office/drawing/2014/main" id="{DBADEE90-B192-2841-8397-2992425C301A}"/>
              </a:ext>
            </a:extLst>
          </p:cNvPr>
          <p:cNvSpPr txBox="1">
            <a:spLocks/>
          </p:cNvSpPr>
          <p:nvPr/>
        </p:nvSpPr>
        <p:spPr>
          <a:xfrm>
            <a:off x="11148145" y="5145199"/>
            <a:ext cx="614930" cy="29229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Evidence-based practices are not taught in school</a:t>
            </a:r>
          </a:p>
        </p:txBody>
      </p:sp>
      <p:sp>
        <p:nvSpPr>
          <p:cNvPr id="147" name="5-Point Star 146">
            <a:extLst>
              <a:ext uri="{FF2B5EF4-FFF2-40B4-BE49-F238E27FC236}">
                <a16:creationId xmlns:a16="http://schemas.microsoft.com/office/drawing/2014/main" id="{9AAD28B8-46E0-CC46-9F13-C53813C4441B}"/>
              </a:ext>
            </a:extLst>
          </p:cNvPr>
          <p:cNvSpPr/>
          <p:nvPr/>
        </p:nvSpPr>
        <p:spPr>
          <a:xfrm>
            <a:off x="9910650" y="6741303"/>
            <a:ext cx="164946" cy="164946"/>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46"/>
          </a:p>
        </p:txBody>
      </p:sp>
      <p:sp>
        <p:nvSpPr>
          <p:cNvPr id="83"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9941052" y="3505918"/>
            <a:ext cx="956092"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86" name="Subtitle 2">
            <a:extLst>
              <a:ext uri="{FF2B5EF4-FFF2-40B4-BE49-F238E27FC236}">
                <a16:creationId xmlns:a16="http://schemas.microsoft.com/office/drawing/2014/main" id="{DF2DFF69-ACDE-4046-A537-554CEA57FCD3}"/>
              </a:ext>
            </a:extLst>
          </p:cNvPr>
          <p:cNvSpPr txBox="1">
            <a:spLocks/>
          </p:cNvSpPr>
          <p:nvPr/>
        </p:nvSpPr>
        <p:spPr>
          <a:xfrm>
            <a:off x="9943017" y="3519043"/>
            <a:ext cx="990434" cy="29229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Standards of practice are not consistently practiced and backed up with evidence</a:t>
            </a:r>
          </a:p>
        </p:txBody>
      </p:sp>
      <p:sp>
        <p:nvSpPr>
          <p:cNvPr id="88" name="Rectangle 87">
            <a:extLst>
              <a:ext uri="{FF2B5EF4-FFF2-40B4-BE49-F238E27FC236}">
                <a16:creationId xmlns:a16="http://schemas.microsoft.com/office/drawing/2014/main" id="{4B25B938-7149-CB48-AFF3-E87F0AA28C57}"/>
              </a:ext>
            </a:extLst>
          </p:cNvPr>
          <p:cNvSpPr/>
          <p:nvPr/>
        </p:nvSpPr>
        <p:spPr>
          <a:xfrm>
            <a:off x="682438" y="780519"/>
            <a:ext cx="6267568" cy="320537"/>
          </a:xfrm>
          <a:prstGeom prst="rect">
            <a:avLst/>
          </a:prstGeom>
        </p:spPr>
        <p:txBody>
          <a:bodyPr wrap="square" anchor="t">
            <a:spAutoFit/>
          </a:bodyPr>
          <a:lstStyle/>
          <a:p>
            <a:r>
              <a:rPr lang="en-US" sz="1483" dirty="0">
                <a:solidFill>
                  <a:srgbClr val="003963"/>
                </a:solidFill>
              </a:rPr>
              <a:t>PROBLEM AREA 3: </a:t>
            </a:r>
            <a:r>
              <a:rPr lang="en-US" sz="1483" b="1" dirty="0">
                <a:solidFill>
                  <a:srgbClr val="00A2E2"/>
                </a:solidFill>
              </a:rPr>
              <a:t>Match Individual Need with the Right Care</a:t>
            </a:r>
          </a:p>
        </p:txBody>
      </p:sp>
      <p:cxnSp>
        <p:nvCxnSpPr>
          <p:cNvPr id="15" name="Elbow Connector 14"/>
          <p:cNvCxnSpPr>
            <a:stCxn id="29" idx="2"/>
            <a:endCxn id="66" idx="0"/>
          </p:cNvCxnSpPr>
          <p:nvPr/>
        </p:nvCxnSpPr>
        <p:spPr>
          <a:xfrm rot="5400000">
            <a:off x="6984719" y="3897083"/>
            <a:ext cx="320151" cy="572222"/>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p:cNvCxnSpPr>
            <a:stCxn id="29" idx="2"/>
            <a:endCxn id="97" idx="0"/>
          </p:cNvCxnSpPr>
          <p:nvPr/>
        </p:nvCxnSpPr>
        <p:spPr>
          <a:xfrm rot="16200000" flipH="1">
            <a:off x="7580774" y="3873251"/>
            <a:ext cx="320150" cy="619884"/>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Elbow Connector 23"/>
          <p:cNvCxnSpPr>
            <a:stCxn id="8" idx="2"/>
            <a:endCxn id="20" idx="0"/>
          </p:cNvCxnSpPr>
          <p:nvPr/>
        </p:nvCxnSpPr>
        <p:spPr>
          <a:xfrm rot="16200000" flipH="1">
            <a:off x="2726190" y="2873995"/>
            <a:ext cx="334825" cy="938381"/>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0" name="Subtitle 2">
            <a:extLst>
              <a:ext uri="{FF2B5EF4-FFF2-40B4-BE49-F238E27FC236}">
                <a16:creationId xmlns:a16="http://schemas.microsoft.com/office/drawing/2014/main" id="{CFDB561B-C247-D24B-88AD-4424530E9805}"/>
              </a:ext>
            </a:extLst>
          </p:cNvPr>
          <p:cNvSpPr txBox="1">
            <a:spLocks/>
          </p:cNvSpPr>
          <p:nvPr/>
        </p:nvSpPr>
        <p:spPr>
          <a:xfrm>
            <a:off x="2858981" y="3546185"/>
            <a:ext cx="1066420" cy="374754"/>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BH conditions are typically coupled with other conditions, making diagnosis more challenging</a:t>
            </a:r>
          </a:p>
        </p:txBody>
      </p:sp>
      <p:cxnSp>
        <p:nvCxnSpPr>
          <p:cNvPr id="50" name="Elbow Connector 49"/>
          <p:cNvCxnSpPr>
            <a:stCxn id="8" idx="2"/>
            <a:endCxn id="75" idx="0"/>
          </p:cNvCxnSpPr>
          <p:nvPr/>
        </p:nvCxnSpPr>
        <p:spPr>
          <a:xfrm rot="5400000">
            <a:off x="2151902" y="3238089"/>
            <a:ext cx="334825" cy="210195"/>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Elbow Connector 51"/>
          <p:cNvCxnSpPr>
            <a:stCxn id="75" idx="2"/>
            <a:endCxn id="60" idx="0"/>
          </p:cNvCxnSpPr>
          <p:nvPr/>
        </p:nvCxnSpPr>
        <p:spPr>
          <a:xfrm rot="5400000">
            <a:off x="1422035" y="3554332"/>
            <a:ext cx="323397" cy="1260967"/>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Elbow Connector 53"/>
          <p:cNvCxnSpPr>
            <a:stCxn id="75" idx="2"/>
            <a:endCxn id="68" idx="0"/>
          </p:cNvCxnSpPr>
          <p:nvPr/>
        </p:nvCxnSpPr>
        <p:spPr>
          <a:xfrm rot="5400000">
            <a:off x="1865014" y="3997311"/>
            <a:ext cx="323397" cy="375011"/>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0" name="Скругленный прямоугольник 84">
            <a:extLst>
              <a:ext uri="{FF2B5EF4-FFF2-40B4-BE49-F238E27FC236}">
                <a16:creationId xmlns:a16="http://schemas.microsoft.com/office/drawing/2014/main" id="{0594F8BE-B3AF-C84B-8492-8A2D86CFE89C}"/>
              </a:ext>
            </a:extLst>
          </p:cNvPr>
          <p:cNvSpPr>
            <a:spLocks/>
          </p:cNvSpPr>
          <p:nvPr/>
        </p:nvSpPr>
        <p:spPr bwMode="auto">
          <a:xfrm>
            <a:off x="3007764" y="4349360"/>
            <a:ext cx="739390"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13" name="Subtitle 2">
            <a:extLst>
              <a:ext uri="{FF2B5EF4-FFF2-40B4-BE49-F238E27FC236}">
                <a16:creationId xmlns:a16="http://schemas.microsoft.com/office/drawing/2014/main" id="{791E6E07-594D-EA46-A45D-CDC3DB2CDA38}"/>
              </a:ext>
            </a:extLst>
          </p:cNvPr>
          <p:cNvSpPr txBox="1">
            <a:spLocks/>
          </p:cNvSpPr>
          <p:nvPr/>
        </p:nvSpPr>
        <p:spPr>
          <a:xfrm>
            <a:off x="3015954" y="4372914"/>
            <a:ext cx="754807" cy="374754"/>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Individuals often wait 8-10 years b/w symptom onset and first treatment</a:t>
            </a:r>
          </a:p>
        </p:txBody>
      </p:sp>
      <p:cxnSp>
        <p:nvCxnSpPr>
          <p:cNvPr id="56" name="Elbow Connector 55"/>
          <p:cNvCxnSpPr>
            <a:stCxn id="20" idx="2"/>
            <a:endCxn id="110" idx="0"/>
          </p:cNvCxnSpPr>
          <p:nvPr/>
        </p:nvCxnSpPr>
        <p:spPr>
          <a:xfrm rot="16200000" flipH="1">
            <a:off x="3207006" y="4178905"/>
            <a:ext cx="326241" cy="14667"/>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Elbow Connector 57"/>
          <p:cNvCxnSpPr>
            <a:stCxn id="20" idx="2"/>
            <a:endCxn id="61" idx="0"/>
          </p:cNvCxnSpPr>
          <p:nvPr/>
        </p:nvCxnSpPr>
        <p:spPr>
          <a:xfrm rot="5400000">
            <a:off x="2830932" y="3823304"/>
            <a:ext cx="332046" cy="731673"/>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Elbow Connector 94"/>
          <p:cNvCxnSpPr>
            <a:stCxn id="23" idx="2"/>
            <a:endCxn id="71" idx="0"/>
          </p:cNvCxnSpPr>
          <p:nvPr/>
        </p:nvCxnSpPr>
        <p:spPr>
          <a:xfrm rot="5400000">
            <a:off x="5805548" y="3897150"/>
            <a:ext cx="328358" cy="580296"/>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Elbow Connector 116"/>
          <p:cNvCxnSpPr>
            <a:stCxn id="71" idx="2"/>
            <a:endCxn id="14" idx="1"/>
          </p:cNvCxnSpPr>
          <p:nvPr/>
        </p:nvCxnSpPr>
        <p:spPr>
          <a:xfrm rot="5400000" flipH="1" flipV="1">
            <a:off x="6382479" y="2267408"/>
            <a:ext cx="1893686" cy="3299487"/>
          </a:xfrm>
          <a:prstGeom prst="bentConnector4">
            <a:avLst>
              <a:gd name="adj1" fmla="val -7369"/>
              <a:gd name="adj2" fmla="val 91669"/>
            </a:avLst>
          </a:prstGeom>
          <a:ln w="19050">
            <a:solidFill>
              <a:schemeClr val="bg1">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5" name="Elbow Connector 124"/>
          <p:cNvCxnSpPr>
            <a:stCxn id="14" idx="2"/>
            <a:endCxn id="115" idx="0"/>
          </p:cNvCxnSpPr>
          <p:nvPr/>
        </p:nvCxnSpPr>
        <p:spPr>
          <a:xfrm rot="16200000" flipH="1">
            <a:off x="10468261" y="2419870"/>
            <a:ext cx="320899" cy="1845240"/>
          </a:xfrm>
          <a:prstGeom prst="bentConnector3">
            <a:avLst>
              <a:gd name="adj1" fmla="val 50000"/>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Elbow Connector 126"/>
          <p:cNvCxnSpPr>
            <a:stCxn id="14" idx="2"/>
            <a:endCxn id="83" idx="0"/>
          </p:cNvCxnSpPr>
          <p:nvPr/>
        </p:nvCxnSpPr>
        <p:spPr>
          <a:xfrm rot="16200000" flipH="1">
            <a:off x="9900656" y="2987475"/>
            <a:ext cx="323877" cy="713007"/>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Elbow Connector 129"/>
          <p:cNvCxnSpPr>
            <a:stCxn id="83" idx="2"/>
            <a:endCxn id="32" idx="0"/>
          </p:cNvCxnSpPr>
          <p:nvPr/>
        </p:nvCxnSpPr>
        <p:spPr>
          <a:xfrm rot="16200000" flipH="1">
            <a:off x="10640673" y="3796861"/>
            <a:ext cx="311917" cy="755067"/>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Elbow Connector 132"/>
          <p:cNvCxnSpPr>
            <a:stCxn id="83" idx="2"/>
            <a:endCxn id="35" idx="0"/>
          </p:cNvCxnSpPr>
          <p:nvPr/>
        </p:nvCxnSpPr>
        <p:spPr>
          <a:xfrm rot="5400000">
            <a:off x="10093293" y="4015383"/>
            <a:ext cx="322751" cy="328858"/>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Elbow Connector 134"/>
          <p:cNvCxnSpPr>
            <a:stCxn id="32" idx="2"/>
            <a:endCxn id="81" idx="0"/>
          </p:cNvCxnSpPr>
          <p:nvPr/>
        </p:nvCxnSpPr>
        <p:spPr>
          <a:xfrm rot="5400000">
            <a:off x="10610047" y="4558281"/>
            <a:ext cx="279526" cy="848709"/>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Elbow Connector 137"/>
          <p:cNvCxnSpPr>
            <a:stCxn id="32" idx="2"/>
            <a:endCxn id="91" idx="0"/>
          </p:cNvCxnSpPr>
          <p:nvPr/>
        </p:nvCxnSpPr>
        <p:spPr>
          <a:xfrm rot="16200000" flipH="1">
            <a:off x="11197117" y="4819920"/>
            <a:ext cx="276549" cy="322454"/>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2" name="Скругленный прямоугольник 88">
            <a:extLst>
              <a:ext uri="{FF2B5EF4-FFF2-40B4-BE49-F238E27FC236}">
                <a16:creationId xmlns:a16="http://schemas.microsoft.com/office/drawing/2014/main" id="{EBDE1CE4-6D4D-A548-B0DE-F17D28164F55}"/>
              </a:ext>
            </a:extLst>
          </p:cNvPr>
          <p:cNvSpPr>
            <a:spLocks/>
          </p:cNvSpPr>
          <p:nvPr/>
        </p:nvSpPr>
        <p:spPr bwMode="auto">
          <a:xfrm>
            <a:off x="3809665" y="4356269"/>
            <a:ext cx="621410"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43" name="Subtitle 2">
            <a:extLst>
              <a:ext uri="{FF2B5EF4-FFF2-40B4-BE49-F238E27FC236}">
                <a16:creationId xmlns:a16="http://schemas.microsoft.com/office/drawing/2014/main" id="{D26846BB-0938-324F-B54F-5B8852EFD1FA}"/>
              </a:ext>
            </a:extLst>
          </p:cNvPr>
          <p:cNvSpPr txBox="1">
            <a:spLocks/>
          </p:cNvSpPr>
          <p:nvPr/>
        </p:nvSpPr>
        <p:spPr>
          <a:xfrm>
            <a:off x="3824624" y="4379824"/>
            <a:ext cx="531588" cy="29229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60% of BH goes undiagnosed</a:t>
            </a:r>
          </a:p>
        </p:txBody>
      </p:sp>
      <p:cxnSp>
        <p:nvCxnSpPr>
          <p:cNvPr id="144" name="Elbow Connector 143"/>
          <p:cNvCxnSpPr>
            <a:stCxn id="20" idx="2"/>
            <a:endCxn id="142" idx="0"/>
          </p:cNvCxnSpPr>
          <p:nvPr/>
        </p:nvCxnSpPr>
        <p:spPr>
          <a:xfrm rot="16200000" flipH="1">
            <a:off x="3575006" y="3810904"/>
            <a:ext cx="333149" cy="757578"/>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3" name="Скругленный прямоугольник 59">
            <a:extLst>
              <a:ext uri="{FF2B5EF4-FFF2-40B4-BE49-F238E27FC236}">
                <a16:creationId xmlns:a16="http://schemas.microsoft.com/office/drawing/2014/main" id="{920717B6-DDA2-3C43-BA52-72827FD01722}"/>
              </a:ext>
            </a:extLst>
          </p:cNvPr>
          <p:cNvSpPr>
            <a:spLocks/>
          </p:cNvSpPr>
          <p:nvPr/>
        </p:nvSpPr>
        <p:spPr bwMode="auto">
          <a:xfrm>
            <a:off x="568416" y="3510598"/>
            <a:ext cx="105965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76" name="Subtitle 2">
            <a:extLst>
              <a:ext uri="{FF2B5EF4-FFF2-40B4-BE49-F238E27FC236}">
                <a16:creationId xmlns:a16="http://schemas.microsoft.com/office/drawing/2014/main" id="{CFDB561B-C247-D24B-88AD-4424530E9805}"/>
              </a:ext>
            </a:extLst>
          </p:cNvPr>
          <p:cNvSpPr txBox="1">
            <a:spLocks/>
          </p:cNvSpPr>
          <p:nvPr/>
        </p:nvSpPr>
        <p:spPr>
          <a:xfrm>
            <a:off x="603882" y="2233246"/>
            <a:ext cx="1066420" cy="29229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There is no reason for individuals to suspect there is a BH diagnosis</a:t>
            </a:r>
          </a:p>
        </p:txBody>
      </p:sp>
      <p:sp>
        <p:nvSpPr>
          <p:cNvPr id="85" name="Скругленный прямоугольник 88">
            <a:extLst>
              <a:ext uri="{FF2B5EF4-FFF2-40B4-BE49-F238E27FC236}">
                <a16:creationId xmlns:a16="http://schemas.microsoft.com/office/drawing/2014/main" id="{EBDE1CE4-6D4D-A548-B0DE-F17D28164F55}"/>
              </a:ext>
            </a:extLst>
          </p:cNvPr>
          <p:cNvSpPr>
            <a:spLocks/>
          </p:cNvSpPr>
          <p:nvPr/>
        </p:nvSpPr>
        <p:spPr bwMode="auto">
          <a:xfrm>
            <a:off x="8820065" y="4338129"/>
            <a:ext cx="681788"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87" name="Subtitle 2">
            <a:extLst>
              <a:ext uri="{FF2B5EF4-FFF2-40B4-BE49-F238E27FC236}">
                <a16:creationId xmlns:a16="http://schemas.microsoft.com/office/drawing/2014/main" id="{D26846BB-0938-324F-B54F-5B8852EFD1FA}"/>
              </a:ext>
            </a:extLst>
          </p:cNvPr>
          <p:cNvSpPr txBox="1">
            <a:spLocks/>
          </p:cNvSpPr>
          <p:nvPr/>
        </p:nvSpPr>
        <p:spPr>
          <a:xfrm>
            <a:off x="8822031" y="4351255"/>
            <a:ext cx="679821" cy="209837"/>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Clinicians are not properly resourced</a:t>
            </a:r>
          </a:p>
        </p:txBody>
      </p:sp>
      <p:sp>
        <p:nvSpPr>
          <p:cNvPr id="94" name="Subtitle 2">
            <a:extLst>
              <a:ext uri="{FF2B5EF4-FFF2-40B4-BE49-F238E27FC236}">
                <a16:creationId xmlns:a16="http://schemas.microsoft.com/office/drawing/2014/main" id="{CFDB561B-C247-D24B-88AD-4424530E9805}"/>
              </a:ext>
            </a:extLst>
          </p:cNvPr>
          <p:cNvSpPr txBox="1">
            <a:spLocks/>
          </p:cNvSpPr>
          <p:nvPr/>
        </p:nvSpPr>
        <p:spPr>
          <a:xfrm>
            <a:off x="4032604" y="2725988"/>
            <a:ext cx="1066420" cy="218084"/>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Physicians should be operating at top of license</a:t>
            </a:r>
          </a:p>
        </p:txBody>
      </p:sp>
      <p:sp>
        <p:nvSpPr>
          <p:cNvPr id="101" name="Subtitle 2">
            <a:extLst>
              <a:ext uri="{FF2B5EF4-FFF2-40B4-BE49-F238E27FC236}">
                <a16:creationId xmlns:a16="http://schemas.microsoft.com/office/drawing/2014/main" id="{CFDB561B-C247-D24B-88AD-4424530E9805}"/>
              </a:ext>
            </a:extLst>
          </p:cNvPr>
          <p:cNvSpPr txBox="1">
            <a:spLocks/>
          </p:cNvSpPr>
          <p:nvPr/>
        </p:nvSpPr>
        <p:spPr>
          <a:xfrm>
            <a:off x="571328" y="3530493"/>
            <a:ext cx="1066420" cy="209837"/>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Individuals may not know or be able to articulate their condition</a:t>
            </a:r>
          </a:p>
        </p:txBody>
      </p:sp>
      <p:sp>
        <p:nvSpPr>
          <p:cNvPr id="103"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8807898" y="3507569"/>
            <a:ext cx="956092"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04" name="Subtitle 2">
            <a:extLst>
              <a:ext uri="{FF2B5EF4-FFF2-40B4-BE49-F238E27FC236}">
                <a16:creationId xmlns:a16="http://schemas.microsoft.com/office/drawing/2014/main" id="{DF2DFF69-ACDE-4046-A537-554CEA57FCD3}"/>
              </a:ext>
            </a:extLst>
          </p:cNvPr>
          <p:cNvSpPr txBox="1">
            <a:spLocks/>
          </p:cNvSpPr>
          <p:nvPr/>
        </p:nvSpPr>
        <p:spPr>
          <a:xfrm>
            <a:off x="8809188" y="3529513"/>
            <a:ext cx="990434" cy="29229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Physicians are not operating at top of license (have the right skill sets)</a:t>
            </a:r>
          </a:p>
        </p:txBody>
      </p:sp>
      <p:cxnSp>
        <p:nvCxnSpPr>
          <p:cNvPr id="7" name="Elbow Connector 6"/>
          <p:cNvCxnSpPr>
            <a:stCxn id="103" idx="2"/>
            <a:endCxn id="85" idx="0"/>
          </p:cNvCxnSpPr>
          <p:nvPr/>
        </p:nvCxnSpPr>
        <p:spPr>
          <a:xfrm rot="5400000">
            <a:off x="9064430" y="4116616"/>
            <a:ext cx="318041" cy="124985"/>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5" name="Скругленный прямоугольник 84">
            <a:extLst>
              <a:ext uri="{FF2B5EF4-FFF2-40B4-BE49-F238E27FC236}">
                <a16:creationId xmlns:a16="http://schemas.microsoft.com/office/drawing/2014/main" id="{0594F8BE-B3AF-C84B-8492-8A2D86CFE89C}"/>
              </a:ext>
            </a:extLst>
          </p:cNvPr>
          <p:cNvSpPr>
            <a:spLocks/>
          </p:cNvSpPr>
          <p:nvPr/>
        </p:nvSpPr>
        <p:spPr bwMode="auto">
          <a:xfrm>
            <a:off x="8634596" y="5122398"/>
            <a:ext cx="820353" cy="527373"/>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06" name="Subtitle 2">
            <a:extLst>
              <a:ext uri="{FF2B5EF4-FFF2-40B4-BE49-F238E27FC236}">
                <a16:creationId xmlns:a16="http://schemas.microsoft.com/office/drawing/2014/main" id="{D26846BB-0938-324F-B54F-5B8852EFD1FA}"/>
              </a:ext>
            </a:extLst>
          </p:cNvPr>
          <p:cNvSpPr txBox="1">
            <a:spLocks/>
          </p:cNvSpPr>
          <p:nvPr/>
        </p:nvSpPr>
        <p:spPr>
          <a:xfrm>
            <a:off x="8634596" y="5148177"/>
            <a:ext cx="792363" cy="29229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Non-BH clinicians are providing much of BH care</a:t>
            </a:r>
          </a:p>
        </p:txBody>
      </p:sp>
      <p:cxnSp>
        <p:nvCxnSpPr>
          <p:cNvPr id="12" name="Elbow Connector 11"/>
          <p:cNvCxnSpPr>
            <a:stCxn id="35" idx="2"/>
            <a:endCxn id="105" idx="0"/>
          </p:cNvCxnSpPr>
          <p:nvPr/>
        </p:nvCxnSpPr>
        <p:spPr>
          <a:xfrm rot="5400000">
            <a:off x="9433162" y="4465320"/>
            <a:ext cx="268692" cy="1045467"/>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85" idx="1"/>
            <a:endCxn id="29" idx="3"/>
          </p:cNvCxnSpPr>
          <p:nvPr/>
        </p:nvCxnSpPr>
        <p:spPr>
          <a:xfrm flipH="1" flipV="1">
            <a:off x="7918751" y="3766859"/>
            <a:ext cx="901315" cy="827529"/>
          </a:xfrm>
          <a:prstGeom prst="line">
            <a:avLst/>
          </a:prstGeom>
          <a:ln w="19050">
            <a:solidFill>
              <a:schemeClr val="bg1">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2" name="Скругленный прямоугольник 84">
            <a:extLst>
              <a:ext uri="{FF2B5EF4-FFF2-40B4-BE49-F238E27FC236}">
                <a16:creationId xmlns:a16="http://schemas.microsoft.com/office/drawing/2014/main" id="{0594F8BE-B3AF-C84B-8492-8A2D86CFE89C}"/>
              </a:ext>
            </a:extLst>
          </p:cNvPr>
          <p:cNvSpPr>
            <a:spLocks/>
          </p:cNvSpPr>
          <p:nvPr/>
        </p:nvSpPr>
        <p:spPr bwMode="auto">
          <a:xfrm>
            <a:off x="10707387" y="4330355"/>
            <a:ext cx="933554"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99" name="Subtitle 2">
            <a:extLst>
              <a:ext uri="{FF2B5EF4-FFF2-40B4-BE49-F238E27FC236}">
                <a16:creationId xmlns:a16="http://schemas.microsoft.com/office/drawing/2014/main" id="{791E6E07-594D-EA46-A45D-CDC3DB2CDA38}"/>
              </a:ext>
            </a:extLst>
          </p:cNvPr>
          <p:cNvSpPr txBox="1">
            <a:spLocks/>
          </p:cNvSpPr>
          <p:nvPr/>
        </p:nvSpPr>
        <p:spPr>
          <a:xfrm>
            <a:off x="10707387" y="4341188"/>
            <a:ext cx="925552" cy="374754"/>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Clinicians believe they can use their knowledge and experience to tailor their own treatments</a:t>
            </a:r>
          </a:p>
        </p:txBody>
      </p:sp>
      <p:sp>
        <p:nvSpPr>
          <p:cNvPr id="115" name="Скругленный прямоугольник 59">
            <a:extLst>
              <a:ext uri="{FF2B5EF4-FFF2-40B4-BE49-F238E27FC236}">
                <a16:creationId xmlns:a16="http://schemas.microsoft.com/office/drawing/2014/main" id="{920717B6-DDA2-3C43-BA52-72827FD01722}"/>
              </a:ext>
            </a:extLst>
          </p:cNvPr>
          <p:cNvSpPr>
            <a:spLocks/>
          </p:cNvSpPr>
          <p:nvPr/>
        </p:nvSpPr>
        <p:spPr bwMode="auto">
          <a:xfrm>
            <a:off x="11021502" y="3502941"/>
            <a:ext cx="105965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16" name="Subtitle 2">
            <a:extLst>
              <a:ext uri="{FF2B5EF4-FFF2-40B4-BE49-F238E27FC236}">
                <a16:creationId xmlns:a16="http://schemas.microsoft.com/office/drawing/2014/main" id="{CFDB561B-C247-D24B-88AD-4424530E9805}"/>
              </a:ext>
            </a:extLst>
          </p:cNvPr>
          <p:cNvSpPr txBox="1">
            <a:spLocks/>
          </p:cNvSpPr>
          <p:nvPr/>
        </p:nvSpPr>
        <p:spPr>
          <a:xfrm>
            <a:off x="11036628" y="3526000"/>
            <a:ext cx="1059657" cy="29229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Co-morbid conditions may require alterations in care management</a:t>
            </a:r>
          </a:p>
        </p:txBody>
      </p:sp>
      <p:cxnSp>
        <p:nvCxnSpPr>
          <p:cNvPr id="43" name="Elbow Connector 42"/>
          <p:cNvCxnSpPr>
            <a:stCxn id="85" idx="2"/>
            <a:endCxn id="105" idx="0"/>
          </p:cNvCxnSpPr>
          <p:nvPr/>
        </p:nvCxnSpPr>
        <p:spPr>
          <a:xfrm rot="5400000">
            <a:off x="8966991" y="4928429"/>
            <a:ext cx="271752" cy="116187"/>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7" name="Скругленный прямоугольник 80">
            <a:extLst>
              <a:ext uri="{FF2B5EF4-FFF2-40B4-BE49-F238E27FC236}">
                <a16:creationId xmlns:a16="http://schemas.microsoft.com/office/drawing/2014/main" id="{645E27A1-C2FB-DD4B-B126-34D135B5C50E}"/>
              </a:ext>
            </a:extLst>
          </p:cNvPr>
          <p:cNvSpPr>
            <a:spLocks/>
          </p:cNvSpPr>
          <p:nvPr/>
        </p:nvSpPr>
        <p:spPr bwMode="auto">
          <a:xfrm>
            <a:off x="7468447" y="4343269"/>
            <a:ext cx="1164685"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98" name="Subtitle 2">
            <a:extLst>
              <a:ext uri="{FF2B5EF4-FFF2-40B4-BE49-F238E27FC236}">
                <a16:creationId xmlns:a16="http://schemas.microsoft.com/office/drawing/2014/main" id="{F4A1A281-5C8D-F44A-89AD-7B4073A0F4F0}"/>
              </a:ext>
            </a:extLst>
          </p:cNvPr>
          <p:cNvSpPr txBox="1">
            <a:spLocks/>
          </p:cNvSpPr>
          <p:nvPr/>
        </p:nvSpPr>
        <p:spPr>
          <a:xfrm>
            <a:off x="7500932" y="4381850"/>
            <a:ext cx="1091654" cy="29229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36" dirty="0">
                <a:solidFill>
                  <a:schemeClr val="bg1"/>
                </a:solidFill>
                <a:latin typeface="Arial" panose="020B0604020202020204" pitchFamily="34" charset="0"/>
                <a:ea typeface="Lato Light" panose="020F0502020204030203" pitchFamily="34" charset="0"/>
                <a:cs typeface="Arial" panose="020B0604020202020204" pitchFamily="34" charset="0"/>
              </a:rPr>
              <a:t>Limited/closed networks prevent individuals from accessing care, even if their insurance covered it</a:t>
            </a:r>
          </a:p>
        </p:txBody>
      </p:sp>
    </p:spTree>
    <p:extLst>
      <p:ext uri="{BB962C8B-B14F-4D97-AF65-F5344CB8AC3E}">
        <p14:creationId xmlns:p14="http://schemas.microsoft.com/office/powerpoint/2010/main" val="22051984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Скругленный прямоугольник 11">
            <a:extLst>
              <a:ext uri="{FF2B5EF4-FFF2-40B4-BE49-F238E27FC236}">
                <a16:creationId xmlns:a16="http://schemas.microsoft.com/office/drawing/2014/main" id="{6D4ED8D2-B85B-6440-ADA5-E55C9A6E7547}"/>
              </a:ext>
            </a:extLst>
          </p:cNvPr>
          <p:cNvSpPr/>
          <p:nvPr/>
        </p:nvSpPr>
        <p:spPr bwMode="auto">
          <a:xfrm>
            <a:off x="4546208" y="1171412"/>
            <a:ext cx="4299006" cy="784924"/>
          </a:xfrm>
          <a:prstGeom prst="roundRect">
            <a:avLst>
              <a:gd name="adj" fmla="val 5329"/>
            </a:avLst>
          </a:prstGeom>
          <a:solidFill>
            <a:schemeClr val="accent1"/>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74" name="Subtitle 2">
            <a:extLst>
              <a:ext uri="{FF2B5EF4-FFF2-40B4-BE49-F238E27FC236}">
                <a16:creationId xmlns:a16="http://schemas.microsoft.com/office/drawing/2014/main" id="{8C979760-C4B7-B541-8C3C-4C5F3E929482}"/>
              </a:ext>
            </a:extLst>
          </p:cNvPr>
          <p:cNvSpPr txBox="1">
            <a:spLocks/>
          </p:cNvSpPr>
          <p:nvPr/>
        </p:nvSpPr>
        <p:spPr>
          <a:xfrm>
            <a:off x="4546208" y="1202372"/>
            <a:ext cx="4299006" cy="729531"/>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483" dirty="0">
                <a:solidFill>
                  <a:schemeClr val="bg1"/>
                </a:solidFill>
                <a:latin typeface="Arial" panose="020B0604020202020204" pitchFamily="34" charset="0"/>
                <a:ea typeface="Lato Light" panose="020F0502020204030203" pitchFamily="34" charset="0"/>
                <a:cs typeface="Arial" panose="020B0604020202020204" pitchFamily="34" charset="0"/>
              </a:rPr>
              <a:t>The failure to proactively intervene in behavioral health care causes conditions to be more acute and more challenging to address.</a:t>
            </a:r>
          </a:p>
        </p:txBody>
      </p:sp>
      <p:sp>
        <p:nvSpPr>
          <p:cNvPr id="147" name="5-Point Star 146">
            <a:extLst>
              <a:ext uri="{FF2B5EF4-FFF2-40B4-BE49-F238E27FC236}">
                <a16:creationId xmlns:a16="http://schemas.microsoft.com/office/drawing/2014/main" id="{9AAD28B8-46E0-CC46-9F13-C53813C4441B}"/>
              </a:ext>
            </a:extLst>
          </p:cNvPr>
          <p:cNvSpPr/>
          <p:nvPr/>
        </p:nvSpPr>
        <p:spPr>
          <a:xfrm>
            <a:off x="10448526" y="6848878"/>
            <a:ext cx="164946" cy="164946"/>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46"/>
          </a:p>
        </p:txBody>
      </p:sp>
      <p:sp>
        <p:nvSpPr>
          <p:cNvPr id="88" name="Rectangle 87">
            <a:extLst>
              <a:ext uri="{FF2B5EF4-FFF2-40B4-BE49-F238E27FC236}">
                <a16:creationId xmlns:a16="http://schemas.microsoft.com/office/drawing/2014/main" id="{4B25B938-7149-CB48-AFF3-E87F0AA28C57}"/>
              </a:ext>
            </a:extLst>
          </p:cNvPr>
          <p:cNvSpPr/>
          <p:nvPr/>
        </p:nvSpPr>
        <p:spPr>
          <a:xfrm>
            <a:off x="682438" y="780519"/>
            <a:ext cx="11271997" cy="320537"/>
          </a:xfrm>
          <a:prstGeom prst="rect">
            <a:avLst/>
          </a:prstGeom>
        </p:spPr>
        <p:txBody>
          <a:bodyPr wrap="square" anchor="t">
            <a:spAutoFit/>
          </a:bodyPr>
          <a:lstStyle/>
          <a:p>
            <a:r>
              <a:rPr lang="en-US" sz="1483" dirty="0">
                <a:solidFill>
                  <a:srgbClr val="003963"/>
                </a:solidFill>
              </a:rPr>
              <a:t>PROBLEM AREA 4: </a:t>
            </a:r>
            <a:r>
              <a:rPr lang="en-US" sz="1483" b="1" dirty="0">
                <a:solidFill>
                  <a:srgbClr val="00A2E2"/>
                </a:solidFill>
              </a:rPr>
              <a:t>Shift from reactive behavioral health care to proactive behavioral health care</a:t>
            </a:r>
          </a:p>
        </p:txBody>
      </p:sp>
      <p:sp>
        <p:nvSpPr>
          <p:cNvPr id="8" name="Скругленный прямоугольник 7">
            <a:extLst>
              <a:ext uri="{FF2B5EF4-FFF2-40B4-BE49-F238E27FC236}">
                <a16:creationId xmlns:a16="http://schemas.microsoft.com/office/drawing/2014/main" id="{4F178C1C-13B0-4E42-B36B-605AC91A406C}"/>
              </a:ext>
            </a:extLst>
          </p:cNvPr>
          <p:cNvSpPr/>
          <p:nvPr/>
        </p:nvSpPr>
        <p:spPr bwMode="auto">
          <a:xfrm>
            <a:off x="1155333" y="2314085"/>
            <a:ext cx="1702170" cy="1168249"/>
          </a:xfrm>
          <a:prstGeom prst="roundRect">
            <a:avLst>
              <a:gd name="adj" fmla="val 5329"/>
            </a:avLst>
          </a:prstGeom>
          <a:solidFill>
            <a:schemeClr val="accent1">
              <a:lumMod val="75000"/>
              <a:lumOff val="25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90" name="Subtitle 2">
            <a:extLst>
              <a:ext uri="{FF2B5EF4-FFF2-40B4-BE49-F238E27FC236}">
                <a16:creationId xmlns:a16="http://schemas.microsoft.com/office/drawing/2014/main" id="{52FA099A-FD0F-094C-AC92-B54180A8B276}"/>
              </a:ext>
            </a:extLst>
          </p:cNvPr>
          <p:cNvSpPr txBox="1">
            <a:spLocks/>
          </p:cNvSpPr>
          <p:nvPr/>
        </p:nvSpPr>
        <p:spPr>
          <a:xfrm>
            <a:off x="1179588" y="2392294"/>
            <a:ext cx="1653663" cy="843344"/>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297" dirty="0">
                <a:solidFill>
                  <a:schemeClr val="bg1"/>
                </a:solidFill>
                <a:latin typeface="Arial" panose="020B0604020202020204" pitchFamily="34" charset="0"/>
                <a:ea typeface="Lato Light" panose="020F0502020204030203" pitchFamily="34" charset="0"/>
                <a:cs typeface="Arial" panose="020B0604020202020204" pitchFamily="34" charset="0"/>
              </a:rPr>
              <a:t>People are often incapable of identifying the onset of BH conditions</a:t>
            </a:r>
          </a:p>
        </p:txBody>
      </p:sp>
      <p:cxnSp>
        <p:nvCxnSpPr>
          <p:cNvPr id="130" name="Соединительная линия уступом 29">
            <a:extLst>
              <a:ext uri="{FF2B5EF4-FFF2-40B4-BE49-F238E27FC236}">
                <a16:creationId xmlns:a16="http://schemas.microsoft.com/office/drawing/2014/main" id="{DE9DA6CD-4979-E143-8DF8-678AF572FA2C}"/>
              </a:ext>
            </a:extLst>
          </p:cNvPr>
          <p:cNvCxnSpPr>
            <a:cxnSpLocks/>
          </p:cNvCxnSpPr>
          <p:nvPr/>
        </p:nvCxnSpPr>
        <p:spPr bwMode="auto">
          <a:xfrm rot="16200000" flipH="1">
            <a:off x="4696424" y="4268602"/>
            <a:ext cx="357132" cy="1248"/>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152"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601758" y="3615259"/>
            <a:ext cx="1079280" cy="1016597"/>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99" name="Скругленный прямоугольник 7">
            <a:extLst>
              <a:ext uri="{FF2B5EF4-FFF2-40B4-BE49-F238E27FC236}">
                <a16:creationId xmlns:a16="http://schemas.microsoft.com/office/drawing/2014/main" id="{4F178C1C-13B0-4E42-B36B-605AC91A406C}"/>
              </a:ext>
            </a:extLst>
          </p:cNvPr>
          <p:cNvSpPr/>
          <p:nvPr/>
        </p:nvSpPr>
        <p:spPr bwMode="auto">
          <a:xfrm>
            <a:off x="3981434" y="2314085"/>
            <a:ext cx="1702170" cy="1168249"/>
          </a:xfrm>
          <a:prstGeom prst="roundRect">
            <a:avLst>
              <a:gd name="adj" fmla="val 5329"/>
            </a:avLst>
          </a:prstGeom>
          <a:solidFill>
            <a:schemeClr val="accent1">
              <a:lumMod val="75000"/>
              <a:lumOff val="25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00" name="Subtitle 2">
            <a:extLst>
              <a:ext uri="{FF2B5EF4-FFF2-40B4-BE49-F238E27FC236}">
                <a16:creationId xmlns:a16="http://schemas.microsoft.com/office/drawing/2014/main" id="{52FA099A-FD0F-094C-AC92-B54180A8B276}"/>
              </a:ext>
            </a:extLst>
          </p:cNvPr>
          <p:cNvSpPr txBox="1">
            <a:spLocks/>
          </p:cNvSpPr>
          <p:nvPr/>
        </p:nvSpPr>
        <p:spPr>
          <a:xfrm>
            <a:off x="4005690" y="2392294"/>
            <a:ext cx="1653663" cy="843344"/>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297" dirty="0">
                <a:solidFill>
                  <a:schemeClr val="bg1"/>
                </a:solidFill>
                <a:latin typeface="Arial" panose="020B0604020202020204" pitchFamily="34" charset="0"/>
                <a:ea typeface="Lato Light" panose="020F0502020204030203" pitchFamily="34" charset="0"/>
                <a:cs typeface="Arial" panose="020B0604020202020204" pitchFamily="34" charset="0"/>
              </a:rPr>
              <a:t>Patients have not been empowered to manage their own care</a:t>
            </a:r>
          </a:p>
        </p:txBody>
      </p:sp>
      <p:sp>
        <p:nvSpPr>
          <p:cNvPr id="109" name="Скругленный прямоугольник 7">
            <a:extLst>
              <a:ext uri="{FF2B5EF4-FFF2-40B4-BE49-F238E27FC236}">
                <a16:creationId xmlns:a16="http://schemas.microsoft.com/office/drawing/2014/main" id="{4F178C1C-13B0-4E42-B36B-605AC91A406C}"/>
              </a:ext>
            </a:extLst>
          </p:cNvPr>
          <p:cNvSpPr/>
          <p:nvPr/>
        </p:nvSpPr>
        <p:spPr bwMode="auto">
          <a:xfrm>
            <a:off x="7167295" y="2314085"/>
            <a:ext cx="1702170" cy="1168249"/>
          </a:xfrm>
          <a:prstGeom prst="roundRect">
            <a:avLst>
              <a:gd name="adj" fmla="val 5329"/>
            </a:avLst>
          </a:prstGeom>
          <a:solidFill>
            <a:schemeClr val="accent1">
              <a:lumMod val="75000"/>
              <a:lumOff val="25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10" name="Subtitle 2">
            <a:extLst>
              <a:ext uri="{FF2B5EF4-FFF2-40B4-BE49-F238E27FC236}">
                <a16:creationId xmlns:a16="http://schemas.microsoft.com/office/drawing/2014/main" id="{52FA099A-FD0F-094C-AC92-B54180A8B276}"/>
              </a:ext>
            </a:extLst>
          </p:cNvPr>
          <p:cNvSpPr txBox="1">
            <a:spLocks/>
          </p:cNvSpPr>
          <p:nvPr/>
        </p:nvSpPr>
        <p:spPr>
          <a:xfrm>
            <a:off x="7191550" y="2392293"/>
            <a:ext cx="1653663" cy="1042951"/>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297" dirty="0">
                <a:solidFill>
                  <a:schemeClr val="bg1"/>
                </a:solidFill>
                <a:latin typeface="Arial" panose="020B0604020202020204" pitchFamily="34" charset="0"/>
                <a:ea typeface="Lato Light" panose="020F0502020204030203" pitchFamily="34" charset="0"/>
                <a:cs typeface="Arial" panose="020B0604020202020204" pitchFamily="34" charset="0"/>
              </a:rPr>
              <a:t>Clinicians miss opportunities to appropriately identify and direct to appropriate care</a:t>
            </a:r>
            <a:endParaRPr lang="en-US" sz="1297" b="1" dirty="0">
              <a:solidFill>
                <a:srgbClr val="FF0000"/>
              </a:solidFill>
              <a:latin typeface="Arial" panose="020B0604020202020204" pitchFamily="34" charset="0"/>
              <a:ea typeface="Lato Light" panose="020F0502020204030203" pitchFamily="34" charset="0"/>
              <a:cs typeface="Arial" panose="020B0604020202020204" pitchFamily="34" charset="0"/>
            </a:endParaRPr>
          </a:p>
        </p:txBody>
      </p:sp>
      <p:sp>
        <p:nvSpPr>
          <p:cNvPr id="113" name="Скругленный прямоугольник 7">
            <a:extLst>
              <a:ext uri="{FF2B5EF4-FFF2-40B4-BE49-F238E27FC236}">
                <a16:creationId xmlns:a16="http://schemas.microsoft.com/office/drawing/2014/main" id="{4F178C1C-13B0-4E42-B36B-605AC91A406C}"/>
              </a:ext>
            </a:extLst>
          </p:cNvPr>
          <p:cNvSpPr/>
          <p:nvPr/>
        </p:nvSpPr>
        <p:spPr bwMode="auto">
          <a:xfrm>
            <a:off x="9969915" y="2314085"/>
            <a:ext cx="1990617" cy="1168249"/>
          </a:xfrm>
          <a:prstGeom prst="roundRect">
            <a:avLst>
              <a:gd name="adj" fmla="val 5329"/>
            </a:avLst>
          </a:prstGeom>
          <a:solidFill>
            <a:schemeClr val="accent1">
              <a:lumMod val="75000"/>
              <a:lumOff val="25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14" name="Subtitle 2">
            <a:extLst>
              <a:ext uri="{FF2B5EF4-FFF2-40B4-BE49-F238E27FC236}">
                <a16:creationId xmlns:a16="http://schemas.microsoft.com/office/drawing/2014/main" id="{52FA099A-FD0F-094C-AC92-B54180A8B276}"/>
              </a:ext>
            </a:extLst>
          </p:cNvPr>
          <p:cNvSpPr txBox="1">
            <a:spLocks/>
          </p:cNvSpPr>
          <p:nvPr/>
        </p:nvSpPr>
        <p:spPr>
          <a:xfrm>
            <a:off x="9994170" y="2392294"/>
            <a:ext cx="1836442" cy="843344"/>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297" dirty="0">
                <a:solidFill>
                  <a:schemeClr val="bg1"/>
                </a:solidFill>
                <a:latin typeface="Arial" panose="020B0604020202020204" pitchFamily="34" charset="0"/>
                <a:ea typeface="Lato Light" panose="020F0502020204030203" pitchFamily="34" charset="0"/>
                <a:cs typeface="Arial" panose="020B0604020202020204" pitchFamily="34" charset="0"/>
              </a:rPr>
              <a:t>Traditional, fragmented care impairs care management &amp; inhibits improved outcomes</a:t>
            </a:r>
          </a:p>
        </p:txBody>
      </p:sp>
      <p:sp>
        <p:nvSpPr>
          <p:cNvPr id="115"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1781480" y="3615259"/>
            <a:ext cx="1079280" cy="1016597"/>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16"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574868" y="4786936"/>
            <a:ext cx="1079280" cy="1016597"/>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17"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1741140" y="4786936"/>
            <a:ext cx="1079280" cy="1016597"/>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22"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9934155" y="3612546"/>
            <a:ext cx="1079280" cy="1016597"/>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23"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11167666" y="3612546"/>
            <a:ext cx="1079280" cy="1016597"/>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24"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11152580" y="5968044"/>
            <a:ext cx="1079280" cy="1016597"/>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25"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9934155" y="4744968"/>
            <a:ext cx="1079280" cy="1016597"/>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26"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6871222" y="3615259"/>
            <a:ext cx="1079280" cy="1016597"/>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32"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8104733" y="3615259"/>
            <a:ext cx="1079280" cy="1016597"/>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33"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8135236" y="5970274"/>
            <a:ext cx="1079280" cy="1016597"/>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34"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9906629" y="5970274"/>
            <a:ext cx="1079280" cy="1016597"/>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35"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3162389" y="3615259"/>
            <a:ext cx="1079280" cy="1016597"/>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48"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5498551" y="3615259"/>
            <a:ext cx="1079280" cy="1016597"/>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51"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3162389" y="4786936"/>
            <a:ext cx="1079280" cy="1016597"/>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55"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5498551" y="4786936"/>
            <a:ext cx="1079280" cy="1016597"/>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56" name="Subtitle 2">
            <a:extLst>
              <a:ext uri="{FF2B5EF4-FFF2-40B4-BE49-F238E27FC236}">
                <a16:creationId xmlns:a16="http://schemas.microsoft.com/office/drawing/2014/main" id="{52FA099A-FD0F-094C-AC92-B54180A8B276}"/>
              </a:ext>
            </a:extLst>
          </p:cNvPr>
          <p:cNvSpPr txBox="1">
            <a:spLocks/>
          </p:cNvSpPr>
          <p:nvPr/>
        </p:nvSpPr>
        <p:spPr>
          <a:xfrm>
            <a:off x="626674" y="3676123"/>
            <a:ext cx="1044337" cy="784830"/>
          </a:xfrm>
          <a:prstGeom prst="rect">
            <a:avLst/>
          </a:prstGeom>
        </p:spPr>
        <p:txBody>
          <a:bodyPr vert="horz" wrap="square" lIns="16943" tIns="0" rIns="16943"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Consumers lack the education and awareness  to identify conditions</a:t>
            </a:r>
          </a:p>
        </p:txBody>
      </p:sp>
      <p:sp>
        <p:nvSpPr>
          <p:cNvPr id="157" name="Subtitle 2">
            <a:extLst>
              <a:ext uri="{FF2B5EF4-FFF2-40B4-BE49-F238E27FC236}">
                <a16:creationId xmlns:a16="http://schemas.microsoft.com/office/drawing/2014/main" id="{52FA099A-FD0F-094C-AC92-B54180A8B276}"/>
              </a:ext>
            </a:extLst>
          </p:cNvPr>
          <p:cNvSpPr txBox="1">
            <a:spLocks/>
          </p:cNvSpPr>
          <p:nvPr/>
        </p:nvSpPr>
        <p:spPr>
          <a:xfrm>
            <a:off x="1823484" y="3662677"/>
            <a:ext cx="1044337" cy="941796"/>
          </a:xfrm>
          <a:prstGeom prst="rect">
            <a:avLst/>
          </a:prstGeom>
        </p:spPr>
        <p:txBody>
          <a:bodyPr vert="horz" wrap="square" lIns="16943" tIns="0" rIns="16943"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Consumers suspecting BH needs eschew treatment, thinking it will just “get better”</a:t>
            </a:r>
          </a:p>
        </p:txBody>
      </p:sp>
      <p:sp>
        <p:nvSpPr>
          <p:cNvPr id="158" name="Subtitle 2">
            <a:extLst>
              <a:ext uri="{FF2B5EF4-FFF2-40B4-BE49-F238E27FC236}">
                <a16:creationId xmlns:a16="http://schemas.microsoft.com/office/drawing/2014/main" id="{52FA099A-FD0F-094C-AC92-B54180A8B276}"/>
              </a:ext>
            </a:extLst>
          </p:cNvPr>
          <p:cNvSpPr txBox="1">
            <a:spLocks/>
          </p:cNvSpPr>
          <p:nvPr/>
        </p:nvSpPr>
        <p:spPr>
          <a:xfrm>
            <a:off x="617345" y="4829230"/>
            <a:ext cx="1044337" cy="784830"/>
          </a:xfrm>
          <a:prstGeom prst="rect">
            <a:avLst/>
          </a:prstGeom>
        </p:spPr>
        <p:txBody>
          <a:bodyPr vert="horz" wrap="square" lIns="16943" tIns="0" rIns="16943"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Consumers do not have access to tools/networks that can identify their conditions</a:t>
            </a:r>
          </a:p>
        </p:txBody>
      </p:sp>
      <p:sp>
        <p:nvSpPr>
          <p:cNvPr id="160"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4316316" y="3617099"/>
            <a:ext cx="1079280" cy="1016597"/>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61" name="Subtitle 2">
            <a:extLst>
              <a:ext uri="{FF2B5EF4-FFF2-40B4-BE49-F238E27FC236}">
                <a16:creationId xmlns:a16="http://schemas.microsoft.com/office/drawing/2014/main" id="{52FA099A-FD0F-094C-AC92-B54180A8B276}"/>
              </a:ext>
            </a:extLst>
          </p:cNvPr>
          <p:cNvSpPr txBox="1">
            <a:spLocks/>
          </p:cNvSpPr>
          <p:nvPr/>
        </p:nvSpPr>
        <p:spPr>
          <a:xfrm>
            <a:off x="4358793" y="3659393"/>
            <a:ext cx="1044337" cy="941796"/>
          </a:xfrm>
          <a:prstGeom prst="rect">
            <a:avLst/>
          </a:prstGeom>
        </p:spPr>
        <p:txBody>
          <a:bodyPr vert="horz" wrap="square" lIns="16943" tIns="0" rIns="16943"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Consumers do not receive "BH exercise" to prevent the healthy from getting sick</a:t>
            </a:r>
          </a:p>
        </p:txBody>
      </p:sp>
      <p:sp>
        <p:nvSpPr>
          <p:cNvPr id="162" name="Subtitle 2">
            <a:extLst>
              <a:ext uri="{FF2B5EF4-FFF2-40B4-BE49-F238E27FC236}">
                <a16:creationId xmlns:a16="http://schemas.microsoft.com/office/drawing/2014/main" id="{52FA099A-FD0F-094C-AC92-B54180A8B276}"/>
              </a:ext>
            </a:extLst>
          </p:cNvPr>
          <p:cNvSpPr txBox="1">
            <a:spLocks/>
          </p:cNvSpPr>
          <p:nvPr/>
        </p:nvSpPr>
        <p:spPr>
          <a:xfrm>
            <a:off x="3200691" y="3651284"/>
            <a:ext cx="1044337" cy="941796"/>
          </a:xfrm>
          <a:prstGeom prst="rect">
            <a:avLst/>
          </a:prstGeom>
        </p:spPr>
        <p:txBody>
          <a:bodyPr vert="horz" wrap="square" lIns="16943" tIns="0" rIns="16943"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Consumers seek care where they know it is available, not where they know it is effective</a:t>
            </a:r>
          </a:p>
        </p:txBody>
      </p:sp>
      <p:sp>
        <p:nvSpPr>
          <p:cNvPr id="163" name="Subtitle 2">
            <a:extLst>
              <a:ext uri="{FF2B5EF4-FFF2-40B4-BE49-F238E27FC236}">
                <a16:creationId xmlns:a16="http://schemas.microsoft.com/office/drawing/2014/main" id="{52FA099A-FD0F-094C-AC92-B54180A8B276}"/>
              </a:ext>
            </a:extLst>
          </p:cNvPr>
          <p:cNvSpPr txBox="1">
            <a:spLocks/>
          </p:cNvSpPr>
          <p:nvPr/>
        </p:nvSpPr>
        <p:spPr>
          <a:xfrm>
            <a:off x="5533494" y="3648329"/>
            <a:ext cx="1044337" cy="941796"/>
          </a:xfrm>
          <a:prstGeom prst="rect">
            <a:avLst/>
          </a:prstGeom>
        </p:spPr>
        <p:txBody>
          <a:bodyPr vert="horz" wrap="square" lIns="16943" tIns="0" rIns="16943"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Consumers give up when care is ineffective &amp; care does not utilize EBT, which reinforces biases</a:t>
            </a:r>
          </a:p>
        </p:txBody>
      </p:sp>
      <p:sp>
        <p:nvSpPr>
          <p:cNvPr id="164" name="Subtitle 2">
            <a:extLst>
              <a:ext uri="{FF2B5EF4-FFF2-40B4-BE49-F238E27FC236}">
                <a16:creationId xmlns:a16="http://schemas.microsoft.com/office/drawing/2014/main" id="{52FA099A-FD0F-094C-AC92-B54180A8B276}"/>
              </a:ext>
            </a:extLst>
          </p:cNvPr>
          <p:cNvSpPr txBox="1">
            <a:spLocks/>
          </p:cNvSpPr>
          <p:nvPr/>
        </p:nvSpPr>
        <p:spPr>
          <a:xfrm>
            <a:off x="5551762" y="4829231"/>
            <a:ext cx="1044337" cy="784830"/>
          </a:xfrm>
          <a:prstGeom prst="rect">
            <a:avLst/>
          </a:prstGeom>
        </p:spPr>
        <p:txBody>
          <a:bodyPr vert="horz" wrap="square" lIns="16943" tIns="0" rIns="16943"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Consumers do not have tools that can address needs in real time</a:t>
            </a:r>
          </a:p>
        </p:txBody>
      </p:sp>
      <p:sp>
        <p:nvSpPr>
          <p:cNvPr id="165" name="Subtitle 2">
            <a:extLst>
              <a:ext uri="{FF2B5EF4-FFF2-40B4-BE49-F238E27FC236}">
                <a16:creationId xmlns:a16="http://schemas.microsoft.com/office/drawing/2014/main" id="{52FA099A-FD0F-094C-AC92-B54180A8B276}"/>
              </a:ext>
            </a:extLst>
          </p:cNvPr>
          <p:cNvSpPr txBox="1">
            <a:spLocks/>
          </p:cNvSpPr>
          <p:nvPr/>
        </p:nvSpPr>
        <p:spPr>
          <a:xfrm>
            <a:off x="3188902" y="4819546"/>
            <a:ext cx="1044337" cy="784830"/>
          </a:xfrm>
          <a:prstGeom prst="rect">
            <a:avLst/>
          </a:prstGeom>
        </p:spPr>
        <p:txBody>
          <a:bodyPr vert="horz" wrap="square" lIns="16943" tIns="0" rIns="16943"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Consumers are not aware of how to best navigate viable solutions to their needs</a:t>
            </a:r>
          </a:p>
        </p:txBody>
      </p:sp>
      <p:sp>
        <p:nvSpPr>
          <p:cNvPr id="166"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4313111" y="4786997"/>
            <a:ext cx="1079280" cy="1016597"/>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67" name="Subtitle 2">
            <a:extLst>
              <a:ext uri="{FF2B5EF4-FFF2-40B4-BE49-F238E27FC236}">
                <a16:creationId xmlns:a16="http://schemas.microsoft.com/office/drawing/2014/main" id="{52FA099A-FD0F-094C-AC92-B54180A8B276}"/>
              </a:ext>
            </a:extLst>
          </p:cNvPr>
          <p:cNvSpPr txBox="1">
            <a:spLocks/>
          </p:cNvSpPr>
          <p:nvPr/>
        </p:nvSpPr>
        <p:spPr>
          <a:xfrm>
            <a:off x="4355589" y="4829292"/>
            <a:ext cx="1044337" cy="941796"/>
          </a:xfrm>
          <a:prstGeom prst="rect">
            <a:avLst/>
          </a:prstGeom>
        </p:spPr>
        <p:txBody>
          <a:bodyPr vert="horz" wrap="square" lIns="16943" tIns="0" rIns="16943"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Consumers cannot access needed care due to transportation /SDOH challenges</a:t>
            </a:r>
          </a:p>
        </p:txBody>
      </p:sp>
      <p:sp>
        <p:nvSpPr>
          <p:cNvPr id="169" name="Subtitle 2">
            <a:extLst>
              <a:ext uri="{FF2B5EF4-FFF2-40B4-BE49-F238E27FC236}">
                <a16:creationId xmlns:a16="http://schemas.microsoft.com/office/drawing/2014/main" id="{52FA099A-FD0F-094C-AC92-B54180A8B276}"/>
              </a:ext>
            </a:extLst>
          </p:cNvPr>
          <p:cNvSpPr txBox="1">
            <a:spLocks/>
          </p:cNvSpPr>
          <p:nvPr/>
        </p:nvSpPr>
        <p:spPr>
          <a:xfrm>
            <a:off x="6909949" y="3637414"/>
            <a:ext cx="1044337" cy="784830"/>
          </a:xfrm>
          <a:prstGeom prst="rect">
            <a:avLst/>
          </a:prstGeom>
        </p:spPr>
        <p:txBody>
          <a:bodyPr vert="horz" wrap="square" lIns="16943" tIns="0" rIns="16943"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Insufficient claims and other data history inhibit identification</a:t>
            </a:r>
            <a:endParaRPr lang="en-US" sz="1020" dirty="0">
              <a:solidFill>
                <a:srgbClr val="FF0000"/>
              </a:solidFill>
              <a:latin typeface="Arial" panose="020B0604020202020204" pitchFamily="34" charset="0"/>
              <a:ea typeface="Lato Light" panose="020F0502020204030203" pitchFamily="34" charset="0"/>
              <a:cs typeface="Arial" panose="020B0604020202020204" pitchFamily="34" charset="0"/>
            </a:endParaRPr>
          </a:p>
        </p:txBody>
      </p:sp>
      <p:sp>
        <p:nvSpPr>
          <p:cNvPr id="170" name="Subtitle 2">
            <a:extLst>
              <a:ext uri="{FF2B5EF4-FFF2-40B4-BE49-F238E27FC236}">
                <a16:creationId xmlns:a16="http://schemas.microsoft.com/office/drawing/2014/main" id="{52FA099A-FD0F-094C-AC92-B54180A8B276}"/>
              </a:ext>
            </a:extLst>
          </p:cNvPr>
          <p:cNvSpPr txBox="1">
            <a:spLocks/>
          </p:cNvSpPr>
          <p:nvPr/>
        </p:nvSpPr>
        <p:spPr>
          <a:xfrm>
            <a:off x="8139676" y="3648328"/>
            <a:ext cx="1044337" cy="941796"/>
          </a:xfrm>
          <a:prstGeom prst="rect">
            <a:avLst/>
          </a:prstGeom>
        </p:spPr>
        <p:txBody>
          <a:bodyPr vert="horz" wrap="square" lIns="16943" tIns="0" rIns="16943"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Delays caused by inaccessibility cause more acute conditions, w/ challenging mitigation</a:t>
            </a:r>
          </a:p>
        </p:txBody>
      </p:sp>
      <p:sp>
        <p:nvSpPr>
          <p:cNvPr id="172" name="Subtitle 2">
            <a:extLst>
              <a:ext uri="{FF2B5EF4-FFF2-40B4-BE49-F238E27FC236}">
                <a16:creationId xmlns:a16="http://schemas.microsoft.com/office/drawing/2014/main" id="{52FA099A-FD0F-094C-AC92-B54180A8B276}"/>
              </a:ext>
            </a:extLst>
          </p:cNvPr>
          <p:cNvSpPr txBox="1">
            <a:spLocks/>
          </p:cNvSpPr>
          <p:nvPr/>
        </p:nvSpPr>
        <p:spPr>
          <a:xfrm>
            <a:off x="8169225" y="5999194"/>
            <a:ext cx="1044337" cy="941796"/>
          </a:xfrm>
          <a:prstGeom prst="rect">
            <a:avLst/>
          </a:prstGeom>
        </p:spPr>
        <p:txBody>
          <a:bodyPr vert="horz" wrap="square" lIns="16943" tIns="0" rIns="16943"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Referring capabilities are insufficient to route members to the right specialty</a:t>
            </a:r>
          </a:p>
        </p:txBody>
      </p:sp>
      <p:sp>
        <p:nvSpPr>
          <p:cNvPr id="176" name="Subtitle 2">
            <a:extLst>
              <a:ext uri="{FF2B5EF4-FFF2-40B4-BE49-F238E27FC236}">
                <a16:creationId xmlns:a16="http://schemas.microsoft.com/office/drawing/2014/main" id="{52FA099A-FD0F-094C-AC92-B54180A8B276}"/>
              </a:ext>
            </a:extLst>
          </p:cNvPr>
          <p:cNvSpPr txBox="1">
            <a:spLocks/>
          </p:cNvSpPr>
          <p:nvPr/>
        </p:nvSpPr>
        <p:spPr>
          <a:xfrm>
            <a:off x="9941572" y="6005368"/>
            <a:ext cx="1044337" cy="941796"/>
          </a:xfrm>
          <a:prstGeom prst="rect">
            <a:avLst/>
          </a:prstGeom>
        </p:spPr>
        <p:txBody>
          <a:bodyPr vert="horz" wrap="square" lIns="16943" tIns="0" rIns="16943"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Physicians will not report BH needs for fear of the demands of appropriate follow-up</a:t>
            </a:r>
          </a:p>
        </p:txBody>
      </p:sp>
      <p:sp>
        <p:nvSpPr>
          <p:cNvPr id="177" name="Subtitle 2">
            <a:extLst>
              <a:ext uri="{FF2B5EF4-FFF2-40B4-BE49-F238E27FC236}">
                <a16:creationId xmlns:a16="http://schemas.microsoft.com/office/drawing/2014/main" id="{52FA099A-FD0F-094C-AC92-B54180A8B276}"/>
              </a:ext>
            </a:extLst>
          </p:cNvPr>
          <p:cNvSpPr txBox="1">
            <a:spLocks/>
          </p:cNvSpPr>
          <p:nvPr/>
        </p:nvSpPr>
        <p:spPr>
          <a:xfrm>
            <a:off x="9977585" y="3637413"/>
            <a:ext cx="1070792" cy="941796"/>
          </a:xfrm>
          <a:prstGeom prst="rect">
            <a:avLst/>
          </a:prstGeom>
        </p:spPr>
        <p:txBody>
          <a:bodyPr vert="horz" wrap="square" lIns="16943" tIns="0" rIns="16943"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First clinical encounters – e.g.,  PCPs - seldom address or include BH specialty</a:t>
            </a:r>
          </a:p>
        </p:txBody>
      </p:sp>
      <p:sp>
        <p:nvSpPr>
          <p:cNvPr id="180" name="Subtitle 2">
            <a:extLst>
              <a:ext uri="{FF2B5EF4-FFF2-40B4-BE49-F238E27FC236}">
                <a16:creationId xmlns:a16="http://schemas.microsoft.com/office/drawing/2014/main" id="{52FA099A-FD0F-094C-AC92-B54180A8B276}"/>
              </a:ext>
            </a:extLst>
          </p:cNvPr>
          <p:cNvSpPr txBox="1">
            <a:spLocks/>
          </p:cNvSpPr>
          <p:nvPr/>
        </p:nvSpPr>
        <p:spPr>
          <a:xfrm>
            <a:off x="11202609" y="3644949"/>
            <a:ext cx="1044337" cy="784830"/>
          </a:xfrm>
          <a:prstGeom prst="rect">
            <a:avLst/>
          </a:prstGeom>
        </p:spPr>
        <p:txBody>
          <a:bodyPr vert="horz" wrap="square" lIns="16943" tIns="0" rIns="16943"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Providers are rewarded for providing easy care, not the best care</a:t>
            </a:r>
          </a:p>
        </p:txBody>
      </p:sp>
      <p:sp>
        <p:nvSpPr>
          <p:cNvPr id="181" name="Subtitle 2">
            <a:extLst>
              <a:ext uri="{FF2B5EF4-FFF2-40B4-BE49-F238E27FC236}">
                <a16:creationId xmlns:a16="http://schemas.microsoft.com/office/drawing/2014/main" id="{52FA099A-FD0F-094C-AC92-B54180A8B276}"/>
              </a:ext>
            </a:extLst>
          </p:cNvPr>
          <p:cNvSpPr txBox="1">
            <a:spLocks/>
          </p:cNvSpPr>
          <p:nvPr/>
        </p:nvSpPr>
        <p:spPr>
          <a:xfrm>
            <a:off x="9951627" y="4782776"/>
            <a:ext cx="1044337" cy="941796"/>
          </a:xfrm>
          <a:prstGeom prst="rect">
            <a:avLst/>
          </a:prstGeom>
        </p:spPr>
        <p:txBody>
          <a:bodyPr vert="horz" wrap="square" lIns="16943" tIns="0" rIns="16943"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Disparate EMRs and system fragmentations prevent treatment "conversations"</a:t>
            </a:r>
          </a:p>
        </p:txBody>
      </p:sp>
      <p:sp>
        <p:nvSpPr>
          <p:cNvPr id="182" name="Subtitle 2">
            <a:extLst>
              <a:ext uri="{FF2B5EF4-FFF2-40B4-BE49-F238E27FC236}">
                <a16:creationId xmlns:a16="http://schemas.microsoft.com/office/drawing/2014/main" id="{52FA099A-FD0F-094C-AC92-B54180A8B276}"/>
              </a:ext>
            </a:extLst>
          </p:cNvPr>
          <p:cNvSpPr txBox="1">
            <a:spLocks/>
          </p:cNvSpPr>
          <p:nvPr/>
        </p:nvSpPr>
        <p:spPr>
          <a:xfrm>
            <a:off x="11202616" y="6013052"/>
            <a:ext cx="1044337" cy="941796"/>
          </a:xfrm>
          <a:prstGeom prst="rect">
            <a:avLst/>
          </a:prstGeom>
        </p:spPr>
        <p:txBody>
          <a:bodyPr vert="horz" wrap="square" lIns="16943" tIns="0" rIns="16943"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Providers cognizant of BH needs are incentivized to prioritize non-BH care/ biases first</a:t>
            </a:r>
          </a:p>
        </p:txBody>
      </p:sp>
      <p:cxnSp>
        <p:nvCxnSpPr>
          <p:cNvPr id="24" name="Straight Connector 23"/>
          <p:cNvCxnSpPr/>
          <p:nvPr/>
        </p:nvCxnSpPr>
        <p:spPr>
          <a:xfrm>
            <a:off x="682438" y="3531865"/>
            <a:ext cx="11366126" cy="2713"/>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a:xfrm>
            <a:off x="1748888" y="4812717"/>
            <a:ext cx="1121566" cy="784830"/>
          </a:xfrm>
          <a:prstGeom prst="rect">
            <a:avLst/>
          </a:prstGeom>
        </p:spPr>
        <p:txBody>
          <a:bodyPr vert="horz" wrap="square" lIns="16943" tIns="0" rIns="16943" bIns="0" rtlCol="0" anchor="t">
            <a:spAutoFit/>
          </a:bodyPr>
          <a:lstStyle/>
          <a:p>
            <a:pPr defTabSz="1007717">
              <a:spcBef>
                <a:spcPct val="20000"/>
              </a:spcBef>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Consumers do not have a support network to tell them they may be in need of help</a:t>
            </a:r>
          </a:p>
        </p:txBody>
      </p:sp>
      <p:cxnSp>
        <p:nvCxnSpPr>
          <p:cNvPr id="54" name="Straight Connector 53">
            <a:extLst>
              <a:ext uri="{FF2B5EF4-FFF2-40B4-BE49-F238E27FC236}">
                <a16:creationId xmlns:a16="http://schemas.microsoft.com/office/drawing/2014/main" id="{C32DA38A-3158-4AF3-9714-BD442552B717}"/>
              </a:ext>
            </a:extLst>
          </p:cNvPr>
          <p:cNvCxnSpPr/>
          <p:nvPr/>
        </p:nvCxnSpPr>
        <p:spPr>
          <a:xfrm>
            <a:off x="606018" y="5839060"/>
            <a:ext cx="11366126" cy="2713"/>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5" name="Скругленный прямоугольник 88">
            <a:extLst>
              <a:ext uri="{FF2B5EF4-FFF2-40B4-BE49-F238E27FC236}">
                <a16:creationId xmlns:a16="http://schemas.microsoft.com/office/drawing/2014/main" id="{FC300694-7023-42BC-BA69-BDE93DAD353A}"/>
              </a:ext>
            </a:extLst>
          </p:cNvPr>
          <p:cNvSpPr>
            <a:spLocks/>
          </p:cNvSpPr>
          <p:nvPr/>
        </p:nvSpPr>
        <p:spPr bwMode="auto">
          <a:xfrm>
            <a:off x="6863856" y="5972082"/>
            <a:ext cx="1079280" cy="1016597"/>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56" name="Subtitle 2">
            <a:extLst>
              <a:ext uri="{FF2B5EF4-FFF2-40B4-BE49-F238E27FC236}">
                <a16:creationId xmlns:a16="http://schemas.microsoft.com/office/drawing/2014/main" id="{2F6F84EA-A8EC-44FB-BF03-1EB752850A3C}"/>
              </a:ext>
            </a:extLst>
          </p:cNvPr>
          <p:cNvSpPr txBox="1">
            <a:spLocks/>
          </p:cNvSpPr>
          <p:nvPr/>
        </p:nvSpPr>
        <p:spPr>
          <a:xfrm>
            <a:off x="6902583" y="5994237"/>
            <a:ext cx="1044337" cy="941796"/>
          </a:xfrm>
          <a:prstGeom prst="rect">
            <a:avLst/>
          </a:prstGeom>
        </p:spPr>
        <p:txBody>
          <a:bodyPr vert="horz" wrap="square" lIns="16943" tIns="0" rIns="16943"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Benefit &amp; reimbursement models cause </a:t>
            </a:r>
            <a:r>
              <a:rPr lang="en-US" sz="1020" dirty="0" err="1">
                <a:solidFill>
                  <a:schemeClr val="bg1"/>
                </a:solidFill>
                <a:latin typeface="Arial" panose="020B0604020202020204" pitchFamily="34" charset="0"/>
                <a:ea typeface="Lato Light" panose="020F0502020204030203" pitchFamily="34" charset="0"/>
                <a:cs typeface="Arial" panose="020B0604020202020204" pitchFamily="34" charset="0"/>
              </a:rPr>
              <a:t>nondiscoverable</a:t>
            </a: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 OON and cash payments</a:t>
            </a:r>
          </a:p>
        </p:txBody>
      </p:sp>
      <p:sp>
        <p:nvSpPr>
          <p:cNvPr id="58" name="Subtitle 2">
            <a:extLst>
              <a:ext uri="{FF2B5EF4-FFF2-40B4-BE49-F238E27FC236}">
                <a16:creationId xmlns:a16="http://schemas.microsoft.com/office/drawing/2014/main" id="{4015864D-6736-4547-B197-56DAF1EFED94}"/>
              </a:ext>
            </a:extLst>
          </p:cNvPr>
          <p:cNvSpPr txBox="1">
            <a:spLocks/>
          </p:cNvSpPr>
          <p:nvPr/>
        </p:nvSpPr>
        <p:spPr>
          <a:xfrm>
            <a:off x="9220384" y="1159257"/>
            <a:ext cx="1044337" cy="313932"/>
          </a:xfrm>
          <a:prstGeom prst="rect">
            <a:avLst/>
          </a:prstGeom>
        </p:spPr>
        <p:txBody>
          <a:bodyPr vert="horz" wrap="square" lIns="16943" tIns="0" rIns="16943"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Connecting care – proactive </a:t>
            </a:r>
          </a:p>
        </p:txBody>
      </p:sp>
      <p:sp>
        <p:nvSpPr>
          <p:cNvPr id="60" name="Subtitle 2">
            <a:extLst>
              <a:ext uri="{FF2B5EF4-FFF2-40B4-BE49-F238E27FC236}">
                <a16:creationId xmlns:a16="http://schemas.microsoft.com/office/drawing/2014/main" id="{BC1DBDFB-9A7E-4CFD-8B46-174E2E0DA06D}"/>
              </a:ext>
            </a:extLst>
          </p:cNvPr>
          <p:cNvSpPr txBox="1">
            <a:spLocks/>
          </p:cNvSpPr>
          <p:nvPr/>
        </p:nvSpPr>
        <p:spPr>
          <a:xfrm>
            <a:off x="826484" y="1157069"/>
            <a:ext cx="2618064" cy="156966"/>
          </a:xfrm>
          <a:prstGeom prst="rect">
            <a:avLst/>
          </a:prstGeom>
        </p:spPr>
        <p:txBody>
          <a:bodyPr vert="horz" wrap="square" lIns="16943" tIns="0" rIns="16943" bIns="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rgbClr val="FF0000"/>
                </a:solidFill>
                <a:latin typeface="Arial" panose="020B0604020202020204" pitchFamily="34" charset="0"/>
                <a:ea typeface="Lato Light" panose="020F0502020204030203" pitchFamily="34" charset="0"/>
                <a:cs typeface="Arial" panose="020B0604020202020204" pitchFamily="34" charset="0"/>
              </a:rPr>
              <a:t>Change to people/pts/clinicians</a:t>
            </a:r>
          </a:p>
        </p:txBody>
      </p:sp>
      <p:sp>
        <p:nvSpPr>
          <p:cNvPr id="12" name="Rectangle 11"/>
          <p:cNvSpPr/>
          <p:nvPr/>
        </p:nvSpPr>
        <p:spPr>
          <a:xfrm>
            <a:off x="2415397" y="4444800"/>
            <a:ext cx="640833" cy="46894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26" b="1" dirty="0">
                <a:solidFill>
                  <a:schemeClr val="tx1"/>
                </a:solidFill>
              </a:rPr>
              <a:t>Connect to stigma</a:t>
            </a:r>
          </a:p>
        </p:txBody>
      </p:sp>
      <p:cxnSp>
        <p:nvCxnSpPr>
          <p:cNvPr id="16" name="Elbow Connector 15"/>
          <p:cNvCxnSpPr>
            <a:stCxn id="116" idx="2"/>
            <a:endCxn id="151" idx="1"/>
          </p:cNvCxnSpPr>
          <p:nvPr/>
        </p:nvCxnSpPr>
        <p:spPr>
          <a:xfrm rot="5400000" flipH="1" flipV="1">
            <a:off x="1884298" y="4525445"/>
            <a:ext cx="508299" cy="2047881"/>
          </a:xfrm>
          <a:prstGeom prst="bentConnector4">
            <a:avLst>
              <a:gd name="adj1" fmla="val -41667"/>
              <a:gd name="adj2" fmla="val 63176"/>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7" name="Elbow Connector 76"/>
          <p:cNvCxnSpPr>
            <a:stCxn id="126" idx="1"/>
          </p:cNvCxnSpPr>
          <p:nvPr/>
        </p:nvCxnSpPr>
        <p:spPr>
          <a:xfrm rot="10800000" flipH="1" flipV="1">
            <a:off x="6871223" y="4123559"/>
            <a:ext cx="3089624" cy="1197398"/>
          </a:xfrm>
          <a:prstGeom prst="bentConnector3">
            <a:avLst>
              <a:gd name="adj1" fmla="val -6855"/>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21"/>
          <p:cNvCxnSpPr>
            <a:stCxn id="126" idx="2"/>
            <a:endCxn id="133" idx="0"/>
          </p:cNvCxnSpPr>
          <p:nvPr/>
        </p:nvCxnSpPr>
        <p:spPr>
          <a:xfrm rot="16200000" flipH="1">
            <a:off x="7373661" y="4669059"/>
            <a:ext cx="1338416" cy="1264014"/>
          </a:xfrm>
          <a:prstGeom prst="bentConnector3">
            <a:avLst>
              <a:gd name="adj1" fmla="val 35934"/>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7191550" y="4629144"/>
            <a:ext cx="0" cy="1338900"/>
          </a:xfrm>
          <a:prstGeom prst="straightConnector1">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p:nvPr/>
        </p:nvCxnSpPr>
        <p:spPr>
          <a:xfrm>
            <a:off x="8900455" y="4637172"/>
            <a:ext cx="0" cy="1338900"/>
          </a:xfrm>
          <a:prstGeom prst="straightConnector1">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9" name="Elbow Connector 88"/>
          <p:cNvCxnSpPr>
            <a:stCxn id="132" idx="3"/>
            <a:endCxn id="134" idx="1"/>
          </p:cNvCxnSpPr>
          <p:nvPr/>
        </p:nvCxnSpPr>
        <p:spPr>
          <a:xfrm>
            <a:off x="9184013" y="4123558"/>
            <a:ext cx="722616" cy="2355015"/>
          </a:xfrm>
          <a:prstGeom prst="bentConnector3">
            <a:avLst>
              <a:gd name="adj1" fmla="val 50000"/>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32" idx="1"/>
            <a:endCxn id="126" idx="3"/>
          </p:cNvCxnSpPr>
          <p:nvPr/>
        </p:nvCxnSpPr>
        <p:spPr>
          <a:xfrm flipH="1">
            <a:off x="7950503" y="4123558"/>
            <a:ext cx="15423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Elbow Connector 93"/>
          <p:cNvCxnSpPr>
            <a:stCxn id="56" idx="0"/>
            <a:endCxn id="123" idx="2"/>
          </p:cNvCxnSpPr>
          <p:nvPr/>
        </p:nvCxnSpPr>
        <p:spPr>
          <a:xfrm rot="5400000" flipH="1" flipV="1">
            <a:off x="8883482" y="3170413"/>
            <a:ext cx="1365094" cy="4282554"/>
          </a:xfrm>
          <a:prstGeom prst="bentConnector3">
            <a:avLst>
              <a:gd name="adj1" fmla="val 50000"/>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Rectangle 100"/>
          <p:cNvSpPr/>
          <p:nvPr/>
        </p:nvSpPr>
        <p:spPr>
          <a:xfrm>
            <a:off x="11510685" y="3051785"/>
            <a:ext cx="736857" cy="46894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41" b="1" dirty="0">
                <a:solidFill>
                  <a:schemeClr val="tx1"/>
                </a:solidFill>
              </a:rPr>
              <a:t>Connect to Ash/Jason</a:t>
            </a:r>
          </a:p>
        </p:txBody>
      </p:sp>
      <p:cxnSp>
        <p:nvCxnSpPr>
          <p:cNvPr id="102" name="Elbow Connector 101"/>
          <p:cNvCxnSpPr>
            <a:stCxn id="126" idx="0"/>
          </p:cNvCxnSpPr>
          <p:nvPr/>
        </p:nvCxnSpPr>
        <p:spPr>
          <a:xfrm rot="16200000" flipH="1">
            <a:off x="8515188" y="2510933"/>
            <a:ext cx="314643" cy="2523295"/>
          </a:xfrm>
          <a:prstGeom prst="bentConnector4">
            <a:avLst>
              <a:gd name="adj1" fmla="val -16027"/>
              <a:gd name="adj2" fmla="val 83608"/>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p:nvPr/>
        </p:nvCxnSpPr>
        <p:spPr>
          <a:xfrm>
            <a:off x="11960531" y="4625785"/>
            <a:ext cx="0" cy="1338900"/>
          </a:xfrm>
          <a:prstGeom prst="straightConnector1">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12" name="Rectangle 111"/>
          <p:cNvSpPr/>
          <p:nvPr/>
        </p:nvSpPr>
        <p:spPr>
          <a:xfrm>
            <a:off x="4748063" y="5753044"/>
            <a:ext cx="640833" cy="468948"/>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26" b="1" dirty="0">
                <a:solidFill>
                  <a:schemeClr val="tx1"/>
                </a:solidFill>
              </a:rPr>
              <a:t>Connect to SDOH</a:t>
            </a:r>
          </a:p>
        </p:txBody>
      </p:sp>
      <p:cxnSp>
        <p:nvCxnSpPr>
          <p:cNvPr id="118" name="Straight Connector 117"/>
          <p:cNvCxnSpPr/>
          <p:nvPr/>
        </p:nvCxnSpPr>
        <p:spPr>
          <a:xfrm>
            <a:off x="3056229" y="3553958"/>
            <a:ext cx="0" cy="225989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a:xfrm>
            <a:off x="6695710" y="3553957"/>
            <a:ext cx="0" cy="34733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a:off x="9409087" y="3549325"/>
            <a:ext cx="0" cy="34733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Arrow Connector 120"/>
          <p:cNvCxnSpPr>
            <a:endCxn id="176" idx="0"/>
          </p:cNvCxnSpPr>
          <p:nvPr/>
        </p:nvCxnSpPr>
        <p:spPr>
          <a:xfrm>
            <a:off x="10432196" y="5753044"/>
            <a:ext cx="31545" cy="252324"/>
          </a:xfrm>
          <a:prstGeom prst="straightConnector1">
            <a:avLst/>
          </a:prstGeom>
          <a:ln>
            <a:prstDash val="dash"/>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79011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Скругленный прямоугольник 11">
            <a:extLst>
              <a:ext uri="{FF2B5EF4-FFF2-40B4-BE49-F238E27FC236}">
                <a16:creationId xmlns:a16="http://schemas.microsoft.com/office/drawing/2014/main" id="{6D4ED8D2-B85B-6440-ADA5-E55C9A6E7547}"/>
              </a:ext>
            </a:extLst>
          </p:cNvPr>
          <p:cNvSpPr/>
          <p:nvPr/>
        </p:nvSpPr>
        <p:spPr bwMode="auto">
          <a:xfrm>
            <a:off x="4014283" y="1630904"/>
            <a:ext cx="3767986" cy="696480"/>
          </a:xfrm>
          <a:prstGeom prst="roundRect">
            <a:avLst>
              <a:gd name="adj" fmla="val 5329"/>
            </a:avLst>
          </a:prstGeom>
          <a:solidFill>
            <a:schemeClr val="accent1"/>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8" name="Скругленный прямоугольник 7">
            <a:extLst>
              <a:ext uri="{FF2B5EF4-FFF2-40B4-BE49-F238E27FC236}">
                <a16:creationId xmlns:a16="http://schemas.microsoft.com/office/drawing/2014/main" id="{4F178C1C-13B0-4E42-B36B-605AC91A406C}"/>
              </a:ext>
            </a:extLst>
          </p:cNvPr>
          <p:cNvSpPr/>
          <p:nvPr/>
        </p:nvSpPr>
        <p:spPr bwMode="auto">
          <a:xfrm>
            <a:off x="6261777" y="2714495"/>
            <a:ext cx="1508218" cy="423465"/>
          </a:xfrm>
          <a:prstGeom prst="roundRect">
            <a:avLst>
              <a:gd name="adj" fmla="val 5329"/>
            </a:avLst>
          </a:prstGeom>
          <a:solidFill>
            <a:schemeClr val="accent1">
              <a:lumMod val="75000"/>
              <a:lumOff val="25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1" name="Скругленный прямоугольник 12">
            <a:extLst>
              <a:ext uri="{FF2B5EF4-FFF2-40B4-BE49-F238E27FC236}">
                <a16:creationId xmlns:a16="http://schemas.microsoft.com/office/drawing/2014/main" id="{2F8D9C5A-394C-4D4C-8753-180DD6BE1EC1}"/>
              </a:ext>
            </a:extLst>
          </p:cNvPr>
          <p:cNvSpPr/>
          <p:nvPr/>
        </p:nvSpPr>
        <p:spPr bwMode="auto">
          <a:xfrm>
            <a:off x="1809350" y="2699319"/>
            <a:ext cx="1358978" cy="423465"/>
          </a:xfrm>
          <a:prstGeom prst="roundRect">
            <a:avLst>
              <a:gd name="adj" fmla="val 5329"/>
            </a:avLst>
          </a:prstGeom>
          <a:solidFill>
            <a:schemeClr val="accent1">
              <a:lumMod val="75000"/>
              <a:lumOff val="25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4" name="Скругленный прямоугольник 16">
            <a:extLst>
              <a:ext uri="{FF2B5EF4-FFF2-40B4-BE49-F238E27FC236}">
                <a16:creationId xmlns:a16="http://schemas.microsoft.com/office/drawing/2014/main" id="{1365C2A3-A805-F644-A880-05726AE7537F}"/>
              </a:ext>
            </a:extLst>
          </p:cNvPr>
          <p:cNvSpPr/>
          <p:nvPr/>
        </p:nvSpPr>
        <p:spPr bwMode="auto">
          <a:xfrm>
            <a:off x="9236554" y="2699320"/>
            <a:ext cx="1632142" cy="423465"/>
          </a:xfrm>
          <a:prstGeom prst="roundRect">
            <a:avLst>
              <a:gd name="adj" fmla="val 5329"/>
            </a:avLst>
          </a:prstGeom>
          <a:solidFill>
            <a:schemeClr val="accent1">
              <a:lumMod val="75000"/>
              <a:lumOff val="25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cxnSp>
        <p:nvCxnSpPr>
          <p:cNvPr id="17" name="Соединительная линия уступом 25">
            <a:extLst>
              <a:ext uri="{FF2B5EF4-FFF2-40B4-BE49-F238E27FC236}">
                <a16:creationId xmlns:a16="http://schemas.microsoft.com/office/drawing/2014/main" id="{95FEE179-CF9B-7545-B726-794C8847B32A}"/>
              </a:ext>
            </a:extLst>
          </p:cNvPr>
          <p:cNvCxnSpPr>
            <a:cxnSpLocks/>
            <a:stCxn id="5" idx="2"/>
            <a:endCxn id="14" idx="0"/>
          </p:cNvCxnSpPr>
          <p:nvPr/>
        </p:nvCxnSpPr>
        <p:spPr bwMode="auto">
          <a:xfrm rot="16200000" flipH="1">
            <a:off x="7789484" y="436177"/>
            <a:ext cx="371936" cy="4154348"/>
          </a:xfrm>
          <a:prstGeom prst="bentConnector3">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8" name="Соединительная линия уступом 27">
            <a:extLst>
              <a:ext uri="{FF2B5EF4-FFF2-40B4-BE49-F238E27FC236}">
                <a16:creationId xmlns:a16="http://schemas.microsoft.com/office/drawing/2014/main" id="{56F0D251-F772-6546-B888-4E963921C609}"/>
              </a:ext>
            </a:extLst>
          </p:cNvPr>
          <p:cNvCxnSpPr>
            <a:cxnSpLocks/>
            <a:stCxn id="5" idx="2"/>
            <a:endCxn id="8" idx="0"/>
          </p:cNvCxnSpPr>
          <p:nvPr/>
        </p:nvCxnSpPr>
        <p:spPr bwMode="auto">
          <a:xfrm rot="16200000" flipH="1">
            <a:off x="6263527" y="1962136"/>
            <a:ext cx="387111" cy="1117608"/>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9" name="Соединительная линия уступом 30">
            <a:extLst>
              <a:ext uri="{FF2B5EF4-FFF2-40B4-BE49-F238E27FC236}">
                <a16:creationId xmlns:a16="http://schemas.microsoft.com/office/drawing/2014/main" id="{9A944230-0A90-8844-873A-6BEE48A694F6}"/>
              </a:ext>
            </a:extLst>
          </p:cNvPr>
          <p:cNvCxnSpPr>
            <a:cxnSpLocks/>
            <a:stCxn id="5" idx="2"/>
            <a:endCxn id="78" idx="0"/>
          </p:cNvCxnSpPr>
          <p:nvPr/>
        </p:nvCxnSpPr>
        <p:spPr bwMode="auto">
          <a:xfrm rot="5400000">
            <a:off x="4002615" y="823357"/>
            <a:ext cx="391635" cy="3399688"/>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23" name="Скругленный прямоугольник 72">
            <a:extLst>
              <a:ext uri="{FF2B5EF4-FFF2-40B4-BE49-F238E27FC236}">
                <a16:creationId xmlns:a16="http://schemas.microsoft.com/office/drawing/2014/main" id="{26BDD212-7D19-E643-870C-D3C4D6B53526}"/>
              </a:ext>
            </a:extLst>
          </p:cNvPr>
          <p:cNvSpPr>
            <a:spLocks/>
          </p:cNvSpPr>
          <p:nvPr/>
        </p:nvSpPr>
        <p:spPr bwMode="auto">
          <a:xfrm>
            <a:off x="1954260" y="3463021"/>
            <a:ext cx="106915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29" name="Скругленный прямоугольник 80">
            <a:extLst>
              <a:ext uri="{FF2B5EF4-FFF2-40B4-BE49-F238E27FC236}">
                <a16:creationId xmlns:a16="http://schemas.microsoft.com/office/drawing/2014/main" id="{645E27A1-C2FB-DD4B-B126-34D135B5C50E}"/>
              </a:ext>
            </a:extLst>
          </p:cNvPr>
          <p:cNvSpPr>
            <a:spLocks/>
          </p:cNvSpPr>
          <p:nvPr/>
        </p:nvSpPr>
        <p:spPr bwMode="auto">
          <a:xfrm>
            <a:off x="3288603" y="3454787"/>
            <a:ext cx="975688"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32" name="Скругленный прямоугольник 84">
            <a:extLst>
              <a:ext uri="{FF2B5EF4-FFF2-40B4-BE49-F238E27FC236}">
                <a16:creationId xmlns:a16="http://schemas.microsoft.com/office/drawing/2014/main" id="{0594F8BE-B3AF-C84B-8492-8A2D86CFE89C}"/>
              </a:ext>
            </a:extLst>
          </p:cNvPr>
          <p:cNvSpPr>
            <a:spLocks/>
          </p:cNvSpPr>
          <p:nvPr/>
        </p:nvSpPr>
        <p:spPr bwMode="auto">
          <a:xfrm>
            <a:off x="9499205" y="3451344"/>
            <a:ext cx="933554"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35" name="Скругленный прямоугольник 88">
            <a:extLst>
              <a:ext uri="{FF2B5EF4-FFF2-40B4-BE49-F238E27FC236}">
                <a16:creationId xmlns:a16="http://schemas.microsoft.com/office/drawing/2014/main" id="{EBDE1CE4-6D4D-A548-B0DE-F17D28164F55}"/>
              </a:ext>
            </a:extLst>
          </p:cNvPr>
          <p:cNvSpPr>
            <a:spLocks/>
          </p:cNvSpPr>
          <p:nvPr/>
        </p:nvSpPr>
        <p:spPr bwMode="auto">
          <a:xfrm>
            <a:off x="10480014" y="3451344"/>
            <a:ext cx="956092"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cxnSp>
        <p:nvCxnSpPr>
          <p:cNvPr id="41" name="Соединительная линия уступом 34">
            <a:extLst>
              <a:ext uri="{FF2B5EF4-FFF2-40B4-BE49-F238E27FC236}">
                <a16:creationId xmlns:a16="http://schemas.microsoft.com/office/drawing/2014/main" id="{8A567054-5A1D-FD4B-BD23-D23EFC96BA80}"/>
              </a:ext>
            </a:extLst>
          </p:cNvPr>
          <p:cNvCxnSpPr>
            <a:cxnSpLocks/>
            <a:stCxn id="11" idx="2"/>
            <a:endCxn id="29" idx="0"/>
          </p:cNvCxnSpPr>
          <p:nvPr/>
        </p:nvCxnSpPr>
        <p:spPr bwMode="auto">
          <a:xfrm rot="16200000" flipH="1">
            <a:off x="2966641" y="2644982"/>
            <a:ext cx="332003" cy="1287608"/>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42" name="Соединительная линия уступом 36">
            <a:extLst>
              <a:ext uri="{FF2B5EF4-FFF2-40B4-BE49-F238E27FC236}">
                <a16:creationId xmlns:a16="http://schemas.microsoft.com/office/drawing/2014/main" id="{010113D0-801D-4E4A-A914-AC04A84C1C38}"/>
              </a:ext>
            </a:extLst>
          </p:cNvPr>
          <p:cNvCxnSpPr>
            <a:cxnSpLocks/>
            <a:stCxn id="14" idx="2"/>
            <a:endCxn id="32" idx="0"/>
          </p:cNvCxnSpPr>
          <p:nvPr/>
        </p:nvCxnSpPr>
        <p:spPr bwMode="auto">
          <a:xfrm rot="5400000">
            <a:off x="9845023" y="3243742"/>
            <a:ext cx="328558" cy="86644"/>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43" name="Соединительная линия уступом 91">
            <a:extLst>
              <a:ext uri="{FF2B5EF4-FFF2-40B4-BE49-F238E27FC236}">
                <a16:creationId xmlns:a16="http://schemas.microsoft.com/office/drawing/2014/main" id="{9961B9D7-BC69-9449-A462-326C8CE436CF}"/>
              </a:ext>
            </a:extLst>
          </p:cNvPr>
          <p:cNvCxnSpPr>
            <a:cxnSpLocks/>
            <a:stCxn id="14" idx="2"/>
            <a:endCxn id="35" idx="0"/>
          </p:cNvCxnSpPr>
          <p:nvPr/>
        </p:nvCxnSpPr>
        <p:spPr bwMode="auto">
          <a:xfrm rot="16200000" flipH="1">
            <a:off x="10341063" y="2834346"/>
            <a:ext cx="328558" cy="905436"/>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74" name="Subtitle 2">
            <a:extLst>
              <a:ext uri="{FF2B5EF4-FFF2-40B4-BE49-F238E27FC236}">
                <a16:creationId xmlns:a16="http://schemas.microsoft.com/office/drawing/2014/main" id="{8C979760-C4B7-B541-8C3C-4C5F3E929482}"/>
              </a:ext>
            </a:extLst>
          </p:cNvPr>
          <p:cNvSpPr txBox="1">
            <a:spLocks/>
          </p:cNvSpPr>
          <p:nvPr/>
        </p:nvSpPr>
        <p:spPr>
          <a:xfrm>
            <a:off x="4052000" y="1698983"/>
            <a:ext cx="3660791" cy="515819"/>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1020" dirty="0">
                <a:solidFill>
                  <a:schemeClr val="bg1"/>
                </a:solidFill>
                <a:latin typeface="Arial" panose="020B0604020202020204" pitchFamily="34" charset="0"/>
                <a:ea typeface="Lato Light" panose="020F0502020204030203" pitchFamily="34" charset="0"/>
                <a:cs typeface="Arial" panose="020B0604020202020204" pitchFamily="34" charset="0"/>
              </a:rPr>
              <a:t>BH prevention is difficult when there is no clear method of engagement, detection and communication when someone is healthy</a:t>
            </a:r>
          </a:p>
        </p:txBody>
      </p:sp>
      <p:sp>
        <p:nvSpPr>
          <p:cNvPr id="78" name="Subtitle 2">
            <a:extLst>
              <a:ext uri="{FF2B5EF4-FFF2-40B4-BE49-F238E27FC236}">
                <a16:creationId xmlns:a16="http://schemas.microsoft.com/office/drawing/2014/main" id="{661D7864-BE8A-9E40-AAB1-CFF57EBF5715}"/>
              </a:ext>
            </a:extLst>
          </p:cNvPr>
          <p:cNvSpPr txBox="1">
            <a:spLocks/>
          </p:cNvSpPr>
          <p:nvPr/>
        </p:nvSpPr>
        <p:spPr>
          <a:xfrm>
            <a:off x="1859572" y="2719019"/>
            <a:ext cx="1278032" cy="359237"/>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81" dirty="0">
                <a:solidFill>
                  <a:schemeClr val="bg1"/>
                </a:solidFill>
                <a:latin typeface="Arial" panose="020B0604020202020204" pitchFamily="34" charset="0"/>
                <a:ea typeface="Lato Light" panose="020F0502020204030203" pitchFamily="34" charset="0"/>
                <a:cs typeface="Arial" panose="020B0604020202020204" pitchFamily="34" charset="0"/>
              </a:rPr>
              <a:t>Healthcare systems can’t recognize and catch people before a onset</a:t>
            </a:r>
          </a:p>
        </p:txBody>
      </p:sp>
      <p:sp>
        <p:nvSpPr>
          <p:cNvPr id="90" name="Subtitle 2">
            <a:extLst>
              <a:ext uri="{FF2B5EF4-FFF2-40B4-BE49-F238E27FC236}">
                <a16:creationId xmlns:a16="http://schemas.microsoft.com/office/drawing/2014/main" id="{52FA099A-FD0F-094C-AC92-B54180A8B276}"/>
              </a:ext>
            </a:extLst>
          </p:cNvPr>
          <p:cNvSpPr txBox="1">
            <a:spLocks/>
          </p:cNvSpPr>
          <p:nvPr/>
        </p:nvSpPr>
        <p:spPr>
          <a:xfrm>
            <a:off x="6297816" y="2778565"/>
            <a:ext cx="1436139" cy="254465"/>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81" dirty="0">
                <a:solidFill>
                  <a:schemeClr val="bg1"/>
                </a:solidFill>
                <a:latin typeface="Arial" panose="020B0604020202020204" pitchFamily="34" charset="0"/>
                <a:ea typeface="Lato Light" panose="020F0502020204030203" pitchFamily="34" charset="0"/>
                <a:cs typeface="Arial" panose="020B0604020202020204" pitchFamily="34" charset="0"/>
              </a:rPr>
              <a:t>Lack of engagement and outreach to healthy and at-risk populations</a:t>
            </a:r>
          </a:p>
        </p:txBody>
      </p:sp>
      <p:sp>
        <p:nvSpPr>
          <p:cNvPr id="93" name="Subtitle 2">
            <a:extLst>
              <a:ext uri="{FF2B5EF4-FFF2-40B4-BE49-F238E27FC236}">
                <a16:creationId xmlns:a16="http://schemas.microsoft.com/office/drawing/2014/main" id="{DD733BBC-A258-1B4E-92A8-2961DB283588}"/>
              </a:ext>
            </a:extLst>
          </p:cNvPr>
          <p:cNvSpPr txBox="1">
            <a:spLocks/>
          </p:cNvSpPr>
          <p:nvPr/>
        </p:nvSpPr>
        <p:spPr>
          <a:xfrm>
            <a:off x="9286239" y="2743427"/>
            <a:ext cx="1582456" cy="254465"/>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81" dirty="0">
                <a:solidFill>
                  <a:schemeClr val="bg1"/>
                </a:solidFill>
                <a:latin typeface="Arial" panose="020B0604020202020204" pitchFamily="34" charset="0"/>
                <a:ea typeface="Lato Light" panose="020F0502020204030203" pitchFamily="34" charset="0"/>
                <a:cs typeface="Arial" panose="020B0604020202020204" pitchFamily="34" charset="0"/>
              </a:rPr>
              <a:t>BH is complex and not well understood or communicated</a:t>
            </a:r>
          </a:p>
        </p:txBody>
      </p:sp>
      <p:sp>
        <p:nvSpPr>
          <p:cNvPr id="96" name="Subtitle 2">
            <a:extLst>
              <a:ext uri="{FF2B5EF4-FFF2-40B4-BE49-F238E27FC236}">
                <a16:creationId xmlns:a16="http://schemas.microsoft.com/office/drawing/2014/main" id="{D26846BB-0938-324F-B54F-5B8852EFD1FA}"/>
              </a:ext>
            </a:extLst>
          </p:cNvPr>
          <p:cNvSpPr txBox="1">
            <a:spLocks/>
          </p:cNvSpPr>
          <p:nvPr/>
        </p:nvSpPr>
        <p:spPr>
          <a:xfrm>
            <a:off x="10481981" y="3464470"/>
            <a:ext cx="954126" cy="444517"/>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49" dirty="0">
                <a:solidFill>
                  <a:srgbClr val="FFFFFF"/>
                </a:solidFill>
                <a:latin typeface="Arial" panose="020B0604020202020204" pitchFamily="34" charset="0"/>
                <a:ea typeface="Lato Light" panose="020F0502020204030203" pitchFamily="34" charset="0"/>
                <a:cs typeface="Arial" panose="020B0604020202020204" pitchFamily="34" charset="0"/>
              </a:rPr>
              <a:t>The stigma around BH prevents further understanding and discussions</a:t>
            </a:r>
            <a:endParaRPr lang="en-US" sz="555" dirty="0">
              <a:solidFill>
                <a:schemeClr val="bg1"/>
              </a:solidFill>
              <a:latin typeface="Arial" panose="020B0604020202020204" pitchFamily="34" charset="0"/>
              <a:ea typeface="Lato Light" panose="020F0502020204030203" pitchFamily="34" charset="0"/>
              <a:cs typeface="Arial" panose="020B0604020202020204" pitchFamily="34" charset="0"/>
            </a:endParaRPr>
          </a:p>
        </p:txBody>
      </p:sp>
      <p:sp>
        <p:nvSpPr>
          <p:cNvPr id="102" name="Subtitle 2">
            <a:extLst>
              <a:ext uri="{FF2B5EF4-FFF2-40B4-BE49-F238E27FC236}">
                <a16:creationId xmlns:a16="http://schemas.microsoft.com/office/drawing/2014/main" id="{F4A1A281-5C8D-F44A-89AD-7B4073A0F4F0}"/>
              </a:ext>
            </a:extLst>
          </p:cNvPr>
          <p:cNvSpPr txBox="1">
            <a:spLocks/>
          </p:cNvSpPr>
          <p:nvPr/>
        </p:nvSpPr>
        <p:spPr>
          <a:xfrm>
            <a:off x="1968069" y="3482914"/>
            <a:ext cx="1069156" cy="54441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49" dirty="0">
                <a:solidFill>
                  <a:schemeClr val="bg1"/>
                </a:solidFill>
                <a:latin typeface="Arial" panose="020B0604020202020204" pitchFamily="34" charset="0"/>
                <a:ea typeface="Lato Light" panose="020F0502020204030203" pitchFamily="34" charset="0"/>
                <a:cs typeface="Arial" panose="020B0604020202020204" pitchFamily="34" charset="0"/>
              </a:rPr>
              <a:t>Lack of sufficient data and analytical/smart tools limits our ability to find at –risk individual or populations</a:t>
            </a:r>
          </a:p>
        </p:txBody>
      </p:sp>
      <p:sp>
        <p:nvSpPr>
          <p:cNvPr id="75" name="Скругленный прямоугольник 59">
            <a:extLst>
              <a:ext uri="{FF2B5EF4-FFF2-40B4-BE49-F238E27FC236}">
                <a16:creationId xmlns:a16="http://schemas.microsoft.com/office/drawing/2014/main" id="{920717B6-DDA2-3C43-BA52-72827FD01722}"/>
              </a:ext>
            </a:extLst>
          </p:cNvPr>
          <p:cNvSpPr>
            <a:spLocks/>
          </p:cNvSpPr>
          <p:nvPr/>
        </p:nvSpPr>
        <p:spPr bwMode="auto">
          <a:xfrm>
            <a:off x="5782354" y="3463021"/>
            <a:ext cx="1191308"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cxnSp>
        <p:nvCxnSpPr>
          <p:cNvPr id="76" name="Соединительная линия уступом 29">
            <a:extLst>
              <a:ext uri="{FF2B5EF4-FFF2-40B4-BE49-F238E27FC236}">
                <a16:creationId xmlns:a16="http://schemas.microsoft.com/office/drawing/2014/main" id="{2BD89E4F-6DAA-1E43-BA46-A5FD6E7A02D8}"/>
              </a:ext>
            </a:extLst>
          </p:cNvPr>
          <p:cNvCxnSpPr>
            <a:cxnSpLocks/>
            <a:stCxn id="8" idx="2"/>
            <a:endCxn id="75" idx="0"/>
          </p:cNvCxnSpPr>
          <p:nvPr/>
        </p:nvCxnSpPr>
        <p:spPr bwMode="auto">
          <a:xfrm rot="5400000">
            <a:off x="6534418" y="2981550"/>
            <a:ext cx="325060" cy="637879"/>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79" name="Subtitle 2">
            <a:extLst>
              <a:ext uri="{FF2B5EF4-FFF2-40B4-BE49-F238E27FC236}">
                <a16:creationId xmlns:a16="http://schemas.microsoft.com/office/drawing/2014/main" id="{CFDB561B-C247-D24B-88AD-4424530E9805}"/>
              </a:ext>
            </a:extLst>
          </p:cNvPr>
          <p:cNvSpPr txBox="1">
            <a:spLocks/>
          </p:cNvSpPr>
          <p:nvPr/>
        </p:nvSpPr>
        <p:spPr>
          <a:xfrm>
            <a:off x="5805588" y="3507128"/>
            <a:ext cx="1153093" cy="244719"/>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49" dirty="0">
                <a:solidFill>
                  <a:schemeClr val="bg1"/>
                </a:solidFill>
                <a:latin typeface="Arial" panose="020B0604020202020204" pitchFamily="34" charset="0"/>
                <a:ea typeface="Lato Light" panose="020F0502020204030203" pitchFamily="34" charset="0"/>
                <a:cs typeface="Arial" panose="020B0604020202020204" pitchFamily="34" charset="0"/>
              </a:rPr>
              <a:t>Lack of BH engagement with children and teenagers</a:t>
            </a:r>
          </a:p>
        </p:txBody>
      </p:sp>
      <p:sp>
        <p:nvSpPr>
          <p:cNvPr id="60" name="Скругленный прямоугольник 84">
            <a:extLst>
              <a:ext uri="{FF2B5EF4-FFF2-40B4-BE49-F238E27FC236}">
                <a16:creationId xmlns:a16="http://schemas.microsoft.com/office/drawing/2014/main" id="{0594F8BE-B3AF-C84B-8492-8A2D86CFE89C}"/>
              </a:ext>
            </a:extLst>
          </p:cNvPr>
          <p:cNvSpPr>
            <a:spLocks/>
          </p:cNvSpPr>
          <p:nvPr/>
        </p:nvSpPr>
        <p:spPr bwMode="auto">
          <a:xfrm>
            <a:off x="5799173" y="4304435"/>
            <a:ext cx="1176698"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65" name="Subtitle 2">
            <a:extLst>
              <a:ext uri="{FF2B5EF4-FFF2-40B4-BE49-F238E27FC236}">
                <a16:creationId xmlns:a16="http://schemas.microsoft.com/office/drawing/2014/main" id="{791E6E07-594D-EA46-A45D-CDC3DB2CDA38}"/>
              </a:ext>
            </a:extLst>
          </p:cNvPr>
          <p:cNvSpPr txBox="1">
            <a:spLocks/>
          </p:cNvSpPr>
          <p:nvPr/>
        </p:nvSpPr>
        <p:spPr>
          <a:xfrm>
            <a:off x="5795495" y="4327992"/>
            <a:ext cx="1165021" cy="444517"/>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49" dirty="0">
                <a:solidFill>
                  <a:schemeClr val="bg1"/>
                </a:solidFill>
                <a:latin typeface="Arial" panose="020B0604020202020204" pitchFamily="34" charset="0"/>
                <a:ea typeface="Lato Light" panose="020F0502020204030203" pitchFamily="34" charset="0"/>
                <a:cs typeface="Arial" panose="020B0604020202020204" pitchFamily="34" charset="0"/>
              </a:rPr>
              <a:t>Schools lack funding and clinical resources to properly help children in BH prevention</a:t>
            </a:r>
          </a:p>
        </p:txBody>
      </p:sp>
      <p:sp>
        <p:nvSpPr>
          <p:cNvPr id="68" name="Скругленный прямоугольник 59">
            <a:extLst>
              <a:ext uri="{FF2B5EF4-FFF2-40B4-BE49-F238E27FC236}">
                <a16:creationId xmlns:a16="http://schemas.microsoft.com/office/drawing/2014/main" id="{920717B6-DDA2-3C43-BA52-72827FD01722}"/>
              </a:ext>
            </a:extLst>
          </p:cNvPr>
          <p:cNvSpPr>
            <a:spLocks/>
          </p:cNvSpPr>
          <p:nvPr/>
        </p:nvSpPr>
        <p:spPr bwMode="auto">
          <a:xfrm>
            <a:off x="4676461" y="3463021"/>
            <a:ext cx="105965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cxnSp>
        <p:nvCxnSpPr>
          <p:cNvPr id="69" name="Соединительная линия уступом 29">
            <a:extLst>
              <a:ext uri="{FF2B5EF4-FFF2-40B4-BE49-F238E27FC236}">
                <a16:creationId xmlns:a16="http://schemas.microsoft.com/office/drawing/2014/main" id="{2BD89E4F-6DAA-1E43-BA46-A5FD6E7A02D8}"/>
              </a:ext>
            </a:extLst>
          </p:cNvPr>
          <p:cNvCxnSpPr>
            <a:cxnSpLocks/>
            <a:endCxn id="68" idx="0"/>
          </p:cNvCxnSpPr>
          <p:nvPr/>
        </p:nvCxnSpPr>
        <p:spPr bwMode="auto">
          <a:xfrm rot="10800000" flipV="1">
            <a:off x="5206291" y="3296429"/>
            <a:ext cx="1171717" cy="166591"/>
          </a:xfrm>
          <a:prstGeom prst="bentConnector2">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70" name="Subtitle 2">
            <a:extLst>
              <a:ext uri="{FF2B5EF4-FFF2-40B4-BE49-F238E27FC236}">
                <a16:creationId xmlns:a16="http://schemas.microsoft.com/office/drawing/2014/main" id="{CFDB561B-C247-D24B-88AD-4424530E9805}"/>
              </a:ext>
            </a:extLst>
          </p:cNvPr>
          <p:cNvSpPr txBox="1">
            <a:spLocks/>
          </p:cNvSpPr>
          <p:nvPr/>
        </p:nvSpPr>
        <p:spPr>
          <a:xfrm>
            <a:off x="4676460" y="3480033"/>
            <a:ext cx="1035231" cy="444517"/>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49" dirty="0">
                <a:solidFill>
                  <a:schemeClr val="bg1"/>
                </a:solidFill>
                <a:latin typeface="Arial" panose="020B0604020202020204" pitchFamily="34" charset="0"/>
                <a:ea typeface="Lato Light" panose="020F0502020204030203" pitchFamily="34" charset="0"/>
                <a:cs typeface="Arial" panose="020B0604020202020204" pitchFamily="34" charset="0"/>
              </a:rPr>
              <a:t>Lack of community-based services and outreach to identify /support at risk populations</a:t>
            </a:r>
          </a:p>
        </p:txBody>
      </p:sp>
      <p:sp>
        <p:nvSpPr>
          <p:cNvPr id="71" name="Скругленный прямоугольник 80">
            <a:extLst>
              <a:ext uri="{FF2B5EF4-FFF2-40B4-BE49-F238E27FC236}">
                <a16:creationId xmlns:a16="http://schemas.microsoft.com/office/drawing/2014/main" id="{645E27A1-C2FB-DD4B-B126-34D135B5C50E}"/>
              </a:ext>
            </a:extLst>
          </p:cNvPr>
          <p:cNvSpPr>
            <a:spLocks/>
          </p:cNvSpPr>
          <p:nvPr/>
        </p:nvSpPr>
        <p:spPr bwMode="auto">
          <a:xfrm>
            <a:off x="3237680" y="4304103"/>
            <a:ext cx="1079208" cy="459912"/>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cxnSp>
        <p:nvCxnSpPr>
          <p:cNvPr id="72" name="Соединительная линия уступом 34">
            <a:extLst>
              <a:ext uri="{FF2B5EF4-FFF2-40B4-BE49-F238E27FC236}">
                <a16:creationId xmlns:a16="http://schemas.microsoft.com/office/drawing/2014/main" id="{8A567054-5A1D-FD4B-BD23-D23EFC96BA80}"/>
              </a:ext>
            </a:extLst>
          </p:cNvPr>
          <p:cNvCxnSpPr>
            <a:cxnSpLocks/>
            <a:stCxn id="29" idx="2"/>
            <a:endCxn id="71" idx="0"/>
          </p:cNvCxnSpPr>
          <p:nvPr/>
        </p:nvCxnSpPr>
        <p:spPr bwMode="auto">
          <a:xfrm rot="16200000" flipH="1">
            <a:off x="3608465" y="4135286"/>
            <a:ext cx="336798" cy="837"/>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77" name="Subtitle 2">
            <a:extLst>
              <a:ext uri="{FF2B5EF4-FFF2-40B4-BE49-F238E27FC236}">
                <a16:creationId xmlns:a16="http://schemas.microsoft.com/office/drawing/2014/main" id="{F4A1A281-5C8D-F44A-89AD-7B4073A0F4F0}"/>
              </a:ext>
            </a:extLst>
          </p:cNvPr>
          <p:cNvSpPr txBox="1">
            <a:spLocks/>
          </p:cNvSpPr>
          <p:nvPr/>
        </p:nvSpPr>
        <p:spPr>
          <a:xfrm>
            <a:off x="3258799" y="4334443"/>
            <a:ext cx="1055933" cy="344618"/>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49" dirty="0">
                <a:solidFill>
                  <a:schemeClr val="bg1"/>
                </a:solidFill>
                <a:latin typeface="Arial" panose="020B0604020202020204" pitchFamily="34" charset="0"/>
                <a:ea typeface="Lato Light" panose="020F0502020204030203" pitchFamily="34" charset="0"/>
                <a:cs typeface="Arial" panose="020B0604020202020204" pitchFamily="34" charset="0"/>
              </a:rPr>
              <a:t>Non-BH clinicians are not reimbursed to talk about BH preventative care</a:t>
            </a:r>
          </a:p>
        </p:txBody>
      </p:sp>
      <p:sp>
        <p:nvSpPr>
          <p:cNvPr id="115" name="Скругленный прямоугольник 59">
            <a:extLst>
              <a:ext uri="{FF2B5EF4-FFF2-40B4-BE49-F238E27FC236}">
                <a16:creationId xmlns:a16="http://schemas.microsoft.com/office/drawing/2014/main" id="{920717B6-DDA2-3C43-BA52-72827FD01722}"/>
              </a:ext>
            </a:extLst>
          </p:cNvPr>
          <p:cNvSpPr>
            <a:spLocks/>
          </p:cNvSpPr>
          <p:nvPr/>
        </p:nvSpPr>
        <p:spPr bwMode="auto">
          <a:xfrm>
            <a:off x="7722716" y="4266165"/>
            <a:ext cx="105965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16" name="Subtitle 2">
            <a:extLst>
              <a:ext uri="{FF2B5EF4-FFF2-40B4-BE49-F238E27FC236}">
                <a16:creationId xmlns:a16="http://schemas.microsoft.com/office/drawing/2014/main" id="{CFDB561B-C247-D24B-88AD-4424530E9805}"/>
              </a:ext>
            </a:extLst>
          </p:cNvPr>
          <p:cNvSpPr txBox="1">
            <a:spLocks/>
          </p:cNvSpPr>
          <p:nvPr/>
        </p:nvSpPr>
        <p:spPr>
          <a:xfrm>
            <a:off x="7737842" y="4289225"/>
            <a:ext cx="1059656" cy="444517"/>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49" dirty="0">
                <a:solidFill>
                  <a:schemeClr val="bg1"/>
                </a:solidFill>
                <a:latin typeface="Arial" panose="020B0604020202020204" pitchFamily="34" charset="0"/>
                <a:ea typeface="Lato Light" panose="020F0502020204030203" pitchFamily="34" charset="0"/>
                <a:cs typeface="Arial" panose="020B0604020202020204" pitchFamily="34" charset="0"/>
              </a:rPr>
              <a:t>Value of preventative resilience and mindfulness practices aren’t widely understood</a:t>
            </a:r>
          </a:p>
        </p:txBody>
      </p:sp>
      <p:cxnSp>
        <p:nvCxnSpPr>
          <p:cNvPr id="84" name="Соединительная линия уступом 34">
            <a:extLst>
              <a:ext uri="{FF2B5EF4-FFF2-40B4-BE49-F238E27FC236}">
                <a16:creationId xmlns:a16="http://schemas.microsoft.com/office/drawing/2014/main" id="{6EDBBE99-5EBE-1146-A55A-B12CF462D865}"/>
              </a:ext>
            </a:extLst>
          </p:cNvPr>
          <p:cNvCxnSpPr>
            <a:cxnSpLocks/>
            <a:stCxn id="11" idx="2"/>
            <a:endCxn id="23" idx="0"/>
          </p:cNvCxnSpPr>
          <p:nvPr/>
        </p:nvCxnSpPr>
        <p:spPr bwMode="auto">
          <a:xfrm rot="5400000">
            <a:off x="2318721" y="3292902"/>
            <a:ext cx="340236" cy="1"/>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85" name="Соединительная линия уступом 91">
            <a:extLst>
              <a:ext uri="{FF2B5EF4-FFF2-40B4-BE49-F238E27FC236}">
                <a16:creationId xmlns:a16="http://schemas.microsoft.com/office/drawing/2014/main" id="{928702B7-AEC4-E541-ABF8-6BA404B72D40}"/>
              </a:ext>
            </a:extLst>
          </p:cNvPr>
          <p:cNvCxnSpPr>
            <a:cxnSpLocks/>
            <a:endCxn id="132" idx="0"/>
          </p:cNvCxnSpPr>
          <p:nvPr/>
        </p:nvCxnSpPr>
        <p:spPr bwMode="auto">
          <a:xfrm rot="10800000" flipV="1">
            <a:off x="8830764" y="3284753"/>
            <a:ext cx="1135217" cy="186909"/>
          </a:xfrm>
          <a:prstGeom prst="bentConnector2">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91" name="Скругленный прямоугольник 84">
            <a:extLst>
              <a:ext uri="{FF2B5EF4-FFF2-40B4-BE49-F238E27FC236}">
                <a16:creationId xmlns:a16="http://schemas.microsoft.com/office/drawing/2014/main" id="{8917FA60-E242-3945-A8AE-B11F650356C5}"/>
              </a:ext>
            </a:extLst>
          </p:cNvPr>
          <p:cNvSpPr>
            <a:spLocks/>
          </p:cNvSpPr>
          <p:nvPr/>
        </p:nvSpPr>
        <p:spPr bwMode="auto">
          <a:xfrm>
            <a:off x="9978410" y="4277365"/>
            <a:ext cx="1055933" cy="527373"/>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92" name="Subtitle 2">
            <a:extLst>
              <a:ext uri="{FF2B5EF4-FFF2-40B4-BE49-F238E27FC236}">
                <a16:creationId xmlns:a16="http://schemas.microsoft.com/office/drawing/2014/main" id="{DBADEE90-B192-2841-8397-2992425C301A}"/>
              </a:ext>
            </a:extLst>
          </p:cNvPr>
          <p:cNvSpPr txBox="1">
            <a:spLocks/>
          </p:cNvSpPr>
          <p:nvPr/>
        </p:nvSpPr>
        <p:spPr>
          <a:xfrm>
            <a:off x="10009448" y="4303143"/>
            <a:ext cx="1055933" cy="444517"/>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49" dirty="0">
                <a:solidFill>
                  <a:schemeClr val="bg1"/>
                </a:solidFill>
                <a:latin typeface="Arial" panose="020B0604020202020204" pitchFamily="34" charset="0"/>
                <a:ea typeface="Lato Light" panose="020F0502020204030203" pitchFamily="34" charset="0"/>
                <a:cs typeface="Arial" panose="020B0604020202020204" pitchFamily="34" charset="0"/>
              </a:rPr>
              <a:t>People are unable to connect current behaviors to BH conditions down the road</a:t>
            </a:r>
          </a:p>
        </p:txBody>
      </p:sp>
      <p:cxnSp>
        <p:nvCxnSpPr>
          <p:cNvPr id="95" name="Соединительная линия уступом 36">
            <a:extLst>
              <a:ext uri="{FF2B5EF4-FFF2-40B4-BE49-F238E27FC236}">
                <a16:creationId xmlns:a16="http://schemas.microsoft.com/office/drawing/2014/main" id="{1197AC69-E3A0-DA47-AFD5-92C9E6B30EC3}"/>
              </a:ext>
            </a:extLst>
          </p:cNvPr>
          <p:cNvCxnSpPr>
            <a:cxnSpLocks/>
            <a:stCxn id="35" idx="2"/>
            <a:endCxn id="91" idx="0"/>
          </p:cNvCxnSpPr>
          <p:nvPr/>
        </p:nvCxnSpPr>
        <p:spPr bwMode="auto">
          <a:xfrm rot="5400000">
            <a:off x="10575468" y="3894772"/>
            <a:ext cx="313504" cy="451684"/>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40" name="Соединительная линия уступом 29">
            <a:extLst>
              <a:ext uri="{FF2B5EF4-FFF2-40B4-BE49-F238E27FC236}">
                <a16:creationId xmlns:a16="http://schemas.microsoft.com/office/drawing/2014/main" id="{DE9DA6CD-4979-E143-8DF8-678AF572FA2C}"/>
              </a:ext>
            </a:extLst>
          </p:cNvPr>
          <p:cNvCxnSpPr>
            <a:cxnSpLocks/>
            <a:stCxn id="8" idx="2"/>
            <a:endCxn id="105" idx="0"/>
          </p:cNvCxnSpPr>
          <p:nvPr/>
        </p:nvCxnSpPr>
        <p:spPr bwMode="auto">
          <a:xfrm rot="16200000" flipH="1">
            <a:off x="7158902" y="2994946"/>
            <a:ext cx="325060" cy="611088"/>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147" name="5-Point Star 146">
            <a:extLst>
              <a:ext uri="{FF2B5EF4-FFF2-40B4-BE49-F238E27FC236}">
                <a16:creationId xmlns:a16="http://schemas.microsoft.com/office/drawing/2014/main" id="{9AAD28B8-46E0-CC46-9F13-C53813C4441B}"/>
              </a:ext>
            </a:extLst>
          </p:cNvPr>
          <p:cNvSpPr/>
          <p:nvPr/>
        </p:nvSpPr>
        <p:spPr>
          <a:xfrm>
            <a:off x="9910650" y="6741303"/>
            <a:ext cx="164946" cy="164946"/>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46"/>
          </a:p>
        </p:txBody>
      </p:sp>
      <p:sp>
        <p:nvSpPr>
          <p:cNvPr id="88" name="Rectangle 87">
            <a:extLst>
              <a:ext uri="{FF2B5EF4-FFF2-40B4-BE49-F238E27FC236}">
                <a16:creationId xmlns:a16="http://schemas.microsoft.com/office/drawing/2014/main" id="{4B25B938-7149-CB48-AFF3-E87F0AA28C57}"/>
              </a:ext>
            </a:extLst>
          </p:cNvPr>
          <p:cNvSpPr/>
          <p:nvPr/>
        </p:nvSpPr>
        <p:spPr>
          <a:xfrm>
            <a:off x="682438" y="780519"/>
            <a:ext cx="6267568" cy="320537"/>
          </a:xfrm>
          <a:prstGeom prst="rect">
            <a:avLst/>
          </a:prstGeom>
        </p:spPr>
        <p:txBody>
          <a:bodyPr wrap="square" anchor="t">
            <a:spAutoFit/>
          </a:bodyPr>
          <a:lstStyle/>
          <a:p>
            <a:r>
              <a:rPr lang="en-US" sz="1483" dirty="0">
                <a:solidFill>
                  <a:srgbClr val="003963"/>
                </a:solidFill>
              </a:rPr>
              <a:t>PROBLEM AREA 5: </a:t>
            </a:r>
            <a:r>
              <a:rPr lang="en-US" sz="1483" b="1" dirty="0">
                <a:solidFill>
                  <a:srgbClr val="00A2E2"/>
                </a:solidFill>
              </a:rPr>
              <a:t>Prevent Conditions Before They Start</a:t>
            </a:r>
          </a:p>
        </p:txBody>
      </p:sp>
      <p:sp>
        <p:nvSpPr>
          <p:cNvPr id="89" name="Subtitle 2">
            <a:extLst>
              <a:ext uri="{FF2B5EF4-FFF2-40B4-BE49-F238E27FC236}">
                <a16:creationId xmlns:a16="http://schemas.microsoft.com/office/drawing/2014/main" id="{0996BBB6-684C-924F-8507-9216C207B974}"/>
              </a:ext>
            </a:extLst>
          </p:cNvPr>
          <p:cNvSpPr txBox="1">
            <a:spLocks/>
          </p:cNvSpPr>
          <p:nvPr/>
        </p:nvSpPr>
        <p:spPr>
          <a:xfrm>
            <a:off x="3306173" y="3480613"/>
            <a:ext cx="887244" cy="444517"/>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49" dirty="0">
                <a:solidFill>
                  <a:schemeClr val="bg1"/>
                </a:solidFill>
                <a:latin typeface="Arial" panose="020B0604020202020204" pitchFamily="34" charset="0"/>
                <a:ea typeface="Lato Light" panose="020F0502020204030203" pitchFamily="34" charset="0"/>
                <a:cs typeface="Arial" panose="020B0604020202020204" pitchFamily="34" charset="0"/>
              </a:rPr>
              <a:t>Environment and “nurture” factors play heavily into risk of future of BH issues</a:t>
            </a:r>
          </a:p>
        </p:txBody>
      </p:sp>
      <p:sp>
        <p:nvSpPr>
          <p:cNvPr id="98" name="Subtitle 2">
            <a:extLst>
              <a:ext uri="{FF2B5EF4-FFF2-40B4-BE49-F238E27FC236}">
                <a16:creationId xmlns:a16="http://schemas.microsoft.com/office/drawing/2014/main" id="{9932A67B-85D1-3F4B-A86E-9094FE6F6B97}"/>
              </a:ext>
            </a:extLst>
          </p:cNvPr>
          <p:cNvSpPr txBox="1">
            <a:spLocks/>
          </p:cNvSpPr>
          <p:nvPr/>
        </p:nvSpPr>
        <p:spPr>
          <a:xfrm>
            <a:off x="9510392" y="3495451"/>
            <a:ext cx="954126" cy="244719"/>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49" dirty="0">
                <a:solidFill>
                  <a:schemeClr val="bg1"/>
                </a:solidFill>
                <a:latin typeface="Arial" panose="020B0604020202020204" pitchFamily="34" charset="0"/>
                <a:ea typeface="Lato Light" panose="020F0502020204030203" pitchFamily="34" charset="0"/>
                <a:cs typeface="Arial" panose="020B0604020202020204" pitchFamily="34" charset="0"/>
              </a:rPr>
              <a:t>BH prevention is not prioritized</a:t>
            </a:r>
          </a:p>
        </p:txBody>
      </p:sp>
      <p:cxnSp>
        <p:nvCxnSpPr>
          <p:cNvPr id="103" name="Соединительная линия уступом 91">
            <a:extLst>
              <a:ext uri="{FF2B5EF4-FFF2-40B4-BE49-F238E27FC236}">
                <a16:creationId xmlns:a16="http://schemas.microsoft.com/office/drawing/2014/main" id="{9202C21A-4AA1-6D4F-9694-4E2703DF5E08}"/>
              </a:ext>
            </a:extLst>
          </p:cNvPr>
          <p:cNvCxnSpPr>
            <a:cxnSpLocks/>
          </p:cNvCxnSpPr>
          <p:nvPr/>
        </p:nvCxnSpPr>
        <p:spPr bwMode="auto">
          <a:xfrm rot="5400000">
            <a:off x="6334762" y="4159412"/>
            <a:ext cx="352452" cy="1"/>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04" name="Соединительная линия уступом 34">
            <a:extLst>
              <a:ext uri="{FF2B5EF4-FFF2-40B4-BE49-F238E27FC236}">
                <a16:creationId xmlns:a16="http://schemas.microsoft.com/office/drawing/2014/main" id="{78326D5D-CF1A-E34E-AB96-C6EEAFC0347F}"/>
              </a:ext>
            </a:extLst>
          </p:cNvPr>
          <p:cNvCxnSpPr>
            <a:cxnSpLocks/>
            <a:stCxn id="32" idx="2"/>
            <a:endCxn id="156" idx="0"/>
          </p:cNvCxnSpPr>
          <p:nvPr/>
        </p:nvCxnSpPr>
        <p:spPr bwMode="auto">
          <a:xfrm rot="5400000">
            <a:off x="9519494" y="3824979"/>
            <a:ext cx="307606" cy="585370"/>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48" name="Elbow Connector 147">
            <a:extLst>
              <a:ext uri="{FF2B5EF4-FFF2-40B4-BE49-F238E27FC236}">
                <a16:creationId xmlns:a16="http://schemas.microsoft.com/office/drawing/2014/main" id="{67EA1AE8-ABEE-8745-80E1-AB1655553061}"/>
              </a:ext>
            </a:extLst>
          </p:cNvPr>
          <p:cNvCxnSpPr>
            <a:cxnSpLocks/>
            <a:stCxn id="156" idx="2"/>
            <a:endCxn id="71" idx="2"/>
          </p:cNvCxnSpPr>
          <p:nvPr/>
        </p:nvCxnSpPr>
        <p:spPr>
          <a:xfrm rot="5400000" flipH="1">
            <a:off x="6568962" y="1972338"/>
            <a:ext cx="19972" cy="5603328"/>
          </a:xfrm>
          <a:prstGeom prst="bentConnector3">
            <a:avLst>
              <a:gd name="adj1" fmla="val -4808990"/>
            </a:avLst>
          </a:prstGeom>
          <a:ln w="19050">
            <a:solidFill>
              <a:schemeClr val="bg1">
                <a:lumMod val="65000"/>
              </a:schemeClr>
            </a:solidFill>
            <a:prstDash val="dash"/>
            <a:headEnd type="triangle"/>
            <a:tailEnd type="none"/>
          </a:ln>
        </p:spPr>
        <p:style>
          <a:lnRef idx="1">
            <a:schemeClr val="accent1"/>
          </a:lnRef>
          <a:fillRef idx="0">
            <a:schemeClr val="accent1"/>
          </a:fillRef>
          <a:effectRef idx="0">
            <a:schemeClr val="accent1"/>
          </a:effectRef>
          <a:fontRef idx="minor">
            <a:schemeClr val="tx1"/>
          </a:fontRef>
        </p:style>
      </p:cxnSp>
      <p:sp>
        <p:nvSpPr>
          <p:cNvPr id="173" name="Скругленный прямоугольник 84">
            <a:extLst>
              <a:ext uri="{FF2B5EF4-FFF2-40B4-BE49-F238E27FC236}">
                <a16:creationId xmlns:a16="http://schemas.microsoft.com/office/drawing/2014/main" id="{9E1980FD-DB4D-CA40-9E84-02C7F79A824D}"/>
              </a:ext>
            </a:extLst>
          </p:cNvPr>
          <p:cNvSpPr>
            <a:spLocks/>
          </p:cNvSpPr>
          <p:nvPr/>
        </p:nvSpPr>
        <p:spPr bwMode="auto">
          <a:xfrm>
            <a:off x="4522606" y="4303821"/>
            <a:ext cx="1176698"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74" name="Subtitle 2">
            <a:extLst>
              <a:ext uri="{FF2B5EF4-FFF2-40B4-BE49-F238E27FC236}">
                <a16:creationId xmlns:a16="http://schemas.microsoft.com/office/drawing/2014/main" id="{33D94A41-5A08-4345-99B2-CDF4D8A6F0BC}"/>
              </a:ext>
            </a:extLst>
          </p:cNvPr>
          <p:cNvSpPr txBox="1">
            <a:spLocks/>
          </p:cNvSpPr>
          <p:nvPr/>
        </p:nvSpPr>
        <p:spPr>
          <a:xfrm>
            <a:off x="4518928" y="4377892"/>
            <a:ext cx="1165021" cy="344618"/>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49" dirty="0">
                <a:solidFill>
                  <a:schemeClr val="bg1"/>
                </a:solidFill>
                <a:latin typeface="Arial" panose="020B0604020202020204" pitchFamily="34" charset="0"/>
                <a:ea typeface="Lato Light" panose="020F0502020204030203" pitchFamily="34" charset="0"/>
                <a:cs typeface="Arial" panose="020B0604020202020204" pitchFamily="34" charset="0"/>
              </a:rPr>
              <a:t>No quick and clear ROI to incentivize investment and funding of services</a:t>
            </a:r>
          </a:p>
        </p:txBody>
      </p:sp>
      <p:cxnSp>
        <p:nvCxnSpPr>
          <p:cNvPr id="175" name="Соединительная линия уступом 91">
            <a:extLst>
              <a:ext uri="{FF2B5EF4-FFF2-40B4-BE49-F238E27FC236}">
                <a16:creationId xmlns:a16="http://schemas.microsoft.com/office/drawing/2014/main" id="{71AC1604-D5BD-014D-ACF2-62B9B33F9036}"/>
              </a:ext>
            </a:extLst>
          </p:cNvPr>
          <p:cNvCxnSpPr>
            <a:cxnSpLocks/>
            <a:stCxn id="68" idx="2"/>
            <a:endCxn id="173" idx="0"/>
          </p:cNvCxnSpPr>
          <p:nvPr/>
        </p:nvCxnSpPr>
        <p:spPr bwMode="auto">
          <a:xfrm rot="5400000">
            <a:off x="4994482" y="4092013"/>
            <a:ext cx="328281" cy="95335"/>
          </a:xfrm>
          <a:prstGeom prst="bentConnector3">
            <a:avLst>
              <a:gd name="adj1" fmla="val 47283"/>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78" name="Соединительная линия уступом 91">
            <a:extLst>
              <a:ext uri="{FF2B5EF4-FFF2-40B4-BE49-F238E27FC236}">
                <a16:creationId xmlns:a16="http://schemas.microsoft.com/office/drawing/2014/main" id="{B05EB868-4FFD-224B-B0C2-8F6DECD63469}"/>
              </a:ext>
            </a:extLst>
          </p:cNvPr>
          <p:cNvCxnSpPr>
            <a:cxnSpLocks/>
            <a:stCxn id="68" idx="2"/>
            <a:endCxn id="65" idx="0"/>
          </p:cNvCxnSpPr>
          <p:nvPr/>
        </p:nvCxnSpPr>
        <p:spPr bwMode="auto">
          <a:xfrm rot="16200000" flipH="1">
            <a:off x="5615922" y="3565908"/>
            <a:ext cx="352452" cy="1171716"/>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87" name="Скругленный прямоугольник 59">
            <a:extLst>
              <a:ext uri="{FF2B5EF4-FFF2-40B4-BE49-F238E27FC236}">
                <a16:creationId xmlns:a16="http://schemas.microsoft.com/office/drawing/2014/main" id="{6E5803EA-10A2-4B48-8900-0C3C6F6E9A80}"/>
              </a:ext>
            </a:extLst>
          </p:cNvPr>
          <p:cNvSpPr>
            <a:spLocks/>
          </p:cNvSpPr>
          <p:nvPr/>
        </p:nvSpPr>
        <p:spPr bwMode="auto">
          <a:xfrm>
            <a:off x="578608" y="3451344"/>
            <a:ext cx="1053546"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cxnSp>
        <p:nvCxnSpPr>
          <p:cNvPr id="94" name="Соединительная линия уступом 19">
            <a:extLst>
              <a:ext uri="{FF2B5EF4-FFF2-40B4-BE49-F238E27FC236}">
                <a16:creationId xmlns:a16="http://schemas.microsoft.com/office/drawing/2014/main" id="{8449CA19-A274-CB45-BCD9-7836E7A33283}"/>
              </a:ext>
            </a:extLst>
          </p:cNvPr>
          <p:cNvCxnSpPr>
            <a:cxnSpLocks/>
            <a:stCxn id="87" idx="2"/>
            <a:endCxn id="100" idx="0"/>
          </p:cNvCxnSpPr>
          <p:nvPr/>
        </p:nvCxnSpPr>
        <p:spPr bwMode="auto">
          <a:xfrm rot="5400000">
            <a:off x="948864" y="4115273"/>
            <a:ext cx="307930" cy="5107"/>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99" name="Subtitle 2">
            <a:extLst>
              <a:ext uri="{FF2B5EF4-FFF2-40B4-BE49-F238E27FC236}">
                <a16:creationId xmlns:a16="http://schemas.microsoft.com/office/drawing/2014/main" id="{92789BD1-7207-6E4F-B5E3-71C448DCB826}"/>
              </a:ext>
            </a:extLst>
          </p:cNvPr>
          <p:cNvSpPr txBox="1">
            <a:spLocks/>
          </p:cNvSpPr>
          <p:nvPr/>
        </p:nvSpPr>
        <p:spPr>
          <a:xfrm>
            <a:off x="585697" y="3518255"/>
            <a:ext cx="1026504" cy="344618"/>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49" dirty="0">
                <a:solidFill>
                  <a:schemeClr val="bg1"/>
                </a:solidFill>
                <a:latin typeface="Arial" panose="020B0604020202020204" pitchFamily="34" charset="0"/>
                <a:ea typeface="Lato Light" panose="020F0502020204030203" pitchFamily="34" charset="0"/>
                <a:cs typeface="Arial" panose="020B0604020202020204" pitchFamily="34" charset="0"/>
              </a:rPr>
              <a:t>Lack of tools and training for clinicians to address preventative care</a:t>
            </a:r>
          </a:p>
        </p:txBody>
      </p:sp>
      <p:sp>
        <p:nvSpPr>
          <p:cNvPr id="100" name="Скругленный прямоугольник 80">
            <a:extLst>
              <a:ext uri="{FF2B5EF4-FFF2-40B4-BE49-F238E27FC236}">
                <a16:creationId xmlns:a16="http://schemas.microsoft.com/office/drawing/2014/main" id="{D221729B-63BF-5549-8A0D-966C14ACE6BF}"/>
              </a:ext>
            </a:extLst>
          </p:cNvPr>
          <p:cNvSpPr>
            <a:spLocks/>
          </p:cNvSpPr>
          <p:nvPr/>
        </p:nvSpPr>
        <p:spPr bwMode="auto">
          <a:xfrm>
            <a:off x="612588" y="4271793"/>
            <a:ext cx="975370"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01" name="Subtitle 2">
            <a:extLst>
              <a:ext uri="{FF2B5EF4-FFF2-40B4-BE49-F238E27FC236}">
                <a16:creationId xmlns:a16="http://schemas.microsoft.com/office/drawing/2014/main" id="{7A62420F-7F19-D24B-AD96-4ABF4409EE5C}"/>
              </a:ext>
            </a:extLst>
          </p:cNvPr>
          <p:cNvSpPr txBox="1">
            <a:spLocks/>
          </p:cNvSpPr>
          <p:nvPr/>
        </p:nvSpPr>
        <p:spPr>
          <a:xfrm>
            <a:off x="656651" y="4303143"/>
            <a:ext cx="887244" cy="444517"/>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49" dirty="0">
                <a:solidFill>
                  <a:schemeClr val="bg1"/>
                </a:solidFill>
                <a:latin typeface="Arial" panose="020B0604020202020204" pitchFamily="34" charset="0"/>
                <a:ea typeface="Lato Light" panose="020F0502020204030203" pitchFamily="34" charset="0"/>
                <a:cs typeface="Arial" panose="020B0604020202020204" pitchFamily="34" charset="0"/>
              </a:rPr>
              <a:t>Currently, screening is really the only tool we have for prevention (AHN)</a:t>
            </a:r>
          </a:p>
        </p:txBody>
      </p:sp>
      <p:sp>
        <p:nvSpPr>
          <p:cNvPr id="105" name="Скругленный прямоугольник 59">
            <a:extLst>
              <a:ext uri="{FF2B5EF4-FFF2-40B4-BE49-F238E27FC236}">
                <a16:creationId xmlns:a16="http://schemas.microsoft.com/office/drawing/2014/main" id="{4D647A8F-7154-144F-85C1-6F58314230F9}"/>
              </a:ext>
            </a:extLst>
          </p:cNvPr>
          <p:cNvSpPr>
            <a:spLocks/>
          </p:cNvSpPr>
          <p:nvPr/>
        </p:nvSpPr>
        <p:spPr bwMode="auto">
          <a:xfrm>
            <a:off x="7100202" y="3463021"/>
            <a:ext cx="1053546"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cxnSp>
        <p:nvCxnSpPr>
          <p:cNvPr id="106" name="Соединительная линия уступом 19">
            <a:extLst>
              <a:ext uri="{FF2B5EF4-FFF2-40B4-BE49-F238E27FC236}">
                <a16:creationId xmlns:a16="http://schemas.microsoft.com/office/drawing/2014/main" id="{F67DE93B-F131-B544-A714-1482BB86E388}"/>
              </a:ext>
            </a:extLst>
          </p:cNvPr>
          <p:cNvCxnSpPr>
            <a:cxnSpLocks/>
            <a:stCxn id="105" idx="2"/>
            <a:endCxn id="60" idx="3"/>
          </p:cNvCxnSpPr>
          <p:nvPr/>
        </p:nvCxnSpPr>
        <p:spPr bwMode="auto">
          <a:xfrm rot="5400000">
            <a:off x="7008846" y="3942564"/>
            <a:ext cx="585156" cy="651105"/>
          </a:xfrm>
          <a:prstGeom prst="bentConnector2">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108" name="Subtitle 2">
            <a:extLst>
              <a:ext uri="{FF2B5EF4-FFF2-40B4-BE49-F238E27FC236}">
                <a16:creationId xmlns:a16="http://schemas.microsoft.com/office/drawing/2014/main" id="{5CB64932-DBBB-3B4F-AA61-8A7090408D08}"/>
              </a:ext>
            </a:extLst>
          </p:cNvPr>
          <p:cNvSpPr txBox="1">
            <a:spLocks/>
          </p:cNvSpPr>
          <p:nvPr/>
        </p:nvSpPr>
        <p:spPr>
          <a:xfrm>
            <a:off x="7107291" y="3529933"/>
            <a:ext cx="1026504" cy="344618"/>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49" dirty="0">
                <a:solidFill>
                  <a:schemeClr val="bg1"/>
                </a:solidFill>
                <a:latin typeface="Arial" panose="020B0604020202020204" pitchFamily="34" charset="0"/>
                <a:ea typeface="Lato Light" panose="020F0502020204030203" pitchFamily="34" charset="0"/>
                <a:cs typeface="Arial" panose="020B0604020202020204" pitchFamily="34" charset="0"/>
              </a:rPr>
              <a:t>Lack of government funding and policy for BH prevention</a:t>
            </a:r>
          </a:p>
        </p:txBody>
      </p:sp>
      <p:cxnSp>
        <p:nvCxnSpPr>
          <p:cNvPr id="113" name="Соединительная линия уступом 34">
            <a:extLst>
              <a:ext uri="{FF2B5EF4-FFF2-40B4-BE49-F238E27FC236}">
                <a16:creationId xmlns:a16="http://schemas.microsoft.com/office/drawing/2014/main" id="{246A2BDD-6ECB-E243-95DE-FA84DD1A89AF}"/>
              </a:ext>
            </a:extLst>
          </p:cNvPr>
          <p:cNvCxnSpPr>
            <a:cxnSpLocks/>
            <a:stCxn id="78" idx="2"/>
            <a:endCxn id="87" idx="0"/>
          </p:cNvCxnSpPr>
          <p:nvPr/>
        </p:nvCxnSpPr>
        <p:spPr bwMode="auto">
          <a:xfrm rot="5400000">
            <a:off x="1615441" y="2568197"/>
            <a:ext cx="373088" cy="1393207"/>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14" name="Соединительная линия уступом 19">
            <a:extLst>
              <a:ext uri="{FF2B5EF4-FFF2-40B4-BE49-F238E27FC236}">
                <a16:creationId xmlns:a16="http://schemas.microsoft.com/office/drawing/2014/main" id="{2320B944-E2AE-4C44-93CF-F70A505FEEE5}"/>
              </a:ext>
            </a:extLst>
          </p:cNvPr>
          <p:cNvCxnSpPr>
            <a:cxnSpLocks/>
            <a:stCxn id="23" idx="2"/>
            <a:endCxn id="117" idx="0"/>
          </p:cNvCxnSpPr>
          <p:nvPr/>
        </p:nvCxnSpPr>
        <p:spPr bwMode="auto">
          <a:xfrm rot="16200000" flipH="1">
            <a:off x="2364880" y="4099496"/>
            <a:ext cx="336166" cy="88253"/>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117" name="Скругленный прямоугольник 80">
            <a:extLst>
              <a:ext uri="{FF2B5EF4-FFF2-40B4-BE49-F238E27FC236}">
                <a16:creationId xmlns:a16="http://schemas.microsoft.com/office/drawing/2014/main" id="{89003F57-5C39-E241-AB59-AD53DABAB449}"/>
              </a:ext>
            </a:extLst>
          </p:cNvPr>
          <p:cNvSpPr>
            <a:spLocks/>
          </p:cNvSpPr>
          <p:nvPr/>
        </p:nvSpPr>
        <p:spPr bwMode="auto">
          <a:xfrm>
            <a:off x="2037487" y="4311706"/>
            <a:ext cx="1079208" cy="444126"/>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18" name="Subtitle 2">
            <a:extLst>
              <a:ext uri="{FF2B5EF4-FFF2-40B4-BE49-F238E27FC236}">
                <a16:creationId xmlns:a16="http://schemas.microsoft.com/office/drawing/2014/main" id="{AE37840E-930F-5F44-8D83-9042AA3369F7}"/>
              </a:ext>
            </a:extLst>
          </p:cNvPr>
          <p:cNvSpPr txBox="1">
            <a:spLocks/>
          </p:cNvSpPr>
          <p:nvPr/>
        </p:nvSpPr>
        <p:spPr>
          <a:xfrm>
            <a:off x="2058606" y="4342045"/>
            <a:ext cx="1055933" cy="344618"/>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49" dirty="0">
                <a:solidFill>
                  <a:schemeClr val="bg1"/>
                </a:solidFill>
                <a:latin typeface="Arial" panose="020B0604020202020204" pitchFamily="34" charset="0"/>
                <a:ea typeface="Lato Light" panose="020F0502020204030203" pitchFamily="34" charset="0"/>
                <a:cs typeface="Arial" panose="020B0604020202020204" pitchFamily="34" charset="0"/>
              </a:rPr>
              <a:t>It’s difficult to understand the complex risk factors for prevention</a:t>
            </a:r>
          </a:p>
        </p:txBody>
      </p:sp>
      <p:cxnSp>
        <p:nvCxnSpPr>
          <p:cNvPr id="119" name="Соединительная линия уступом 19">
            <a:extLst>
              <a:ext uri="{FF2B5EF4-FFF2-40B4-BE49-F238E27FC236}">
                <a16:creationId xmlns:a16="http://schemas.microsoft.com/office/drawing/2014/main" id="{1C0FE241-490E-4649-89DA-1FB53BB47543}"/>
              </a:ext>
            </a:extLst>
          </p:cNvPr>
          <p:cNvCxnSpPr>
            <a:cxnSpLocks/>
            <a:stCxn id="23" idx="1"/>
            <a:endCxn id="100" idx="3"/>
          </p:cNvCxnSpPr>
          <p:nvPr/>
        </p:nvCxnSpPr>
        <p:spPr bwMode="auto">
          <a:xfrm rot="10800000" flipV="1">
            <a:off x="1587957" y="3719280"/>
            <a:ext cx="366301" cy="808772"/>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132" name="Скругленный прямоугольник 59">
            <a:extLst>
              <a:ext uri="{FF2B5EF4-FFF2-40B4-BE49-F238E27FC236}">
                <a16:creationId xmlns:a16="http://schemas.microsoft.com/office/drawing/2014/main" id="{A21B72E6-8081-B548-93F5-3D048111322B}"/>
              </a:ext>
            </a:extLst>
          </p:cNvPr>
          <p:cNvSpPr>
            <a:spLocks/>
          </p:cNvSpPr>
          <p:nvPr/>
        </p:nvSpPr>
        <p:spPr bwMode="auto">
          <a:xfrm>
            <a:off x="8300936" y="3471662"/>
            <a:ext cx="105965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33" name="Subtitle 2">
            <a:extLst>
              <a:ext uri="{FF2B5EF4-FFF2-40B4-BE49-F238E27FC236}">
                <a16:creationId xmlns:a16="http://schemas.microsoft.com/office/drawing/2014/main" id="{6278BE21-5CCD-2242-9042-49AE78E366EB}"/>
              </a:ext>
            </a:extLst>
          </p:cNvPr>
          <p:cNvSpPr txBox="1">
            <a:spLocks/>
          </p:cNvSpPr>
          <p:nvPr/>
        </p:nvSpPr>
        <p:spPr>
          <a:xfrm>
            <a:off x="8316061" y="3494722"/>
            <a:ext cx="1059656" cy="444517"/>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49" dirty="0">
                <a:solidFill>
                  <a:schemeClr val="bg1"/>
                </a:solidFill>
                <a:latin typeface="Arial" panose="020B0604020202020204" pitchFamily="34" charset="0"/>
                <a:ea typeface="Lato Light" panose="020F0502020204030203" pitchFamily="34" charset="0"/>
                <a:cs typeface="Arial" panose="020B0604020202020204" pitchFamily="34" charset="0"/>
              </a:rPr>
              <a:t>Awareness of BH and understanding of long term behavior change is not prevalent</a:t>
            </a:r>
          </a:p>
        </p:txBody>
      </p:sp>
      <p:cxnSp>
        <p:nvCxnSpPr>
          <p:cNvPr id="135" name="Соединительная линия уступом 19">
            <a:extLst>
              <a:ext uri="{FF2B5EF4-FFF2-40B4-BE49-F238E27FC236}">
                <a16:creationId xmlns:a16="http://schemas.microsoft.com/office/drawing/2014/main" id="{209CE425-1510-9441-996D-B57F627D1371}"/>
              </a:ext>
            </a:extLst>
          </p:cNvPr>
          <p:cNvCxnSpPr>
            <a:cxnSpLocks/>
            <a:stCxn id="132" idx="2"/>
            <a:endCxn id="116" idx="0"/>
          </p:cNvCxnSpPr>
          <p:nvPr/>
        </p:nvCxnSpPr>
        <p:spPr bwMode="auto">
          <a:xfrm rot="5400000">
            <a:off x="8396696" y="3855156"/>
            <a:ext cx="305044" cy="563095"/>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139" name="Скругленный прямоугольник 59">
            <a:extLst>
              <a:ext uri="{FF2B5EF4-FFF2-40B4-BE49-F238E27FC236}">
                <a16:creationId xmlns:a16="http://schemas.microsoft.com/office/drawing/2014/main" id="{22C2DB80-04F2-304F-AB42-BE0765D7D713}"/>
              </a:ext>
            </a:extLst>
          </p:cNvPr>
          <p:cNvSpPr>
            <a:spLocks/>
          </p:cNvSpPr>
          <p:nvPr/>
        </p:nvSpPr>
        <p:spPr bwMode="auto">
          <a:xfrm>
            <a:off x="7246590" y="5136602"/>
            <a:ext cx="105965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41" name="Subtitle 2">
            <a:extLst>
              <a:ext uri="{FF2B5EF4-FFF2-40B4-BE49-F238E27FC236}">
                <a16:creationId xmlns:a16="http://schemas.microsoft.com/office/drawing/2014/main" id="{11F00644-5657-F14B-AC3F-3218E0E28C78}"/>
              </a:ext>
            </a:extLst>
          </p:cNvPr>
          <p:cNvSpPr txBox="1">
            <a:spLocks/>
          </p:cNvSpPr>
          <p:nvPr/>
        </p:nvSpPr>
        <p:spPr>
          <a:xfrm>
            <a:off x="7261716" y="5159662"/>
            <a:ext cx="1059656" cy="444517"/>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49" dirty="0">
                <a:solidFill>
                  <a:schemeClr val="bg1"/>
                </a:solidFill>
                <a:latin typeface="Arial" panose="020B0604020202020204" pitchFamily="34" charset="0"/>
                <a:ea typeface="Lato Light" panose="020F0502020204030203" pitchFamily="34" charset="0"/>
                <a:cs typeface="Arial" panose="020B0604020202020204" pitchFamily="34" charset="0"/>
              </a:rPr>
              <a:t>Individuals are not intrinsically motivated to engage and change their habit</a:t>
            </a:r>
          </a:p>
        </p:txBody>
      </p:sp>
      <p:cxnSp>
        <p:nvCxnSpPr>
          <p:cNvPr id="142" name="Соединительная линия уступом 19">
            <a:extLst>
              <a:ext uri="{FF2B5EF4-FFF2-40B4-BE49-F238E27FC236}">
                <a16:creationId xmlns:a16="http://schemas.microsoft.com/office/drawing/2014/main" id="{43CD294B-62F7-0442-A184-53D844862C17}"/>
              </a:ext>
            </a:extLst>
          </p:cNvPr>
          <p:cNvCxnSpPr>
            <a:cxnSpLocks/>
            <a:stCxn id="115" idx="2"/>
            <a:endCxn id="141" idx="0"/>
          </p:cNvCxnSpPr>
          <p:nvPr/>
        </p:nvCxnSpPr>
        <p:spPr bwMode="auto">
          <a:xfrm rot="5400000">
            <a:off x="7831556" y="4738673"/>
            <a:ext cx="380978" cy="461001"/>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49" name="Elbow Connector 148">
            <a:extLst>
              <a:ext uri="{FF2B5EF4-FFF2-40B4-BE49-F238E27FC236}">
                <a16:creationId xmlns:a16="http://schemas.microsoft.com/office/drawing/2014/main" id="{A04A5341-A366-054D-9E67-B35D4CB583D9}"/>
              </a:ext>
            </a:extLst>
          </p:cNvPr>
          <p:cNvCxnSpPr>
            <a:cxnSpLocks/>
            <a:stCxn id="75" idx="3"/>
            <a:endCxn id="139" idx="1"/>
          </p:cNvCxnSpPr>
          <p:nvPr/>
        </p:nvCxnSpPr>
        <p:spPr>
          <a:xfrm>
            <a:off x="6973661" y="3719280"/>
            <a:ext cx="272928" cy="1673582"/>
          </a:xfrm>
          <a:prstGeom prst="bentConnector3">
            <a:avLst>
              <a:gd name="adj1" fmla="val 21126"/>
            </a:avLst>
          </a:prstGeom>
          <a:ln w="19050">
            <a:solidFill>
              <a:schemeClr val="bg1">
                <a:lumMod val="6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56" name="Скругленный прямоугольник 59">
            <a:extLst>
              <a:ext uri="{FF2B5EF4-FFF2-40B4-BE49-F238E27FC236}">
                <a16:creationId xmlns:a16="http://schemas.microsoft.com/office/drawing/2014/main" id="{96740E9C-8B9C-6E4E-914C-B21D893DBF16}"/>
              </a:ext>
            </a:extLst>
          </p:cNvPr>
          <p:cNvSpPr>
            <a:spLocks/>
          </p:cNvSpPr>
          <p:nvPr/>
        </p:nvSpPr>
        <p:spPr bwMode="auto">
          <a:xfrm>
            <a:off x="8850783" y="4271468"/>
            <a:ext cx="105965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57" name="Subtitle 2">
            <a:extLst>
              <a:ext uri="{FF2B5EF4-FFF2-40B4-BE49-F238E27FC236}">
                <a16:creationId xmlns:a16="http://schemas.microsoft.com/office/drawing/2014/main" id="{39E7BE1A-922C-BC4D-97DB-C7DFBC95CA49}"/>
              </a:ext>
            </a:extLst>
          </p:cNvPr>
          <p:cNvSpPr txBox="1">
            <a:spLocks/>
          </p:cNvSpPr>
          <p:nvPr/>
        </p:nvSpPr>
        <p:spPr>
          <a:xfrm>
            <a:off x="8865909" y="4294527"/>
            <a:ext cx="1059656" cy="344618"/>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49" dirty="0">
                <a:solidFill>
                  <a:schemeClr val="bg1"/>
                </a:solidFill>
                <a:latin typeface="Arial" panose="020B0604020202020204" pitchFamily="34" charset="0"/>
                <a:ea typeface="Lato Light" panose="020F0502020204030203" pitchFamily="34" charset="0"/>
                <a:cs typeface="Arial" panose="020B0604020202020204" pitchFamily="34" charset="0"/>
              </a:rPr>
              <a:t>Prevention prioritization is bias by clinician’s value and personal habits</a:t>
            </a:r>
          </a:p>
        </p:txBody>
      </p:sp>
      <p:sp>
        <p:nvSpPr>
          <p:cNvPr id="158" name="Скругленный прямоугольник 59">
            <a:extLst>
              <a:ext uri="{FF2B5EF4-FFF2-40B4-BE49-F238E27FC236}">
                <a16:creationId xmlns:a16="http://schemas.microsoft.com/office/drawing/2014/main" id="{D7B43F95-FB2E-794C-85FE-496066EF5B43}"/>
              </a:ext>
            </a:extLst>
          </p:cNvPr>
          <p:cNvSpPr>
            <a:spLocks/>
          </p:cNvSpPr>
          <p:nvPr/>
        </p:nvSpPr>
        <p:spPr bwMode="auto">
          <a:xfrm>
            <a:off x="11102314" y="4277366"/>
            <a:ext cx="105965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59" name="Subtitle 2">
            <a:extLst>
              <a:ext uri="{FF2B5EF4-FFF2-40B4-BE49-F238E27FC236}">
                <a16:creationId xmlns:a16="http://schemas.microsoft.com/office/drawing/2014/main" id="{28D6B2E3-8E7A-F147-B457-F7CF8C96D560}"/>
              </a:ext>
            </a:extLst>
          </p:cNvPr>
          <p:cNvSpPr txBox="1">
            <a:spLocks/>
          </p:cNvSpPr>
          <p:nvPr/>
        </p:nvSpPr>
        <p:spPr>
          <a:xfrm>
            <a:off x="11117440" y="4300426"/>
            <a:ext cx="1059656" cy="344618"/>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649" dirty="0">
                <a:solidFill>
                  <a:schemeClr val="bg1"/>
                </a:solidFill>
                <a:latin typeface="Arial" panose="020B0604020202020204" pitchFamily="34" charset="0"/>
                <a:ea typeface="Lato Light" panose="020F0502020204030203" pitchFamily="34" charset="0"/>
                <a:cs typeface="Arial" panose="020B0604020202020204" pitchFamily="34" charset="0"/>
              </a:rPr>
              <a:t>Family and friends recognize BH issues but fear to bring it up</a:t>
            </a:r>
          </a:p>
        </p:txBody>
      </p:sp>
      <p:cxnSp>
        <p:nvCxnSpPr>
          <p:cNvPr id="161" name="Соединительная линия уступом 36">
            <a:extLst>
              <a:ext uri="{FF2B5EF4-FFF2-40B4-BE49-F238E27FC236}">
                <a16:creationId xmlns:a16="http://schemas.microsoft.com/office/drawing/2014/main" id="{245D81B7-12F8-AA49-9E9D-4C632FE3D9D1}"/>
              </a:ext>
            </a:extLst>
          </p:cNvPr>
          <p:cNvCxnSpPr>
            <a:cxnSpLocks/>
            <a:stCxn id="35" idx="2"/>
            <a:endCxn id="158" idx="0"/>
          </p:cNvCxnSpPr>
          <p:nvPr/>
        </p:nvCxnSpPr>
        <p:spPr bwMode="auto">
          <a:xfrm rot="16200000" flipH="1">
            <a:off x="11138351" y="3783572"/>
            <a:ext cx="313504" cy="674081"/>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Tree>
    <p:extLst>
      <p:ext uri="{BB962C8B-B14F-4D97-AF65-F5344CB8AC3E}">
        <p14:creationId xmlns:p14="http://schemas.microsoft.com/office/powerpoint/2010/main" val="15439850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Скругленный прямоугольник 11">
            <a:extLst>
              <a:ext uri="{FF2B5EF4-FFF2-40B4-BE49-F238E27FC236}">
                <a16:creationId xmlns:a16="http://schemas.microsoft.com/office/drawing/2014/main" id="{6D4ED8D2-B85B-6440-ADA5-E55C9A6E7547}"/>
              </a:ext>
            </a:extLst>
          </p:cNvPr>
          <p:cNvSpPr/>
          <p:nvPr/>
        </p:nvSpPr>
        <p:spPr bwMode="auto">
          <a:xfrm>
            <a:off x="4544153" y="1963174"/>
            <a:ext cx="3767986" cy="423465"/>
          </a:xfrm>
          <a:prstGeom prst="roundRect">
            <a:avLst>
              <a:gd name="adj" fmla="val 5329"/>
            </a:avLst>
          </a:prstGeom>
          <a:solidFill>
            <a:schemeClr val="accent1"/>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8" name="Скругленный прямоугольник 7">
            <a:extLst>
              <a:ext uri="{FF2B5EF4-FFF2-40B4-BE49-F238E27FC236}">
                <a16:creationId xmlns:a16="http://schemas.microsoft.com/office/drawing/2014/main" id="{4F178C1C-13B0-4E42-B36B-605AC91A406C}"/>
              </a:ext>
            </a:extLst>
          </p:cNvPr>
          <p:cNvSpPr/>
          <p:nvPr/>
        </p:nvSpPr>
        <p:spPr bwMode="auto">
          <a:xfrm>
            <a:off x="1852598" y="2752309"/>
            <a:ext cx="1508218" cy="423465"/>
          </a:xfrm>
          <a:prstGeom prst="roundRect">
            <a:avLst>
              <a:gd name="adj" fmla="val 5329"/>
            </a:avLst>
          </a:prstGeom>
          <a:solidFill>
            <a:schemeClr val="accent1">
              <a:lumMod val="75000"/>
              <a:lumOff val="25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4" name="Скругленный прямоугольник 16">
            <a:extLst>
              <a:ext uri="{FF2B5EF4-FFF2-40B4-BE49-F238E27FC236}">
                <a16:creationId xmlns:a16="http://schemas.microsoft.com/office/drawing/2014/main" id="{1365C2A3-A805-F644-A880-05726AE7537F}"/>
              </a:ext>
            </a:extLst>
          </p:cNvPr>
          <p:cNvSpPr/>
          <p:nvPr/>
        </p:nvSpPr>
        <p:spPr bwMode="auto">
          <a:xfrm>
            <a:off x="8979066" y="2758577"/>
            <a:ext cx="1756161" cy="423465"/>
          </a:xfrm>
          <a:prstGeom prst="roundRect">
            <a:avLst>
              <a:gd name="adj" fmla="val 5329"/>
            </a:avLst>
          </a:prstGeom>
          <a:solidFill>
            <a:schemeClr val="accent1">
              <a:lumMod val="75000"/>
              <a:lumOff val="25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cxnSp>
        <p:nvCxnSpPr>
          <p:cNvPr id="17" name="Соединительная линия уступом 25">
            <a:extLst>
              <a:ext uri="{FF2B5EF4-FFF2-40B4-BE49-F238E27FC236}">
                <a16:creationId xmlns:a16="http://schemas.microsoft.com/office/drawing/2014/main" id="{95FEE179-CF9B-7545-B726-794C8847B32A}"/>
              </a:ext>
            </a:extLst>
          </p:cNvPr>
          <p:cNvCxnSpPr>
            <a:cxnSpLocks/>
            <a:stCxn id="5" idx="2"/>
            <a:endCxn id="14" idx="0"/>
          </p:cNvCxnSpPr>
          <p:nvPr/>
        </p:nvCxnSpPr>
        <p:spPr bwMode="auto">
          <a:xfrm rot="16200000" flipH="1">
            <a:off x="7956678" y="858108"/>
            <a:ext cx="371937" cy="3429001"/>
          </a:xfrm>
          <a:prstGeom prst="bentConnector3">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8" name="Соединительная линия уступом 27">
            <a:extLst>
              <a:ext uri="{FF2B5EF4-FFF2-40B4-BE49-F238E27FC236}">
                <a16:creationId xmlns:a16="http://schemas.microsoft.com/office/drawing/2014/main" id="{56F0D251-F772-6546-B888-4E963921C609}"/>
              </a:ext>
            </a:extLst>
          </p:cNvPr>
          <p:cNvCxnSpPr>
            <a:cxnSpLocks/>
            <a:stCxn id="5" idx="2"/>
            <a:endCxn id="8" idx="0"/>
          </p:cNvCxnSpPr>
          <p:nvPr/>
        </p:nvCxnSpPr>
        <p:spPr bwMode="auto">
          <a:xfrm rot="5400000">
            <a:off x="4334593" y="658753"/>
            <a:ext cx="365670" cy="3821439"/>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32" name="Скругленный прямоугольник 84">
            <a:extLst>
              <a:ext uri="{FF2B5EF4-FFF2-40B4-BE49-F238E27FC236}">
                <a16:creationId xmlns:a16="http://schemas.microsoft.com/office/drawing/2014/main" id="{0594F8BE-B3AF-C84B-8492-8A2D86CFE89C}"/>
              </a:ext>
            </a:extLst>
          </p:cNvPr>
          <p:cNvSpPr>
            <a:spLocks/>
          </p:cNvSpPr>
          <p:nvPr/>
        </p:nvSpPr>
        <p:spPr bwMode="auto">
          <a:xfrm>
            <a:off x="9241717" y="3510600"/>
            <a:ext cx="933554"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35" name="Скругленный прямоугольник 88">
            <a:extLst>
              <a:ext uri="{FF2B5EF4-FFF2-40B4-BE49-F238E27FC236}">
                <a16:creationId xmlns:a16="http://schemas.microsoft.com/office/drawing/2014/main" id="{EBDE1CE4-6D4D-A548-B0DE-F17D28164F55}"/>
              </a:ext>
            </a:extLst>
          </p:cNvPr>
          <p:cNvSpPr>
            <a:spLocks/>
          </p:cNvSpPr>
          <p:nvPr/>
        </p:nvSpPr>
        <p:spPr bwMode="auto">
          <a:xfrm>
            <a:off x="10222527" y="3510600"/>
            <a:ext cx="956092"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cxnSp>
        <p:nvCxnSpPr>
          <p:cNvPr id="42" name="Соединительная линия уступом 36">
            <a:extLst>
              <a:ext uri="{FF2B5EF4-FFF2-40B4-BE49-F238E27FC236}">
                <a16:creationId xmlns:a16="http://schemas.microsoft.com/office/drawing/2014/main" id="{010113D0-801D-4E4A-A914-AC04A84C1C38}"/>
              </a:ext>
            </a:extLst>
          </p:cNvPr>
          <p:cNvCxnSpPr>
            <a:cxnSpLocks/>
            <a:stCxn id="14" idx="2"/>
            <a:endCxn id="32" idx="0"/>
          </p:cNvCxnSpPr>
          <p:nvPr/>
        </p:nvCxnSpPr>
        <p:spPr bwMode="auto">
          <a:xfrm rot="5400000">
            <a:off x="9618542" y="3271994"/>
            <a:ext cx="328558" cy="148653"/>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43" name="Соединительная линия уступом 91">
            <a:extLst>
              <a:ext uri="{FF2B5EF4-FFF2-40B4-BE49-F238E27FC236}">
                <a16:creationId xmlns:a16="http://schemas.microsoft.com/office/drawing/2014/main" id="{9961B9D7-BC69-9449-A462-326C8CE436CF}"/>
              </a:ext>
            </a:extLst>
          </p:cNvPr>
          <p:cNvCxnSpPr>
            <a:cxnSpLocks/>
            <a:stCxn id="14" idx="2"/>
            <a:endCxn id="35" idx="0"/>
          </p:cNvCxnSpPr>
          <p:nvPr/>
        </p:nvCxnSpPr>
        <p:spPr bwMode="auto">
          <a:xfrm rot="16200000" flipH="1">
            <a:off x="10114581" y="2924607"/>
            <a:ext cx="328558" cy="843426"/>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74" name="Subtitle 2">
            <a:extLst>
              <a:ext uri="{FF2B5EF4-FFF2-40B4-BE49-F238E27FC236}">
                <a16:creationId xmlns:a16="http://schemas.microsoft.com/office/drawing/2014/main" id="{8C979760-C4B7-B541-8C3C-4C5F3E929482}"/>
              </a:ext>
            </a:extLst>
          </p:cNvPr>
          <p:cNvSpPr txBox="1">
            <a:spLocks/>
          </p:cNvSpPr>
          <p:nvPr/>
        </p:nvSpPr>
        <p:spPr>
          <a:xfrm>
            <a:off x="4609635" y="2073134"/>
            <a:ext cx="3702505" cy="15892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741" dirty="0"/>
              <a:t>Stigma is a significant barrier to accessing BH care and maintaining mental wellness.</a:t>
            </a:r>
          </a:p>
        </p:txBody>
      </p:sp>
      <p:grpSp>
        <p:nvGrpSpPr>
          <p:cNvPr id="12" name="Group 11">
            <a:extLst>
              <a:ext uri="{FF2B5EF4-FFF2-40B4-BE49-F238E27FC236}">
                <a16:creationId xmlns:a16="http://schemas.microsoft.com/office/drawing/2014/main" id="{D33E1846-E811-DC44-84EA-019B57EC2322}"/>
              </a:ext>
            </a:extLst>
          </p:cNvPr>
          <p:cNvGrpSpPr/>
          <p:nvPr/>
        </p:nvGrpSpPr>
        <p:grpSpPr>
          <a:xfrm>
            <a:off x="4305417" y="2747636"/>
            <a:ext cx="2225190" cy="423465"/>
            <a:chOff x="4938490" y="2657273"/>
            <a:chExt cx="2401793" cy="457073"/>
          </a:xfrm>
        </p:grpSpPr>
        <p:sp>
          <p:nvSpPr>
            <p:cNvPr id="11" name="Скругленный прямоугольник 12">
              <a:extLst>
                <a:ext uri="{FF2B5EF4-FFF2-40B4-BE49-F238E27FC236}">
                  <a16:creationId xmlns:a16="http://schemas.microsoft.com/office/drawing/2014/main" id="{2F8D9C5A-394C-4D4C-8753-180DD6BE1EC1}"/>
                </a:ext>
              </a:extLst>
            </p:cNvPr>
            <p:cNvSpPr/>
            <p:nvPr/>
          </p:nvSpPr>
          <p:spPr bwMode="auto">
            <a:xfrm>
              <a:off x="4938490" y="2657273"/>
              <a:ext cx="2401793" cy="457073"/>
            </a:xfrm>
            <a:prstGeom prst="roundRect">
              <a:avLst>
                <a:gd name="adj" fmla="val 5329"/>
              </a:avLst>
            </a:prstGeom>
            <a:solidFill>
              <a:schemeClr val="accent1">
                <a:lumMod val="75000"/>
                <a:lumOff val="25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78" name="Subtitle 2">
              <a:extLst>
                <a:ext uri="{FF2B5EF4-FFF2-40B4-BE49-F238E27FC236}">
                  <a16:creationId xmlns:a16="http://schemas.microsoft.com/office/drawing/2014/main" id="{661D7864-BE8A-9E40-AAB1-CFF57EBF5715}"/>
                </a:ext>
              </a:extLst>
            </p:cNvPr>
            <p:cNvSpPr txBox="1">
              <a:spLocks/>
            </p:cNvSpPr>
            <p:nvPr/>
          </p:nvSpPr>
          <p:spPr>
            <a:xfrm>
              <a:off x="4978860" y="2709204"/>
              <a:ext cx="2321050" cy="333419"/>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r>
                <a:rPr lang="en-US" sz="741" dirty="0"/>
                <a:t>Stigma is driven by the biases of one’s community and their own beliefs and upbringing</a:t>
              </a:r>
            </a:p>
          </p:txBody>
        </p:sp>
      </p:grpSp>
      <p:sp>
        <p:nvSpPr>
          <p:cNvPr id="90" name="Subtitle 2">
            <a:extLst>
              <a:ext uri="{FF2B5EF4-FFF2-40B4-BE49-F238E27FC236}">
                <a16:creationId xmlns:a16="http://schemas.microsoft.com/office/drawing/2014/main" id="{52FA099A-FD0F-094C-AC92-B54180A8B276}"/>
              </a:ext>
            </a:extLst>
          </p:cNvPr>
          <p:cNvSpPr txBox="1">
            <a:spLocks/>
          </p:cNvSpPr>
          <p:nvPr/>
        </p:nvSpPr>
        <p:spPr>
          <a:xfrm>
            <a:off x="1889460" y="2768565"/>
            <a:ext cx="1445592" cy="386937"/>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741" dirty="0"/>
              <a:t>Stigma is compounded by social determinants of health that create barriers for people</a:t>
            </a:r>
            <a:endParaRPr lang="en-US" sz="741" dirty="0">
              <a:solidFill>
                <a:schemeClr val="bg1"/>
              </a:solidFill>
              <a:latin typeface="Arial" panose="020B0604020202020204" pitchFamily="34" charset="0"/>
              <a:ea typeface="Lato Light" panose="020F0502020204030203" pitchFamily="34" charset="0"/>
              <a:cs typeface="Arial" panose="020B0604020202020204" pitchFamily="34" charset="0"/>
            </a:endParaRPr>
          </a:p>
        </p:txBody>
      </p:sp>
      <p:sp>
        <p:nvSpPr>
          <p:cNvPr id="93" name="Subtitle 2">
            <a:extLst>
              <a:ext uri="{FF2B5EF4-FFF2-40B4-BE49-F238E27FC236}">
                <a16:creationId xmlns:a16="http://schemas.microsoft.com/office/drawing/2014/main" id="{DD733BBC-A258-1B4E-92A8-2961DB283588}"/>
              </a:ext>
            </a:extLst>
          </p:cNvPr>
          <p:cNvSpPr txBox="1">
            <a:spLocks/>
          </p:cNvSpPr>
          <p:nvPr/>
        </p:nvSpPr>
        <p:spPr>
          <a:xfrm>
            <a:off x="8987756" y="2795749"/>
            <a:ext cx="1747471" cy="308903"/>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r>
              <a:rPr lang="en-US" sz="741" dirty="0"/>
              <a:t>Stigma can become a barrier in clinical practice and environments</a:t>
            </a:r>
          </a:p>
        </p:txBody>
      </p:sp>
      <p:sp>
        <p:nvSpPr>
          <p:cNvPr id="75" name="Скругленный прямоугольник 59">
            <a:extLst>
              <a:ext uri="{FF2B5EF4-FFF2-40B4-BE49-F238E27FC236}">
                <a16:creationId xmlns:a16="http://schemas.microsoft.com/office/drawing/2014/main" id="{920717B6-DDA2-3C43-BA52-72827FD01722}"/>
              </a:ext>
            </a:extLst>
          </p:cNvPr>
          <p:cNvSpPr>
            <a:spLocks/>
          </p:cNvSpPr>
          <p:nvPr/>
        </p:nvSpPr>
        <p:spPr bwMode="auto">
          <a:xfrm>
            <a:off x="2050981" y="3510598"/>
            <a:ext cx="841124" cy="684415"/>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79" name="Subtitle 2">
            <a:extLst>
              <a:ext uri="{FF2B5EF4-FFF2-40B4-BE49-F238E27FC236}">
                <a16:creationId xmlns:a16="http://schemas.microsoft.com/office/drawing/2014/main" id="{CFDB561B-C247-D24B-88AD-4424530E9805}"/>
              </a:ext>
            </a:extLst>
          </p:cNvPr>
          <p:cNvSpPr txBox="1">
            <a:spLocks/>
          </p:cNvSpPr>
          <p:nvPr/>
        </p:nvSpPr>
        <p:spPr>
          <a:xfrm>
            <a:off x="2044081" y="3506740"/>
            <a:ext cx="876898" cy="709205"/>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r>
              <a:rPr lang="en-US" sz="519" dirty="0"/>
              <a:t>SDoH affect people’s ability to find, secure, and get to their BH appointments, get childcare while in treatment, and afford BH coverage and care</a:t>
            </a:r>
          </a:p>
        </p:txBody>
      </p:sp>
      <p:grpSp>
        <p:nvGrpSpPr>
          <p:cNvPr id="16" name="Group 15">
            <a:extLst>
              <a:ext uri="{FF2B5EF4-FFF2-40B4-BE49-F238E27FC236}">
                <a16:creationId xmlns:a16="http://schemas.microsoft.com/office/drawing/2014/main" id="{2DE8D6D1-634F-9B47-B717-EB1BF1EECF54}"/>
              </a:ext>
            </a:extLst>
          </p:cNvPr>
          <p:cNvGrpSpPr/>
          <p:nvPr/>
        </p:nvGrpSpPr>
        <p:grpSpPr>
          <a:xfrm>
            <a:off x="4098194" y="3502495"/>
            <a:ext cx="813797" cy="512519"/>
            <a:chOff x="3915447" y="3483859"/>
            <a:chExt cx="878384" cy="553195"/>
          </a:xfrm>
        </p:grpSpPr>
        <p:sp>
          <p:nvSpPr>
            <p:cNvPr id="36" name="Скругленный прямоугольник 80">
              <a:extLst>
                <a:ext uri="{FF2B5EF4-FFF2-40B4-BE49-F238E27FC236}">
                  <a16:creationId xmlns:a16="http://schemas.microsoft.com/office/drawing/2014/main" id="{645E27A1-C2FB-DD4B-B126-34D135B5C50E}"/>
                </a:ext>
              </a:extLst>
            </p:cNvPr>
            <p:cNvSpPr>
              <a:spLocks/>
            </p:cNvSpPr>
            <p:nvPr/>
          </p:nvSpPr>
          <p:spPr bwMode="auto">
            <a:xfrm>
              <a:off x="3915447" y="3483859"/>
              <a:ext cx="878384" cy="553195"/>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44" name="Subtitle 2">
              <a:extLst>
                <a:ext uri="{FF2B5EF4-FFF2-40B4-BE49-F238E27FC236}">
                  <a16:creationId xmlns:a16="http://schemas.microsoft.com/office/drawing/2014/main" id="{F4A1A281-5C8D-F44A-89AD-7B4073A0F4F0}"/>
                </a:ext>
              </a:extLst>
            </p:cNvPr>
            <p:cNvSpPr txBox="1">
              <a:spLocks/>
            </p:cNvSpPr>
            <p:nvPr/>
          </p:nvSpPr>
          <p:spPr>
            <a:xfrm>
              <a:off x="3917531" y="3503826"/>
              <a:ext cx="863452" cy="509417"/>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55" dirty="0"/>
                <a:t>Getting help with BH is often discouraged because of certain cultural norms, practices, and beliefs</a:t>
              </a:r>
            </a:p>
          </p:txBody>
        </p:sp>
      </p:grpSp>
      <p:sp>
        <p:nvSpPr>
          <p:cNvPr id="60" name="Скругленный прямоугольник 84">
            <a:extLst>
              <a:ext uri="{FF2B5EF4-FFF2-40B4-BE49-F238E27FC236}">
                <a16:creationId xmlns:a16="http://schemas.microsoft.com/office/drawing/2014/main" id="{0594F8BE-B3AF-C84B-8492-8A2D86CFE89C}"/>
              </a:ext>
            </a:extLst>
          </p:cNvPr>
          <p:cNvSpPr>
            <a:spLocks/>
          </p:cNvSpPr>
          <p:nvPr/>
        </p:nvSpPr>
        <p:spPr bwMode="auto">
          <a:xfrm>
            <a:off x="605741" y="4352015"/>
            <a:ext cx="739390"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61" name="Скругленный прямоугольник 88">
            <a:extLst>
              <a:ext uri="{FF2B5EF4-FFF2-40B4-BE49-F238E27FC236}">
                <a16:creationId xmlns:a16="http://schemas.microsoft.com/office/drawing/2014/main" id="{EBDE1CE4-6D4D-A548-B0DE-F17D28164F55}"/>
              </a:ext>
            </a:extLst>
          </p:cNvPr>
          <p:cNvSpPr>
            <a:spLocks/>
          </p:cNvSpPr>
          <p:nvPr/>
        </p:nvSpPr>
        <p:spPr bwMode="auto">
          <a:xfrm>
            <a:off x="1466396" y="4352015"/>
            <a:ext cx="739390"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cxnSp>
        <p:nvCxnSpPr>
          <p:cNvPr id="62" name="Соединительная линия уступом 36">
            <a:extLst>
              <a:ext uri="{FF2B5EF4-FFF2-40B4-BE49-F238E27FC236}">
                <a16:creationId xmlns:a16="http://schemas.microsoft.com/office/drawing/2014/main" id="{010113D0-801D-4E4A-A914-AC04A84C1C38}"/>
              </a:ext>
            </a:extLst>
          </p:cNvPr>
          <p:cNvCxnSpPr>
            <a:cxnSpLocks/>
            <a:endCxn id="60" idx="0"/>
          </p:cNvCxnSpPr>
          <p:nvPr/>
        </p:nvCxnSpPr>
        <p:spPr bwMode="auto">
          <a:xfrm rot="5400000">
            <a:off x="1058054" y="3940839"/>
            <a:ext cx="328557" cy="493792"/>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63" name="Соединительная линия уступом 91">
            <a:extLst>
              <a:ext uri="{FF2B5EF4-FFF2-40B4-BE49-F238E27FC236}">
                <a16:creationId xmlns:a16="http://schemas.microsoft.com/office/drawing/2014/main" id="{9961B9D7-BC69-9449-A462-326C8CE436CF}"/>
              </a:ext>
            </a:extLst>
          </p:cNvPr>
          <p:cNvCxnSpPr>
            <a:cxnSpLocks/>
            <a:endCxn id="61" idx="0"/>
          </p:cNvCxnSpPr>
          <p:nvPr/>
        </p:nvCxnSpPr>
        <p:spPr bwMode="auto">
          <a:xfrm rot="16200000" flipH="1">
            <a:off x="1488382" y="4004303"/>
            <a:ext cx="328557" cy="366863"/>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65" name="Subtitle 2">
            <a:extLst>
              <a:ext uri="{FF2B5EF4-FFF2-40B4-BE49-F238E27FC236}">
                <a16:creationId xmlns:a16="http://schemas.microsoft.com/office/drawing/2014/main" id="{791E6E07-594D-EA46-A45D-CDC3DB2CDA38}"/>
              </a:ext>
            </a:extLst>
          </p:cNvPr>
          <p:cNvSpPr txBox="1">
            <a:spLocks/>
          </p:cNvSpPr>
          <p:nvPr/>
        </p:nvSpPr>
        <p:spPr>
          <a:xfrm>
            <a:off x="613930" y="4375569"/>
            <a:ext cx="754807" cy="471960"/>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55" dirty="0"/>
              <a:t>SDOH such as food, job, and housing insecurity, and level of debt directly correlate with BH</a:t>
            </a:r>
          </a:p>
        </p:txBody>
      </p:sp>
      <p:sp>
        <p:nvSpPr>
          <p:cNvPr id="68" name="Скругленный прямоугольник 59">
            <a:extLst>
              <a:ext uri="{FF2B5EF4-FFF2-40B4-BE49-F238E27FC236}">
                <a16:creationId xmlns:a16="http://schemas.microsoft.com/office/drawing/2014/main" id="{920717B6-DDA2-3C43-BA52-72827FD01722}"/>
              </a:ext>
            </a:extLst>
          </p:cNvPr>
          <p:cNvSpPr>
            <a:spLocks/>
          </p:cNvSpPr>
          <p:nvPr/>
        </p:nvSpPr>
        <p:spPr bwMode="auto">
          <a:xfrm>
            <a:off x="945088" y="3510600"/>
            <a:ext cx="105965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cxnSp>
        <p:nvCxnSpPr>
          <p:cNvPr id="69" name="Соединительная линия уступом 29">
            <a:extLst>
              <a:ext uri="{FF2B5EF4-FFF2-40B4-BE49-F238E27FC236}">
                <a16:creationId xmlns:a16="http://schemas.microsoft.com/office/drawing/2014/main" id="{2BD89E4F-6DAA-1E43-BA46-A5FD6E7A02D8}"/>
              </a:ext>
            </a:extLst>
          </p:cNvPr>
          <p:cNvCxnSpPr>
            <a:cxnSpLocks/>
            <a:endCxn id="68" idx="0"/>
          </p:cNvCxnSpPr>
          <p:nvPr/>
        </p:nvCxnSpPr>
        <p:spPr bwMode="auto">
          <a:xfrm rot="10800000" flipV="1">
            <a:off x="1474915" y="3335720"/>
            <a:ext cx="1117930" cy="174878"/>
          </a:xfrm>
          <a:prstGeom prst="bentConnector2">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70" name="Subtitle 2">
            <a:extLst>
              <a:ext uri="{FF2B5EF4-FFF2-40B4-BE49-F238E27FC236}">
                <a16:creationId xmlns:a16="http://schemas.microsoft.com/office/drawing/2014/main" id="{CFDB561B-C247-D24B-88AD-4424530E9805}"/>
              </a:ext>
            </a:extLst>
          </p:cNvPr>
          <p:cNvSpPr txBox="1">
            <a:spLocks/>
          </p:cNvSpPr>
          <p:nvPr/>
        </p:nvSpPr>
        <p:spPr>
          <a:xfrm>
            <a:off x="986763" y="3560065"/>
            <a:ext cx="989184" cy="386552"/>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55" dirty="0"/>
              <a:t>The risk of BH issues increases in direct proportion to the amount of negative SDoH one has</a:t>
            </a:r>
          </a:p>
        </p:txBody>
      </p:sp>
      <p:sp>
        <p:nvSpPr>
          <p:cNvPr id="115" name="Скругленный прямоугольник 59">
            <a:extLst>
              <a:ext uri="{FF2B5EF4-FFF2-40B4-BE49-F238E27FC236}">
                <a16:creationId xmlns:a16="http://schemas.microsoft.com/office/drawing/2014/main" id="{920717B6-DDA2-3C43-BA52-72827FD01722}"/>
              </a:ext>
            </a:extLst>
          </p:cNvPr>
          <p:cNvSpPr>
            <a:spLocks/>
          </p:cNvSpPr>
          <p:nvPr/>
        </p:nvSpPr>
        <p:spPr bwMode="auto">
          <a:xfrm>
            <a:off x="8119678" y="3510600"/>
            <a:ext cx="105965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cxnSp>
        <p:nvCxnSpPr>
          <p:cNvPr id="84" name="Соединительная линия уступом 34">
            <a:extLst>
              <a:ext uri="{FF2B5EF4-FFF2-40B4-BE49-F238E27FC236}">
                <a16:creationId xmlns:a16="http://schemas.microsoft.com/office/drawing/2014/main" id="{6EDBBE99-5EBE-1146-A55A-B12CF462D865}"/>
              </a:ext>
            </a:extLst>
          </p:cNvPr>
          <p:cNvCxnSpPr>
            <a:cxnSpLocks/>
          </p:cNvCxnSpPr>
          <p:nvPr/>
        </p:nvCxnSpPr>
        <p:spPr bwMode="auto">
          <a:xfrm rot="16200000" flipH="1">
            <a:off x="5267390" y="3340359"/>
            <a:ext cx="327943" cy="3057"/>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85" name="Соединительная линия уступом 91">
            <a:extLst>
              <a:ext uri="{FF2B5EF4-FFF2-40B4-BE49-F238E27FC236}">
                <a16:creationId xmlns:a16="http://schemas.microsoft.com/office/drawing/2014/main" id="{928702B7-AEC4-E541-ABF8-6BA404B72D40}"/>
              </a:ext>
            </a:extLst>
          </p:cNvPr>
          <p:cNvCxnSpPr>
            <a:cxnSpLocks/>
          </p:cNvCxnSpPr>
          <p:nvPr/>
        </p:nvCxnSpPr>
        <p:spPr bwMode="auto">
          <a:xfrm rot="10800000" flipV="1">
            <a:off x="8647403" y="3349174"/>
            <a:ext cx="1061091" cy="172200"/>
          </a:xfrm>
          <a:prstGeom prst="bentConnector3">
            <a:avLst>
              <a:gd name="adj1" fmla="val 100224"/>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91" name="Скругленный прямоугольник 84">
            <a:extLst>
              <a:ext uri="{FF2B5EF4-FFF2-40B4-BE49-F238E27FC236}">
                <a16:creationId xmlns:a16="http://schemas.microsoft.com/office/drawing/2014/main" id="{8917FA60-E242-3945-A8AE-B11F650356C5}"/>
              </a:ext>
            </a:extLst>
          </p:cNvPr>
          <p:cNvSpPr>
            <a:spLocks/>
          </p:cNvSpPr>
          <p:nvPr/>
        </p:nvSpPr>
        <p:spPr bwMode="auto">
          <a:xfrm>
            <a:off x="7745778" y="4328747"/>
            <a:ext cx="921174" cy="527373"/>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cxnSp>
        <p:nvCxnSpPr>
          <p:cNvPr id="95" name="Соединительная линия уступом 36">
            <a:extLst>
              <a:ext uri="{FF2B5EF4-FFF2-40B4-BE49-F238E27FC236}">
                <a16:creationId xmlns:a16="http://schemas.microsoft.com/office/drawing/2014/main" id="{1197AC69-E3A0-DA47-AFD5-92C9E6B30EC3}"/>
              </a:ext>
            </a:extLst>
          </p:cNvPr>
          <p:cNvCxnSpPr>
            <a:cxnSpLocks/>
          </p:cNvCxnSpPr>
          <p:nvPr/>
        </p:nvCxnSpPr>
        <p:spPr bwMode="auto">
          <a:xfrm rot="16200000" flipH="1">
            <a:off x="10575210" y="4180973"/>
            <a:ext cx="328557" cy="2403"/>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147" name="5-Point Star 146">
            <a:extLst>
              <a:ext uri="{FF2B5EF4-FFF2-40B4-BE49-F238E27FC236}">
                <a16:creationId xmlns:a16="http://schemas.microsoft.com/office/drawing/2014/main" id="{9AAD28B8-46E0-CC46-9F13-C53813C4441B}"/>
              </a:ext>
            </a:extLst>
          </p:cNvPr>
          <p:cNvSpPr/>
          <p:nvPr/>
        </p:nvSpPr>
        <p:spPr>
          <a:xfrm>
            <a:off x="9910650" y="6741303"/>
            <a:ext cx="164946" cy="164946"/>
          </a:xfrm>
          <a:prstGeom prst="star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46" dirty="0"/>
          </a:p>
        </p:txBody>
      </p:sp>
      <p:sp>
        <p:nvSpPr>
          <p:cNvPr id="83" name="Скругленный прямоугольник 88">
            <a:extLst>
              <a:ext uri="{FF2B5EF4-FFF2-40B4-BE49-F238E27FC236}">
                <a16:creationId xmlns:a16="http://schemas.microsoft.com/office/drawing/2014/main" id="{6E23D125-4470-8647-8AB1-FDB235709581}"/>
              </a:ext>
            </a:extLst>
          </p:cNvPr>
          <p:cNvSpPr>
            <a:spLocks/>
          </p:cNvSpPr>
          <p:nvPr/>
        </p:nvSpPr>
        <p:spPr bwMode="auto">
          <a:xfrm>
            <a:off x="11237064" y="3510600"/>
            <a:ext cx="956092"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cxnSp>
        <p:nvCxnSpPr>
          <p:cNvPr id="87" name="Соединительная линия уступом 91">
            <a:extLst>
              <a:ext uri="{FF2B5EF4-FFF2-40B4-BE49-F238E27FC236}">
                <a16:creationId xmlns:a16="http://schemas.microsoft.com/office/drawing/2014/main" id="{D45F2E45-3143-D241-B927-651D6F3FEAB4}"/>
              </a:ext>
            </a:extLst>
          </p:cNvPr>
          <p:cNvCxnSpPr>
            <a:cxnSpLocks/>
          </p:cNvCxnSpPr>
          <p:nvPr/>
        </p:nvCxnSpPr>
        <p:spPr bwMode="auto">
          <a:xfrm>
            <a:off x="10700573" y="3350166"/>
            <a:ext cx="992837" cy="160432"/>
          </a:xfrm>
          <a:prstGeom prst="bentConnector3">
            <a:avLst>
              <a:gd name="adj1" fmla="val 99727"/>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88" name="Rectangle 87">
            <a:extLst>
              <a:ext uri="{FF2B5EF4-FFF2-40B4-BE49-F238E27FC236}">
                <a16:creationId xmlns:a16="http://schemas.microsoft.com/office/drawing/2014/main" id="{4B25B938-7149-CB48-AFF3-E87F0AA28C57}"/>
              </a:ext>
            </a:extLst>
          </p:cNvPr>
          <p:cNvSpPr/>
          <p:nvPr/>
        </p:nvSpPr>
        <p:spPr>
          <a:xfrm>
            <a:off x="682438" y="780519"/>
            <a:ext cx="6267568" cy="320537"/>
          </a:xfrm>
          <a:prstGeom prst="rect">
            <a:avLst/>
          </a:prstGeom>
        </p:spPr>
        <p:txBody>
          <a:bodyPr wrap="square" anchor="t">
            <a:spAutoFit/>
          </a:bodyPr>
          <a:lstStyle/>
          <a:p>
            <a:r>
              <a:rPr lang="en-US" sz="1483" dirty="0">
                <a:solidFill>
                  <a:srgbClr val="003963"/>
                </a:solidFill>
              </a:rPr>
              <a:t>PROBLEM AREA 6: </a:t>
            </a:r>
            <a:r>
              <a:rPr lang="en-US" sz="1483" b="1" dirty="0">
                <a:solidFill>
                  <a:srgbClr val="00A2E2"/>
                </a:solidFill>
              </a:rPr>
              <a:t>Address Stigma and Cultural Challenges</a:t>
            </a:r>
          </a:p>
        </p:txBody>
      </p:sp>
      <p:sp>
        <p:nvSpPr>
          <p:cNvPr id="89" name="Subtitle 2">
            <a:extLst>
              <a:ext uri="{FF2B5EF4-FFF2-40B4-BE49-F238E27FC236}">
                <a16:creationId xmlns:a16="http://schemas.microsoft.com/office/drawing/2014/main" id="{5781FAFB-06A0-4643-8F12-E197C098D1F7}"/>
              </a:ext>
            </a:extLst>
          </p:cNvPr>
          <p:cNvSpPr txBox="1">
            <a:spLocks/>
          </p:cNvSpPr>
          <p:nvPr/>
        </p:nvSpPr>
        <p:spPr>
          <a:xfrm>
            <a:off x="1466395" y="4358618"/>
            <a:ext cx="754807" cy="524282"/>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19" dirty="0"/>
              <a:t>Adverse childhood events, such as family violence and substance abuse in the home increase risk</a:t>
            </a:r>
          </a:p>
        </p:txBody>
      </p:sp>
      <p:grpSp>
        <p:nvGrpSpPr>
          <p:cNvPr id="19" name="Group 18">
            <a:extLst>
              <a:ext uri="{FF2B5EF4-FFF2-40B4-BE49-F238E27FC236}">
                <a16:creationId xmlns:a16="http://schemas.microsoft.com/office/drawing/2014/main" id="{F687BCE8-8709-FC44-818B-66CAF9EFCCD1}"/>
              </a:ext>
            </a:extLst>
          </p:cNvPr>
          <p:cNvGrpSpPr/>
          <p:nvPr/>
        </p:nvGrpSpPr>
        <p:grpSpPr>
          <a:xfrm>
            <a:off x="3058456" y="3502495"/>
            <a:ext cx="985989" cy="677135"/>
            <a:chOff x="2793190" y="3477496"/>
            <a:chExt cx="1064242" cy="730875"/>
          </a:xfrm>
        </p:grpSpPr>
        <p:sp>
          <p:nvSpPr>
            <p:cNvPr id="20" name="Скругленный прямоугольник 59">
              <a:extLst>
                <a:ext uri="{FF2B5EF4-FFF2-40B4-BE49-F238E27FC236}">
                  <a16:creationId xmlns:a16="http://schemas.microsoft.com/office/drawing/2014/main" id="{48EA4E42-DB7D-A94B-888D-E936EC0C4E0E}"/>
                </a:ext>
              </a:extLst>
            </p:cNvPr>
            <p:cNvSpPr>
              <a:spLocks/>
            </p:cNvSpPr>
            <p:nvPr/>
          </p:nvSpPr>
          <p:spPr bwMode="auto">
            <a:xfrm>
              <a:off x="2795347" y="3477496"/>
              <a:ext cx="1062085" cy="730875"/>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97" name="Subtitle 2">
              <a:extLst>
                <a:ext uri="{FF2B5EF4-FFF2-40B4-BE49-F238E27FC236}">
                  <a16:creationId xmlns:a16="http://schemas.microsoft.com/office/drawing/2014/main" id="{0A36C6ED-D39E-B64D-AB4A-BA1CEB8A9AD2}"/>
                </a:ext>
              </a:extLst>
            </p:cNvPr>
            <p:cNvSpPr txBox="1">
              <a:spLocks/>
            </p:cNvSpPr>
            <p:nvPr/>
          </p:nvSpPr>
          <p:spPr>
            <a:xfrm>
              <a:off x="2793190" y="3495101"/>
              <a:ext cx="1044425" cy="687768"/>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r>
                <a:rPr lang="en-US" sz="463" dirty="0"/>
                <a:t>Certain demographics experience more stigma, putting them at higher risk for BH issues (LGBTQ, women, rural populations, minorities, homeless and incarcerated people, Muslim Americans)</a:t>
              </a:r>
            </a:p>
          </p:txBody>
        </p:sp>
      </p:grpSp>
      <p:sp>
        <p:nvSpPr>
          <p:cNvPr id="98" name="Скругленный прямоугольник 88">
            <a:extLst>
              <a:ext uri="{FF2B5EF4-FFF2-40B4-BE49-F238E27FC236}">
                <a16:creationId xmlns:a16="http://schemas.microsoft.com/office/drawing/2014/main" id="{6603CDBC-7CD5-5B4E-91F5-45A114226FA5}"/>
              </a:ext>
            </a:extLst>
          </p:cNvPr>
          <p:cNvSpPr>
            <a:spLocks/>
          </p:cNvSpPr>
          <p:nvPr/>
        </p:nvSpPr>
        <p:spPr bwMode="auto">
          <a:xfrm>
            <a:off x="4347546" y="4344604"/>
            <a:ext cx="835737"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05" name="Subtitle 2">
            <a:extLst>
              <a:ext uri="{FF2B5EF4-FFF2-40B4-BE49-F238E27FC236}">
                <a16:creationId xmlns:a16="http://schemas.microsoft.com/office/drawing/2014/main" id="{9396B3D0-DEA0-AF45-8324-BE2D4F4A7BA6}"/>
              </a:ext>
            </a:extLst>
          </p:cNvPr>
          <p:cNvSpPr txBox="1">
            <a:spLocks/>
          </p:cNvSpPr>
          <p:nvPr/>
        </p:nvSpPr>
        <p:spPr>
          <a:xfrm>
            <a:off x="4362964" y="4366313"/>
            <a:ext cx="820320" cy="444389"/>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19" dirty="0"/>
              <a:t>Some cultural norms frown on BH as a sign of weakness, and / or discourage people from seeking help</a:t>
            </a:r>
          </a:p>
        </p:txBody>
      </p:sp>
      <p:cxnSp>
        <p:nvCxnSpPr>
          <p:cNvPr id="107" name="Соединительная линия уступом 34">
            <a:extLst>
              <a:ext uri="{FF2B5EF4-FFF2-40B4-BE49-F238E27FC236}">
                <a16:creationId xmlns:a16="http://schemas.microsoft.com/office/drawing/2014/main" id="{4E1A5130-1F91-5A42-B20C-E5C775C977AD}"/>
              </a:ext>
            </a:extLst>
          </p:cNvPr>
          <p:cNvCxnSpPr>
            <a:cxnSpLocks/>
          </p:cNvCxnSpPr>
          <p:nvPr/>
        </p:nvCxnSpPr>
        <p:spPr bwMode="auto">
          <a:xfrm rot="16200000" flipH="1">
            <a:off x="2506116" y="3439012"/>
            <a:ext cx="161640" cy="2172"/>
          </a:xfrm>
          <a:prstGeom prst="bentConnector3">
            <a:avLst>
              <a:gd name="adj1" fmla="val -106359"/>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grpSp>
        <p:nvGrpSpPr>
          <p:cNvPr id="15" name="Group 14">
            <a:extLst>
              <a:ext uri="{FF2B5EF4-FFF2-40B4-BE49-F238E27FC236}">
                <a16:creationId xmlns:a16="http://schemas.microsoft.com/office/drawing/2014/main" id="{EFA3114E-2364-1E4D-9383-A5DF71EF9CCC}"/>
              </a:ext>
            </a:extLst>
          </p:cNvPr>
          <p:cNvGrpSpPr/>
          <p:nvPr/>
        </p:nvGrpSpPr>
        <p:grpSpPr>
          <a:xfrm>
            <a:off x="5821168" y="3502494"/>
            <a:ext cx="979363" cy="517037"/>
            <a:chOff x="5775164" y="3476411"/>
            <a:chExt cx="1057091" cy="558072"/>
          </a:xfrm>
        </p:grpSpPr>
        <p:sp>
          <p:nvSpPr>
            <p:cNvPr id="29" name="Скругленный прямоугольник 80">
              <a:extLst>
                <a:ext uri="{FF2B5EF4-FFF2-40B4-BE49-F238E27FC236}">
                  <a16:creationId xmlns:a16="http://schemas.microsoft.com/office/drawing/2014/main" id="{645E27A1-C2FB-DD4B-B126-34D135B5C50E}"/>
                </a:ext>
              </a:extLst>
            </p:cNvPr>
            <p:cNvSpPr>
              <a:spLocks/>
            </p:cNvSpPr>
            <p:nvPr/>
          </p:nvSpPr>
          <p:spPr bwMode="auto">
            <a:xfrm>
              <a:off x="5779131" y="3480109"/>
              <a:ext cx="1053124" cy="553195"/>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09" name="Subtitle 2">
              <a:extLst>
                <a:ext uri="{FF2B5EF4-FFF2-40B4-BE49-F238E27FC236}">
                  <a16:creationId xmlns:a16="http://schemas.microsoft.com/office/drawing/2014/main" id="{376B918C-1255-9B4C-9695-F356A042452B}"/>
                </a:ext>
              </a:extLst>
            </p:cNvPr>
            <p:cNvSpPr txBox="1">
              <a:spLocks/>
            </p:cNvSpPr>
            <p:nvPr/>
          </p:nvSpPr>
          <p:spPr>
            <a:xfrm>
              <a:off x="5775164" y="3476411"/>
              <a:ext cx="1038391" cy="558072"/>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r>
                <a:rPr lang="en-US" sz="519" dirty="0"/>
                <a:t>There is stigma associated with getting a diagnosis of mental illness, leading some to feel alienated, and not seek or continue care</a:t>
              </a:r>
              <a:r>
                <a:rPr lang="en-US" sz="519" dirty="0">
                  <a:solidFill>
                    <a:schemeClr val="bg1"/>
                  </a:solidFill>
                  <a:latin typeface="Arial" panose="020B0604020202020204" pitchFamily="34" charset="0"/>
                  <a:cs typeface="Arial" panose="020B0604020202020204" pitchFamily="34" charset="0"/>
                </a:rPr>
                <a:t>.</a:t>
              </a:r>
              <a:endParaRPr lang="en-US" sz="519" dirty="0"/>
            </a:p>
          </p:txBody>
        </p:sp>
      </p:grpSp>
      <p:sp>
        <p:nvSpPr>
          <p:cNvPr id="23" name="Скругленный прямоугольник 72">
            <a:extLst>
              <a:ext uri="{FF2B5EF4-FFF2-40B4-BE49-F238E27FC236}">
                <a16:creationId xmlns:a16="http://schemas.microsoft.com/office/drawing/2014/main" id="{26BDD212-7D19-E643-870C-D3C4D6B53526}"/>
              </a:ext>
            </a:extLst>
          </p:cNvPr>
          <p:cNvSpPr>
            <a:spLocks/>
          </p:cNvSpPr>
          <p:nvPr/>
        </p:nvSpPr>
        <p:spPr bwMode="auto">
          <a:xfrm>
            <a:off x="4962469" y="3501705"/>
            <a:ext cx="839803" cy="521413"/>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12" name="Subtitle 2">
            <a:extLst>
              <a:ext uri="{FF2B5EF4-FFF2-40B4-BE49-F238E27FC236}">
                <a16:creationId xmlns:a16="http://schemas.microsoft.com/office/drawing/2014/main" id="{4ABA1D63-AF34-E349-8B23-FCFE77DBAC20}"/>
              </a:ext>
            </a:extLst>
          </p:cNvPr>
          <p:cNvSpPr txBox="1">
            <a:spLocks/>
          </p:cNvSpPr>
          <p:nvPr/>
        </p:nvSpPr>
        <p:spPr>
          <a:xfrm>
            <a:off x="4948252" y="3486996"/>
            <a:ext cx="842158" cy="549995"/>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r>
              <a:rPr lang="en-US" sz="555" dirty="0"/>
              <a:t>Family, friends, and a person’s community can influence or dissuade them from seeking help.</a:t>
            </a:r>
          </a:p>
        </p:txBody>
      </p:sp>
      <p:cxnSp>
        <p:nvCxnSpPr>
          <p:cNvPr id="125" name="Соединительная линия уступом 34">
            <a:extLst>
              <a:ext uri="{FF2B5EF4-FFF2-40B4-BE49-F238E27FC236}">
                <a16:creationId xmlns:a16="http://schemas.microsoft.com/office/drawing/2014/main" id="{C134BDDE-E4B1-6944-B8B0-208E09892099}"/>
              </a:ext>
            </a:extLst>
          </p:cNvPr>
          <p:cNvCxnSpPr>
            <a:cxnSpLocks/>
          </p:cNvCxnSpPr>
          <p:nvPr/>
        </p:nvCxnSpPr>
        <p:spPr bwMode="auto">
          <a:xfrm rot="16200000" flipH="1">
            <a:off x="5457001" y="2672696"/>
            <a:ext cx="161640" cy="2172"/>
          </a:xfrm>
          <a:prstGeom prst="bentConnector3">
            <a:avLst>
              <a:gd name="adj1" fmla="val 54296"/>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28" name="Соединительная линия уступом 91">
            <a:extLst>
              <a:ext uri="{FF2B5EF4-FFF2-40B4-BE49-F238E27FC236}">
                <a16:creationId xmlns:a16="http://schemas.microsoft.com/office/drawing/2014/main" id="{9954193F-80CA-F844-9A11-C21F4F946C25}"/>
              </a:ext>
            </a:extLst>
          </p:cNvPr>
          <p:cNvCxnSpPr>
            <a:cxnSpLocks/>
          </p:cNvCxnSpPr>
          <p:nvPr/>
        </p:nvCxnSpPr>
        <p:spPr bwMode="auto">
          <a:xfrm rot="16200000" flipH="1">
            <a:off x="4639032" y="4000073"/>
            <a:ext cx="328557" cy="366863"/>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130" name="Subtitle 2">
            <a:extLst>
              <a:ext uri="{FF2B5EF4-FFF2-40B4-BE49-F238E27FC236}">
                <a16:creationId xmlns:a16="http://schemas.microsoft.com/office/drawing/2014/main" id="{06220A6E-1FF7-0B4A-9497-63694E657ECB}"/>
              </a:ext>
            </a:extLst>
          </p:cNvPr>
          <p:cNvSpPr txBox="1">
            <a:spLocks/>
          </p:cNvSpPr>
          <p:nvPr/>
        </p:nvSpPr>
        <p:spPr>
          <a:xfrm>
            <a:off x="9237755" y="3528871"/>
            <a:ext cx="939482" cy="524219"/>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r>
              <a:rPr lang="en-US" sz="519" dirty="0"/>
              <a:t>Many PCP’s are not trained or comfortable with discussing mental wellness with patients</a:t>
            </a:r>
          </a:p>
          <a:p>
            <a:pPr algn="l">
              <a:lnSpc>
                <a:spcPct val="100000"/>
              </a:lnSpc>
            </a:pPr>
            <a:endParaRPr lang="en-US" sz="519" dirty="0">
              <a:solidFill>
                <a:schemeClr val="bg1"/>
              </a:solidFill>
              <a:latin typeface="Arial" panose="020B0604020202020204" pitchFamily="34" charset="0"/>
              <a:ea typeface="Lato Light" panose="020F0502020204030203" pitchFamily="34" charset="0"/>
              <a:cs typeface="Arial" panose="020B0604020202020204" pitchFamily="34" charset="0"/>
            </a:endParaRPr>
          </a:p>
        </p:txBody>
      </p:sp>
      <p:sp>
        <p:nvSpPr>
          <p:cNvPr id="131" name="Subtitle 2">
            <a:extLst>
              <a:ext uri="{FF2B5EF4-FFF2-40B4-BE49-F238E27FC236}">
                <a16:creationId xmlns:a16="http://schemas.microsoft.com/office/drawing/2014/main" id="{F90F7F2A-1958-3A4C-AB10-A3A9CE2DA163}"/>
              </a:ext>
            </a:extLst>
          </p:cNvPr>
          <p:cNvSpPr txBox="1">
            <a:spLocks/>
          </p:cNvSpPr>
          <p:nvPr/>
        </p:nvSpPr>
        <p:spPr>
          <a:xfrm>
            <a:off x="8138036" y="3519790"/>
            <a:ext cx="1018727" cy="620078"/>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r>
              <a:rPr lang="en-US" sz="519" dirty="0"/>
              <a:t>Some clinicians have antiquated beliefs about BH, mental wellness, and the practice of psychiatry as a “soft science”</a:t>
            </a:r>
          </a:p>
          <a:p>
            <a:pPr algn="l">
              <a:lnSpc>
                <a:spcPct val="100000"/>
              </a:lnSpc>
            </a:pPr>
            <a:endParaRPr lang="en-US" sz="519" dirty="0">
              <a:solidFill>
                <a:schemeClr val="bg1"/>
              </a:solidFill>
              <a:latin typeface="Arial" panose="020B0604020202020204" pitchFamily="34" charset="0"/>
              <a:ea typeface="Lato Light" panose="020F0502020204030203" pitchFamily="34" charset="0"/>
              <a:cs typeface="Arial" panose="020B0604020202020204" pitchFamily="34" charset="0"/>
            </a:endParaRPr>
          </a:p>
        </p:txBody>
      </p:sp>
      <p:sp>
        <p:nvSpPr>
          <p:cNvPr id="132" name="Subtitle 2">
            <a:extLst>
              <a:ext uri="{FF2B5EF4-FFF2-40B4-BE49-F238E27FC236}">
                <a16:creationId xmlns:a16="http://schemas.microsoft.com/office/drawing/2014/main" id="{936DBB06-5144-0D40-86FD-68C737B26A7C}"/>
              </a:ext>
            </a:extLst>
          </p:cNvPr>
          <p:cNvSpPr txBox="1">
            <a:spLocks/>
          </p:cNvSpPr>
          <p:nvPr/>
        </p:nvSpPr>
        <p:spPr>
          <a:xfrm>
            <a:off x="10212697" y="3495545"/>
            <a:ext cx="1021262" cy="620078"/>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r>
              <a:rPr lang="en-US" sz="519" dirty="0"/>
              <a:t>Clinicians may show bias in how they care for patients with BH conditions (especially SUD, and the more “dangerous” conditions, like schizophrenia)</a:t>
            </a:r>
          </a:p>
          <a:p>
            <a:pPr algn="l">
              <a:lnSpc>
                <a:spcPct val="100000"/>
              </a:lnSpc>
            </a:pPr>
            <a:endParaRPr lang="en-US" sz="519" dirty="0">
              <a:solidFill>
                <a:schemeClr val="bg1"/>
              </a:solidFill>
              <a:latin typeface="Arial" panose="020B0604020202020204" pitchFamily="34" charset="0"/>
              <a:ea typeface="Lato Light" panose="020F0502020204030203" pitchFamily="34" charset="0"/>
              <a:cs typeface="Arial" panose="020B0604020202020204" pitchFamily="34" charset="0"/>
            </a:endParaRPr>
          </a:p>
        </p:txBody>
      </p:sp>
      <p:sp>
        <p:nvSpPr>
          <p:cNvPr id="133" name="Subtitle 2">
            <a:extLst>
              <a:ext uri="{FF2B5EF4-FFF2-40B4-BE49-F238E27FC236}">
                <a16:creationId xmlns:a16="http://schemas.microsoft.com/office/drawing/2014/main" id="{5A976088-2058-1348-883B-76D323853F3E}"/>
              </a:ext>
            </a:extLst>
          </p:cNvPr>
          <p:cNvSpPr txBox="1">
            <a:spLocks/>
          </p:cNvSpPr>
          <p:nvPr/>
        </p:nvSpPr>
        <p:spPr>
          <a:xfrm>
            <a:off x="11231203" y="3509666"/>
            <a:ext cx="939481" cy="620078"/>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r>
              <a:rPr lang="en-US" sz="519" dirty="0"/>
              <a:t>Clinical environments — including ED’s and outpatient facilities are not designed with the needs of BH patients in mind</a:t>
            </a:r>
          </a:p>
          <a:p>
            <a:pPr algn="l">
              <a:lnSpc>
                <a:spcPct val="100000"/>
              </a:lnSpc>
            </a:pPr>
            <a:endParaRPr lang="en-US" sz="519" dirty="0">
              <a:solidFill>
                <a:schemeClr val="bg1"/>
              </a:solidFill>
              <a:latin typeface="Arial" panose="020B0604020202020204" pitchFamily="34" charset="0"/>
              <a:ea typeface="Lato Light" panose="020F0502020204030203" pitchFamily="34" charset="0"/>
              <a:cs typeface="Arial" panose="020B0604020202020204" pitchFamily="34" charset="0"/>
            </a:endParaRPr>
          </a:p>
        </p:txBody>
      </p:sp>
      <p:sp>
        <p:nvSpPr>
          <p:cNvPr id="135" name="Subtitle 2">
            <a:extLst>
              <a:ext uri="{FF2B5EF4-FFF2-40B4-BE49-F238E27FC236}">
                <a16:creationId xmlns:a16="http://schemas.microsoft.com/office/drawing/2014/main" id="{85E88EBA-7062-6C44-B927-75DBC21011F3}"/>
              </a:ext>
            </a:extLst>
          </p:cNvPr>
          <p:cNvSpPr txBox="1">
            <a:spLocks/>
          </p:cNvSpPr>
          <p:nvPr/>
        </p:nvSpPr>
        <p:spPr>
          <a:xfrm>
            <a:off x="7768535" y="4334504"/>
            <a:ext cx="891074" cy="620078"/>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r>
              <a:rPr lang="en-US" sz="519" dirty="0"/>
              <a:t>Communication and education about mental wellness on the clinical side my be uncoordinated, spotty, or non-existent</a:t>
            </a:r>
          </a:p>
          <a:p>
            <a:pPr algn="l">
              <a:lnSpc>
                <a:spcPct val="100000"/>
              </a:lnSpc>
            </a:pPr>
            <a:endParaRPr lang="en-US" sz="519" dirty="0">
              <a:solidFill>
                <a:schemeClr val="bg1"/>
              </a:solidFill>
              <a:latin typeface="Arial" panose="020B0604020202020204" pitchFamily="34" charset="0"/>
              <a:ea typeface="Lato Light" panose="020F0502020204030203" pitchFamily="34" charset="0"/>
              <a:cs typeface="Arial" panose="020B0604020202020204" pitchFamily="34" charset="0"/>
            </a:endParaRPr>
          </a:p>
        </p:txBody>
      </p:sp>
      <p:sp>
        <p:nvSpPr>
          <p:cNvPr id="136" name="Скругленный прямоугольник 88">
            <a:extLst>
              <a:ext uri="{FF2B5EF4-FFF2-40B4-BE49-F238E27FC236}">
                <a16:creationId xmlns:a16="http://schemas.microsoft.com/office/drawing/2014/main" id="{FCC4851F-1A8E-E848-871F-8E3135D0CEB9}"/>
              </a:ext>
            </a:extLst>
          </p:cNvPr>
          <p:cNvSpPr>
            <a:spLocks/>
          </p:cNvSpPr>
          <p:nvPr/>
        </p:nvSpPr>
        <p:spPr bwMode="auto">
          <a:xfrm>
            <a:off x="3311272" y="4352384"/>
            <a:ext cx="977042"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37" name="Subtitle 2">
            <a:extLst>
              <a:ext uri="{FF2B5EF4-FFF2-40B4-BE49-F238E27FC236}">
                <a16:creationId xmlns:a16="http://schemas.microsoft.com/office/drawing/2014/main" id="{81B88683-F9EA-1046-8702-BDC467CD3473}"/>
              </a:ext>
            </a:extLst>
          </p:cNvPr>
          <p:cNvSpPr txBox="1">
            <a:spLocks/>
          </p:cNvSpPr>
          <p:nvPr/>
        </p:nvSpPr>
        <p:spPr>
          <a:xfrm>
            <a:off x="3326688" y="4374093"/>
            <a:ext cx="933615" cy="444389"/>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19" dirty="0"/>
              <a:t>Some communities may not have education on, or awareness of, the importance of mental wellness and hygiene</a:t>
            </a:r>
          </a:p>
        </p:txBody>
      </p:sp>
      <p:cxnSp>
        <p:nvCxnSpPr>
          <p:cNvPr id="64" name="Соединительная линия уступом 29">
            <a:extLst>
              <a:ext uri="{FF2B5EF4-FFF2-40B4-BE49-F238E27FC236}">
                <a16:creationId xmlns:a16="http://schemas.microsoft.com/office/drawing/2014/main" id="{88AA491E-9ADB-2849-8F52-77BE2D2C7D71}"/>
              </a:ext>
            </a:extLst>
          </p:cNvPr>
          <p:cNvCxnSpPr>
            <a:cxnSpLocks/>
          </p:cNvCxnSpPr>
          <p:nvPr/>
        </p:nvCxnSpPr>
        <p:spPr bwMode="auto">
          <a:xfrm rot="10800000" flipV="1">
            <a:off x="4497223" y="3334050"/>
            <a:ext cx="1117930" cy="174878"/>
          </a:xfrm>
          <a:prstGeom prst="bentConnector2">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66" name="Соединительная линия уступом 91">
            <a:extLst>
              <a:ext uri="{FF2B5EF4-FFF2-40B4-BE49-F238E27FC236}">
                <a16:creationId xmlns:a16="http://schemas.microsoft.com/office/drawing/2014/main" id="{75F31BD2-05D1-B844-8DDC-4A351BF8FE5F}"/>
              </a:ext>
            </a:extLst>
          </p:cNvPr>
          <p:cNvCxnSpPr>
            <a:cxnSpLocks/>
          </p:cNvCxnSpPr>
          <p:nvPr/>
        </p:nvCxnSpPr>
        <p:spPr bwMode="auto">
          <a:xfrm>
            <a:off x="5450405" y="3325775"/>
            <a:ext cx="992837" cy="160432"/>
          </a:xfrm>
          <a:prstGeom prst="bentConnector3">
            <a:avLst>
              <a:gd name="adj1" fmla="val 99727"/>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72" name="Соединительная линия уступом 36">
            <a:extLst>
              <a:ext uri="{FF2B5EF4-FFF2-40B4-BE49-F238E27FC236}">
                <a16:creationId xmlns:a16="http://schemas.microsoft.com/office/drawing/2014/main" id="{D88E7C36-9FED-FE47-AAE0-2ABA61174294}"/>
              </a:ext>
            </a:extLst>
          </p:cNvPr>
          <p:cNvCxnSpPr>
            <a:cxnSpLocks/>
          </p:cNvCxnSpPr>
          <p:nvPr/>
        </p:nvCxnSpPr>
        <p:spPr bwMode="auto">
          <a:xfrm rot="5400000">
            <a:off x="4150836" y="4036370"/>
            <a:ext cx="320609" cy="289408"/>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grpSp>
        <p:nvGrpSpPr>
          <p:cNvPr id="39" name="Group 38">
            <a:extLst>
              <a:ext uri="{FF2B5EF4-FFF2-40B4-BE49-F238E27FC236}">
                <a16:creationId xmlns:a16="http://schemas.microsoft.com/office/drawing/2014/main" id="{89E76BD2-F90C-0B4D-97D3-64AD3C3F007F}"/>
              </a:ext>
            </a:extLst>
          </p:cNvPr>
          <p:cNvGrpSpPr/>
          <p:nvPr/>
        </p:nvGrpSpPr>
        <p:grpSpPr>
          <a:xfrm>
            <a:off x="3747378" y="4852109"/>
            <a:ext cx="4575458" cy="166862"/>
            <a:chOff x="4618225" y="4941597"/>
            <a:chExt cx="5335105" cy="180105"/>
          </a:xfrm>
        </p:grpSpPr>
        <p:cxnSp>
          <p:nvCxnSpPr>
            <p:cNvPr id="24" name="Straight Connector 23">
              <a:extLst>
                <a:ext uri="{FF2B5EF4-FFF2-40B4-BE49-F238E27FC236}">
                  <a16:creationId xmlns:a16="http://schemas.microsoft.com/office/drawing/2014/main" id="{EE932F50-0329-9B4E-89D8-4CC5C30BE306}"/>
                </a:ext>
              </a:extLst>
            </p:cNvPr>
            <p:cNvCxnSpPr>
              <a:cxnSpLocks/>
            </p:cNvCxnSpPr>
            <p:nvPr/>
          </p:nvCxnSpPr>
          <p:spPr>
            <a:xfrm>
              <a:off x="4618225" y="5115071"/>
              <a:ext cx="5335105" cy="1"/>
            </a:xfrm>
            <a:prstGeom prst="line">
              <a:avLst/>
            </a:prstGeom>
            <a:ln w="190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C38B02FA-429B-C041-9D62-D6CDA68EDDC1}"/>
                </a:ext>
              </a:extLst>
            </p:cNvPr>
            <p:cNvCxnSpPr>
              <a:cxnSpLocks/>
            </p:cNvCxnSpPr>
            <p:nvPr/>
          </p:nvCxnSpPr>
          <p:spPr>
            <a:xfrm>
              <a:off x="9952320" y="4941597"/>
              <a:ext cx="0" cy="180105"/>
            </a:xfrm>
            <a:prstGeom prst="line">
              <a:avLst/>
            </a:prstGeom>
            <a:ln w="190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0B37EDA6-47A9-E346-A342-508095B0B4DC}"/>
                </a:ext>
              </a:extLst>
            </p:cNvPr>
            <p:cNvCxnSpPr>
              <a:cxnSpLocks/>
            </p:cNvCxnSpPr>
            <p:nvPr/>
          </p:nvCxnSpPr>
          <p:spPr>
            <a:xfrm>
              <a:off x="4619614" y="4941597"/>
              <a:ext cx="0" cy="180105"/>
            </a:xfrm>
            <a:prstGeom prst="line">
              <a:avLst/>
            </a:prstGeom>
            <a:ln w="190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102" name="Straight Connector 101">
            <a:extLst>
              <a:ext uri="{FF2B5EF4-FFF2-40B4-BE49-F238E27FC236}">
                <a16:creationId xmlns:a16="http://schemas.microsoft.com/office/drawing/2014/main" id="{E49744B5-B6D6-624F-9148-7E619DF72207}"/>
              </a:ext>
            </a:extLst>
          </p:cNvPr>
          <p:cNvCxnSpPr>
            <a:cxnSpLocks/>
          </p:cNvCxnSpPr>
          <p:nvPr/>
        </p:nvCxnSpPr>
        <p:spPr>
          <a:xfrm>
            <a:off x="3149506" y="5767177"/>
            <a:ext cx="8736066" cy="0"/>
          </a:xfrm>
          <a:prstGeom prst="line">
            <a:avLst/>
          </a:prstGeom>
          <a:ln w="190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76FBBC85-F2BC-6D48-A7E3-8C33906B6F2F}"/>
              </a:ext>
            </a:extLst>
          </p:cNvPr>
          <p:cNvCxnSpPr>
            <a:cxnSpLocks/>
          </p:cNvCxnSpPr>
          <p:nvPr/>
        </p:nvCxnSpPr>
        <p:spPr>
          <a:xfrm>
            <a:off x="11838605" y="4843043"/>
            <a:ext cx="0" cy="928447"/>
          </a:xfrm>
          <a:prstGeom prst="line">
            <a:avLst/>
          </a:prstGeom>
          <a:ln w="190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78295FEC-2814-1347-8DA0-A79ED099748D}"/>
              </a:ext>
            </a:extLst>
          </p:cNvPr>
          <p:cNvCxnSpPr>
            <a:cxnSpLocks/>
          </p:cNvCxnSpPr>
          <p:nvPr/>
        </p:nvCxnSpPr>
        <p:spPr>
          <a:xfrm>
            <a:off x="3149504" y="4195014"/>
            <a:ext cx="0" cy="1572163"/>
          </a:xfrm>
          <a:prstGeom prst="line">
            <a:avLst/>
          </a:prstGeom>
          <a:ln w="190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76" name="Скругленный прямоугольник 84">
            <a:extLst>
              <a:ext uri="{FF2B5EF4-FFF2-40B4-BE49-F238E27FC236}">
                <a16:creationId xmlns:a16="http://schemas.microsoft.com/office/drawing/2014/main" id="{8D0B04A9-9E7D-4049-8A57-FC568EB6795A}"/>
              </a:ext>
            </a:extLst>
          </p:cNvPr>
          <p:cNvSpPr>
            <a:spLocks/>
          </p:cNvSpPr>
          <p:nvPr/>
        </p:nvSpPr>
        <p:spPr bwMode="auto">
          <a:xfrm>
            <a:off x="600129" y="5043126"/>
            <a:ext cx="739390"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80" name="Subtitle 2">
            <a:extLst>
              <a:ext uri="{FF2B5EF4-FFF2-40B4-BE49-F238E27FC236}">
                <a16:creationId xmlns:a16="http://schemas.microsoft.com/office/drawing/2014/main" id="{CE85A59F-F1B7-8A45-9216-D80B1AB827BF}"/>
              </a:ext>
            </a:extLst>
          </p:cNvPr>
          <p:cNvSpPr txBox="1">
            <a:spLocks/>
          </p:cNvSpPr>
          <p:nvPr/>
        </p:nvSpPr>
        <p:spPr>
          <a:xfrm>
            <a:off x="608319" y="5066681"/>
            <a:ext cx="754807" cy="471960"/>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55" dirty="0"/>
              <a:t>Some SDoH such as food insecurity are associated with higher rates of risk for BH</a:t>
            </a:r>
          </a:p>
        </p:txBody>
      </p:sp>
      <p:cxnSp>
        <p:nvCxnSpPr>
          <p:cNvPr id="82" name="Соединительная линия уступом 34">
            <a:extLst>
              <a:ext uri="{FF2B5EF4-FFF2-40B4-BE49-F238E27FC236}">
                <a16:creationId xmlns:a16="http://schemas.microsoft.com/office/drawing/2014/main" id="{4AFBCB55-BF23-3642-8244-E10D6A245543}"/>
              </a:ext>
            </a:extLst>
          </p:cNvPr>
          <p:cNvCxnSpPr>
            <a:cxnSpLocks/>
          </p:cNvCxnSpPr>
          <p:nvPr/>
        </p:nvCxnSpPr>
        <p:spPr bwMode="auto">
          <a:xfrm rot="16200000" flipH="1">
            <a:off x="852280" y="4952114"/>
            <a:ext cx="189740" cy="4127"/>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sp>
        <p:nvSpPr>
          <p:cNvPr id="86" name="Скругленный прямоугольник 88">
            <a:extLst>
              <a:ext uri="{FF2B5EF4-FFF2-40B4-BE49-F238E27FC236}">
                <a16:creationId xmlns:a16="http://schemas.microsoft.com/office/drawing/2014/main" id="{25F64F32-3B10-E447-8CF3-E33CCBD43297}"/>
              </a:ext>
            </a:extLst>
          </p:cNvPr>
          <p:cNvSpPr>
            <a:spLocks/>
          </p:cNvSpPr>
          <p:nvPr/>
        </p:nvSpPr>
        <p:spPr bwMode="auto">
          <a:xfrm>
            <a:off x="5217384" y="4344514"/>
            <a:ext cx="864315"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92" name="Subtitle 2">
            <a:extLst>
              <a:ext uri="{FF2B5EF4-FFF2-40B4-BE49-F238E27FC236}">
                <a16:creationId xmlns:a16="http://schemas.microsoft.com/office/drawing/2014/main" id="{6F0CB9E6-B9AC-7C41-80F3-15B8F346ABB1}"/>
              </a:ext>
            </a:extLst>
          </p:cNvPr>
          <p:cNvSpPr txBox="1">
            <a:spLocks/>
          </p:cNvSpPr>
          <p:nvPr/>
        </p:nvSpPr>
        <p:spPr>
          <a:xfrm>
            <a:off x="5232801" y="4366223"/>
            <a:ext cx="864315" cy="444389"/>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pPr>
            <a:r>
              <a:rPr lang="en-US" sz="519" dirty="0"/>
              <a:t>Family and friends may hesitate to address a loved one’s symptoms for fear of being stigmatized themselves</a:t>
            </a:r>
          </a:p>
        </p:txBody>
      </p:sp>
      <p:cxnSp>
        <p:nvCxnSpPr>
          <p:cNvPr id="99" name="Соединительная линия уступом 29">
            <a:extLst>
              <a:ext uri="{FF2B5EF4-FFF2-40B4-BE49-F238E27FC236}">
                <a16:creationId xmlns:a16="http://schemas.microsoft.com/office/drawing/2014/main" id="{3F8848C6-CF35-3749-AAF6-56D339F8309C}"/>
              </a:ext>
            </a:extLst>
          </p:cNvPr>
          <p:cNvCxnSpPr>
            <a:cxnSpLocks/>
          </p:cNvCxnSpPr>
          <p:nvPr/>
        </p:nvCxnSpPr>
        <p:spPr bwMode="auto">
          <a:xfrm rot="10800000" flipV="1">
            <a:off x="3504373" y="3334050"/>
            <a:ext cx="1117930" cy="174878"/>
          </a:xfrm>
          <a:prstGeom prst="bentConnector2">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01" name="Соединительная линия уступом 34">
            <a:extLst>
              <a:ext uri="{FF2B5EF4-FFF2-40B4-BE49-F238E27FC236}">
                <a16:creationId xmlns:a16="http://schemas.microsoft.com/office/drawing/2014/main" id="{0CAAD07F-341C-A549-B30E-48834B4120C4}"/>
              </a:ext>
            </a:extLst>
          </p:cNvPr>
          <p:cNvCxnSpPr>
            <a:cxnSpLocks/>
          </p:cNvCxnSpPr>
          <p:nvPr/>
        </p:nvCxnSpPr>
        <p:spPr bwMode="auto">
          <a:xfrm rot="16200000" flipH="1">
            <a:off x="4331633" y="3338136"/>
            <a:ext cx="327943" cy="3057"/>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grpSp>
        <p:nvGrpSpPr>
          <p:cNvPr id="21" name="Group 20">
            <a:extLst>
              <a:ext uri="{FF2B5EF4-FFF2-40B4-BE49-F238E27FC236}">
                <a16:creationId xmlns:a16="http://schemas.microsoft.com/office/drawing/2014/main" id="{5BDB935C-5BBB-1341-98AB-1905FBB38300}"/>
              </a:ext>
            </a:extLst>
          </p:cNvPr>
          <p:cNvGrpSpPr/>
          <p:nvPr/>
        </p:nvGrpSpPr>
        <p:grpSpPr>
          <a:xfrm>
            <a:off x="6839078" y="3508222"/>
            <a:ext cx="1018728" cy="517469"/>
            <a:chOff x="7232012" y="3488648"/>
            <a:chExt cx="1099579" cy="558539"/>
          </a:xfrm>
        </p:grpSpPr>
        <p:sp>
          <p:nvSpPr>
            <p:cNvPr id="106" name="Скругленный прямоугольник 80">
              <a:extLst>
                <a:ext uri="{FF2B5EF4-FFF2-40B4-BE49-F238E27FC236}">
                  <a16:creationId xmlns:a16="http://schemas.microsoft.com/office/drawing/2014/main" id="{6D19EAAD-F5EC-6341-86C9-AA96E16E7FD5}"/>
                </a:ext>
              </a:extLst>
            </p:cNvPr>
            <p:cNvSpPr>
              <a:spLocks/>
            </p:cNvSpPr>
            <p:nvPr/>
          </p:nvSpPr>
          <p:spPr bwMode="auto">
            <a:xfrm>
              <a:off x="7246072" y="3488648"/>
              <a:ext cx="1053124" cy="553195"/>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08" name="Subtitle 2">
              <a:extLst>
                <a:ext uri="{FF2B5EF4-FFF2-40B4-BE49-F238E27FC236}">
                  <a16:creationId xmlns:a16="http://schemas.microsoft.com/office/drawing/2014/main" id="{386D92EA-3E47-E942-883B-56D7E278A6D1}"/>
                </a:ext>
              </a:extLst>
            </p:cNvPr>
            <p:cNvSpPr txBox="1">
              <a:spLocks/>
            </p:cNvSpPr>
            <p:nvPr/>
          </p:nvSpPr>
          <p:spPr>
            <a:xfrm>
              <a:off x="7232012" y="3489114"/>
              <a:ext cx="1099579" cy="558073"/>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r>
                <a:rPr lang="en-US" sz="519" dirty="0"/>
                <a:t>The fear of being ostracized (socially, at work) because of mental illness creates significant emotional barriers for people who may need help.</a:t>
              </a:r>
              <a:endParaRPr lang="en-US" sz="519" dirty="0">
                <a:solidFill>
                  <a:schemeClr val="bg1"/>
                </a:solidFill>
                <a:latin typeface="Arial" panose="020B0604020202020204" pitchFamily="34" charset="0"/>
                <a:ea typeface="Lato Light" panose="020F0502020204030203" pitchFamily="34" charset="0"/>
                <a:cs typeface="Arial" panose="020B0604020202020204" pitchFamily="34" charset="0"/>
              </a:endParaRPr>
            </a:p>
          </p:txBody>
        </p:sp>
      </p:grpSp>
      <p:cxnSp>
        <p:nvCxnSpPr>
          <p:cNvPr id="110" name="Соединительная линия уступом 91">
            <a:extLst>
              <a:ext uri="{FF2B5EF4-FFF2-40B4-BE49-F238E27FC236}">
                <a16:creationId xmlns:a16="http://schemas.microsoft.com/office/drawing/2014/main" id="{9CDEF100-BBF4-804A-B7FA-43213D508F22}"/>
              </a:ext>
            </a:extLst>
          </p:cNvPr>
          <p:cNvCxnSpPr>
            <a:cxnSpLocks/>
          </p:cNvCxnSpPr>
          <p:nvPr/>
        </p:nvCxnSpPr>
        <p:spPr bwMode="auto">
          <a:xfrm rot="16200000" flipH="1">
            <a:off x="5286769" y="4013881"/>
            <a:ext cx="328557" cy="366863"/>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11" name="Соединительная линия уступом 34">
            <a:extLst>
              <a:ext uri="{FF2B5EF4-FFF2-40B4-BE49-F238E27FC236}">
                <a16:creationId xmlns:a16="http://schemas.microsoft.com/office/drawing/2014/main" id="{BAC4737A-F0D5-8D48-8477-8E5F3AF4B9E7}"/>
              </a:ext>
            </a:extLst>
          </p:cNvPr>
          <p:cNvCxnSpPr>
            <a:cxnSpLocks/>
          </p:cNvCxnSpPr>
          <p:nvPr/>
        </p:nvCxnSpPr>
        <p:spPr bwMode="auto">
          <a:xfrm rot="16200000" flipH="1">
            <a:off x="6269999" y="3331744"/>
            <a:ext cx="327943" cy="3057"/>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13" name="Соединительная линия уступом 91">
            <a:extLst>
              <a:ext uri="{FF2B5EF4-FFF2-40B4-BE49-F238E27FC236}">
                <a16:creationId xmlns:a16="http://schemas.microsoft.com/office/drawing/2014/main" id="{7B8A5D89-F436-A044-91FB-6D6E9692A4D1}"/>
              </a:ext>
            </a:extLst>
          </p:cNvPr>
          <p:cNvCxnSpPr>
            <a:cxnSpLocks/>
          </p:cNvCxnSpPr>
          <p:nvPr/>
        </p:nvCxnSpPr>
        <p:spPr bwMode="auto">
          <a:xfrm>
            <a:off x="6435846" y="3333919"/>
            <a:ext cx="992837" cy="160432"/>
          </a:xfrm>
          <a:prstGeom prst="bentConnector3">
            <a:avLst>
              <a:gd name="adj1" fmla="val 99727"/>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grpSp>
        <p:nvGrpSpPr>
          <p:cNvPr id="22" name="Group 21">
            <a:extLst>
              <a:ext uri="{FF2B5EF4-FFF2-40B4-BE49-F238E27FC236}">
                <a16:creationId xmlns:a16="http://schemas.microsoft.com/office/drawing/2014/main" id="{CACB4B37-76BE-1244-9C0B-8C4DA39F2F97}"/>
              </a:ext>
            </a:extLst>
          </p:cNvPr>
          <p:cNvGrpSpPr/>
          <p:nvPr/>
        </p:nvGrpSpPr>
        <p:grpSpPr>
          <a:xfrm>
            <a:off x="6134844" y="4200776"/>
            <a:ext cx="1019739" cy="662508"/>
            <a:chOff x="6500736" y="4198664"/>
            <a:chExt cx="1100671" cy="715088"/>
          </a:xfrm>
        </p:grpSpPr>
        <p:sp>
          <p:nvSpPr>
            <p:cNvPr id="117" name="Скругленный прямоугольник 80">
              <a:extLst>
                <a:ext uri="{FF2B5EF4-FFF2-40B4-BE49-F238E27FC236}">
                  <a16:creationId xmlns:a16="http://schemas.microsoft.com/office/drawing/2014/main" id="{484EA57F-B418-504E-87EE-56C374FADF75}"/>
                </a:ext>
              </a:extLst>
            </p:cNvPr>
            <p:cNvSpPr>
              <a:spLocks/>
            </p:cNvSpPr>
            <p:nvPr/>
          </p:nvSpPr>
          <p:spPr bwMode="auto">
            <a:xfrm>
              <a:off x="6500736" y="4198664"/>
              <a:ext cx="1099579" cy="715088"/>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18" name="Subtitle 2">
              <a:extLst>
                <a:ext uri="{FF2B5EF4-FFF2-40B4-BE49-F238E27FC236}">
                  <a16:creationId xmlns:a16="http://schemas.microsoft.com/office/drawing/2014/main" id="{21E7F1F4-AB2C-6847-A622-6196ADE115CC}"/>
                </a:ext>
              </a:extLst>
            </p:cNvPr>
            <p:cNvSpPr txBox="1">
              <a:spLocks/>
            </p:cNvSpPr>
            <p:nvPr/>
          </p:nvSpPr>
          <p:spPr>
            <a:xfrm>
              <a:off x="6510303" y="4220918"/>
              <a:ext cx="1091104" cy="661538"/>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r>
                <a:rPr lang="en-US" sz="519" dirty="0"/>
                <a:t>Some fear that the stigma of being diagnosed as mentally ill will follow them throughout their lives (in school, on medical records) reducing their opportunities for success</a:t>
              </a:r>
              <a:endParaRPr lang="en-US" sz="519" dirty="0">
                <a:solidFill>
                  <a:schemeClr val="bg1"/>
                </a:solidFill>
                <a:latin typeface="Arial" panose="020B0604020202020204" pitchFamily="34" charset="0"/>
                <a:ea typeface="Lato Light" panose="020F0502020204030203" pitchFamily="34" charset="0"/>
                <a:cs typeface="Arial" panose="020B0604020202020204" pitchFamily="34" charset="0"/>
              </a:endParaRPr>
            </a:p>
          </p:txBody>
        </p:sp>
      </p:grpSp>
      <p:sp>
        <p:nvSpPr>
          <p:cNvPr id="123" name="Скругленный прямоугольник 84">
            <a:extLst>
              <a:ext uri="{FF2B5EF4-FFF2-40B4-BE49-F238E27FC236}">
                <a16:creationId xmlns:a16="http://schemas.microsoft.com/office/drawing/2014/main" id="{A7194D51-8D82-964A-959F-3BF44377C03C}"/>
              </a:ext>
            </a:extLst>
          </p:cNvPr>
          <p:cNvSpPr>
            <a:spLocks/>
          </p:cNvSpPr>
          <p:nvPr/>
        </p:nvSpPr>
        <p:spPr bwMode="auto">
          <a:xfrm>
            <a:off x="10069327" y="5121775"/>
            <a:ext cx="933554"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24" name="Subtitle 2">
            <a:extLst>
              <a:ext uri="{FF2B5EF4-FFF2-40B4-BE49-F238E27FC236}">
                <a16:creationId xmlns:a16="http://schemas.microsoft.com/office/drawing/2014/main" id="{21F8164C-7836-9A41-9583-B68F9479F2C6}"/>
              </a:ext>
            </a:extLst>
          </p:cNvPr>
          <p:cNvSpPr txBox="1">
            <a:spLocks/>
          </p:cNvSpPr>
          <p:nvPr/>
        </p:nvSpPr>
        <p:spPr>
          <a:xfrm>
            <a:off x="10063398" y="5121775"/>
            <a:ext cx="939482" cy="51748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r>
              <a:rPr lang="en-US" sz="519" dirty="0"/>
              <a:t>Clinicians may find reasons to “fire” their patients for various reasons (personal bias, lack of reimbursement, fear for their safety)</a:t>
            </a:r>
          </a:p>
        </p:txBody>
      </p:sp>
      <p:sp>
        <p:nvSpPr>
          <p:cNvPr id="138" name="Скругленный прямоугольник 84">
            <a:extLst>
              <a:ext uri="{FF2B5EF4-FFF2-40B4-BE49-F238E27FC236}">
                <a16:creationId xmlns:a16="http://schemas.microsoft.com/office/drawing/2014/main" id="{A1CC2814-D3F8-0240-BFE5-0612C3AE92AB}"/>
              </a:ext>
            </a:extLst>
          </p:cNvPr>
          <p:cNvSpPr>
            <a:spLocks/>
          </p:cNvSpPr>
          <p:nvPr/>
        </p:nvSpPr>
        <p:spPr bwMode="auto">
          <a:xfrm>
            <a:off x="9656625" y="4325791"/>
            <a:ext cx="796026" cy="527373"/>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39" name="Subtitle 2">
            <a:extLst>
              <a:ext uri="{FF2B5EF4-FFF2-40B4-BE49-F238E27FC236}">
                <a16:creationId xmlns:a16="http://schemas.microsoft.com/office/drawing/2014/main" id="{2F541CBB-2E16-444F-97EC-A07D1D01C897}"/>
              </a:ext>
            </a:extLst>
          </p:cNvPr>
          <p:cNvSpPr txBox="1">
            <a:spLocks/>
          </p:cNvSpPr>
          <p:nvPr/>
        </p:nvSpPr>
        <p:spPr>
          <a:xfrm>
            <a:off x="9649281" y="4323081"/>
            <a:ext cx="843427" cy="51748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r>
              <a:rPr lang="en-US" sz="519" dirty="0"/>
              <a:t>Clinicians may see patients with conditions (like schizophrenia and SUD) as being more dangerous</a:t>
            </a:r>
          </a:p>
        </p:txBody>
      </p:sp>
      <p:sp>
        <p:nvSpPr>
          <p:cNvPr id="140" name="Скругленный прямоугольник 84">
            <a:extLst>
              <a:ext uri="{FF2B5EF4-FFF2-40B4-BE49-F238E27FC236}">
                <a16:creationId xmlns:a16="http://schemas.microsoft.com/office/drawing/2014/main" id="{33716945-B533-DD44-9E4F-1213E31F4B1D}"/>
              </a:ext>
            </a:extLst>
          </p:cNvPr>
          <p:cNvSpPr>
            <a:spLocks/>
          </p:cNvSpPr>
          <p:nvPr/>
        </p:nvSpPr>
        <p:spPr bwMode="auto">
          <a:xfrm>
            <a:off x="10500053" y="4322016"/>
            <a:ext cx="704383" cy="527373"/>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41" name="Subtitle 2">
            <a:extLst>
              <a:ext uri="{FF2B5EF4-FFF2-40B4-BE49-F238E27FC236}">
                <a16:creationId xmlns:a16="http://schemas.microsoft.com/office/drawing/2014/main" id="{4C01D365-D923-9445-8966-55F0EDB44B31}"/>
              </a:ext>
            </a:extLst>
          </p:cNvPr>
          <p:cNvSpPr txBox="1">
            <a:spLocks/>
          </p:cNvSpPr>
          <p:nvPr/>
        </p:nvSpPr>
        <p:spPr>
          <a:xfrm>
            <a:off x="10492708" y="4319305"/>
            <a:ext cx="762828" cy="51748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r>
              <a:rPr lang="en-US" sz="519" dirty="0"/>
              <a:t>Clinicians may have legitimate concerns about their safety when treating certain BH patients</a:t>
            </a:r>
          </a:p>
        </p:txBody>
      </p:sp>
      <p:sp>
        <p:nvSpPr>
          <p:cNvPr id="142" name="Скругленный прямоугольник 84">
            <a:extLst>
              <a:ext uri="{FF2B5EF4-FFF2-40B4-BE49-F238E27FC236}">
                <a16:creationId xmlns:a16="http://schemas.microsoft.com/office/drawing/2014/main" id="{6802AF73-11A8-6046-8FB2-3CA2686F197C}"/>
              </a:ext>
            </a:extLst>
          </p:cNvPr>
          <p:cNvSpPr>
            <a:spLocks/>
          </p:cNvSpPr>
          <p:nvPr/>
        </p:nvSpPr>
        <p:spPr bwMode="auto">
          <a:xfrm>
            <a:off x="11257765" y="4326739"/>
            <a:ext cx="939481" cy="512519"/>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43" name="Subtitle 2">
            <a:extLst>
              <a:ext uri="{FF2B5EF4-FFF2-40B4-BE49-F238E27FC236}">
                <a16:creationId xmlns:a16="http://schemas.microsoft.com/office/drawing/2014/main" id="{0513B5BA-0BD3-CC4E-A9A7-6B4B777990EE}"/>
              </a:ext>
            </a:extLst>
          </p:cNvPr>
          <p:cNvSpPr txBox="1">
            <a:spLocks/>
          </p:cNvSpPr>
          <p:nvPr/>
        </p:nvSpPr>
        <p:spPr>
          <a:xfrm>
            <a:off x="11251836" y="4326739"/>
            <a:ext cx="939481" cy="51748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r>
              <a:rPr lang="en-US" sz="519" dirty="0"/>
              <a:t>People of different races / ethnicities are often treated differently, medicated more frequently, or use the ED more frequently.</a:t>
            </a:r>
          </a:p>
        </p:txBody>
      </p:sp>
      <p:cxnSp>
        <p:nvCxnSpPr>
          <p:cNvPr id="145" name="Соединительная линия уступом 36">
            <a:extLst>
              <a:ext uri="{FF2B5EF4-FFF2-40B4-BE49-F238E27FC236}">
                <a16:creationId xmlns:a16="http://schemas.microsoft.com/office/drawing/2014/main" id="{7CC716BB-4718-9F41-B394-5154ECE5F99B}"/>
              </a:ext>
            </a:extLst>
          </p:cNvPr>
          <p:cNvCxnSpPr>
            <a:cxnSpLocks/>
          </p:cNvCxnSpPr>
          <p:nvPr/>
        </p:nvCxnSpPr>
        <p:spPr bwMode="auto">
          <a:xfrm rot="5400000">
            <a:off x="9970779" y="4242737"/>
            <a:ext cx="172529" cy="2"/>
          </a:xfrm>
          <a:prstGeom prst="bentConnector3">
            <a:avLst>
              <a:gd name="adj1" fmla="val 5000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48" name="Соединительная линия уступом 36">
            <a:extLst>
              <a:ext uri="{FF2B5EF4-FFF2-40B4-BE49-F238E27FC236}">
                <a16:creationId xmlns:a16="http://schemas.microsoft.com/office/drawing/2014/main" id="{60D0F4EA-828C-6147-A3D1-F29DA0AD603A}"/>
              </a:ext>
            </a:extLst>
          </p:cNvPr>
          <p:cNvCxnSpPr>
            <a:cxnSpLocks/>
          </p:cNvCxnSpPr>
          <p:nvPr/>
        </p:nvCxnSpPr>
        <p:spPr bwMode="auto">
          <a:xfrm rot="5400000">
            <a:off x="6922362" y="4109916"/>
            <a:ext cx="172529" cy="2"/>
          </a:xfrm>
          <a:prstGeom prst="bentConnector3">
            <a:avLst>
              <a:gd name="adj1" fmla="val 3651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49" name="Соединительная линия уступом 91">
            <a:extLst>
              <a:ext uri="{FF2B5EF4-FFF2-40B4-BE49-F238E27FC236}">
                <a16:creationId xmlns:a16="http://schemas.microsoft.com/office/drawing/2014/main" id="{EA956BF7-7768-234B-B756-A9C39A9573F6}"/>
              </a:ext>
            </a:extLst>
          </p:cNvPr>
          <p:cNvCxnSpPr>
            <a:cxnSpLocks/>
          </p:cNvCxnSpPr>
          <p:nvPr/>
        </p:nvCxnSpPr>
        <p:spPr bwMode="auto">
          <a:xfrm rot="10800000" flipV="1">
            <a:off x="8250862" y="4152417"/>
            <a:ext cx="1061091" cy="172200"/>
          </a:xfrm>
          <a:prstGeom prst="bentConnector3">
            <a:avLst>
              <a:gd name="adj1" fmla="val 100224"/>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49" name="Straight Connector 48">
            <a:extLst>
              <a:ext uri="{FF2B5EF4-FFF2-40B4-BE49-F238E27FC236}">
                <a16:creationId xmlns:a16="http://schemas.microsoft.com/office/drawing/2014/main" id="{FE74B712-1640-8F4E-AB07-6D720CC962ED}"/>
              </a:ext>
            </a:extLst>
          </p:cNvPr>
          <p:cNvCxnSpPr/>
          <p:nvPr/>
        </p:nvCxnSpPr>
        <p:spPr>
          <a:xfrm>
            <a:off x="9305365" y="4019749"/>
            <a:ext cx="0" cy="143568"/>
          </a:xfrm>
          <a:prstGeom prst="line">
            <a:avLst/>
          </a:prstGeom>
          <a:ln w="349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0" name="Соединительная линия уступом 91">
            <a:extLst>
              <a:ext uri="{FF2B5EF4-FFF2-40B4-BE49-F238E27FC236}">
                <a16:creationId xmlns:a16="http://schemas.microsoft.com/office/drawing/2014/main" id="{430F5EB9-7C75-684D-B598-A825D28D9C1D}"/>
              </a:ext>
            </a:extLst>
          </p:cNvPr>
          <p:cNvCxnSpPr>
            <a:cxnSpLocks/>
          </p:cNvCxnSpPr>
          <p:nvPr/>
        </p:nvCxnSpPr>
        <p:spPr bwMode="auto">
          <a:xfrm rot="10800000" flipV="1">
            <a:off x="9390858" y="4163217"/>
            <a:ext cx="1359588" cy="172200"/>
          </a:xfrm>
          <a:prstGeom prst="bentConnector3">
            <a:avLst>
              <a:gd name="adj1" fmla="val 100224"/>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52" name="Соединительная линия уступом 91">
            <a:extLst>
              <a:ext uri="{FF2B5EF4-FFF2-40B4-BE49-F238E27FC236}">
                <a16:creationId xmlns:a16="http://schemas.microsoft.com/office/drawing/2014/main" id="{61C1EBAC-1461-6C4E-ACD5-BA10AA43E097}"/>
              </a:ext>
            </a:extLst>
          </p:cNvPr>
          <p:cNvCxnSpPr>
            <a:cxnSpLocks/>
          </p:cNvCxnSpPr>
          <p:nvPr/>
        </p:nvCxnSpPr>
        <p:spPr bwMode="auto">
          <a:xfrm>
            <a:off x="10749488" y="4168616"/>
            <a:ext cx="992837" cy="160432"/>
          </a:xfrm>
          <a:prstGeom prst="bentConnector3">
            <a:avLst>
              <a:gd name="adj1" fmla="val 99727"/>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54" name="Соединительная линия уступом 36">
            <a:extLst>
              <a:ext uri="{FF2B5EF4-FFF2-40B4-BE49-F238E27FC236}">
                <a16:creationId xmlns:a16="http://schemas.microsoft.com/office/drawing/2014/main" id="{0158FACC-687C-BA40-ADCD-76187DFB9591}"/>
              </a:ext>
            </a:extLst>
          </p:cNvPr>
          <p:cNvCxnSpPr>
            <a:cxnSpLocks/>
          </p:cNvCxnSpPr>
          <p:nvPr/>
        </p:nvCxnSpPr>
        <p:spPr bwMode="auto">
          <a:xfrm rot="5400000">
            <a:off x="10570704" y="5037872"/>
            <a:ext cx="172529" cy="2"/>
          </a:xfrm>
          <a:prstGeom prst="bentConnector3">
            <a:avLst>
              <a:gd name="adj1" fmla="val -52525"/>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55" name="Соединительная линия уступом 36">
            <a:extLst>
              <a:ext uri="{FF2B5EF4-FFF2-40B4-BE49-F238E27FC236}">
                <a16:creationId xmlns:a16="http://schemas.microsoft.com/office/drawing/2014/main" id="{55AFD74A-CF41-314E-A04F-7C28270AC82E}"/>
              </a:ext>
            </a:extLst>
          </p:cNvPr>
          <p:cNvCxnSpPr>
            <a:cxnSpLocks/>
          </p:cNvCxnSpPr>
          <p:nvPr/>
        </p:nvCxnSpPr>
        <p:spPr bwMode="auto">
          <a:xfrm rot="5400000">
            <a:off x="10285481" y="5042676"/>
            <a:ext cx="172529" cy="2"/>
          </a:xfrm>
          <a:prstGeom prst="bentConnector3">
            <a:avLst>
              <a:gd name="adj1" fmla="val -49825"/>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56" name="Соединительная линия уступом 91">
            <a:extLst>
              <a:ext uri="{FF2B5EF4-FFF2-40B4-BE49-F238E27FC236}">
                <a16:creationId xmlns:a16="http://schemas.microsoft.com/office/drawing/2014/main" id="{6B86D2B2-3182-3248-ABA0-1A5D9ACB0940}"/>
              </a:ext>
            </a:extLst>
          </p:cNvPr>
          <p:cNvCxnSpPr>
            <a:cxnSpLocks/>
          </p:cNvCxnSpPr>
          <p:nvPr/>
        </p:nvCxnSpPr>
        <p:spPr bwMode="auto">
          <a:xfrm rot="10800000" flipV="1">
            <a:off x="10886512" y="4950481"/>
            <a:ext cx="723108" cy="172200"/>
          </a:xfrm>
          <a:prstGeom prst="bentConnector3">
            <a:avLst>
              <a:gd name="adj1" fmla="val 100224"/>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57" name="Соединительная линия уступом 36">
            <a:extLst>
              <a:ext uri="{FF2B5EF4-FFF2-40B4-BE49-F238E27FC236}">
                <a16:creationId xmlns:a16="http://schemas.microsoft.com/office/drawing/2014/main" id="{786A9120-732C-4946-8129-FF37DA3CA32E}"/>
              </a:ext>
            </a:extLst>
          </p:cNvPr>
          <p:cNvCxnSpPr>
            <a:cxnSpLocks/>
          </p:cNvCxnSpPr>
          <p:nvPr/>
        </p:nvCxnSpPr>
        <p:spPr bwMode="auto">
          <a:xfrm rot="5400000">
            <a:off x="6363490" y="4115390"/>
            <a:ext cx="172529" cy="2"/>
          </a:xfrm>
          <a:prstGeom prst="bentConnector3">
            <a:avLst>
              <a:gd name="adj1" fmla="val 36510"/>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cxnSp>
        <p:nvCxnSpPr>
          <p:cNvPr id="158" name="Straight Connector 157">
            <a:extLst>
              <a:ext uri="{FF2B5EF4-FFF2-40B4-BE49-F238E27FC236}">
                <a16:creationId xmlns:a16="http://schemas.microsoft.com/office/drawing/2014/main" id="{4F3A724E-DA72-FF44-B3F8-D3012757A952}"/>
              </a:ext>
            </a:extLst>
          </p:cNvPr>
          <p:cNvCxnSpPr>
            <a:cxnSpLocks/>
          </p:cNvCxnSpPr>
          <p:nvPr/>
        </p:nvCxnSpPr>
        <p:spPr>
          <a:xfrm>
            <a:off x="11603346" y="4834056"/>
            <a:ext cx="0" cy="120314"/>
          </a:xfrm>
          <a:prstGeom prst="line">
            <a:avLst/>
          </a:prstGeom>
          <a:ln w="349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9" name="Соединительная линия уступом 91">
            <a:extLst>
              <a:ext uri="{FF2B5EF4-FFF2-40B4-BE49-F238E27FC236}">
                <a16:creationId xmlns:a16="http://schemas.microsoft.com/office/drawing/2014/main" id="{B315281A-16F8-1C4D-A9E6-118094D86F41}"/>
              </a:ext>
            </a:extLst>
          </p:cNvPr>
          <p:cNvCxnSpPr>
            <a:cxnSpLocks/>
          </p:cNvCxnSpPr>
          <p:nvPr/>
        </p:nvCxnSpPr>
        <p:spPr bwMode="auto">
          <a:xfrm rot="16200000" flipH="1">
            <a:off x="9567570" y="4550932"/>
            <a:ext cx="350160" cy="799545"/>
          </a:xfrm>
          <a:prstGeom prst="bentConnector3">
            <a:avLst>
              <a:gd name="adj1" fmla="val 55317"/>
            </a:avLst>
          </a:prstGeom>
          <a:blipFill dpi="0" rotWithShape="0">
            <a:blip r:embed="rId2"/>
            <a:srcRect/>
            <a:tile tx="0" ty="0" sx="100000" sy="100000" flip="none" algn="tl"/>
          </a:blipFill>
          <a:ln w="38100" cap="flat" cmpd="sng" algn="ctr">
            <a:solidFill>
              <a:schemeClr val="bg1">
                <a:lumMod val="75000"/>
              </a:schemeClr>
            </a:solidFill>
            <a:prstDash val="solid"/>
            <a:miter lim="400000"/>
            <a:headEnd type="none" w="med" len="med"/>
            <a:tailEnd type="triangle"/>
          </a:ln>
          <a:effectLst/>
        </p:spPr>
      </p:cxnSp>
      <p:grpSp>
        <p:nvGrpSpPr>
          <p:cNvPr id="160" name="Group 159">
            <a:extLst>
              <a:ext uri="{FF2B5EF4-FFF2-40B4-BE49-F238E27FC236}">
                <a16:creationId xmlns:a16="http://schemas.microsoft.com/office/drawing/2014/main" id="{6DFD7EE6-1747-CB47-B47D-FA67E675D0A0}"/>
              </a:ext>
            </a:extLst>
          </p:cNvPr>
          <p:cNvGrpSpPr/>
          <p:nvPr/>
        </p:nvGrpSpPr>
        <p:grpSpPr>
          <a:xfrm>
            <a:off x="8707107" y="4326310"/>
            <a:ext cx="916425" cy="530083"/>
            <a:chOff x="8890147" y="4361236"/>
            <a:chExt cx="989158" cy="572153"/>
          </a:xfrm>
        </p:grpSpPr>
        <p:sp>
          <p:nvSpPr>
            <p:cNvPr id="81" name="Скругленный прямоугольник 84">
              <a:extLst>
                <a:ext uri="{FF2B5EF4-FFF2-40B4-BE49-F238E27FC236}">
                  <a16:creationId xmlns:a16="http://schemas.microsoft.com/office/drawing/2014/main" id="{0594F8BE-B3AF-C84B-8492-8A2D86CFE89C}"/>
                </a:ext>
              </a:extLst>
            </p:cNvPr>
            <p:cNvSpPr>
              <a:spLocks/>
            </p:cNvSpPr>
            <p:nvPr/>
          </p:nvSpPr>
          <p:spPr bwMode="auto">
            <a:xfrm>
              <a:off x="8898073" y="4364161"/>
              <a:ext cx="961794" cy="569228"/>
            </a:xfrm>
            <a:prstGeom prst="roundRect">
              <a:avLst>
                <a:gd name="adj" fmla="val 5329"/>
              </a:avLst>
            </a:prstGeom>
            <a:solidFill>
              <a:schemeClr val="accent1">
                <a:lumMod val="50000"/>
                <a:lumOff val="50000"/>
              </a:schemeClr>
            </a:solidFill>
            <a:ln w="12700" cap="flat" cmpd="sng" algn="ctr">
              <a:noFill/>
              <a:prstDash val="solid"/>
              <a:miter lim="400000"/>
              <a:headEnd type="none" w="med" len="med"/>
              <a:tailEnd type="none" w="med" len="med"/>
            </a:ln>
            <a:effectLst/>
          </p:spPr>
          <p:txBody>
            <a:bodyPr vert="horz" wrap="square" lIns="18531" tIns="18531" rIns="18531" bIns="18531" numCol="1" rtlCol="0" anchor="ctr" anchorCtr="0" compatLnSpc="1">
              <a:prstTxWarp prst="textNoShape">
                <a:avLst/>
              </a:prstTxWarp>
              <a:noAutofit/>
            </a:bodyPr>
            <a:lstStyle/>
            <a:p>
              <a:pPr defTabSz="401498" fontAlgn="base" hangingPunct="0">
                <a:spcBef>
                  <a:spcPct val="0"/>
                </a:spcBef>
                <a:spcAft>
                  <a:spcPct val="0"/>
                </a:spcAft>
              </a:pPr>
              <a:endParaRPr lang="ru-RU" sz="536" dirty="0">
                <a:solidFill>
                  <a:srgbClr val="74808C"/>
                </a:solidFill>
                <a:latin typeface="Arial" panose="020B0604020202020204" pitchFamily="34" charset="0"/>
                <a:ea typeface="Poppins" charset="0"/>
                <a:cs typeface="Arial" panose="020B0604020202020204" pitchFamily="34" charset="0"/>
                <a:sym typeface="Poppins" charset="0"/>
              </a:endParaRPr>
            </a:p>
          </p:txBody>
        </p:sp>
        <p:sp>
          <p:nvSpPr>
            <p:cNvPr id="134" name="Subtitle 2">
              <a:extLst>
                <a:ext uri="{FF2B5EF4-FFF2-40B4-BE49-F238E27FC236}">
                  <a16:creationId xmlns:a16="http://schemas.microsoft.com/office/drawing/2014/main" id="{D7137A77-8741-0044-9531-51456D69F3E0}"/>
                </a:ext>
              </a:extLst>
            </p:cNvPr>
            <p:cNvSpPr txBox="1">
              <a:spLocks/>
            </p:cNvSpPr>
            <p:nvPr/>
          </p:nvSpPr>
          <p:spPr>
            <a:xfrm>
              <a:off x="8890147" y="4361236"/>
              <a:ext cx="989158" cy="558556"/>
            </a:xfrm>
            <a:prstGeom prst="rect">
              <a:avLst/>
            </a:prstGeom>
          </p:spPr>
          <p:txBody>
            <a:bodyPr vert="horz" wrap="square" lIns="44489" tIns="22243" rIns="44489" bIns="22243"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r>
                <a:rPr lang="en-US" sz="519" dirty="0"/>
                <a:t>Issues such as language barriers and lack of cultural or religious sensitivity can prevent people from seeking or continuing care</a:t>
              </a:r>
            </a:p>
          </p:txBody>
        </p:sp>
      </p:grpSp>
    </p:spTree>
    <p:extLst>
      <p:ext uri="{BB962C8B-B14F-4D97-AF65-F5344CB8AC3E}">
        <p14:creationId xmlns:p14="http://schemas.microsoft.com/office/powerpoint/2010/main" val="23425897"/>
      </p:ext>
    </p:extLst>
  </p:cSld>
  <p:clrMapOvr>
    <a:masterClrMapping/>
  </p:clrMapOvr>
</p:sld>
</file>

<file path=ppt/theme/theme1.xml><?xml version="1.0" encoding="utf-8"?>
<a:theme xmlns:a="http://schemas.openxmlformats.org/drawingml/2006/main" name="1_Scope of Work (Page 2)">
  <a:themeElements>
    <a:clrScheme name="Scope of Work">
      <a:dk1>
        <a:sysClr val="windowText" lastClr="000000"/>
      </a:dk1>
      <a:lt1>
        <a:srgbClr val="FFFFFF"/>
      </a:lt1>
      <a:dk2>
        <a:srgbClr val="F2F2F2"/>
      </a:dk2>
      <a:lt2>
        <a:srgbClr val="FFFFFF"/>
      </a:lt2>
      <a:accent1>
        <a:srgbClr val="003963"/>
      </a:accent1>
      <a:accent2>
        <a:srgbClr val="15C2FF"/>
      </a:accent2>
      <a:accent3>
        <a:srgbClr val="A2E2FF"/>
      </a:accent3>
      <a:accent4>
        <a:srgbClr val="5BB98C"/>
      </a:accent4>
      <a:accent5>
        <a:srgbClr val="F58C73"/>
      </a:accent5>
      <a:accent6>
        <a:srgbClr val="E4C716"/>
      </a:accent6>
      <a:hlink>
        <a:srgbClr val="D8D8D8"/>
      </a:hlink>
      <a:folHlink>
        <a:srgbClr val="FFFF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cope of Work (Page 1)">
  <a:themeElements>
    <a:clrScheme name="Scope of Work">
      <a:dk1>
        <a:sysClr val="windowText" lastClr="000000"/>
      </a:dk1>
      <a:lt1>
        <a:srgbClr val="FFFFFF"/>
      </a:lt1>
      <a:dk2>
        <a:srgbClr val="F2F2F2"/>
      </a:dk2>
      <a:lt2>
        <a:srgbClr val="FFFFFF"/>
      </a:lt2>
      <a:accent1>
        <a:srgbClr val="003963"/>
      </a:accent1>
      <a:accent2>
        <a:srgbClr val="15C2FF"/>
      </a:accent2>
      <a:accent3>
        <a:srgbClr val="A2E2FF"/>
      </a:accent3>
      <a:accent4>
        <a:srgbClr val="5BB98C"/>
      </a:accent4>
      <a:accent5>
        <a:srgbClr val="F58C73"/>
      </a:accent5>
      <a:accent6>
        <a:srgbClr val="E4C716"/>
      </a:accent6>
      <a:hlink>
        <a:srgbClr val="D8D8D8"/>
      </a:hlink>
      <a:folHlink>
        <a:srgbClr val="FFFF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Scope of Work (Page 1)">
  <a:themeElements>
    <a:clrScheme name="Scope of Work">
      <a:dk1>
        <a:sysClr val="windowText" lastClr="000000"/>
      </a:dk1>
      <a:lt1>
        <a:srgbClr val="FFFFFF"/>
      </a:lt1>
      <a:dk2>
        <a:srgbClr val="F2F2F2"/>
      </a:dk2>
      <a:lt2>
        <a:srgbClr val="FFFFFF"/>
      </a:lt2>
      <a:accent1>
        <a:srgbClr val="003963"/>
      </a:accent1>
      <a:accent2>
        <a:srgbClr val="15C2FF"/>
      </a:accent2>
      <a:accent3>
        <a:srgbClr val="A2E2FF"/>
      </a:accent3>
      <a:accent4>
        <a:srgbClr val="5BB98C"/>
      </a:accent4>
      <a:accent5>
        <a:srgbClr val="F58C73"/>
      </a:accent5>
      <a:accent6>
        <a:srgbClr val="E4C716"/>
      </a:accent6>
      <a:hlink>
        <a:srgbClr val="D8D8D8"/>
      </a:hlink>
      <a:folHlink>
        <a:srgbClr val="FFFF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18544</TotalTime>
  <Pages>12</Pages>
  <Words>12471</Words>
  <Characters>0</Characters>
  <Application>Microsoft Macintosh PowerPoint</Application>
  <DocSecurity>0</DocSecurity>
  <PresentationFormat>Custom</PresentationFormat>
  <Lines>0</Lines>
  <Paragraphs>1004</Paragraphs>
  <Slides>37</Slides>
  <Notes>24</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37</vt:i4>
      </vt:variant>
    </vt:vector>
  </HeadingPairs>
  <TitlesOfParts>
    <vt:vector size="50" baseType="lpstr">
      <vt:lpstr>Arial</vt:lpstr>
      <vt:lpstr>Arial Black</vt:lpstr>
      <vt:lpstr>Arial Narrow</vt:lpstr>
      <vt:lpstr>Calibri</vt:lpstr>
      <vt:lpstr>Century Gothic</vt:lpstr>
      <vt:lpstr>Helvetica Neue</vt:lpstr>
      <vt:lpstr>Lato Light</vt:lpstr>
      <vt:lpstr>Open Sans</vt:lpstr>
      <vt:lpstr>Open Sans Light</vt:lpstr>
      <vt:lpstr>Source Sans Pro</vt:lpstr>
      <vt:lpstr>1_Scope of Work (Page 2)</vt:lpstr>
      <vt:lpstr>1_Scope of Work (Page 1)</vt:lpstr>
      <vt:lpstr>2_Scope of Work (Page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Highmark Health Solutions</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Fuller, Matt</dc:creator>
  <cp:lastModifiedBy>Erica Gatts</cp:lastModifiedBy>
  <cp:revision>643</cp:revision>
  <dcterms:modified xsi:type="dcterms:W3CDTF">2021-06-15T12:53:34Z</dcterms:modified>
</cp:coreProperties>
</file>