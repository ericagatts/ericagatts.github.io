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691" r:id="rId2"/>
    <p:sldMasterId id="2147483692" r:id="rId3"/>
    <p:sldMasterId id="2147483694" r:id="rId4"/>
    <p:sldMasterId id="2147483711" r:id="rId5"/>
  </p:sldMasterIdLst>
  <p:notesMasterIdLst>
    <p:notesMasterId r:id="rId11"/>
  </p:notesMasterIdLst>
  <p:handoutMasterIdLst>
    <p:handoutMasterId r:id="rId12"/>
  </p:handoutMasterIdLst>
  <p:sldIdLst>
    <p:sldId id="4111" r:id="rId6"/>
    <p:sldId id="4112" r:id="rId7"/>
    <p:sldId id="4109" r:id="rId8"/>
    <p:sldId id="4113" r:id="rId9"/>
    <p:sldId id="4110" r:id="rId10"/>
  </p:sldIdLst>
  <p:sldSz cx="12801600" cy="7772400"/>
  <p:notesSz cx="6858000" cy="9144000"/>
  <p:defaultTextStyle>
    <a:defPPr>
      <a:defRPr lang="en-US"/>
    </a:defPPr>
    <a:lvl1pPr marL="0" algn="l" defTabSz="987552" rtl="0" eaLnBrk="1" latinLnBrk="0" hangingPunct="1">
      <a:defRPr sz="1944" kern="1200">
        <a:solidFill>
          <a:schemeClr val="tx1"/>
        </a:solidFill>
        <a:latin typeface="+mn-lt"/>
        <a:ea typeface="+mn-ea"/>
        <a:cs typeface="+mn-cs"/>
      </a:defRPr>
    </a:lvl1pPr>
    <a:lvl2pPr marL="493776" algn="l" defTabSz="987552" rtl="0" eaLnBrk="1" latinLnBrk="0" hangingPunct="1">
      <a:defRPr sz="1944" kern="1200">
        <a:solidFill>
          <a:schemeClr val="tx1"/>
        </a:solidFill>
        <a:latin typeface="+mn-lt"/>
        <a:ea typeface="+mn-ea"/>
        <a:cs typeface="+mn-cs"/>
      </a:defRPr>
    </a:lvl2pPr>
    <a:lvl3pPr marL="987552" algn="l" defTabSz="987552" rtl="0" eaLnBrk="1" latinLnBrk="0" hangingPunct="1">
      <a:defRPr sz="1944" kern="1200">
        <a:solidFill>
          <a:schemeClr val="tx1"/>
        </a:solidFill>
        <a:latin typeface="+mn-lt"/>
        <a:ea typeface="+mn-ea"/>
        <a:cs typeface="+mn-cs"/>
      </a:defRPr>
    </a:lvl3pPr>
    <a:lvl4pPr marL="1481328" algn="l" defTabSz="987552" rtl="0" eaLnBrk="1" latinLnBrk="0" hangingPunct="1">
      <a:defRPr sz="1944" kern="1200">
        <a:solidFill>
          <a:schemeClr val="tx1"/>
        </a:solidFill>
        <a:latin typeface="+mn-lt"/>
        <a:ea typeface="+mn-ea"/>
        <a:cs typeface="+mn-cs"/>
      </a:defRPr>
    </a:lvl4pPr>
    <a:lvl5pPr marL="1975104" algn="l" defTabSz="987552" rtl="0" eaLnBrk="1" latinLnBrk="0" hangingPunct="1">
      <a:defRPr sz="1944" kern="1200">
        <a:solidFill>
          <a:schemeClr val="tx1"/>
        </a:solidFill>
        <a:latin typeface="+mn-lt"/>
        <a:ea typeface="+mn-ea"/>
        <a:cs typeface="+mn-cs"/>
      </a:defRPr>
    </a:lvl5pPr>
    <a:lvl6pPr marL="2468880" algn="l" defTabSz="987552" rtl="0" eaLnBrk="1" latinLnBrk="0" hangingPunct="1">
      <a:defRPr sz="1944" kern="1200">
        <a:solidFill>
          <a:schemeClr val="tx1"/>
        </a:solidFill>
        <a:latin typeface="+mn-lt"/>
        <a:ea typeface="+mn-ea"/>
        <a:cs typeface="+mn-cs"/>
      </a:defRPr>
    </a:lvl6pPr>
    <a:lvl7pPr marL="2962656" algn="l" defTabSz="987552" rtl="0" eaLnBrk="1" latinLnBrk="0" hangingPunct="1">
      <a:defRPr sz="1944" kern="1200">
        <a:solidFill>
          <a:schemeClr val="tx1"/>
        </a:solidFill>
        <a:latin typeface="+mn-lt"/>
        <a:ea typeface="+mn-ea"/>
        <a:cs typeface="+mn-cs"/>
      </a:defRPr>
    </a:lvl7pPr>
    <a:lvl8pPr marL="3456432" algn="l" defTabSz="987552" rtl="0" eaLnBrk="1" latinLnBrk="0" hangingPunct="1">
      <a:defRPr sz="1944" kern="1200">
        <a:solidFill>
          <a:schemeClr val="tx1"/>
        </a:solidFill>
        <a:latin typeface="+mn-lt"/>
        <a:ea typeface="+mn-ea"/>
        <a:cs typeface="+mn-cs"/>
      </a:defRPr>
    </a:lvl8pPr>
    <a:lvl9pPr marL="3950208" algn="l" defTabSz="987552" rtl="0" eaLnBrk="1" latinLnBrk="0" hangingPunct="1">
      <a:defRPr sz="194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963"/>
    <a:srgbClr val="B1E2FF"/>
    <a:srgbClr val="9EC9E1"/>
    <a:srgbClr val="FF9600"/>
    <a:srgbClr val="E88E7E"/>
    <a:srgbClr val="18AF60"/>
    <a:srgbClr val="C7E3D3"/>
    <a:srgbClr val="1CBCB2"/>
    <a:srgbClr val="00A2E2"/>
    <a:srgbClr val="5BB9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9" autoAdjust="0"/>
    <p:restoredTop sz="87574" autoAdjust="0"/>
  </p:normalViewPr>
  <p:slideViewPr>
    <p:cSldViewPr snapToGrid="0" snapToObjects="1">
      <p:cViewPr varScale="1">
        <p:scale>
          <a:sx n="86" d="100"/>
          <a:sy n="86" d="100"/>
        </p:scale>
        <p:origin x="1512" y="192"/>
      </p:cViewPr>
      <p:guideLst/>
    </p:cSldViewPr>
  </p:slideViewPr>
  <p:notesTextViewPr>
    <p:cViewPr>
      <p:scale>
        <a:sx n="114" d="100"/>
        <a:sy n="114" d="100"/>
      </p:scale>
      <p:origin x="0" y="0"/>
    </p:cViewPr>
  </p:notesTextViewPr>
  <p:sorterViewPr>
    <p:cViewPr>
      <p:scale>
        <a:sx n="66" d="100"/>
        <a:sy n="66" d="100"/>
      </p:scale>
      <p:origin x="0" y="0"/>
    </p:cViewPr>
  </p:sorterViewPr>
  <p:notesViewPr>
    <p:cSldViewPr snapToGrid="0" snapToObjects="1">
      <p:cViewPr varScale="1">
        <p:scale>
          <a:sx n="82" d="100"/>
          <a:sy n="82" d="100"/>
        </p:scale>
        <p:origin x="39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234AD3-1CFA-464D-96AF-927D34384A9A}" type="datetimeFigureOut">
              <a:rPr lang="en-US" smtClean="0"/>
              <a:t>4/24/20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155C96-ED6A-435A-AC24-B840F45C68C9}" type="slidenum">
              <a:rPr lang="en-US" smtClean="0"/>
              <a:t>‹#›</a:t>
            </a:fld>
            <a:endParaRPr lang="en-US" dirty="0"/>
          </a:p>
        </p:txBody>
      </p:sp>
    </p:spTree>
    <p:extLst>
      <p:ext uri="{BB962C8B-B14F-4D97-AF65-F5344CB8AC3E}">
        <p14:creationId xmlns:p14="http://schemas.microsoft.com/office/powerpoint/2010/main" val="292870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50EFB-32E5-4657-A50A-4B493F431F9F}" type="datetimeFigureOut">
              <a:rPr lang="en-US" smtClean="0"/>
              <a:t>4/24/20</a:t>
            </a:fld>
            <a:endParaRPr lang="en-US" dirty="0"/>
          </a:p>
        </p:txBody>
      </p:sp>
      <p:sp>
        <p:nvSpPr>
          <p:cNvPr id="4" name="Slide Image Placeholder 3"/>
          <p:cNvSpPr>
            <a:spLocks noGrp="1" noRot="1" noChangeAspect="1"/>
          </p:cNvSpPr>
          <p:nvPr>
            <p:ph type="sldImg" idx="2"/>
          </p:nvPr>
        </p:nvSpPr>
        <p:spPr>
          <a:xfrm>
            <a:off x="887413" y="1143000"/>
            <a:ext cx="50831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A7E464-FA5A-45EC-B1D2-264C3428DEAE}" type="slidenum">
              <a:rPr lang="en-US" smtClean="0"/>
              <a:t>‹#›</a:t>
            </a:fld>
            <a:endParaRPr lang="en-US" dirty="0"/>
          </a:p>
        </p:txBody>
      </p:sp>
    </p:spTree>
    <p:extLst>
      <p:ext uri="{BB962C8B-B14F-4D97-AF65-F5344CB8AC3E}">
        <p14:creationId xmlns:p14="http://schemas.microsoft.com/office/powerpoint/2010/main" val="248103184"/>
      </p:ext>
    </p:extLst>
  </p:cSld>
  <p:clrMap bg1="lt1" tx1="dk1" bg2="lt2" tx2="dk2" accent1="accent1" accent2="accent2" accent3="accent3" accent4="accent4" accent5="accent5" accent6="accent6" hlink="hlink" folHlink="folHlink"/>
  <p:notesStyle>
    <a:lvl1pPr marL="0" algn="l" defTabSz="987552" rtl="0" eaLnBrk="1" latinLnBrk="0" hangingPunct="1">
      <a:defRPr sz="1296" kern="1200">
        <a:solidFill>
          <a:schemeClr val="tx1"/>
        </a:solidFill>
        <a:latin typeface="+mn-lt"/>
        <a:ea typeface="+mn-ea"/>
        <a:cs typeface="+mn-cs"/>
      </a:defRPr>
    </a:lvl1pPr>
    <a:lvl2pPr marL="493776" algn="l" defTabSz="987552" rtl="0" eaLnBrk="1" latinLnBrk="0" hangingPunct="1">
      <a:defRPr sz="1296" kern="1200">
        <a:solidFill>
          <a:schemeClr val="tx1"/>
        </a:solidFill>
        <a:latin typeface="+mn-lt"/>
        <a:ea typeface="+mn-ea"/>
        <a:cs typeface="+mn-cs"/>
      </a:defRPr>
    </a:lvl2pPr>
    <a:lvl3pPr marL="987552" algn="l" defTabSz="987552" rtl="0" eaLnBrk="1" latinLnBrk="0" hangingPunct="1">
      <a:defRPr sz="1296" kern="1200">
        <a:solidFill>
          <a:schemeClr val="tx1"/>
        </a:solidFill>
        <a:latin typeface="+mn-lt"/>
        <a:ea typeface="+mn-ea"/>
        <a:cs typeface="+mn-cs"/>
      </a:defRPr>
    </a:lvl3pPr>
    <a:lvl4pPr marL="1481328" algn="l" defTabSz="987552" rtl="0" eaLnBrk="1" latinLnBrk="0" hangingPunct="1">
      <a:defRPr sz="1296" kern="1200">
        <a:solidFill>
          <a:schemeClr val="tx1"/>
        </a:solidFill>
        <a:latin typeface="+mn-lt"/>
        <a:ea typeface="+mn-ea"/>
        <a:cs typeface="+mn-cs"/>
      </a:defRPr>
    </a:lvl4pPr>
    <a:lvl5pPr marL="1975104" algn="l" defTabSz="987552" rtl="0" eaLnBrk="1" latinLnBrk="0" hangingPunct="1">
      <a:defRPr sz="1296" kern="1200">
        <a:solidFill>
          <a:schemeClr val="tx1"/>
        </a:solidFill>
        <a:latin typeface="+mn-lt"/>
        <a:ea typeface="+mn-ea"/>
        <a:cs typeface="+mn-cs"/>
      </a:defRPr>
    </a:lvl5pPr>
    <a:lvl6pPr marL="2468880" algn="l" defTabSz="987552" rtl="0" eaLnBrk="1" latinLnBrk="0" hangingPunct="1">
      <a:defRPr sz="1296" kern="1200">
        <a:solidFill>
          <a:schemeClr val="tx1"/>
        </a:solidFill>
        <a:latin typeface="+mn-lt"/>
        <a:ea typeface="+mn-ea"/>
        <a:cs typeface="+mn-cs"/>
      </a:defRPr>
    </a:lvl6pPr>
    <a:lvl7pPr marL="2962656" algn="l" defTabSz="987552" rtl="0" eaLnBrk="1" latinLnBrk="0" hangingPunct="1">
      <a:defRPr sz="1296" kern="1200">
        <a:solidFill>
          <a:schemeClr val="tx1"/>
        </a:solidFill>
        <a:latin typeface="+mn-lt"/>
        <a:ea typeface="+mn-ea"/>
        <a:cs typeface="+mn-cs"/>
      </a:defRPr>
    </a:lvl7pPr>
    <a:lvl8pPr marL="3456432" algn="l" defTabSz="987552" rtl="0" eaLnBrk="1" latinLnBrk="0" hangingPunct="1">
      <a:defRPr sz="1296" kern="1200">
        <a:solidFill>
          <a:schemeClr val="tx1"/>
        </a:solidFill>
        <a:latin typeface="+mn-lt"/>
        <a:ea typeface="+mn-ea"/>
        <a:cs typeface="+mn-cs"/>
      </a:defRPr>
    </a:lvl8pPr>
    <a:lvl9pPr marL="3950208" algn="l" defTabSz="987552" rtl="0" eaLnBrk="1" latinLnBrk="0" hangingPunct="1">
      <a:defRPr sz="129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a:t>
            </a:fld>
            <a:endParaRPr lang="en-US" dirty="0"/>
          </a:p>
        </p:txBody>
      </p:sp>
    </p:spTree>
    <p:extLst>
      <p:ext uri="{BB962C8B-B14F-4D97-AF65-F5344CB8AC3E}">
        <p14:creationId xmlns:p14="http://schemas.microsoft.com/office/powerpoint/2010/main" val="3675318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a:t>
            </a:fld>
            <a:endParaRPr lang="en-US" dirty="0"/>
          </a:p>
        </p:txBody>
      </p:sp>
    </p:spTree>
    <p:extLst>
      <p:ext uri="{BB962C8B-B14F-4D97-AF65-F5344CB8AC3E}">
        <p14:creationId xmlns:p14="http://schemas.microsoft.com/office/powerpoint/2010/main" val="555785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3</a:t>
            </a:fld>
            <a:endParaRPr lang="en-US" dirty="0"/>
          </a:p>
        </p:txBody>
      </p:sp>
    </p:spTree>
    <p:extLst>
      <p:ext uri="{BB962C8B-B14F-4D97-AF65-F5344CB8AC3E}">
        <p14:creationId xmlns:p14="http://schemas.microsoft.com/office/powerpoint/2010/main" val="3553095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4</a:t>
            </a:fld>
            <a:endParaRPr lang="en-US" dirty="0"/>
          </a:p>
        </p:txBody>
      </p:sp>
    </p:spTree>
    <p:extLst>
      <p:ext uri="{BB962C8B-B14F-4D97-AF65-F5344CB8AC3E}">
        <p14:creationId xmlns:p14="http://schemas.microsoft.com/office/powerpoint/2010/main" val="1600521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141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79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775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442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098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EFAULT-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32709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_Divider 1">
    <p:spTree>
      <p:nvGrpSpPr>
        <p:cNvPr id="1" name=""/>
        <p:cNvGrpSpPr/>
        <p:nvPr/>
      </p:nvGrpSpPr>
      <p:grpSpPr>
        <a:xfrm>
          <a:off x="0" y="0"/>
          <a:ext cx="0" cy="0"/>
          <a:chOff x="0" y="0"/>
          <a:chExt cx="0" cy="0"/>
        </a:xfrm>
      </p:grpSpPr>
      <p:sp>
        <p:nvSpPr>
          <p:cNvPr id="7" name="Rectangle 6"/>
          <p:cNvSpPr/>
          <p:nvPr userDrawn="1"/>
        </p:nvSpPr>
        <p:spPr>
          <a:xfrm>
            <a:off x="0" y="1068208"/>
            <a:ext cx="12801600" cy="6704194"/>
          </a:xfrm>
          <a:prstGeom prst="rect">
            <a:avLst/>
          </a:prstGeom>
          <a:solidFill>
            <a:srgbClr val="D8E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80160"/>
            <a:endParaRPr lang="en-US" sz="2520">
              <a:solidFill>
                <a:prstClr val="white"/>
              </a:solidFill>
            </a:endParaRPr>
          </a:p>
        </p:txBody>
      </p:sp>
      <p:sp>
        <p:nvSpPr>
          <p:cNvPr id="9" name="Text Placeholder 8"/>
          <p:cNvSpPr>
            <a:spLocks noGrp="1"/>
          </p:cNvSpPr>
          <p:nvPr>
            <p:ph type="body" sz="quarter" idx="10"/>
          </p:nvPr>
        </p:nvSpPr>
        <p:spPr>
          <a:xfrm>
            <a:off x="1724660" y="1500507"/>
            <a:ext cx="9805670" cy="5339207"/>
          </a:xfrm>
          <a:prstGeom prst="rect">
            <a:avLst/>
          </a:prstGeom>
        </p:spPr>
        <p:txBody>
          <a:bodyPr lIns="0" tIns="0" anchor="ctr" anchorCtr="0"/>
          <a:lstStyle>
            <a:lvl1pPr marL="0" indent="0">
              <a:buNone/>
              <a:defRPr sz="5040">
                <a:solidFill>
                  <a:schemeClr val="accent2"/>
                </a:solidFill>
                <a:latin typeface="Arial Black" pitchFamily="34" charset="0"/>
              </a:defRPr>
            </a:lvl1pPr>
            <a:lvl2pPr>
              <a:defRPr>
                <a:solidFill>
                  <a:schemeClr val="accent2"/>
                </a:solidFill>
                <a:latin typeface="Arial Black" pitchFamily="34" charset="0"/>
              </a:defRPr>
            </a:lvl2pPr>
            <a:lvl3pPr>
              <a:defRPr>
                <a:solidFill>
                  <a:schemeClr val="accent2"/>
                </a:solidFill>
                <a:latin typeface="Arial Black" pitchFamily="34" charset="0"/>
              </a:defRPr>
            </a:lvl3pPr>
            <a:lvl4pPr>
              <a:defRPr>
                <a:solidFill>
                  <a:schemeClr val="accent2"/>
                </a:solidFill>
                <a:latin typeface="Arial Black" pitchFamily="34" charset="0"/>
              </a:defRPr>
            </a:lvl4pPr>
            <a:lvl5pPr>
              <a:defRPr>
                <a:solidFill>
                  <a:schemeClr val="accent2"/>
                </a:solidFill>
                <a:latin typeface="Arial Black" pitchFamily="34" charset="0"/>
              </a:defRPr>
            </a:lvl5pPr>
          </a:lstStyle>
          <a:p>
            <a:pPr lvl="0"/>
            <a:r>
              <a:rPr lang="en-US" dirty="0"/>
              <a:t>Click to edit Master text styles</a:t>
            </a:r>
          </a:p>
        </p:txBody>
      </p:sp>
    </p:spTree>
    <p:extLst>
      <p:ext uri="{BB962C8B-B14F-4D97-AF65-F5344CB8AC3E}">
        <p14:creationId xmlns:p14="http://schemas.microsoft.com/office/powerpoint/2010/main" val="397605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_Divider 2">
    <p:spTree>
      <p:nvGrpSpPr>
        <p:cNvPr id="1" name=""/>
        <p:cNvGrpSpPr/>
        <p:nvPr/>
      </p:nvGrpSpPr>
      <p:grpSpPr>
        <a:xfrm>
          <a:off x="0" y="0"/>
          <a:ext cx="0" cy="0"/>
          <a:chOff x="0" y="0"/>
          <a:chExt cx="0" cy="0"/>
        </a:xfrm>
      </p:grpSpPr>
      <p:sp>
        <p:nvSpPr>
          <p:cNvPr id="7" name="Rectangle 6"/>
          <p:cNvSpPr/>
          <p:nvPr userDrawn="1"/>
        </p:nvSpPr>
        <p:spPr>
          <a:xfrm>
            <a:off x="0" y="1068208"/>
            <a:ext cx="12801600" cy="6704194"/>
          </a:xfrm>
          <a:prstGeom prst="rect">
            <a:avLst/>
          </a:prstGeom>
          <a:solidFill>
            <a:srgbClr val="F6EE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80160"/>
            <a:endParaRPr lang="en-US" sz="2520">
              <a:solidFill>
                <a:prstClr val="white"/>
              </a:solidFill>
            </a:endParaRPr>
          </a:p>
        </p:txBody>
      </p:sp>
      <p:sp>
        <p:nvSpPr>
          <p:cNvPr id="3" name="Text Placeholder 8"/>
          <p:cNvSpPr>
            <a:spLocks noGrp="1"/>
          </p:cNvSpPr>
          <p:nvPr>
            <p:ph type="body" sz="quarter" idx="10"/>
          </p:nvPr>
        </p:nvSpPr>
        <p:spPr>
          <a:xfrm>
            <a:off x="1724660" y="1500507"/>
            <a:ext cx="9805670" cy="5339207"/>
          </a:xfrm>
          <a:prstGeom prst="rect">
            <a:avLst/>
          </a:prstGeom>
        </p:spPr>
        <p:txBody>
          <a:bodyPr lIns="0" tIns="0" anchor="ctr" anchorCtr="0"/>
          <a:lstStyle>
            <a:lvl1pPr marL="0" indent="0">
              <a:buNone/>
              <a:defRPr sz="5040">
                <a:solidFill>
                  <a:schemeClr val="accent6"/>
                </a:solidFill>
                <a:latin typeface="Arial Black" pitchFamily="34" charset="0"/>
              </a:defRPr>
            </a:lvl1pPr>
            <a:lvl2pPr>
              <a:defRPr>
                <a:solidFill>
                  <a:schemeClr val="accent2"/>
                </a:solidFill>
                <a:latin typeface="Arial Black" pitchFamily="34" charset="0"/>
              </a:defRPr>
            </a:lvl2pPr>
            <a:lvl3pPr>
              <a:defRPr>
                <a:solidFill>
                  <a:schemeClr val="accent2"/>
                </a:solidFill>
                <a:latin typeface="Arial Black" pitchFamily="34" charset="0"/>
              </a:defRPr>
            </a:lvl3pPr>
            <a:lvl4pPr>
              <a:defRPr>
                <a:solidFill>
                  <a:schemeClr val="accent2"/>
                </a:solidFill>
                <a:latin typeface="Arial Black" pitchFamily="34" charset="0"/>
              </a:defRPr>
            </a:lvl4pPr>
            <a:lvl5pPr>
              <a:defRPr>
                <a:solidFill>
                  <a:schemeClr val="accent2"/>
                </a:solidFill>
                <a:latin typeface="Arial Black" pitchFamily="34" charset="0"/>
              </a:defRPr>
            </a:lvl5pPr>
          </a:lstStyle>
          <a:p>
            <a:pPr lvl="0"/>
            <a:r>
              <a:rPr lang="en-US" dirty="0"/>
              <a:t>Click to edit Master text styles</a:t>
            </a:r>
          </a:p>
        </p:txBody>
      </p:sp>
    </p:spTree>
    <p:extLst>
      <p:ext uri="{BB962C8B-B14F-4D97-AF65-F5344CB8AC3E}">
        <p14:creationId xmlns:p14="http://schemas.microsoft.com/office/powerpoint/2010/main" val="2757538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_Divider 3">
    <p:spTree>
      <p:nvGrpSpPr>
        <p:cNvPr id="1" name=""/>
        <p:cNvGrpSpPr/>
        <p:nvPr/>
      </p:nvGrpSpPr>
      <p:grpSpPr>
        <a:xfrm>
          <a:off x="0" y="0"/>
          <a:ext cx="0" cy="0"/>
          <a:chOff x="0" y="0"/>
          <a:chExt cx="0" cy="0"/>
        </a:xfrm>
      </p:grpSpPr>
      <p:sp>
        <p:nvSpPr>
          <p:cNvPr id="7" name="Rectangle 6"/>
          <p:cNvSpPr/>
          <p:nvPr userDrawn="1"/>
        </p:nvSpPr>
        <p:spPr>
          <a:xfrm>
            <a:off x="0" y="1068208"/>
            <a:ext cx="12801600" cy="6704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80160"/>
            <a:endParaRPr lang="en-US" sz="2520">
              <a:solidFill>
                <a:prstClr val="white"/>
              </a:solidFill>
            </a:endParaRPr>
          </a:p>
        </p:txBody>
      </p:sp>
      <p:sp>
        <p:nvSpPr>
          <p:cNvPr id="3" name="Text Placeholder 8"/>
          <p:cNvSpPr>
            <a:spLocks noGrp="1"/>
          </p:cNvSpPr>
          <p:nvPr>
            <p:ph type="body" sz="quarter" idx="10"/>
          </p:nvPr>
        </p:nvSpPr>
        <p:spPr>
          <a:xfrm>
            <a:off x="1724660" y="1500507"/>
            <a:ext cx="9805670" cy="5339207"/>
          </a:xfrm>
          <a:prstGeom prst="rect">
            <a:avLst/>
          </a:prstGeom>
        </p:spPr>
        <p:txBody>
          <a:bodyPr lIns="0" tIns="0" anchor="ctr" anchorCtr="0"/>
          <a:lstStyle>
            <a:lvl1pPr marL="0" indent="0">
              <a:buNone/>
              <a:defRPr sz="5040">
                <a:solidFill>
                  <a:schemeClr val="bg1"/>
                </a:solidFill>
                <a:latin typeface="Arial Black" pitchFamily="34" charset="0"/>
              </a:defRPr>
            </a:lvl1pPr>
            <a:lvl2pPr>
              <a:defRPr>
                <a:solidFill>
                  <a:schemeClr val="accent2"/>
                </a:solidFill>
                <a:latin typeface="Arial Black" pitchFamily="34" charset="0"/>
              </a:defRPr>
            </a:lvl2pPr>
            <a:lvl3pPr>
              <a:defRPr>
                <a:solidFill>
                  <a:schemeClr val="accent2"/>
                </a:solidFill>
                <a:latin typeface="Arial Black" pitchFamily="34" charset="0"/>
              </a:defRPr>
            </a:lvl3pPr>
            <a:lvl4pPr>
              <a:defRPr>
                <a:solidFill>
                  <a:schemeClr val="accent2"/>
                </a:solidFill>
                <a:latin typeface="Arial Black" pitchFamily="34" charset="0"/>
              </a:defRPr>
            </a:lvl4pPr>
            <a:lvl5pPr>
              <a:defRPr>
                <a:solidFill>
                  <a:schemeClr val="accent2"/>
                </a:solidFill>
                <a:latin typeface="Arial Black" pitchFamily="34" charset="0"/>
              </a:defRPr>
            </a:lvl5pPr>
          </a:lstStyle>
          <a:p>
            <a:pPr lvl="0"/>
            <a:r>
              <a:rPr lang="en-US" dirty="0"/>
              <a:t>Click to edit Master text styles</a:t>
            </a:r>
          </a:p>
        </p:txBody>
      </p:sp>
    </p:spTree>
    <p:extLst>
      <p:ext uri="{BB962C8B-B14F-4D97-AF65-F5344CB8AC3E}">
        <p14:creationId xmlns:p14="http://schemas.microsoft.com/office/powerpoint/2010/main" val="378782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_Divider 4">
    <p:spTree>
      <p:nvGrpSpPr>
        <p:cNvPr id="1" name=""/>
        <p:cNvGrpSpPr/>
        <p:nvPr/>
      </p:nvGrpSpPr>
      <p:grpSpPr>
        <a:xfrm>
          <a:off x="0" y="0"/>
          <a:ext cx="0" cy="0"/>
          <a:chOff x="0" y="0"/>
          <a:chExt cx="0" cy="0"/>
        </a:xfrm>
      </p:grpSpPr>
      <p:sp>
        <p:nvSpPr>
          <p:cNvPr id="7" name="Rectangle 6"/>
          <p:cNvSpPr/>
          <p:nvPr userDrawn="1"/>
        </p:nvSpPr>
        <p:spPr>
          <a:xfrm>
            <a:off x="0" y="1068208"/>
            <a:ext cx="12801600" cy="670419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80160"/>
            <a:endParaRPr lang="en-US" sz="2520">
              <a:solidFill>
                <a:prstClr val="white"/>
              </a:solidFill>
            </a:endParaRPr>
          </a:p>
        </p:txBody>
      </p:sp>
      <p:sp>
        <p:nvSpPr>
          <p:cNvPr id="3" name="Text Placeholder 8"/>
          <p:cNvSpPr>
            <a:spLocks noGrp="1"/>
          </p:cNvSpPr>
          <p:nvPr>
            <p:ph type="body" sz="quarter" idx="10"/>
          </p:nvPr>
        </p:nvSpPr>
        <p:spPr>
          <a:xfrm>
            <a:off x="1724660" y="1500507"/>
            <a:ext cx="9805670" cy="5339207"/>
          </a:xfrm>
          <a:prstGeom prst="rect">
            <a:avLst/>
          </a:prstGeom>
        </p:spPr>
        <p:txBody>
          <a:bodyPr lIns="0" tIns="0" anchor="ctr" anchorCtr="0"/>
          <a:lstStyle>
            <a:lvl1pPr marL="0" indent="0">
              <a:buNone/>
              <a:defRPr sz="5040">
                <a:solidFill>
                  <a:schemeClr val="accent4"/>
                </a:solidFill>
                <a:latin typeface="Arial Black" pitchFamily="34" charset="0"/>
              </a:defRPr>
            </a:lvl1pPr>
            <a:lvl2pPr>
              <a:defRPr>
                <a:solidFill>
                  <a:schemeClr val="accent2"/>
                </a:solidFill>
                <a:latin typeface="Arial Black" pitchFamily="34" charset="0"/>
              </a:defRPr>
            </a:lvl2pPr>
            <a:lvl3pPr>
              <a:defRPr>
                <a:solidFill>
                  <a:schemeClr val="accent2"/>
                </a:solidFill>
                <a:latin typeface="Arial Black" pitchFamily="34" charset="0"/>
              </a:defRPr>
            </a:lvl3pPr>
            <a:lvl4pPr>
              <a:defRPr>
                <a:solidFill>
                  <a:schemeClr val="accent2"/>
                </a:solidFill>
                <a:latin typeface="Arial Black" pitchFamily="34" charset="0"/>
              </a:defRPr>
            </a:lvl4pPr>
            <a:lvl5pPr>
              <a:defRPr>
                <a:solidFill>
                  <a:schemeClr val="accent2"/>
                </a:solidFill>
                <a:latin typeface="Arial Black" pitchFamily="34" charset="0"/>
              </a:defRPr>
            </a:lvl5pPr>
          </a:lstStyle>
          <a:p>
            <a:pPr lvl="0"/>
            <a:r>
              <a:rPr lang="en-US" dirty="0"/>
              <a:t>Click to edit Master text styles</a:t>
            </a:r>
          </a:p>
        </p:txBody>
      </p:sp>
    </p:spTree>
    <p:extLst>
      <p:ext uri="{BB962C8B-B14F-4D97-AF65-F5344CB8AC3E}">
        <p14:creationId xmlns:p14="http://schemas.microsoft.com/office/powerpoint/2010/main" val="1969397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_Full Page Photo/Video">
    <p:spTree>
      <p:nvGrpSpPr>
        <p:cNvPr id="1" name=""/>
        <p:cNvGrpSpPr/>
        <p:nvPr/>
      </p:nvGrpSpPr>
      <p:grpSpPr>
        <a:xfrm>
          <a:off x="0" y="0"/>
          <a:ext cx="0" cy="0"/>
          <a:chOff x="0" y="0"/>
          <a:chExt cx="0" cy="0"/>
        </a:xfrm>
      </p:grpSpPr>
      <p:sp>
        <p:nvSpPr>
          <p:cNvPr id="3" name="Rectangle 2"/>
          <p:cNvSpPr/>
          <p:nvPr userDrawn="1"/>
        </p:nvSpPr>
        <p:spPr>
          <a:xfrm>
            <a:off x="0" y="1068208"/>
            <a:ext cx="12801600" cy="67041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80160"/>
            <a:endParaRPr lang="en-US" sz="2520">
              <a:solidFill>
                <a:prstClr val="white"/>
              </a:solidFill>
            </a:endParaRPr>
          </a:p>
        </p:txBody>
      </p:sp>
      <p:sp>
        <p:nvSpPr>
          <p:cNvPr id="4" name="TextBox 3"/>
          <p:cNvSpPr txBox="1"/>
          <p:nvPr userDrawn="1"/>
        </p:nvSpPr>
        <p:spPr>
          <a:xfrm>
            <a:off x="2619405" y="4211016"/>
            <a:ext cx="7877908" cy="480131"/>
          </a:xfrm>
          <a:prstGeom prst="rect">
            <a:avLst/>
          </a:prstGeom>
          <a:noFill/>
        </p:spPr>
        <p:txBody>
          <a:bodyPr wrap="square" rtlCol="0">
            <a:spAutoFit/>
          </a:bodyPr>
          <a:lstStyle/>
          <a:p>
            <a:pPr algn="ctr" defTabSz="1280160"/>
            <a:r>
              <a:rPr lang="en-US" sz="2520" cap="all" dirty="0">
                <a:solidFill>
                  <a:prstClr val="white"/>
                </a:solidFill>
                <a:cs typeface="Arial" pitchFamily="34" charset="0"/>
              </a:rPr>
              <a:t>FOR FULL PAGE PHOTO OR VIDEO</a:t>
            </a:r>
          </a:p>
        </p:txBody>
      </p:sp>
    </p:spTree>
    <p:extLst>
      <p:ext uri="{BB962C8B-B14F-4D97-AF65-F5344CB8AC3E}">
        <p14:creationId xmlns:p14="http://schemas.microsoft.com/office/powerpoint/2010/main" val="3651937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_Title and Content">
    <p:spTree>
      <p:nvGrpSpPr>
        <p:cNvPr id="1" name=""/>
        <p:cNvGrpSpPr/>
        <p:nvPr/>
      </p:nvGrpSpPr>
      <p:grpSpPr>
        <a:xfrm>
          <a:off x="0" y="0"/>
          <a:ext cx="0" cy="0"/>
          <a:chOff x="0" y="0"/>
          <a:chExt cx="0" cy="0"/>
        </a:xfrm>
      </p:grpSpPr>
      <p:sp>
        <p:nvSpPr>
          <p:cNvPr id="9" name="Content Placeholder 8"/>
          <p:cNvSpPr>
            <a:spLocks noGrp="1"/>
          </p:cNvSpPr>
          <p:nvPr>
            <p:ph sz="quarter" idx="11"/>
          </p:nvPr>
        </p:nvSpPr>
        <p:spPr>
          <a:xfrm>
            <a:off x="640080" y="2022264"/>
            <a:ext cx="11521440" cy="5219384"/>
          </a:xfrm>
          <a:prstGeom prst="rect">
            <a:avLst/>
          </a:prstGeom>
        </p:spPr>
        <p:txBody>
          <a:bodyPr lIns="0" tIns="0"/>
          <a:lstStyle>
            <a:lvl1pPr>
              <a:spcBef>
                <a:spcPts val="1680"/>
              </a:spcBef>
              <a:spcAft>
                <a:spcPts val="0"/>
              </a:spcAft>
              <a:buClr>
                <a:schemeClr val="tx2">
                  <a:lumMod val="50000"/>
                </a:schemeClr>
              </a:buClr>
              <a:defRPr sz="2380"/>
            </a:lvl1pPr>
            <a:lvl2pPr>
              <a:spcBef>
                <a:spcPts val="840"/>
              </a:spcBef>
              <a:spcAft>
                <a:spcPts val="0"/>
              </a:spcAft>
              <a:buClr>
                <a:schemeClr val="tx2">
                  <a:lumMod val="50000"/>
                </a:schemeClr>
              </a:buClr>
              <a:defRPr sz="2240"/>
            </a:lvl2pPr>
            <a:lvl3pPr marL="955675" indent="-235585">
              <a:spcBef>
                <a:spcPts val="840"/>
              </a:spcBef>
              <a:spcAft>
                <a:spcPts val="420"/>
              </a:spcAft>
              <a:buClr>
                <a:schemeClr val="tx2">
                  <a:lumMod val="50000"/>
                </a:schemeClr>
              </a:buClr>
              <a:defRPr sz="1960"/>
            </a:lvl3pPr>
            <a:lvl4pPr marL="1280160" indent="-324485">
              <a:spcBef>
                <a:spcPts val="420"/>
              </a:spcBef>
              <a:spcAft>
                <a:spcPts val="0"/>
              </a:spcAft>
              <a:buClr>
                <a:schemeClr val="tx2">
                  <a:lumMod val="50000"/>
                </a:schemeClr>
              </a:buClr>
              <a:defRPr sz="1960"/>
            </a:lvl4pPr>
            <a:lvl5pPr marL="1604645" indent="-324485">
              <a:spcBef>
                <a:spcPts val="420"/>
              </a:spcBef>
              <a:spcAft>
                <a:spcPts val="0"/>
              </a:spcAft>
              <a:buFont typeface="Arial" pitchFamily="34" charset="0"/>
              <a:buChar char="&gt;"/>
              <a:defRPr sz="168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itle 6"/>
          <p:cNvSpPr>
            <a:spLocks noGrp="1"/>
          </p:cNvSpPr>
          <p:nvPr>
            <p:ph type="title"/>
          </p:nvPr>
        </p:nvSpPr>
        <p:spPr>
          <a:xfrm>
            <a:off x="640080" y="1240436"/>
            <a:ext cx="11521440" cy="781828"/>
          </a:xfrm>
          <a:prstGeom prst="rect">
            <a:avLst/>
          </a:prstGeom>
        </p:spPr>
        <p:txBody>
          <a:bodyPr lIns="0" tIns="0"/>
          <a:lstStyle>
            <a:lvl1pPr>
              <a:lnSpc>
                <a:spcPct val="100000"/>
              </a:lnSpc>
              <a:defRPr sz="2800" b="0">
                <a:latin typeface="Arial Black" pitchFamily="34" charset="0"/>
              </a:defRPr>
            </a:lvl1pPr>
          </a:lstStyle>
          <a:p>
            <a:r>
              <a:rPr lang="en-US" dirty="0"/>
              <a:t>Click to edit Master title style</a:t>
            </a:r>
          </a:p>
        </p:txBody>
      </p:sp>
    </p:spTree>
    <p:extLst>
      <p:ext uri="{BB962C8B-B14F-4D97-AF65-F5344CB8AC3E}">
        <p14:creationId xmlns:p14="http://schemas.microsoft.com/office/powerpoint/2010/main" val="9745930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9.xml"/><Relationship Id="rId7"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228599" y="1282148"/>
            <a:ext cx="4885804" cy="5706094"/>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228599" y="228599"/>
            <a:ext cx="5891646" cy="923330"/>
          </a:xfrm>
          <a:prstGeom prst="rect">
            <a:avLst/>
          </a:prstGeom>
        </p:spPr>
        <p:txBody>
          <a:bodyPr wrap="square" anchor="t">
            <a:spAutoFit/>
          </a:bodyPr>
          <a:lstStyle/>
          <a:p>
            <a:r>
              <a:rPr lang="en-US" sz="1800" b="1" dirty="0">
                <a:solidFill>
                  <a:srgbClr val="003963"/>
                </a:solidFill>
              </a:rPr>
              <a:t>Scope of Work:</a:t>
            </a:r>
            <a:br>
              <a:rPr lang="en-US" sz="1800" b="0" baseline="0" dirty="0">
                <a:solidFill>
                  <a:srgbClr val="00A2E2"/>
                </a:solidFill>
              </a:rPr>
            </a:br>
            <a:r>
              <a:rPr lang="en-US" sz="3600" b="1" dirty="0">
                <a:solidFill>
                  <a:schemeClr val="accent2"/>
                </a:solidFill>
              </a:rPr>
              <a:t>Guidelines</a:t>
            </a:r>
          </a:p>
        </p:txBody>
      </p:sp>
      <p:sp>
        <p:nvSpPr>
          <p:cNvPr id="5" name="Rectangle 4"/>
          <p:cNvSpPr/>
          <p:nvPr userDrawn="1"/>
        </p:nvSpPr>
        <p:spPr>
          <a:xfrm>
            <a:off x="228599" y="1295112"/>
            <a:ext cx="4885804" cy="5632311"/>
          </a:xfrm>
          <a:prstGeom prst="rect">
            <a:avLst/>
          </a:prstGeom>
          <a:solidFill>
            <a:schemeClr val="bg1">
              <a:lumMod val="95000"/>
            </a:schemeClr>
          </a:solidFill>
        </p:spPr>
        <p:txBody>
          <a:bodyPr wrap="square" anchor="t">
            <a:spAutoFit/>
          </a:bodyPr>
          <a:lstStyle/>
          <a:p>
            <a:pPr marL="0" indent="-228600">
              <a:lnSpc>
                <a:spcPct val="125000"/>
              </a:lnSpc>
            </a:pPr>
            <a:r>
              <a:rPr lang="en-US" sz="1800" b="0" dirty="0">
                <a:solidFill>
                  <a:srgbClr val="003963"/>
                </a:solidFill>
              </a:rPr>
              <a:t>This SOW</a:t>
            </a:r>
            <a:r>
              <a:rPr lang="en-US" sz="1800" b="0" baseline="0" dirty="0">
                <a:solidFill>
                  <a:srgbClr val="003963"/>
                </a:solidFill>
              </a:rPr>
              <a:t> is meant to be a </a:t>
            </a:r>
            <a:r>
              <a:rPr lang="en-US" sz="1800" b="0" dirty="0">
                <a:solidFill>
                  <a:srgbClr val="003963"/>
                </a:solidFill>
              </a:rPr>
              <a:t>high</a:t>
            </a:r>
            <a:r>
              <a:rPr lang="en-US" sz="1800" b="0" baseline="0" dirty="0">
                <a:solidFill>
                  <a:srgbClr val="003963"/>
                </a:solidFill>
              </a:rPr>
              <a:t> level document meant to set expectations at the outset of a project. </a:t>
            </a:r>
            <a:r>
              <a:rPr lang="en-US" sz="1800" b="0" u="sng" baseline="0" dirty="0">
                <a:solidFill>
                  <a:srgbClr val="003963"/>
                </a:solidFill>
              </a:rPr>
              <a:t>Please read this page all the way through before creating your SOW.</a:t>
            </a:r>
          </a:p>
          <a:p>
            <a:pPr marL="0" indent="-228600">
              <a:lnSpc>
                <a:spcPct val="125000"/>
              </a:lnSpc>
            </a:pPr>
            <a:endParaRPr lang="en-US" sz="1800" b="0" baseline="0" dirty="0">
              <a:solidFill>
                <a:srgbClr val="003963"/>
              </a:solidFill>
            </a:endParaRPr>
          </a:p>
          <a:p>
            <a:pPr marL="0" indent="-228600">
              <a:lnSpc>
                <a:spcPct val="125000"/>
              </a:lnSpc>
            </a:pPr>
            <a:r>
              <a:rPr lang="en-US" sz="1800" b="1" dirty="0">
                <a:solidFill>
                  <a:schemeClr val="accent1"/>
                </a:solidFill>
              </a:rPr>
              <a:t>These</a:t>
            </a:r>
            <a:r>
              <a:rPr lang="en-US" sz="1800" b="1" baseline="0" dirty="0">
                <a:solidFill>
                  <a:schemeClr val="accent1"/>
                </a:solidFill>
              </a:rPr>
              <a:t> guidelines are intended to make sure the documents we create look consistent across teams and projects. They are not meant to be restrictive but </a:t>
            </a:r>
            <a:br>
              <a:rPr lang="en-US" sz="1800" b="1" baseline="0" dirty="0">
                <a:solidFill>
                  <a:schemeClr val="accent1"/>
                </a:solidFill>
              </a:rPr>
            </a:br>
            <a:r>
              <a:rPr lang="en-US" sz="1800" b="1" baseline="0" dirty="0">
                <a:solidFill>
                  <a:schemeClr val="accent1"/>
                </a:solidFill>
              </a:rPr>
              <a:t>to assist and streamline the creation of documents. A little extra care goes a long way toward achieving a unified voice for our office.</a:t>
            </a:r>
          </a:p>
          <a:p>
            <a:pPr marL="0" indent="-228600">
              <a:lnSpc>
                <a:spcPct val="125000"/>
              </a:lnSpc>
            </a:pPr>
            <a:endParaRPr lang="en-US" sz="1800" b="1" baseline="0" dirty="0">
              <a:solidFill>
                <a:schemeClr val="accent1"/>
              </a:solidFill>
            </a:endParaRPr>
          </a:p>
          <a:p>
            <a:pPr marL="0" indent="-228600">
              <a:lnSpc>
                <a:spcPct val="125000"/>
              </a:lnSpc>
            </a:pPr>
            <a:r>
              <a:rPr lang="en-US" sz="1800" b="0" baseline="0" dirty="0">
                <a:solidFill>
                  <a:schemeClr val="accent1"/>
                </a:solidFill>
              </a:rPr>
              <a:t>P.S. make sure to delete this page before </a:t>
            </a:r>
            <a:br>
              <a:rPr lang="en-US" sz="1800" b="0" baseline="0" dirty="0">
                <a:solidFill>
                  <a:schemeClr val="accent1"/>
                </a:solidFill>
              </a:rPr>
            </a:br>
            <a:r>
              <a:rPr lang="en-US" sz="1800" b="0" baseline="0" dirty="0">
                <a:solidFill>
                  <a:schemeClr val="accent1"/>
                </a:solidFill>
              </a:rPr>
              <a:t>sending to the client!</a:t>
            </a:r>
            <a:endParaRPr lang="en-US" sz="1800" b="0" dirty="0">
              <a:solidFill>
                <a:schemeClr val="accent1"/>
              </a:solidFill>
            </a:endParaRPr>
          </a:p>
        </p:txBody>
      </p:sp>
      <p:sp>
        <p:nvSpPr>
          <p:cNvPr id="6" name="Rectangle 5"/>
          <p:cNvSpPr/>
          <p:nvPr userDrawn="1"/>
        </p:nvSpPr>
        <p:spPr>
          <a:xfrm>
            <a:off x="6246459" y="487018"/>
            <a:ext cx="5511015" cy="6940361"/>
          </a:xfrm>
          <a:prstGeom prst="rect">
            <a:avLst/>
          </a:prstGeom>
        </p:spPr>
        <p:txBody>
          <a:bodyPr wrap="square" anchor="t">
            <a:spAutoFit/>
          </a:bodyPr>
          <a:lstStyle/>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1" dirty="0">
                <a:solidFill>
                  <a:prstClr val="black"/>
                </a:solidFill>
              </a:rPr>
              <a:t>first thing, save this as</a:t>
            </a:r>
            <a:r>
              <a:rPr lang="en-US" sz="1200" b="1" baseline="0" dirty="0">
                <a:solidFill>
                  <a:prstClr val="black"/>
                </a:solidFill>
              </a:rPr>
              <a:t> a file with a new name in your project folder, </a:t>
            </a:r>
            <a:br>
              <a:rPr lang="en-US" sz="1200" b="1" baseline="0" dirty="0">
                <a:solidFill>
                  <a:prstClr val="black"/>
                </a:solidFill>
              </a:rPr>
            </a:br>
            <a:r>
              <a:rPr lang="en-US" sz="1200" b="1" baseline="0" dirty="0">
                <a:solidFill>
                  <a:prstClr val="black"/>
                </a:solidFill>
              </a:rPr>
              <a:t>please don’t overwrite the template</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endParaRPr lang="en-US" sz="1200" baseline="0" dirty="0">
              <a:solidFill>
                <a:prstClr val="black"/>
              </a:solidFill>
            </a:endParaRPr>
          </a:p>
          <a:p>
            <a:pPr marL="228600" lvl="0" indent="-228600">
              <a:lnSpc>
                <a:spcPct val="125000"/>
              </a:lnSpc>
              <a:buFont typeface="Arial" panose="020B0604020202020204" pitchFamily="34" charset="0"/>
              <a:buChar char="•"/>
            </a:pPr>
            <a:r>
              <a:rPr lang="en-US" sz="1200" baseline="0" dirty="0">
                <a:solidFill>
                  <a:prstClr val="black"/>
                </a:solidFill>
              </a:rPr>
              <a:t>use only the colors in the top row of the color browser</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this document contains 2 pages; an overview and a timeline</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change the project title at the top and the date in the footer </a:t>
            </a:r>
            <a:br>
              <a:rPr lang="en-US" sz="1200" baseline="0" dirty="0">
                <a:solidFill>
                  <a:prstClr val="black"/>
                </a:solidFill>
              </a:rPr>
            </a:br>
            <a:r>
              <a:rPr lang="en-US" sz="1200" baseline="0" dirty="0">
                <a:solidFill>
                  <a:prstClr val="black"/>
                </a:solidFill>
              </a:rPr>
              <a:t>on both pages</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Page1: feel free to change the format of the sections and use </a:t>
            </a:r>
            <a:br>
              <a:rPr lang="en-US" sz="1200" baseline="0" dirty="0">
                <a:solidFill>
                  <a:prstClr val="black"/>
                </a:solidFill>
              </a:rPr>
            </a:br>
            <a:r>
              <a:rPr lang="en-US" sz="1200" baseline="0" dirty="0">
                <a:solidFill>
                  <a:prstClr val="black"/>
                </a:solidFill>
              </a:rPr>
              <a:t>paragraphs, bullets, or lists to suit your needs</a:t>
            </a:r>
          </a:p>
          <a:p>
            <a:pPr marL="228600" lvl="0" indent="-228600">
              <a:lnSpc>
                <a:spcPct val="125000"/>
              </a:lnSpc>
              <a:buFont typeface="Arial" panose="020B0604020202020204" pitchFamily="34" charset="0"/>
              <a:buChar char="•"/>
            </a:pPr>
            <a:r>
              <a:rPr lang="en-US" sz="1200" baseline="0" dirty="0">
                <a:solidFill>
                  <a:prstClr val="black"/>
                </a:solidFill>
              </a:rPr>
              <a:t>Page 2: there are multiple timeline pages to chose from, </a:t>
            </a:r>
            <a:br>
              <a:rPr lang="en-US" sz="1200" baseline="0" dirty="0">
                <a:solidFill>
                  <a:prstClr val="black"/>
                </a:solidFill>
              </a:rPr>
            </a:br>
            <a:r>
              <a:rPr lang="en-US" sz="1200" baseline="0" dirty="0">
                <a:solidFill>
                  <a:prstClr val="black"/>
                </a:solidFill>
              </a:rPr>
              <a:t>pick one that fits your project and delete the rest</a:t>
            </a:r>
          </a:p>
          <a:p>
            <a:pPr marL="722376" lvl="1" indent="-228600">
              <a:lnSpc>
                <a:spcPct val="125000"/>
              </a:lnSpc>
              <a:buFont typeface="Arial" panose="020B0604020202020204" pitchFamily="34" charset="0"/>
              <a:buChar char="•"/>
            </a:pPr>
            <a:r>
              <a:rPr lang="en-US" sz="1200" baseline="0" dirty="0">
                <a:solidFill>
                  <a:prstClr val="black"/>
                </a:solidFill>
              </a:rPr>
              <a:t>change the number of activities and phases listed </a:t>
            </a:r>
            <a:br>
              <a:rPr lang="en-US" sz="1200" baseline="0" dirty="0">
                <a:solidFill>
                  <a:prstClr val="black"/>
                </a:solidFill>
              </a:rPr>
            </a:br>
            <a:r>
              <a:rPr lang="en-US" sz="1200" baseline="0" dirty="0">
                <a:solidFill>
                  <a:prstClr val="black"/>
                </a:solidFill>
              </a:rPr>
              <a:t>on the right as necessary</a:t>
            </a:r>
          </a:p>
          <a:p>
            <a:pPr marL="722376" lvl="1" indent="-228600">
              <a:lnSpc>
                <a:spcPct val="125000"/>
              </a:lnSpc>
              <a:buFont typeface="Arial" panose="020B0604020202020204" pitchFamily="34" charset="0"/>
              <a:buChar char="•"/>
            </a:pPr>
            <a:r>
              <a:rPr lang="en-US" sz="1200" baseline="0" dirty="0">
                <a:solidFill>
                  <a:prstClr val="black"/>
                </a:solidFill>
              </a:rPr>
              <a:t>delete excess rows from the table</a:t>
            </a:r>
          </a:p>
          <a:p>
            <a:pPr marL="722376" lvl="1" indent="-228600">
              <a:lnSpc>
                <a:spcPct val="125000"/>
              </a:lnSpc>
              <a:buFont typeface="Arial" panose="020B0604020202020204" pitchFamily="34" charset="0"/>
              <a:buChar char="•"/>
            </a:pPr>
            <a:r>
              <a:rPr lang="en-US" sz="1200" baseline="0" dirty="0">
                <a:solidFill>
                  <a:prstClr val="black"/>
                </a:solidFill>
              </a:rPr>
              <a:t>gray-out holidays and potential delays</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change the font, format or size of the text</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resize or move the text boxes</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forget to delete extra pages (including this one)</a:t>
            </a:r>
          </a:p>
          <a:p>
            <a:pPr marL="493776" lvl="1" indent="0">
              <a:lnSpc>
                <a:spcPct val="125000"/>
              </a:lnSpc>
              <a:buFont typeface="Arial" panose="020B0604020202020204" pitchFamily="34" charset="0"/>
              <a:buNone/>
            </a:pPr>
            <a:endParaRPr lang="en-US" sz="1200" baseline="0" dirty="0">
              <a:solidFill>
                <a:prstClr val="black"/>
              </a:solidFill>
            </a:endParaRPr>
          </a:p>
          <a:p>
            <a:pPr marL="493776" lvl="1" indent="0">
              <a:lnSpc>
                <a:spcPct val="125000"/>
              </a:lnSpc>
              <a:buFont typeface="Arial" panose="020B0604020202020204" pitchFamily="34" charset="0"/>
              <a:buNone/>
            </a:pPr>
            <a:endParaRPr lang="en-US" sz="1200" baseline="0" dirty="0">
              <a:solidFill>
                <a:prstClr val="black"/>
              </a:solidFill>
            </a:endParaRPr>
          </a:p>
          <a:p>
            <a:pPr marL="493776" lvl="1" indent="0">
              <a:lnSpc>
                <a:spcPct val="125000"/>
              </a:lnSpc>
              <a:buFont typeface="Arial" panose="020B0604020202020204" pitchFamily="34" charset="0"/>
              <a:buNone/>
            </a:pPr>
            <a:endParaRPr lang="en-US" sz="1200" baseline="0" dirty="0">
              <a:solidFill>
                <a:prstClr val="black"/>
              </a:solidFill>
            </a:endParaRPr>
          </a:p>
          <a:p>
            <a:pPr marL="0" lvl="0" indent="0">
              <a:lnSpc>
                <a:spcPct val="125000"/>
              </a:lnSpc>
              <a:buFont typeface="Arial" panose="020B0604020202020204" pitchFamily="34" charset="0"/>
              <a:buNone/>
            </a:pPr>
            <a:r>
              <a:rPr lang="en-US" sz="1200" b="1" baseline="0" dirty="0">
                <a:solidFill>
                  <a:prstClr val="black"/>
                </a:solidFill>
              </a:rPr>
              <a:t>Definitions</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Ongoing Work</a:t>
            </a:r>
            <a:r>
              <a:rPr lang="en-US" sz="1200" baseline="0" dirty="0">
                <a:solidFill>
                  <a:prstClr val="black"/>
                </a:solidFill>
              </a:rPr>
              <a:t>: Period of time in which project activities are active but not yet ready for completion or transition.</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Milestone</a:t>
            </a:r>
            <a:r>
              <a:rPr lang="en-US" sz="1200" baseline="0" dirty="0">
                <a:solidFill>
                  <a:prstClr val="black"/>
                </a:solidFill>
              </a:rPr>
              <a:t>: Time at which project activities are expected to be completed or transition to another phase/activity.</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Deliverable</a:t>
            </a:r>
            <a:r>
              <a:rPr lang="en-US" sz="1200" baseline="0" dirty="0">
                <a:solidFill>
                  <a:prstClr val="black"/>
                </a:solidFill>
              </a:rPr>
              <a:t>: Any formal meeting or provided material/product for project stakeholder(s), such as update meetings, presentations, products, etc.</a:t>
            </a:r>
          </a:p>
        </p:txBody>
      </p:sp>
      <p:cxnSp>
        <p:nvCxnSpPr>
          <p:cNvPr id="9" name="Straight Connector 8"/>
          <p:cNvCxnSpPr/>
          <p:nvPr userDrawn="1"/>
        </p:nvCxnSpPr>
        <p:spPr>
          <a:xfrm>
            <a:off x="5929929" y="228600"/>
            <a:ext cx="0" cy="731520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Innovation</a:t>
            </a:r>
            <a:r>
              <a:rPr lang="en-US" sz="1000" b="1" baseline="0" dirty="0">
                <a:solidFill>
                  <a:schemeClr val="bg2">
                    <a:lumMod val="50000"/>
                  </a:schemeClr>
                </a:solidFill>
              </a:rPr>
              <a:t> &amp; Transformation Office</a:t>
            </a:r>
            <a:endParaRPr lang="en-US" sz="1000" b="1" dirty="0">
              <a:solidFill>
                <a:schemeClr val="bg2">
                  <a:lumMod val="50000"/>
                </a:schemeClr>
              </a:solidFill>
            </a:endParaRPr>
          </a:p>
        </p:txBody>
      </p:sp>
      <p:sp>
        <p:nvSpPr>
          <p:cNvPr id="8" name="TextBox 7"/>
          <p:cNvSpPr txBox="1"/>
          <p:nvPr userDrawn="1"/>
        </p:nvSpPr>
        <p:spPr>
          <a:xfrm>
            <a:off x="6372672" y="5624576"/>
            <a:ext cx="292561" cy="276999"/>
          </a:xfrm>
          <a:prstGeom prst="rect">
            <a:avLst/>
          </a:prstGeom>
          <a:solidFill>
            <a:schemeClr val="accent2">
              <a:lumMod val="40000"/>
              <a:lumOff val="60000"/>
            </a:schemeClr>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sp>
        <p:nvSpPr>
          <p:cNvPr id="10" name="TextBox 9"/>
          <p:cNvSpPr txBox="1"/>
          <p:nvPr userDrawn="1"/>
        </p:nvSpPr>
        <p:spPr>
          <a:xfrm>
            <a:off x="6372672" y="6167909"/>
            <a:ext cx="292561" cy="276999"/>
          </a:xfrm>
          <a:prstGeom prst="rect">
            <a:avLst/>
          </a:prstGeom>
          <a:solidFill>
            <a:schemeClr val="accent2"/>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sp>
        <p:nvSpPr>
          <p:cNvPr id="12" name="TextBox 11"/>
          <p:cNvSpPr txBox="1"/>
          <p:nvPr userDrawn="1"/>
        </p:nvSpPr>
        <p:spPr>
          <a:xfrm>
            <a:off x="6372672" y="6711243"/>
            <a:ext cx="292561" cy="276999"/>
          </a:xfrm>
          <a:prstGeom prst="rect">
            <a:avLst/>
          </a:prstGeom>
          <a:solidFill>
            <a:srgbClr val="003963"/>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cxnSp>
        <p:nvCxnSpPr>
          <p:cNvPr id="13" name="Straight Connector 12"/>
          <p:cNvCxnSpPr/>
          <p:nvPr userDrawn="1"/>
        </p:nvCxnSpPr>
        <p:spPr>
          <a:xfrm flipH="1">
            <a:off x="6246459" y="5160618"/>
            <a:ext cx="632654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091294"/>
      </p:ext>
    </p:extLst>
  </p:cSld>
  <p:clrMap bg1="lt1" tx1="dk1" bg2="lt2" tx2="dk2" accent1="accent1" accent2="accent2" accent3="accent3" accent4="accent4" accent5="accent5" accent6="accent6" hlink="hlink" folHlink="folHlink"/>
  <p:sldLayoutIdLst>
    <p:sldLayoutId id="2147483679" r:id="rId1"/>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7920">
          <p15:clr>
            <a:srgbClr val="F26B43"/>
          </p15:clr>
        </p15:guide>
        <p15:guide id="4" orient="horz" pos="4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TextBox 15"/>
          <p:cNvSpPr txBox="1"/>
          <p:nvPr userDrawn="1"/>
        </p:nvSpPr>
        <p:spPr>
          <a:xfrm>
            <a:off x="12276177" y="7293098"/>
            <a:ext cx="296823" cy="246221"/>
          </a:xfrm>
          <a:prstGeom prst="rect">
            <a:avLst/>
          </a:prstGeom>
          <a:noFill/>
        </p:spPr>
        <p:txBody>
          <a:bodyPr wrap="square" rtlCol="0">
            <a:spAutoFit/>
          </a:bodyPr>
          <a:lstStyle/>
          <a:p>
            <a:pPr algn="ctr"/>
            <a:r>
              <a:rPr lang="en-US" sz="1000" dirty="0">
                <a:solidFill>
                  <a:schemeClr val="bg2">
                    <a:lumMod val="50000"/>
                  </a:schemeClr>
                </a:solidFill>
              </a:rPr>
              <a:t>1</a:t>
            </a:r>
          </a:p>
        </p:txBody>
      </p:sp>
      <p:sp>
        <p:nvSpPr>
          <p:cNvPr id="17" name="TextBox 16"/>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Strategy &amp; Transformation Office</a:t>
            </a:r>
          </a:p>
        </p:txBody>
      </p:sp>
      <p:sp>
        <p:nvSpPr>
          <p:cNvPr id="8" name="Rectangle 7">
            <a:extLst>
              <a:ext uri="{FF2B5EF4-FFF2-40B4-BE49-F238E27FC236}">
                <a16:creationId xmlns:a16="http://schemas.microsoft.com/office/drawing/2014/main" id="{1412D438-7B50-FD41-9FA0-CCE70AE1BB75}"/>
              </a:ext>
            </a:extLst>
          </p:cNvPr>
          <p:cNvSpPr/>
          <p:nvPr userDrawn="1"/>
        </p:nvSpPr>
        <p:spPr>
          <a:xfrm>
            <a:off x="228599" y="228599"/>
            <a:ext cx="2673585" cy="307777"/>
          </a:xfrm>
          <a:prstGeom prst="rect">
            <a:avLst/>
          </a:prstGeom>
        </p:spPr>
        <p:txBody>
          <a:bodyPr wrap="square" anchor="t">
            <a:spAutoFit/>
          </a:bodyPr>
          <a:lstStyle/>
          <a:p>
            <a:r>
              <a:rPr lang="en-US" sz="1400" b="1" dirty="0">
                <a:solidFill>
                  <a:srgbClr val="003963"/>
                </a:solidFill>
              </a:rPr>
              <a:t>Transformational Innovation</a:t>
            </a:r>
            <a:r>
              <a:rPr lang="en-US" sz="1400" b="1" baseline="0" dirty="0">
                <a:solidFill>
                  <a:srgbClr val="003963"/>
                </a:solidFill>
              </a:rPr>
              <a:t> </a:t>
            </a:r>
            <a:endParaRPr lang="en-US" sz="1400" b="1" dirty="0">
              <a:solidFill>
                <a:schemeClr val="accent2"/>
              </a:solidFill>
            </a:endParaRPr>
          </a:p>
        </p:txBody>
      </p:sp>
    </p:spTree>
    <p:extLst>
      <p:ext uri="{BB962C8B-B14F-4D97-AF65-F5344CB8AC3E}">
        <p14:creationId xmlns:p14="http://schemas.microsoft.com/office/powerpoint/2010/main" val="319068342"/>
      </p:ext>
    </p:extLst>
  </p:cSld>
  <p:clrMap bg1="lt1" tx1="dk1" bg2="lt2" tx2="dk2" accent1="accent1" accent2="accent2" accent3="accent3" accent4="accent4" accent5="accent5" accent6="accent6" hlink="hlink" folHlink="folHlink"/>
  <p:sldLayoutIdLst>
    <p:sldLayoutId id="2147483681" r:id="rId1"/>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4752">
          <p15:clr>
            <a:srgbClr val="F26B43"/>
          </p15:clr>
        </p15:guide>
        <p15:guide id="3" pos="7920">
          <p15:clr>
            <a:srgbClr val="F26B43"/>
          </p15:clr>
        </p15:guide>
        <p15:guide id="4" pos="1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p:cNvCxnSpPr/>
          <p:nvPr userDrawn="1"/>
        </p:nvCxnSpPr>
        <p:spPr>
          <a:xfrm>
            <a:off x="3196718" y="228600"/>
            <a:ext cx="0" cy="6705578"/>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2276177" y="7293098"/>
            <a:ext cx="296823" cy="246221"/>
          </a:xfrm>
          <a:prstGeom prst="rect">
            <a:avLst/>
          </a:prstGeom>
          <a:noFill/>
        </p:spPr>
        <p:txBody>
          <a:bodyPr wrap="square" rtlCol="0">
            <a:spAutoFit/>
          </a:bodyPr>
          <a:lstStyle/>
          <a:p>
            <a:pPr algn="ctr"/>
            <a:r>
              <a:rPr lang="en-US" sz="1000" dirty="0">
                <a:solidFill>
                  <a:schemeClr val="bg2">
                    <a:lumMod val="50000"/>
                  </a:schemeClr>
                </a:solidFill>
              </a:rPr>
              <a:t>1</a:t>
            </a:r>
          </a:p>
        </p:txBody>
      </p:sp>
      <p:sp>
        <p:nvSpPr>
          <p:cNvPr id="17" name="TextBox 16"/>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Innovation</a:t>
            </a:r>
            <a:r>
              <a:rPr lang="en-US" sz="1000" b="1" baseline="0" dirty="0">
                <a:solidFill>
                  <a:schemeClr val="bg2">
                    <a:lumMod val="50000"/>
                  </a:schemeClr>
                </a:solidFill>
              </a:rPr>
              <a:t> &amp; Transformation Office</a:t>
            </a:r>
            <a:r>
              <a:rPr lang="en-US" sz="1000" dirty="0">
                <a:solidFill>
                  <a:schemeClr val="bg2">
                    <a:lumMod val="50000"/>
                  </a:schemeClr>
                </a:solidFill>
              </a:rPr>
              <a:t>_</a:t>
            </a:r>
            <a:endParaRPr lang="en-US" sz="1000" b="1" dirty="0">
              <a:solidFill>
                <a:schemeClr val="bg2">
                  <a:lumMod val="50000"/>
                </a:schemeClr>
              </a:solidFill>
            </a:endParaRPr>
          </a:p>
        </p:txBody>
      </p:sp>
      <p:cxnSp>
        <p:nvCxnSpPr>
          <p:cNvPr id="8" name="Straight Connector 7">
            <a:extLst>
              <a:ext uri="{FF2B5EF4-FFF2-40B4-BE49-F238E27FC236}">
                <a16:creationId xmlns:a16="http://schemas.microsoft.com/office/drawing/2014/main" id="{933E3365-9768-EF44-A718-4188E82B86D9}"/>
              </a:ext>
            </a:extLst>
          </p:cNvPr>
          <p:cNvCxnSpPr/>
          <p:nvPr userDrawn="1"/>
        </p:nvCxnSpPr>
        <p:spPr>
          <a:xfrm>
            <a:off x="8001694" y="228600"/>
            <a:ext cx="0" cy="6696583"/>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1E31789-247D-B945-B480-B3926E2B4F76}"/>
              </a:ext>
            </a:extLst>
          </p:cNvPr>
          <p:cNvSpPr/>
          <p:nvPr userDrawn="1"/>
        </p:nvSpPr>
        <p:spPr>
          <a:xfrm>
            <a:off x="228599" y="228599"/>
            <a:ext cx="2673585" cy="307777"/>
          </a:xfrm>
          <a:prstGeom prst="rect">
            <a:avLst/>
          </a:prstGeom>
        </p:spPr>
        <p:txBody>
          <a:bodyPr wrap="square" anchor="t">
            <a:spAutoFit/>
          </a:bodyPr>
          <a:lstStyle/>
          <a:p>
            <a:r>
              <a:rPr lang="en-US" sz="1400" b="1" dirty="0">
                <a:solidFill>
                  <a:srgbClr val="003963"/>
                </a:solidFill>
              </a:rPr>
              <a:t>Transformational Innovation</a:t>
            </a:r>
            <a:r>
              <a:rPr lang="en-US" sz="1400" b="1" baseline="0" dirty="0">
                <a:solidFill>
                  <a:srgbClr val="003963"/>
                </a:solidFill>
              </a:rPr>
              <a:t> </a:t>
            </a:r>
            <a:endParaRPr lang="en-US" sz="1400" b="1" dirty="0">
              <a:solidFill>
                <a:schemeClr val="accent2"/>
              </a:solidFill>
            </a:endParaRPr>
          </a:p>
        </p:txBody>
      </p:sp>
    </p:spTree>
    <p:extLst>
      <p:ext uri="{BB962C8B-B14F-4D97-AF65-F5344CB8AC3E}">
        <p14:creationId xmlns:p14="http://schemas.microsoft.com/office/powerpoint/2010/main" val="3011357734"/>
      </p:ext>
    </p:extLst>
  </p:cSld>
  <p:clrMap bg1="lt1" tx1="dk1" bg2="lt2" tx2="dk2" accent1="accent1" accent2="accent2" accent3="accent3" accent4="accent4" accent5="accent5" accent6="accent6" hlink="hlink" folHlink="folHlink"/>
  <p:sldLayoutIdLst>
    <p:sldLayoutId id="2147483683" r:id="rId1"/>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4752">
          <p15:clr>
            <a:srgbClr val="F26B43"/>
          </p15:clr>
        </p15:guide>
        <p15:guide id="3" pos="7920">
          <p15:clr>
            <a:srgbClr val="F26B43"/>
          </p15:clr>
        </p15:guide>
        <p15:guide id="4" pos="14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TextBox 15"/>
          <p:cNvSpPr txBox="1"/>
          <p:nvPr userDrawn="1"/>
        </p:nvSpPr>
        <p:spPr>
          <a:xfrm>
            <a:off x="12276177" y="7293098"/>
            <a:ext cx="296823" cy="246221"/>
          </a:xfrm>
          <a:prstGeom prst="rect">
            <a:avLst/>
          </a:prstGeom>
          <a:noFill/>
        </p:spPr>
        <p:txBody>
          <a:bodyPr wrap="square" rtlCol="0">
            <a:spAutoFit/>
          </a:bodyPr>
          <a:lstStyle/>
          <a:p>
            <a:pPr algn="ctr"/>
            <a:r>
              <a:rPr lang="en-US" sz="1000" dirty="0">
                <a:solidFill>
                  <a:srgbClr val="FFFFFF">
                    <a:lumMod val="50000"/>
                  </a:srgbClr>
                </a:solidFill>
              </a:rPr>
              <a:t>1</a:t>
            </a:r>
          </a:p>
        </p:txBody>
      </p:sp>
      <p:sp>
        <p:nvSpPr>
          <p:cNvPr id="17" name="TextBox 16"/>
          <p:cNvSpPr txBox="1"/>
          <p:nvPr userDrawn="1"/>
        </p:nvSpPr>
        <p:spPr>
          <a:xfrm>
            <a:off x="238874" y="7289914"/>
            <a:ext cx="3396137" cy="246221"/>
          </a:xfrm>
          <a:prstGeom prst="rect">
            <a:avLst/>
          </a:prstGeom>
          <a:noFill/>
        </p:spPr>
        <p:txBody>
          <a:bodyPr wrap="square" rtlCol="0">
            <a:spAutoFit/>
          </a:bodyPr>
          <a:lstStyle/>
          <a:p>
            <a:r>
              <a:rPr lang="en-US" sz="1000" dirty="0">
                <a:solidFill>
                  <a:srgbClr val="FFFFFF">
                    <a:lumMod val="50000"/>
                  </a:srgbClr>
                </a:solidFill>
              </a:rPr>
              <a:t>prepared by the </a:t>
            </a:r>
            <a:r>
              <a:rPr lang="en-US" sz="1000" b="1" dirty="0">
                <a:solidFill>
                  <a:srgbClr val="FFFFFF">
                    <a:lumMod val="50000"/>
                  </a:srgbClr>
                </a:solidFill>
              </a:rPr>
              <a:t>Strategy &amp; Transformation Office</a:t>
            </a:r>
          </a:p>
        </p:txBody>
      </p:sp>
      <p:sp>
        <p:nvSpPr>
          <p:cNvPr id="8" name="Rectangle 7">
            <a:extLst>
              <a:ext uri="{FF2B5EF4-FFF2-40B4-BE49-F238E27FC236}">
                <a16:creationId xmlns:a16="http://schemas.microsoft.com/office/drawing/2014/main" id="{1412D438-7B50-FD41-9FA0-CCE70AE1BB75}"/>
              </a:ext>
            </a:extLst>
          </p:cNvPr>
          <p:cNvSpPr/>
          <p:nvPr userDrawn="1"/>
        </p:nvSpPr>
        <p:spPr>
          <a:xfrm>
            <a:off x="228599" y="228599"/>
            <a:ext cx="2673585" cy="307777"/>
          </a:xfrm>
          <a:prstGeom prst="rect">
            <a:avLst/>
          </a:prstGeom>
        </p:spPr>
        <p:txBody>
          <a:bodyPr wrap="square" anchor="t">
            <a:spAutoFit/>
          </a:bodyPr>
          <a:lstStyle/>
          <a:p>
            <a:r>
              <a:rPr lang="en-US" sz="1400" b="1" dirty="0">
                <a:solidFill>
                  <a:srgbClr val="003963"/>
                </a:solidFill>
              </a:rPr>
              <a:t>Transformational Innovation </a:t>
            </a:r>
            <a:endParaRPr lang="en-US" sz="1400" b="1" dirty="0">
              <a:solidFill>
                <a:srgbClr val="15C2FF"/>
              </a:solidFill>
            </a:endParaRPr>
          </a:p>
        </p:txBody>
      </p:sp>
    </p:spTree>
    <p:extLst>
      <p:ext uri="{BB962C8B-B14F-4D97-AF65-F5344CB8AC3E}">
        <p14:creationId xmlns:p14="http://schemas.microsoft.com/office/powerpoint/2010/main" val="375994736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4752">
          <p15:clr>
            <a:srgbClr val="F26B43"/>
          </p15:clr>
        </p15:guide>
        <p15:guide id="3" pos="7920">
          <p15:clr>
            <a:srgbClr val="F26B43"/>
          </p15:clr>
        </p15:guide>
        <p15:guide id="4" pos="14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Box 6"/>
          <p:cNvSpPr txBox="1"/>
          <p:nvPr userDrawn="1"/>
        </p:nvSpPr>
        <p:spPr>
          <a:xfrm>
            <a:off x="10696134" y="565996"/>
            <a:ext cx="1600200" cy="264688"/>
          </a:xfrm>
          <a:prstGeom prst="rect">
            <a:avLst/>
          </a:prstGeom>
          <a:noFill/>
        </p:spPr>
        <p:txBody>
          <a:bodyPr wrap="square" rtlCol="0">
            <a:spAutoFit/>
          </a:bodyPr>
          <a:lstStyle/>
          <a:p>
            <a:pPr algn="r" defTabSz="1280160"/>
            <a:fld id="{19B0A550-43EE-42EC-A0D4-E615CC8B1D5A}" type="slidenum">
              <a:rPr lang="en-US" sz="1120" smtClean="0">
                <a:solidFill>
                  <a:prstClr val="black"/>
                </a:solidFill>
                <a:latin typeface="Arial Narrow" pitchFamily="34" charset="0"/>
              </a:rPr>
              <a:pPr algn="r" defTabSz="1280160"/>
              <a:t>‹#›</a:t>
            </a:fld>
            <a:endParaRPr lang="en-US" sz="1120" dirty="0">
              <a:solidFill>
                <a:prstClr val="black"/>
              </a:solidFill>
              <a:latin typeface="Arial Narrow" pitchFamily="34" charset="0"/>
            </a:endParaRPr>
          </a:p>
        </p:txBody>
      </p:sp>
      <p:pic>
        <p:nvPicPr>
          <p:cNvPr id="4" name="Picture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52044" y="303602"/>
            <a:ext cx="2147558" cy="439826"/>
          </a:xfrm>
          <a:prstGeom prst="rect">
            <a:avLst/>
          </a:prstGeom>
        </p:spPr>
      </p:pic>
    </p:spTree>
    <p:extLst>
      <p:ext uri="{BB962C8B-B14F-4D97-AF65-F5344CB8AC3E}">
        <p14:creationId xmlns:p14="http://schemas.microsoft.com/office/powerpoint/2010/main" val="363916722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Lst>
  <p:hf sldNum="0" hdr="0" ftr="0" dt="0"/>
  <p:txStyles>
    <p:titleStyle>
      <a:lvl1pPr algn="ctr" defTabSz="1280160" rtl="0" eaLnBrk="1" latinLnBrk="0" hangingPunct="1">
        <a:spcBef>
          <a:spcPct val="0"/>
        </a:spcBef>
        <a:buNone/>
        <a:defRPr sz="6160" kern="1200">
          <a:solidFill>
            <a:schemeClr val="tx1"/>
          </a:solidFill>
          <a:latin typeface="+mj-lt"/>
          <a:ea typeface="+mj-ea"/>
          <a:cs typeface="+mj-cs"/>
        </a:defRPr>
      </a:lvl1pPr>
    </p:titleStyle>
    <p:bodyStyle>
      <a:lvl1pPr marL="480060" indent="-480060" algn="l" defTabSz="1280160" rtl="0" eaLnBrk="1" latinLnBrk="0" hangingPunct="1">
        <a:spcBef>
          <a:spcPct val="20000"/>
        </a:spcBef>
        <a:buFont typeface="Arial" pitchFamily="34" charset="0"/>
        <a:buChar char="•"/>
        <a:defRPr sz="4480" kern="1200">
          <a:solidFill>
            <a:schemeClr val="tx1"/>
          </a:solidFill>
          <a:latin typeface="+mn-lt"/>
          <a:ea typeface="+mn-ea"/>
          <a:cs typeface="+mn-cs"/>
        </a:defRPr>
      </a:lvl1pPr>
      <a:lvl2pPr marL="1040130" indent="-400050" algn="l" defTabSz="1280160" rtl="0" eaLnBrk="1" latinLnBrk="0" hangingPunct="1">
        <a:spcBef>
          <a:spcPct val="20000"/>
        </a:spcBef>
        <a:buFont typeface="Arial" pitchFamily="34" charset="0"/>
        <a:buChar char="–"/>
        <a:defRPr sz="3920" kern="1200">
          <a:solidFill>
            <a:schemeClr val="tx1"/>
          </a:solidFill>
          <a:latin typeface="+mn-lt"/>
          <a:ea typeface="+mn-ea"/>
          <a:cs typeface="+mn-cs"/>
        </a:defRPr>
      </a:lvl2pPr>
      <a:lvl3pPr marL="1600200" indent="-320040" algn="l" defTabSz="1280160" rtl="0" eaLnBrk="1" latinLnBrk="0" hangingPunct="1">
        <a:spcBef>
          <a:spcPct val="20000"/>
        </a:spcBef>
        <a:buFont typeface="Arial" pitchFamily="34" charset="0"/>
        <a:buChar char="•"/>
        <a:defRPr sz="3360" kern="1200">
          <a:solidFill>
            <a:schemeClr val="tx1"/>
          </a:solidFill>
          <a:latin typeface="+mn-lt"/>
          <a:ea typeface="+mn-ea"/>
          <a:cs typeface="+mn-cs"/>
        </a:defRPr>
      </a:lvl3pPr>
      <a:lvl4pPr marL="22402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4pPr>
      <a:lvl5pPr marL="288036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5pPr>
      <a:lvl6pPr marL="352044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6pPr>
      <a:lvl7pPr marL="416052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7pPr>
      <a:lvl8pPr marL="480060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8pPr>
      <a:lvl9pPr marL="54406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88102" y="1581674"/>
            <a:ext cx="12152242" cy="4811574"/>
          </a:xfrm>
          <a:prstGeom prst="rect">
            <a:avLst/>
          </a:prstGeom>
          <a:noFill/>
        </p:spPr>
        <p:txBody>
          <a:bodyPr wrap="square" lIns="0" tIns="0" rIns="0" bIns="0" rtlCol="0" anchor="t" anchorCtr="0">
            <a:spAutoFit/>
          </a:bodyPr>
          <a:lstStyle/>
          <a:p>
            <a:pPr defTabSz="914378">
              <a:lnSpc>
                <a:spcPct val="95000"/>
              </a:lnSpc>
              <a:spcBef>
                <a:spcPts val="200"/>
              </a:spcBef>
              <a:spcAft>
                <a:spcPts val="200"/>
              </a:spcAft>
            </a:pPr>
            <a:r>
              <a:rPr lang="en-US" sz="1400" b="1" kern="0" dirty="0">
                <a:solidFill>
                  <a:srgbClr val="7030A0"/>
                </a:solidFill>
                <a:latin typeface="Arial Narrow" pitchFamily="34" charset="0"/>
              </a:rPr>
              <a:t>AETNA</a:t>
            </a:r>
          </a:p>
          <a:p>
            <a:pPr marL="171450" indent="-171450" defTabSz="914378">
              <a:lnSpc>
                <a:spcPct val="95000"/>
              </a:lnSpc>
              <a:spcBef>
                <a:spcPts val="200"/>
              </a:spcBef>
              <a:spcAft>
                <a:spcPts val="200"/>
              </a:spcAft>
              <a:buFont typeface="Arial" panose="020B0604020202020204" pitchFamily="34" charset="0"/>
              <a:buChar char="•"/>
            </a:pPr>
            <a:r>
              <a:rPr lang="en-US" sz="1400" kern="0" dirty="0" err="1">
                <a:solidFill>
                  <a:sysClr val="windowText" lastClr="000000"/>
                </a:solidFill>
                <a:latin typeface="Arial Narrow" pitchFamily="34" charset="0"/>
              </a:rPr>
              <a:t>MedQuery</a:t>
            </a:r>
            <a:r>
              <a:rPr lang="en-US" sz="1400" kern="0" dirty="0">
                <a:solidFill>
                  <a:sysClr val="windowText" lastClr="000000"/>
                </a:solidFill>
                <a:latin typeface="Arial Narrow" pitchFamily="34" charset="0"/>
              </a:rPr>
              <a:t> – anticipates potential care issues and sends out alerts based on information from Aetna’s proprietary software (The </a:t>
            </a:r>
            <a:r>
              <a:rPr lang="en-US" sz="1400" kern="0" dirty="0" err="1">
                <a:solidFill>
                  <a:sysClr val="windowText" lastClr="000000"/>
                </a:solidFill>
                <a:latin typeface="Arial Narrow" pitchFamily="34" charset="0"/>
              </a:rPr>
              <a:t>CareEngine</a:t>
            </a:r>
            <a:r>
              <a:rPr lang="en-US" sz="1400" kern="0" dirty="0">
                <a:solidFill>
                  <a:sysClr val="windowText" lastClr="000000"/>
                </a:solidFill>
                <a:latin typeface="Arial Narrow" pitchFamily="34" charset="0"/>
              </a:rPr>
              <a:t>). It scans and compiles info from various touch points, including: Medical, Rx, Lab, &amp; BH claims; feedback from members with RNs; Health information in a member’s personal record. (Also directs patients to the right care)</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Mental Health First Aid (MHFA)-certified instructors – sent to qualified private facilities to teach classes to the member organization’s staff and the community the facility serves. Designed to support the members (employees and staff), and their families and caregivers.</a:t>
            </a:r>
          </a:p>
          <a:p>
            <a:pPr marL="171450" indent="-171450" defTabSz="914378">
              <a:lnSpc>
                <a:spcPct val="95000"/>
              </a:lnSpc>
              <a:spcBef>
                <a:spcPts val="200"/>
              </a:spcBef>
              <a:spcAft>
                <a:spcPts val="200"/>
              </a:spcAft>
              <a:buFont typeface="Arial" panose="020B0604020202020204" pitchFamily="34" charset="0"/>
              <a:buChar char="•"/>
            </a:pPr>
            <a:endParaRPr lang="en-US" sz="1400" b="1" kern="0" dirty="0">
              <a:solidFill>
                <a:sysClr val="windowText" lastClr="000000"/>
              </a:solidFill>
              <a:latin typeface="Arial Narrow" pitchFamily="34" charset="0"/>
            </a:endParaRPr>
          </a:p>
          <a:p>
            <a:pPr defTabSz="914378">
              <a:lnSpc>
                <a:spcPct val="95000"/>
              </a:lnSpc>
              <a:spcBef>
                <a:spcPts val="200"/>
              </a:spcBef>
              <a:spcAft>
                <a:spcPts val="200"/>
              </a:spcAft>
            </a:pPr>
            <a:r>
              <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rPr>
              <a:t>KAISER PERMANENTE</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Free wellness coaching by phone, with tailored wellness plans. </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BH providers are asked to request for consent to communicate with the PCP, and to communicate with the PCP within 7 days of the visit and/or treatment if consent is offered</a:t>
            </a:r>
          </a:p>
          <a:p>
            <a:pPr marL="171450" indent="-171450" defTabSz="914378">
              <a:lnSpc>
                <a:spcPct val="95000"/>
              </a:lnSpc>
              <a:spcBef>
                <a:spcPts val="200"/>
              </a:spcBef>
              <a:spcAft>
                <a:spcPts val="200"/>
              </a:spcAft>
              <a:buFont typeface="Arial" panose="020B0604020202020204" pitchFamily="34" charset="0"/>
              <a:buChar char="•"/>
            </a:pPr>
            <a:endParaRPr lang="en-US" sz="1400" b="1" kern="0" dirty="0">
              <a:solidFill>
                <a:sysClr val="windowText" lastClr="000000"/>
              </a:solidFill>
              <a:latin typeface="Arial Narrow" pitchFamily="34" charset="0"/>
            </a:endParaRPr>
          </a:p>
          <a:p>
            <a:pPr defTabSz="914378">
              <a:lnSpc>
                <a:spcPct val="95000"/>
              </a:lnSpc>
              <a:spcBef>
                <a:spcPts val="200"/>
              </a:spcBef>
              <a:spcAft>
                <a:spcPts val="200"/>
              </a:spcAft>
            </a:pPr>
            <a:r>
              <a:rPr lang="en-US" sz="1400" b="1" kern="0" dirty="0">
                <a:solidFill>
                  <a:sysClr val="windowText" lastClr="000000"/>
                </a:solidFill>
                <a:latin typeface="Arial Narrow" pitchFamily="34" charset="0"/>
              </a:rPr>
              <a:t>UPMC</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Partnership with </a:t>
            </a:r>
            <a:r>
              <a:rPr lang="en-US" sz="1400" kern="0" dirty="0" err="1">
                <a:solidFill>
                  <a:sysClr val="windowText" lastClr="000000"/>
                </a:solidFill>
                <a:latin typeface="Arial Narrow" pitchFamily="34" charset="0"/>
              </a:rPr>
              <a:t>Sempre</a:t>
            </a:r>
            <a:r>
              <a:rPr lang="en-US" sz="1400" kern="0" dirty="0">
                <a:solidFill>
                  <a:sysClr val="windowText" lastClr="000000"/>
                </a:solidFill>
                <a:latin typeface="Arial Narrow" pitchFamily="34" charset="0"/>
              </a:rPr>
              <a:t> Health; though not specific to BH, the innovative technology allows text reminders to be sent to members who take identified drugs; when the prescriptions are filled on-time, the member pays less for the medication.</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Matilda </a:t>
            </a:r>
            <a:r>
              <a:rPr lang="en-US" sz="1400" kern="0" dirty="0" err="1">
                <a:solidFill>
                  <a:sysClr val="windowText" lastClr="000000"/>
                </a:solidFill>
                <a:latin typeface="Arial Narrow" pitchFamily="34" charset="0"/>
              </a:rPr>
              <a:t>Theiss</a:t>
            </a:r>
            <a:r>
              <a:rPr lang="en-US" sz="1400" kern="0" dirty="0">
                <a:solidFill>
                  <a:sysClr val="windowText" lastClr="000000"/>
                </a:solidFill>
                <a:latin typeface="Arial Narrow" pitchFamily="34" charset="0"/>
              </a:rPr>
              <a:t> Child Development Center: Family-centered behavioral health programs for young people, especially those diagnosed with more than one disorder</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Depression and Suicide in Teenagers – Services for Teens at Risk (STAR) Center mission is to offer state-of-the-art responsive care for children and adolescents with depression or anxiety, or who are at risk for suicidal behavior.</a:t>
            </a:r>
          </a:p>
          <a:p>
            <a:pPr marL="171450" indent="-171450" defTabSz="914378">
              <a:lnSpc>
                <a:spcPct val="95000"/>
              </a:lnSpc>
              <a:spcBef>
                <a:spcPts val="200"/>
              </a:spcBef>
              <a:spcAft>
                <a:spcPts val="200"/>
              </a:spcAft>
              <a:buFont typeface="Arial" panose="020B0604020202020204" pitchFamily="34" charset="0"/>
              <a:buChar char="•"/>
            </a:pPr>
            <a:endParaRPr lang="en-US" sz="1400" b="1" kern="0" dirty="0">
              <a:solidFill>
                <a:sysClr val="windowText" lastClr="000000"/>
              </a:solidFill>
              <a:latin typeface="Arial Narrow" pitchFamily="34" charset="0"/>
            </a:endParaRPr>
          </a:p>
          <a:p>
            <a:pPr defTabSz="914378">
              <a:lnSpc>
                <a:spcPct val="95000"/>
              </a:lnSpc>
              <a:spcBef>
                <a:spcPts val="200"/>
              </a:spcBef>
              <a:spcAft>
                <a:spcPts val="200"/>
              </a:spcAft>
            </a:pPr>
            <a:r>
              <a:rPr lang="en-US" sz="1400" b="1" kern="0" dirty="0">
                <a:solidFill>
                  <a:sysClr val="windowText" lastClr="000000"/>
                </a:solidFill>
                <a:latin typeface="Arial Narrow" pitchFamily="34" charset="0"/>
              </a:rPr>
              <a:t>WALGREENS + MDLIVE</a:t>
            </a:r>
          </a:p>
          <a:p>
            <a:pPr marL="171450" indent="-171450" defTabSz="914378">
              <a:lnSpc>
                <a:spcPct val="95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Behavioral telehealth solution provided by Breakthrough, an MDLIVE company. Breakthrough offers access to more than 1,000 state-licensed therapists and psychiatrists to treat addiction, depression, stress and other behavioral health concerns.</a:t>
            </a:r>
            <a:endParaRPr lang="en-US" sz="1400" b="1" kern="0" dirty="0">
              <a:solidFill>
                <a:sysClr val="windowText" lastClr="000000"/>
              </a:solidFill>
              <a:latin typeface="Arial Narrow" pitchFamily="34" charset="0"/>
            </a:endParaRPr>
          </a:p>
        </p:txBody>
      </p:sp>
      <p:sp>
        <p:nvSpPr>
          <p:cNvPr id="9" name="Rectangle 8"/>
          <p:cNvSpPr/>
          <p:nvPr/>
        </p:nvSpPr>
        <p:spPr>
          <a:xfrm>
            <a:off x="183026" y="1393301"/>
            <a:ext cx="12415374" cy="5786559"/>
          </a:xfrm>
          <a:prstGeom prst="rect">
            <a:avLst/>
          </a:prstGeom>
          <a:noFill/>
          <a:ln w="9525"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highlight>
                <a:srgbClr val="808080"/>
              </a:highligh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p:cNvSpPr/>
          <p:nvPr/>
        </p:nvSpPr>
        <p:spPr>
          <a:xfrm>
            <a:off x="323039" y="1059993"/>
            <a:ext cx="3087792" cy="246221"/>
          </a:xfrm>
          <a:prstGeom prst="rect">
            <a:avLst/>
          </a:prstGeom>
          <a:noFill/>
        </p:spPr>
        <p:txBody>
          <a:bodyPr wrap="square" lIns="0" tIns="0" rIns="0" bIns="0" rtlCol="0" anchor="ctr">
            <a:spAutoFit/>
          </a:bodyPr>
          <a:lstStyle/>
          <a:p>
            <a:pPr defTabSz="914378"/>
            <a:r>
              <a:rPr lang="en-US" sz="1600" b="1" dirty="0">
                <a:solidFill>
                  <a:srgbClr val="003359"/>
                </a:solidFill>
                <a:latin typeface="Arial Narrow" panose="020B0606020202030204" pitchFamily="34" charset="0"/>
                <a:ea typeface="Open Sans" panose="020B0606030504020204" pitchFamily="34" charset="0"/>
                <a:cs typeface="Open Sans" panose="020B0606030504020204" pitchFamily="34" charset="0"/>
              </a:rPr>
              <a:t>Shift From Reactive to Proactive Care</a:t>
            </a:r>
          </a:p>
        </p:txBody>
      </p:sp>
      <p:sp>
        <p:nvSpPr>
          <p:cNvPr id="36" name="Rectangle 35">
            <a:extLst>
              <a:ext uri="{FF2B5EF4-FFF2-40B4-BE49-F238E27FC236}">
                <a16:creationId xmlns:a16="http://schemas.microsoft.com/office/drawing/2014/main" id="{3178EB37-C81B-2D49-8F6F-71758FF1FFAD}"/>
              </a:ext>
            </a:extLst>
          </p:cNvPr>
          <p:cNvSpPr/>
          <p:nvPr/>
        </p:nvSpPr>
        <p:spPr>
          <a:xfrm>
            <a:off x="228600" y="534035"/>
            <a:ext cx="7405914" cy="338554"/>
          </a:xfrm>
          <a:prstGeom prst="rect">
            <a:avLst/>
          </a:prstGeom>
        </p:spPr>
        <p:txBody>
          <a:bodyPr wrap="square" anchor="t">
            <a:spAutoFit/>
          </a:bodyPr>
          <a:lstStyle/>
          <a:p>
            <a:r>
              <a:rPr lang="en-US" sz="1600" dirty="0">
                <a:solidFill>
                  <a:srgbClr val="00A2E2"/>
                </a:solidFill>
              </a:rPr>
              <a:t>COMPETITIVE ANALYSIS: </a:t>
            </a:r>
            <a:r>
              <a:rPr lang="en-US" sz="1600" b="1" dirty="0">
                <a:solidFill>
                  <a:srgbClr val="00A2E2"/>
                </a:solidFill>
              </a:rPr>
              <a:t>How Our Competitors Are Meeting the Issues</a:t>
            </a:r>
          </a:p>
        </p:txBody>
      </p:sp>
    </p:spTree>
    <p:extLst>
      <p:ext uri="{BB962C8B-B14F-4D97-AF65-F5344CB8AC3E}">
        <p14:creationId xmlns:p14="http://schemas.microsoft.com/office/powerpoint/2010/main" val="368312057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26568" y="1411151"/>
            <a:ext cx="12415374" cy="5376831"/>
          </a:xfrm>
          <a:prstGeom prst="rect">
            <a:avLst/>
          </a:prstGeom>
          <a:noFill/>
          <a:ln w="9525"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highlight>
                <a:srgbClr val="808080"/>
              </a:highligh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p:cNvSpPr txBox="1"/>
          <p:nvPr/>
        </p:nvSpPr>
        <p:spPr>
          <a:xfrm>
            <a:off x="328169" y="1061885"/>
            <a:ext cx="6642886" cy="246221"/>
          </a:xfrm>
          <a:prstGeom prst="rect">
            <a:avLst/>
          </a:prstGeom>
          <a:noFill/>
        </p:spPr>
        <p:txBody>
          <a:bodyPr wrap="square" lIns="0" tIns="0" rIns="0" bIns="0" rtlCol="0" anchor="ctr">
            <a:spAutoFit/>
          </a:bodyPr>
          <a:lstStyle/>
          <a:p>
            <a:pPr defTabSz="914378"/>
            <a:r>
              <a:rPr lang="en-US" sz="1600" b="1" dirty="0">
                <a:solidFill>
                  <a:srgbClr val="003359"/>
                </a:solidFill>
                <a:latin typeface="Arial Narrow" panose="020B0606020202030204" pitchFamily="34" charset="0"/>
                <a:ea typeface="Open Sans" panose="020B0606030504020204" pitchFamily="34" charset="0"/>
                <a:cs typeface="Open Sans" panose="020B0606030504020204" pitchFamily="34" charset="0"/>
              </a:rPr>
              <a:t>Prevent Conditions Before They Start</a:t>
            </a:r>
          </a:p>
        </p:txBody>
      </p:sp>
      <p:sp>
        <p:nvSpPr>
          <p:cNvPr id="16" name="TextBox 15"/>
          <p:cNvSpPr txBox="1"/>
          <p:nvPr/>
        </p:nvSpPr>
        <p:spPr>
          <a:xfrm>
            <a:off x="371711" y="1567639"/>
            <a:ext cx="12270231" cy="5117298"/>
          </a:xfrm>
          <a:prstGeom prst="rect">
            <a:avLst/>
          </a:prstGeom>
          <a:noFill/>
        </p:spPr>
        <p:txBody>
          <a:bodyPr wrap="square" lIns="0" tIns="0" rIns="0" bIns="0" rtlCol="0" anchor="t" anchorCtr="0">
            <a:spAutoFit/>
          </a:bodyPr>
          <a:lstStyle/>
          <a:p>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AETNA</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Aetna Health </a:t>
            </a:r>
            <a:r>
              <a:rPr lang="en-US" sz="1400" b="1" dirty="0" err="1">
                <a:latin typeface="Arial Narrow" panose="020B0606020202030204" pitchFamily="34" charset="0"/>
                <a:ea typeface="Open Sans" panose="020B0606030504020204" pitchFamily="34" charset="0"/>
                <a:cs typeface="Open Sans" panose="020B0606030504020204" pitchFamily="34" charset="0"/>
              </a:rPr>
              <a:t>ConnectionsSM</a:t>
            </a:r>
            <a:r>
              <a:rPr lang="en-US" sz="1400" b="1" dirty="0">
                <a:latin typeface="Arial Narrow" panose="020B0606020202030204" pitchFamily="34" charset="0"/>
                <a:ea typeface="Open Sans" panose="020B0606030504020204" pitchFamily="34" charset="0"/>
                <a:cs typeface="Open Sans" panose="020B0606030504020204" pitchFamily="34" charset="0"/>
              </a:rPr>
              <a:t> – </a:t>
            </a:r>
            <a:r>
              <a:rPr lang="en-US" sz="1400" dirty="0">
                <a:latin typeface="Arial Narrow" panose="020B0606020202030204" pitchFamily="34" charset="0"/>
                <a:ea typeface="Open Sans" panose="020B0606030504020204" pitchFamily="34" charset="0"/>
                <a:cs typeface="Open Sans" panose="020B0606030504020204" pitchFamily="34" charset="0"/>
              </a:rPr>
              <a:t>uses screening and referrals in disease management program to identify depression early (also addresses clinical referral challenges)</a:t>
            </a:r>
          </a:p>
          <a:p>
            <a:pPr marL="171450" indent="-171450">
              <a:buFont typeface="Arial" panose="020B0604020202020204" pitchFamily="34" charset="0"/>
              <a:buChar char="•"/>
            </a:pPr>
            <a:r>
              <a:rPr lang="en-US" sz="1400" b="1" dirty="0" err="1">
                <a:latin typeface="Arial Narrow" panose="020B0606020202030204" pitchFamily="34" charset="0"/>
                <a:ea typeface="Open Sans" panose="020B0606030504020204" pitchFamily="34" charset="0"/>
                <a:cs typeface="Open Sans" panose="020B0606030504020204" pitchFamily="34" charset="0"/>
              </a:rPr>
              <a:t>MyBrainSolutions</a:t>
            </a:r>
            <a:r>
              <a:rPr lang="en-US" sz="1400" b="1" dirty="0">
                <a:latin typeface="Arial Narrow" panose="020B0606020202030204" pitchFamily="34" charset="0"/>
                <a:ea typeface="Open Sans" panose="020B0606030504020204" pitchFamily="34" charset="0"/>
                <a:cs typeface="Open Sans" panose="020B0606030504020204" pitchFamily="34" charset="0"/>
              </a:rPr>
              <a:t> (Total Brain) </a:t>
            </a:r>
            <a:r>
              <a:rPr lang="en-US" sz="1400" dirty="0">
                <a:latin typeface="Arial Narrow" panose="020B0606020202030204" pitchFamily="34" charset="0"/>
                <a:ea typeface="Open Sans" panose="020B0606030504020204" pitchFamily="34" charset="0"/>
                <a:cs typeface="Open Sans" panose="020B0606030504020204" pitchFamily="34" charset="0"/>
              </a:rPr>
              <a:t>– interactive brain training site to manage stress and improve cognition</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Opioid overdose risk screening </a:t>
            </a:r>
            <a:r>
              <a:rPr lang="en-US" sz="1400" dirty="0">
                <a:latin typeface="Arial Narrow" panose="020B0606020202030204" pitchFamily="34" charset="0"/>
                <a:ea typeface="Open Sans" panose="020B0606030504020204" pitchFamily="34" charset="0"/>
                <a:cs typeface="Open Sans" panose="020B0606030504020204" pitchFamily="34" charset="0"/>
              </a:rPr>
              <a:t>and waived copay for Narcan</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Resources for Living </a:t>
            </a:r>
            <a:r>
              <a:rPr lang="en-US" sz="1400" dirty="0">
                <a:latin typeface="Arial Narrow" panose="020B0606020202030204" pitchFamily="34" charset="0"/>
                <a:ea typeface="Open Sans" panose="020B0606030504020204" pitchFamily="34" charset="0"/>
                <a:cs typeface="Open Sans" panose="020B0606030504020204" pitchFamily="34" charset="0"/>
              </a:rPr>
              <a:t>– mobile app includes mood tracking , resilience training</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Depression screening </a:t>
            </a:r>
            <a:r>
              <a:rPr lang="en-US" sz="1400" dirty="0">
                <a:latin typeface="Arial Narrow" panose="020B0606020202030204" pitchFamily="34" charset="0"/>
                <a:ea typeface="Open Sans" panose="020B0606030504020204" pitchFamily="34" charset="0"/>
                <a:cs typeface="Open Sans" panose="020B0606030504020204" pitchFamily="34" charset="0"/>
              </a:rPr>
              <a:t>for pregnant, post-partum women</a:t>
            </a:r>
          </a:p>
          <a:p>
            <a:pPr marL="171450" indent="-171450">
              <a:buFont typeface="Arial" panose="020B0604020202020204" pitchFamily="34" charset="0"/>
              <a:buChar char="•"/>
            </a:pPr>
            <a:endParaRPr lang="en-US" sz="1400"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solidFill>
                  <a:srgbClr val="0070C0"/>
                </a:solidFill>
                <a:latin typeface="Arial Narrow" panose="020B0606020202030204" pitchFamily="34" charset="0"/>
                <a:ea typeface="Open Sans" panose="020B0606030504020204" pitchFamily="34" charset="0"/>
                <a:cs typeface="Open Sans" panose="020B0606030504020204" pitchFamily="34" charset="0"/>
              </a:rPr>
              <a:t>GOOGLE</a:t>
            </a:r>
            <a:r>
              <a:rPr lang="en-US" sz="1400" b="1" dirty="0">
                <a:latin typeface="Arial Narrow" panose="020B0606020202030204" pitchFamily="34" charset="0"/>
                <a:ea typeface="Open Sans" panose="020B0606030504020204" pitchFamily="34" charset="0"/>
                <a:cs typeface="Open Sans" panose="020B0606030504020204" pitchFamily="34" charset="0"/>
              </a:rPr>
              <a:t> + QUARTET</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Quartet’s integrated platform links providers, payers, and services together to deliver integrated care</a:t>
            </a:r>
            <a:r>
              <a:rPr lang="en-US" sz="1400" dirty="0">
                <a:latin typeface="Arial Narrow" panose="020B0606020202030204" pitchFamily="34" charset="0"/>
                <a:ea typeface="Open Sans" panose="020B0606030504020204" pitchFamily="34" charset="0"/>
                <a:cs typeface="Open Sans" panose="020B0606030504020204" pitchFamily="34" charset="0"/>
              </a:rPr>
              <a:t>. Physicians receive access to data that can help them identify patients with undetected mental health conditions, and through the platform, quickly refer them to a BH health specialist. Providers within the company’s platform can also share treatment plans or other relevant information to collaborate on the care of their patients, while patients have access to personalized support from Quartet’s customer service team. Quartet’s current expansion is focused on Medicaid beneficiaries who are in need of BH services.</a:t>
            </a:r>
          </a:p>
          <a:p>
            <a:pPr marL="171450" indent="-171450">
              <a:buFont typeface="Arial" panose="020B0604020202020204" pitchFamily="34" charset="0"/>
              <a:buChar char="•"/>
            </a:pPr>
            <a:endParaRPr lang="en-US" sz="1400"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rPr>
              <a:t>KAISER PERMANENTE</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Project </a:t>
            </a:r>
            <a:r>
              <a:rPr lang="en-US" sz="1400" b="1" dirty="0" err="1">
                <a:latin typeface="Arial Narrow" panose="020B0606020202030204" pitchFamily="34" charset="0"/>
                <a:ea typeface="Open Sans" panose="020B0606030504020204" pitchFamily="34" charset="0"/>
                <a:cs typeface="Open Sans" panose="020B0606030504020204" pitchFamily="34" charset="0"/>
              </a:rPr>
              <a:t>Chamai</a:t>
            </a:r>
            <a:r>
              <a:rPr lang="en-US" sz="1400" b="1" dirty="0">
                <a:latin typeface="Arial Narrow" panose="020B0606020202030204" pitchFamily="34" charset="0"/>
                <a:ea typeface="Open Sans" panose="020B0606030504020204" pitchFamily="34" charset="0"/>
                <a:cs typeface="Open Sans" panose="020B0606030504020204" pitchFamily="34" charset="0"/>
              </a:rPr>
              <a:t> </a:t>
            </a:r>
            <a:r>
              <a:rPr lang="en-US" sz="1400" dirty="0">
                <a:latin typeface="Arial Narrow" panose="020B0606020202030204" pitchFamily="34" charset="0"/>
                <a:ea typeface="Open Sans" panose="020B0606030504020204" pitchFamily="34" charset="0"/>
                <a:cs typeface="Open Sans" panose="020B0606030504020204" pitchFamily="34" charset="0"/>
              </a:rPr>
              <a:t>For members who are experiencing subclinical symptoms of depression or anxiety. This includes a landing page with emotional wellness content that can be personalized by the member, workflows to enable therapists who work all along the care path to refer these tools, and tools in an online personalized action plan (</a:t>
            </a:r>
            <a:r>
              <a:rPr lang="en-US" sz="1400" dirty="0" err="1">
                <a:latin typeface="Arial Narrow" panose="020B0606020202030204" pitchFamily="34" charset="0"/>
                <a:ea typeface="Open Sans" panose="020B0606030504020204" pitchFamily="34" charset="0"/>
                <a:cs typeface="Open Sans" panose="020B0606030504020204" pitchFamily="34" charset="0"/>
              </a:rPr>
              <a:t>oPAP</a:t>
            </a:r>
            <a:r>
              <a:rPr lang="en-US" sz="1400" dirty="0">
                <a:latin typeface="Arial Narrow" panose="020B0606020202030204" pitchFamily="34" charset="0"/>
                <a:ea typeface="Open Sans" panose="020B0606030504020204" pitchFamily="34" charset="0"/>
                <a:cs typeface="Open Sans" panose="020B0606030504020204" pitchFamily="34" charset="0"/>
              </a:rPr>
              <a:t>) that supports a member’s care.</a:t>
            </a:r>
          </a:p>
          <a:p>
            <a:pPr marL="171450" indent="-171450">
              <a:buFont typeface="Arial" panose="020B0604020202020204" pitchFamily="34" charset="0"/>
              <a:buChar char="•"/>
            </a:pPr>
            <a:endParaRPr lang="en-US" sz="1400"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latin typeface="Arial Narrow" panose="020B0606020202030204" pitchFamily="34" charset="0"/>
                <a:ea typeface="Open Sans" panose="020B0606030504020204" pitchFamily="34" charset="0"/>
                <a:cs typeface="Open Sans" panose="020B0606030504020204" pitchFamily="34" charset="0"/>
              </a:rPr>
              <a:t>MAGELLAN HEALTH</a:t>
            </a:r>
          </a:p>
          <a:p>
            <a:pPr marL="171450" indent="-171450">
              <a:buFont typeface="Arial" panose="020B0604020202020204" pitchFamily="34" charset="0"/>
              <a:buChar char="•"/>
            </a:pPr>
            <a:r>
              <a:rPr lang="en-US" sz="1400" dirty="0">
                <a:latin typeface="Arial Narrow" panose="020B0606020202030204" pitchFamily="34" charset="0"/>
                <a:ea typeface="Open Sans" panose="020B0606030504020204" pitchFamily="34" charset="0"/>
                <a:cs typeface="Open Sans" panose="020B0606030504020204" pitchFamily="34" charset="0"/>
              </a:rPr>
              <a:t>In 2016, Magellan Health launched an initiative aimed at preventing suicide among its Medicaid beneficiaries in Maricopa County, Ariz. Suicides fell 67% in the first three months.</a:t>
            </a:r>
          </a:p>
          <a:p>
            <a:endParaRPr lang="en-US" sz="1400" b="1"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UPMC</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Services for the Treatment of Early Psychoses (STEP) </a:t>
            </a:r>
            <a:r>
              <a:rPr lang="en-US" sz="1400" dirty="0">
                <a:latin typeface="Arial Narrow" panose="020B0606020202030204" pitchFamily="34" charset="0"/>
                <a:ea typeface="Open Sans" panose="020B0606030504020204" pitchFamily="34" charset="0"/>
                <a:cs typeface="Open Sans" panose="020B0606030504020204" pitchFamily="34" charset="0"/>
              </a:rPr>
              <a:t>is an outpatient clinical program for the evaluation, treatment, and rehabilitation of people who may be experiencing early symptoms and signs of psychotic illness in a recovery-oriented setting.</a:t>
            </a:r>
            <a:endParaRPr lang="en-US" sz="1400" i="1" kern="0" baseline="30000" dirty="0">
              <a:solidFill>
                <a:sysClr val="windowText" lastClr="000000"/>
              </a:solidFill>
              <a:latin typeface="Arial Narrow" panose="020B0606020202030204" pitchFamily="34" charset="0"/>
              <a:ea typeface="Open Sans" panose="020B0606030504020204" pitchFamily="34" charset="0"/>
              <a:cs typeface="Open Sans" panose="020B0606030504020204" pitchFamily="34" charset="0"/>
            </a:endParaRPr>
          </a:p>
        </p:txBody>
      </p:sp>
      <p:sp>
        <p:nvSpPr>
          <p:cNvPr id="36" name="Rectangle 35">
            <a:extLst>
              <a:ext uri="{FF2B5EF4-FFF2-40B4-BE49-F238E27FC236}">
                <a16:creationId xmlns:a16="http://schemas.microsoft.com/office/drawing/2014/main" id="{3178EB37-C81B-2D49-8F6F-71758FF1FFAD}"/>
              </a:ext>
            </a:extLst>
          </p:cNvPr>
          <p:cNvSpPr/>
          <p:nvPr/>
        </p:nvSpPr>
        <p:spPr>
          <a:xfrm>
            <a:off x="228600" y="534035"/>
            <a:ext cx="7405914" cy="338554"/>
          </a:xfrm>
          <a:prstGeom prst="rect">
            <a:avLst/>
          </a:prstGeom>
        </p:spPr>
        <p:txBody>
          <a:bodyPr wrap="square" anchor="t">
            <a:spAutoFit/>
          </a:bodyPr>
          <a:lstStyle/>
          <a:p>
            <a:r>
              <a:rPr lang="en-US" sz="1600" dirty="0">
                <a:solidFill>
                  <a:srgbClr val="00A2E2"/>
                </a:solidFill>
              </a:rPr>
              <a:t>COMPETITIVE ANALYSIS: </a:t>
            </a:r>
            <a:r>
              <a:rPr lang="en-US" sz="1600" b="1" dirty="0">
                <a:solidFill>
                  <a:srgbClr val="00A2E2"/>
                </a:solidFill>
              </a:rPr>
              <a:t>How Our Competitors Are Meeting the Issues</a:t>
            </a:r>
          </a:p>
        </p:txBody>
      </p:sp>
    </p:spTree>
    <p:extLst>
      <p:ext uri="{BB962C8B-B14F-4D97-AF65-F5344CB8AC3E}">
        <p14:creationId xmlns:p14="http://schemas.microsoft.com/office/powerpoint/2010/main" val="30682441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328169" y="1054369"/>
            <a:ext cx="9828578" cy="246221"/>
          </a:xfrm>
          <a:prstGeom prst="rect">
            <a:avLst/>
          </a:prstGeom>
          <a:noFill/>
        </p:spPr>
        <p:txBody>
          <a:bodyPr wrap="square" lIns="0" tIns="0" rIns="0" bIns="0" rtlCol="0" anchor="ctr">
            <a:spAutoFit/>
          </a:bodyPr>
          <a:lstStyle/>
          <a:p>
            <a:pPr defTabSz="914378"/>
            <a:r>
              <a:rPr lang="en-US" sz="1600" b="1" dirty="0">
                <a:solidFill>
                  <a:srgbClr val="003359"/>
                </a:solidFill>
                <a:latin typeface="Arial Narrow" panose="020B0606020202030204" pitchFamily="34" charset="0"/>
                <a:ea typeface="Open Sans" panose="020B0606030504020204" pitchFamily="34" charset="0"/>
                <a:cs typeface="Open Sans" panose="020B0606030504020204" pitchFamily="34" charset="0"/>
              </a:rPr>
              <a:t>Address Stigma &amp; Cultural Challenges</a:t>
            </a:r>
          </a:p>
        </p:txBody>
      </p:sp>
      <p:sp>
        <p:nvSpPr>
          <p:cNvPr id="23" name="Rectangle 22"/>
          <p:cNvSpPr/>
          <p:nvPr/>
        </p:nvSpPr>
        <p:spPr>
          <a:xfrm>
            <a:off x="328169" y="1465401"/>
            <a:ext cx="12157226" cy="6279668"/>
          </a:xfrm>
          <a:prstGeom prst="rect">
            <a:avLst/>
          </a:prstGeom>
        </p:spPr>
        <p:txBody>
          <a:bodyPr wrap="square">
            <a:spAutoFit/>
          </a:bodyPr>
          <a:lstStyle/>
          <a:p>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AETNA</a:t>
            </a:r>
          </a:p>
          <a:p>
            <a:pPr marL="171450" indent="-171450">
              <a:buFont typeface="Arial" panose="020B0604020202020204" pitchFamily="34" charset="0"/>
              <a:buChar char="•"/>
            </a:pPr>
            <a:r>
              <a:rPr lang="en-US" sz="1400" b="1" dirty="0" err="1">
                <a:latin typeface="Arial Narrow" panose="020B0606020202030204" pitchFamily="34" charset="0"/>
                <a:ea typeface="Open Sans" panose="020B0606030504020204" pitchFamily="34" charset="0"/>
                <a:cs typeface="Open Sans" panose="020B0606030504020204" pitchFamily="34" charset="0"/>
              </a:rPr>
              <a:t>myStrength</a:t>
            </a:r>
            <a:r>
              <a:rPr lang="en-US" sz="1400" b="1" dirty="0">
                <a:latin typeface="Arial Narrow" panose="020B0606020202030204" pitchFamily="34" charset="0"/>
                <a:ea typeface="Open Sans" panose="020B0606030504020204" pitchFamily="34" charset="0"/>
                <a:cs typeface="Open Sans" panose="020B0606030504020204" pitchFamily="34" charset="0"/>
              </a:rPr>
              <a:t> (</a:t>
            </a:r>
            <a:r>
              <a:rPr lang="en-US" sz="1400" b="1" dirty="0" err="1">
                <a:latin typeface="Arial Narrow" panose="020B0606020202030204" pitchFamily="34" charset="0"/>
                <a:ea typeface="Open Sans" panose="020B0606030504020204" pitchFamily="34" charset="0"/>
                <a:cs typeface="Open Sans" panose="020B0606030504020204" pitchFamily="34" charset="0"/>
              </a:rPr>
              <a:t>Livongo</a:t>
            </a:r>
            <a:r>
              <a:rPr lang="en-US" sz="1400" b="1" dirty="0">
                <a:latin typeface="Arial Narrow" panose="020B0606020202030204" pitchFamily="34" charset="0"/>
                <a:ea typeface="Open Sans" panose="020B0606030504020204" pitchFamily="34" charset="0"/>
                <a:cs typeface="Open Sans" panose="020B0606030504020204" pitchFamily="34" charset="0"/>
              </a:rPr>
              <a:t>)</a:t>
            </a:r>
            <a:r>
              <a:rPr lang="en-US" sz="1400" dirty="0">
                <a:latin typeface="Arial Narrow" panose="020B0606020202030204" pitchFamily="34" charset="0"/>
                <a:ea typeface="Open Sans" panose="020B0606030504020204" pitchFamily="34" charset="0"/>
                <a:cs typeface="Open Sans" panose="020B0606030504020204" pitchFamily="34" charset="0"/>
              </a:rPr>
              <a:t> Free, evidence-based behavioral health access for members, promoting higher levels of engagement and satisfaction, improved outcomes, and reduced cost of care delivery.</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SDOH</a:t>
            </a:r>
            <a:r>
              <a:rPr lang="en-US" sz="1400" dirty="0">
                <a:latin typeface="Arial Narrow" panose="020B0606020202030204" pitchFamily="34" charset="0"/>
                <a:ea typeface="Open Sans" panose="020B0606030504020204" pitchFamily="34" charset="0"/>
                <a:cs typeface="Open Sans" panose="020B0606030504020204" pitchFamily="34" charset="0"/>
              </a:rPr>
              <a:t> – One of first insurers to voluntarily collect racial and ethnic data; 30% of members have volunteered. Numerous initiatives in underserved communities addressing breast health, diabetes, premature births, depression have been launched as a result.</a:t>
            </a:r>
          </a:p>
          <a:p>
            <a:endParaRPr lang="en-US" sz="1400"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latin typeface="Arial Narrow" panose="020B0606020202030204" pitchFamily="34" charset="0"/>
                <a:ea typeface="Open Sans" panose="020B0606030504020204" pitchFamily="34" charset="0"/>
                <a:cs typeface="Open Sans" panose="020B0606030504020204" pitchFamily="34" charset="0"/>
              </a:rPr>
              <a:t>HEALTH CARE SERVICE CORP+ BCBSA + </a:t>
            </a:r>
            <a:r>
              <a:rPr lang="en-US" sz="1400" b="1" dirty="0" err="1">
                <a:latin typeface="Arial Narrow" panose="020B0606020202030204" pitchFamily="34" charset="0"/>
                <a:ea typeface="Open Sans" panose="020B0606030504020204" pitchFamily="34" charset="0"/>
                <a:cs typeface="Open Sans" panose="020B0606030504020204" pitchFamily="34" charset="0"/>
              </a:rPr>
              <a:t>foodQ</a:t>
            </a:r>
            <a:r>
              <a:rPr lang="en-US" sz="1400" b="1" dirty="0">
                <a:latin typeface="Arial Narrow" panose="020B0606020202030204" pitchFamily="34" charset="0"/>
                <a:ea typeface="Open Sans" panose="020B0606030504020204" pitchFamily="34" charset="0"/>
                <a:cs typeface="Open Sans" panose="020B0606030504020204" pitchFamily="34" charset="0"/>
              </a:rPr>
              <a:t>. </a:t>
            </a:r>
          </a:p>
          <a:p>
            <a:pPr marL="171450" indent="-171450">
              <a:buFont typeface="Arial" panose="020B0604020202020204" pitchFamily="34" charset="0"/>
              <a:buChar char="•"/>
            </a:pPr>
            <a:r>
              <a:rPr lang="en-US" sz="1400" dirty="0">
                <a:latin typeface="Arial Narrow" panose="020B0606020202030204" pitchFamily="34" charset="0"/>
                <a:ea typeface="Open Sans" panose="020B0606030504020204" pitchFamily="34" charset="0"/>
                <a:cs typeface="Open Sans" panose="020B0606030504020204" pitchFamily="34" charset="0"/>
              </a:rPr>
              <a:t>The Health Care Service Corporation (HCSC) and Blue Cross Blue Shield (BCBS) Institute have teamed up to bring healthy food delivery options to those living in food deserts. The partnership has debuted </a:t>
            </a:r>
            <a:r>
              <a:rPr lang="en-US" sz="1400" dirty="0" err="1">
                <a:latin typeface="Arial Narrow" panose="020B0606020202030204" pitchFamily="34" charset="0"/>
                <a:ea typeface="Open Sans" panose="020B0606030504020204" pitchFamily="34" charset="0"/>
                <a:cs typeface="Open Sans" panose="020B0606030504020204" pitchFamily="34" charset="0"/>
              </a:rPr>
              <a:t>foodQ</a:t>
            </a:r>
            <a:r>
              <a:rPr lang="en-US" sz="1400" dirty="0">
                <a:latin typeface="Arial Narrow" panose="020B0606020202030204" pitchFamily="34" charset="0"/>
                <a:ea typeface="Open Sans" panose="020B0606030504020204" pitchFamily="34" charset="0"/>
                <a:cs typeface="Open Sans" panose="020B0606030504020204" pitchFamily="34" charset="0"/>
              </a:rPr>
              <a:t>, which offers affordable meals delivered to a participant’s home. The program aims to improve health outcomes for people with chronic conditions, particularly those conditions which are diet related. </a:t>
            </a:r>
          </a:p>
          <a:p>
            <a:pPr marL="171450" indent="-171450">
              <a:buFont typeface="Arial" panose="020B0604020202020204" pitchFamily="34" charset="0"/>
              <a:buChar char="•"/>
            </a:pPr>
            <a:endParaRPr lang="en-US" sz="1400"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latin typeface="Arial Narrow" panose="020B0606020202030204" pitchFamily="34" charset="0"/>
                <a:ea typeface="Open Sans" panose="020B0606030504020204" pitchFamily="34" charset="0"/>
                <a:cs typeface="Open Sans" panose="020B0606030504020204" pitchFamily="34" charset="0"/>
              </a:rPr>
              <a:t>MAGELLAN HEALTH</a:t>
            </a:r>
          </a:p>
          <a:p>
            <a:pPr marL="171450" indent="-171450">
              <a:buFont typeface="Arial" panose="020B0604020202020204" pitchFamily="34" charset="0"/>
              <a:buChar char="•"/>
            </a:pPr>
            <a:r>
              <a:rPr lang="en-US" sz="1400" dirty="0">
                <a:latin typeface="Arial Narrow" panose="020B0606020202030204" pitchFamily="34" charset="0"/>
                <a:ea typeface="Open Sans" panose="020B0606030504020204" pitchFamily="34" charset="0"/>
                <a:cs typeface="Open Sans" panose="020B0606030504020204" pitchFamily="34" charset="0"/>
              </a:rPr>
              <a:t>The managed-care organization achieved that by not only providing behavioral health screenings and faster referrals to mental health services, but by addressing some nonclinical factors like poverty, food and housing insecurity, and environmental exposures such as homes with lead paint.</a:t>
            </a:r>
          </a:p>
          <a:p>
            <a:br>
              <a:rPr lang="en-US" sz="1400" dirty="0">
                <a:latin typeface="Arial Narrow" panose="020B0606020202030204" pitchFamily="34" charset="0"/>
              </a:rPr>
            </a:br>
            <a:r>
              <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rPr>
              <a:t>KAISER PERMANENTE</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“Healthy mind, body, and spirit” </a:t>
            </a:r>
            <a:r>
              <a:rPr lang="en-US" sz="1400" dirty="0">
                <a:latin typeface="Arial Narrow" panose="020B0606020202030204" pitchFamily="34" charset="0"/>
                <a:ea typeface="Open Sans" panose="020B0606030504020204" pitchFamily="34" charset="0"/>
                <a:cs typeface="Open Sans" panose="020B0606030504020204" pitchFamily="34" charset="0"/>
              </a:rPr>
              <a:t>– primarily an educational series inclusive of depression awareness, assessments, and de-stigmatizing efforts</a:t>
            </a:r>
          </a:p>
          <a:p>
            <a:pPr marL="171450" indent="-171450">
              <a:buFont typeface="Arial" panose="020B0604020202020204" pitchFamily="34" charset="0"/>
              <a:buChar char="•"/>
            </a:pPr>
            <a:endParaRPr lang="en-US" sz="1400" b="1" dirty="0">
              <a:latin typeface="Arial Narrow" panose="020B0606020202030204" pitchFamily="34" charset="0"/>
              <a:ea typeface="Open Sans" panose="020B0606030504020204" pitchFamily="34" charset="0"/>
              <a:cs typeface="Open Sans" panose="020B0606030504020204" pitchFamily="34" charset="0"/>
            </a:endParaRPr>
          </a:p>
          <a:p>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UPMC</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Telephonic Psychiatric Consultation Service Program (</a:t>
            </a:r>
            <a:r>
              <a:rPr lang="en-US" sz="1400" b="1" dirty="0" err="1">
                <a:latin typeface="Arial Narrow" panose="020B0606020202030204" pitchFamily="34" charset="0"/>
                <a:ea typeface="Open Sans" panose="020B0606030504020204" pitchFamily="34" charset="0"/>
                <a:cs typeface="Open Sans" panose="020B0606030504020204" pitchFamily="34" charset="0"/>
              </a:rPr>
              <a:t>TiPS</a:t>
            </a:r>
            <a:r>
              <a:rPr lang="en-US" sz="1400" b="1" dirty="0">
                <a:latin typeface="Arial Narrow" panose="020B0606020202030204" pitchFamily="34" charset="0"/>
                <a:ea typeface="Open Sans" panose="020B0606030504020204" pitchFamily="34" charset="0"/>
                <a:cs typeface="Open Sans" panose="020B0606030504020204" pitchFamily="34" charset="0"/>
              </a:rPr>
              <a:t>)</a:t>
            </a:r>
            <a:r>
              <a:rPr lang="en-US" sz="1400" dirty="0">
                <a:latin typeface="Arial Narrow" panose="020B0606020202030204" pitchFamily="34" charset="0"/>
                <a:ea typeface="Open Sans" panose="020B0606030504020204" pitchFamily="34" charset="0"/>
                <a:cs typeface="Open Sans" panose="020B0606030504020204" pitchFamily="34" charset="0"/>
              </a:rPr>
              <a:t> – program designed to provide real-time resources to physicians seeking consultation and advice for pediatric patients with behavioral health concerns who are served by Medicaid; gives physician access to adolescent psychiatrist and ability to link to services outside of PC if necessary</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Geriatric Psychiatry: </a:t>
            </a:r>
            <a:r>
              <a:rPr lang="en-US" sz="1400" dirty="0">
                <a:latin typeface="Arial Narrow" panose="020B0606020202030204" pitchFamily="34" charset="0"/>
                <a:ea typeface="Open Sans" panose="020B0606030504020204" pitchFamily="34" charset="0"/>
                <a:cs typeface="Open Sans" panose="020B0606030504020204" pitchFamily="34" charset="0"/>
              </a:rPr>
              <a:t>Compassionate mental health services specifically targeted to the geriatric population.</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Center of Excellence: </a:t>
            </a:r>
            <a:r>
              <a:rPr lang="en-US" sz="1400" dirty="0">
                <a:latin typeface="Arial Narrow" panose="020B0606020202030204" pitchFamily="34" charset="0"/>
                <a:ea typeface="Open Sans" panose="020B0606030504020204" pitchFamily="34" charset="0"/>
                <a:cs typeface="Open Sans" panose="020B0606030504020204" pitchFamily="34" charset="0"/>
              </a:rPr>
              <a:t>opens access for Medicaid members with a opioid use problem. </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Magee and UPMC </a:t>
            </a:r>
            <a:r>
              <a:rPr lang="en-US" sz="1400" b="1" dirty="0" err="1">
                <a:latin typeface="Arial Narrow" panose="020B0606020202030204" pitchFamily="34" charset="0"/>
                <a:ea typeface="Open Sans" panose="020B0606030504020204" pitchFamily="34" charset="0"/>
                <a:cs typeface="Open Sans" panose="020B0606030504020204" pitchFamily="34" charset="0"/>
              </a:rPr>
              <a:t>Hamot</a:t>
            </a:r>
            <a:r>
              <a:rPr lang="en-US" sz="1400" b="1" dirty="0">
                <a:latin typeface="Arial Narrow" panose="020B0606020202030204" pitchFamily="34" charset="0"/>
                <a:ea typeface="Open Sans" panose="020B0606030504020204" pitchFamily="34" charset="0"/>
                <a:cs typeface="Open Sans" panose="020B0606030504020204" pitchFamily="34" charset="0"/>
              </a:rPr>
              <a:t> </a:t>
            </a:r>
            <a:r>
              <a:rPr lang="en-US" sz="1400" dirty="0">
                <a:latin typeface="Arial Narrow" panose="020B0606020202030204" pitchFamily="34" charset="0"/>
                <a:ea typeface="Open Sans" panose="020B0606030504020204" pitchFamily="34" charset="0"/>
                <a:cs typeface="Open Sans" panose="020B0606030504020204" pitchFamily="34" charset="0"/>
              </a:rPr>
              <a:t>offering an opioid addiction treatment program for pregnant women</a:t>
            </a:r>
          </a:p>
          <a:p>
            <a:pPr marL="171450" indent="-171450">
              <a:buFont typeface="Arial" panose="020B0604020202020204" pitchFamily="34" charset="0"/>
              <a:buChar char="•"/>
            </a:pPr>
            <a:r>
              <a:rPr lang="en-US" sz="1400" b="1" dirty="0">
                <a:latin typeface="Arial Narrow" panose="020B0606020202030204" pitchFamily="34" charset="0"/>
                <a:ea typeface="Open Sans" panose="020B0606030504020204" pitchFamily="34" charset="0"/>
                <a:cs typeface="Open Sans" panose="020B0606030504020204" pitchFamily="34" charset="0"/>
              </a:rPr>
              <a:t>LIFE Solutions (EAP) </a:t>
            </a:r>
            <a:r>
              <a:rPr lang="en-US" sz="1400" dirty="0">
                <a:latin typeface="Arial Narrow" panose="020B0606020202030204" pitchFamily="34" charset="0"/>
                <a:ea typeface="Open Sans" panose="020B0606030504020204" pitchFamily="34" charset="0"/>
                <a:cs typeface="Open Sans" panose="020B0606030504020204" pitchFamily="34" charset="0"/>
              </a:rPr>
              <a:t>– 24/7 support; access to attorneys, financial advisors, etc.</a:t>
            </a:r>
          </a:p>
          <a:p>
            <a:pPr marL="171450" indent="-171450">
              <a:buFont typeface="Arial" panose="020B0604020202020204" pitchFamily="34" charset="0"/>
              <a:buChar char="•"/>
            </a:pPr>
            <a:endParaRPr lang="en-US" sz="1400" dirty="0">
              <a:latin typeface="Arial Narrow" panose="020B0606020202030204" pitchFamily="34" charset="0"/>
              <a:ea typeface="Open Sans" panose="020B0606030504020204" pitchFamily="34" charset="0"/>
              <a:cs typeface="Open Sans" panose="020B0606030504020204" pitchFamily="34" charset="0"/>
            </a:endParaRPr>
          </a:p>
          <a:p>
            <a:endParaRPr lang="en-US" sz="1400" b="1" dirty="0">
              <a:latin typeface="Arial Narrow" panose="020B0606020202030204" pitchFamily="34" charset="0"/>
              <a:ea typeface="Open Sans" panose="020B0606030504020204" pitchFamily="34" charset="0"/>
              <a:cs typeface="Open Sans" panose="020B0606030504020204" pitchFamily="34" charset="0"/>
            </a:endParaRPr>
          </a:p>
          <a:p>
            <a:pPr marL="171450" indent="-171450" defTabSz="914400">
              <a:lnSpc>
                <a:spcPct val="90000"/>
              </a:lnSpc>
              <a:spcBef>
                <a:spcPts val="200"/>
              </a:spcBef>
              <a:spcAft>
                <a:spcPts val="200"/>
              </a:spcAft>
              <a:buFont typeface="Arial" panose="020B0604020202020204" pitchFamily="34" charset="0"/>
              <a:buChar char="•"/>
            </a:pPr>
            <a:endParaRPr lang="en-US" sz="1400" kern="0" baseline="30000" dirty="0">
              <a:solidFill>
                <a:sysClr val="windowText" lastClr="000000"/>
              </a:solidFill>
              <a:latin typeface="Arial Narrow" panose="020B0606020202030204" pitchFamily="34" charset="0"/>
              <a:ea typeface="Open Sans" panose="020B0606030504020204" pitchFamily="34" charset="0"/>
              <a:cs typeface="Open Sans" panose="020B0606030504020204" pitchFamily="34" charset="0"/>
            </a:endParaRPr>
          </a:p>
        </p:txBody>
      </p:sp>
      <p:sp>
        <p:nvSpPr>
          <p:cNvPr id="24" name="Rectangle 23"/>
          <p:cNvSpPr/>
          <p:nvPr/>
        </p:nvSpPr>
        <p:spPr>
          <a:xfrm>
            <a:off x="228600" y="1344132"/>
            <a:ext cx="12157364" cy="5792188"/>
          </a:xfrm>
          <a:prstGeom prst="rect">
            <a:avLst/>
          </a:prstGeom>
          <a:noFill/>
          <a:ln w="9525"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highlight>
                <a:srgbClr val="808080"/>
              </a:highligh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6" name="Rectangle 35">
            <a:extLst>
              <a:ext uri="{FF2B5EF4-FFF2-40B4-BE49-F238E27FC236}">
                <a16:creationId xmlns:a16="http://schemas.microsoft.com/office/drawing/2014/main" id="{3178EB37-C81B-2D49-8F6F-71758FF1FFAD}"/>
              </a:ext>
            </a:extLst>
          </p:cNvPr>
          <p:cNvSpPr/>
          <p:nvPr/>
        </p:nvSpPr>
        <p:spPr>
          <a:xfrm>
            <a:off x="228600" y="534035"/>
            <a:ext cx="7405914" cy="338554"/>
          </a:xfrm>
          <a:prstGeom prst="rect">
            <a:avLst/>
          </a:prstGeom>
        </p:spPr>
        <p:txBody>
          <a:bodyPr wrap="square" anchor="t">
            <a:spAutoFit/>
          </a:bodyPr>
          <a:lstStyle/>
          <a:p>
            <a:r>
              <a:rPr lang="en-US" sz="1600" dirty="0">
                <a:solidFill>
                  <a:srgbClr val="00A2E2"/>
                </a:solidFill>
              </a:rPr>
              <a:t>COMPETITIVE ANALYSIS: </a:t>
            </a:r>
            <a:r>
              <a:rPr lang="en-US" sz="1600" b="1" dirty="0">
                <a:solidFill>
                  <a:srgbClr val="00A2E2"/>
                </a:solidFill>
              </a:rPr>
              <a:t>How Our Competitors Are Meeting the Issues</a:t>
            </a:r>
          </a:p>
        </p:txBody>
      </p:sp>
    </p:spTree>
    <p:extLst>
      <p:ext uri="{BB962C8B-B14F-4D97-AF65-F5344CB8AC3E}">
        <p14:creationId xmlns:p14="http://schemas.microsoft.com/office/powerpoint/2010/main" val="12681859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26568" y="1411152"/>
            <a:ext cx="12415374" cy="2275478"/>
          </a:xfrm>
          <a:prstGeom prst="rect">
            <a:avLst/>
          </a:prstGeom>
          <a:noFill/>
          <a:ln w="9525"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highlight>
                <a:srgbClr val="808080"/>
              </a:highligh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p:cNvSpPr txBox="1"/>
          <p:nvPr/>
        </p:nvSpPr>
        <p:spPr>
          <a:xfrm>
            <a:off x="328169" y="1061885"/>
            <a:ext cx="6642886" cy="246221"/>
          </a:xfrm>
          <a:prstGeom prst="rect">
            <a:avLst/>
          </a:prstGeom>
          <a:noFill/>
        </p:spPr>
        <p:txBody>
          <a:bodyPr wrap="square" lIns="0" tIns="0" rIns="0" bIns="0" rtlCol="0" anchor="ctr">
            <a:spAutoFit/>
          </a:bodyPr>
          <a:lstStyle/>
          <a:p>
            <a:pPr defTabSz="914378"/>
            <a:r>
              <a:rPr lang="en-US" sz="1600" b="1" dirty="0">
                <a:solidFill>
                  <a:srgbClr val="003359"/>
                </a:solidFill>
                <a:latin typeface="Arial Narrow" panose="020B0606020202030204" pitchFamily="34" charset="0"/>
                <a:ea typeface="Open Sans" panose="020B0606030504020204" pitchFamily="34" charset="0"/>
                <a:cs typeface="Open Sans" panose="020B0606030504020204" pitchFamily="34" charset="0"/>
              </a:rPr>
              <a:t>Remove Barriers to Value Realization</a:t>
            </a:r>
          </a:p>
        </p:txBody>
      </p:sp>
      <p:sp>
        <p:nvSpPr>
          <p:cNvPr id="36" name="Rectangle 35">
            <a:extLst>
              <a:ext uri="{FF2B5EF4-FFF2-40B4-BE49-F238E27FC236}">
                <a16:creationId xmlns:a16="http://schemas.microsoft.com/office/drawing/2014/main" id="{3178EB37-C81B-2D49-8F6F-71758FF1FFAD}"/>
              </a:ext>
            </a:extLst>
          </p:cNvPr>
          <p:cNvSpPr/>
          <p:nvPr/>
        </p:nvSpPr>
        <p:spPr>
          <a:xfrm>
            <a:off x="228600" y="534035"/>
            <a:ext cx="7405914" cy="338554"/>
          </a:xfrm>
          <a:prstGeom prst="rect">
            <a:avLst/>
          </a:prstGeom>
        </p:spPr>
        <p:txBody>
          <a:bodyPr wrap="square" anchor="t">
            <a:spAutoFit/>
          </a:bodyPr>
          <a:lstStyle/>
          <a:p>
            <a:r>
              <a:rPr lang="en-US" sz="1600" dirty="0">
                <a:solidFill>
                  <a:srgbClr val="00A2E2"/>
                </a:solidFill>
              </a:rPr>
              <a:t>COMPETITIVE ANALYSIS: </a:t>
            </a:r>
            <a:r>
              <a:rPr lang="en-US" sz="1600" b="1" dirty="0">
                <a:solidFill>
                  <a:srgbClr val="00A2E2"/>
                </a:solidFill>
              </a:rPr>
              <a:t>How Our Competitors Are Meeting the Issues</a:t>
            </a:r>
          </a:p>
        </p:txBody>
      </p:sp>
      <p:sp>
        <p:nvSpPr>
          <p:cNvPr id="2" name="Rectangle 1"/>
          <p:cNvSpPr/>
          <p:nvPr/>
        </p:nvSpPr>
        <p:spPr>
          <a:xfrm>
            <a:off x="328168" y="1497316"/>
            <a:ext cx="12067031" cy="1986185"/>
          </a:xfrm>
          <a:prstGeom prst="rect">
            <a:avLst/>
          </a:prstGeom>
        </p:spPr>
        <p:txBody>
          <a:bodyPr wrap="square">
            <a:spAutoFit/>
          </a:bodyPr>
          <a:lstStyle/>
          <a:p>
            <a:pPr defTabSz="914378">
              <a:lnSpc>
                <a:spcPct val="95000"/>
              </a:lnSpc>
              <a:spcBef>
                <a:spcPts val="200"/>
              </a:spcBef>
              <a:spcAft>
                <a:spcPts val="200"/>
              </a:spcAft>
            </a:pPr>
            <a:r>
              <a:rPr lang="en-US" sz="1400" b="1" kern="0" dirty="0">
                <a:solidFill>
                  <a:srgbClr val="0070C0"/>
                </a:solidFill>
                <a:latin typeface="Arial Narrow" pitchFamily="34" charset="0"/>
              </a:rPr>
              <a:t>Cigna </a:t>
            </a:r>
          </a:p>
          <a:p>
            <a:pPr defTabSz="914378">
              <a:lnSpc>
                <a:spcPct val="95000"/>
              </a:lnSpc>
              <a:spcBef>
                <a:spcPts val="200"/>
              </a:spcBef>
              <a:spcAft>
                <a:spcPts val="200"/>
              </a:spcAft>
            </a:pPr>
            <a:r>
              <a:rPr lang="en-US" sz="1400" b="1" kern="0" dirty="0">
                <a:solidFill>
                  <a:sysClr val="windowText" lastClr="000000"/>
                </a:solidFill>
                <a:latin typeface="Arial Narrow" pitchFamily="34" charset="0"/>
              </a:rPr>
              <a:t>Collaborative Care (CCC) Program – </a:t>
            </a:r>
            <a:r>
              <a:rPr lang="en-US" sz="1400" kern="0" dirty="0">
                <a:solidFill>
                  <a:sysClr val="windowText" lastClr="000000"/>
                </a:solidFill>
                <a:latin typeface="Arial Narrow" pitchFamily="34" charset="0"/>
              </a:rPr>
              <a:t>enrolled physicians are in value-based arrangements with behavioral health quality measures such as depression screening in value-based cardiology; and maternal mental health screening in value-based OB/GYN. </a:t>
            </a:r>
          </a:p>
          <a:p>
            <a:pPr defTabSz="914378">
              <a:lnSpc>
                <a:spcPct val="95000"/>
              </a:lnSpc>
              <a:spcBef>
                <a:spcPts val="200"/>
              </a:spcBef>
              <a:spcAft>
                <a:spcPts val="200"/>
              </a:spcAft>
            </a:pPr>
            <a:r>
              <a:rPr lang="en-US" sz="1400" b="1" kern="0" dirty="0">
                <a:solidFill>
                  <a:sysClr val="windowText" lastClr="000000"/>
                </a:solidFill>
                <a:latin typeface="Arial Narrow" pitchFamily="34" charset="0"/>
              </a:rPr>
              <a:t>American Society of Addiction Med Partnership – </a:t>
            </a:r>
            <a:r>
              <a:rPr lang="en-US" sz="1400" kern="0" dirty="0">
                <a:solidFill>
                  <a:sysClr val="windowText" lastClr="000000"/>
                </a:solidFill>
                <a:latin typeface="Arial Narrow" pitchFamily="34" charset="0"/>
              </a:rPr>
              <a:t>validating evidence-based outcomes</a:t>
            </a:r>
          </a:p>
          <a:p>
            <a:pPr lvl="1" defTabSz="914378">
              <a:lnSpc>
                <a:spcPct val="95000"/>
              </a:lnSpc>
              <a:spcBef>
                <a:spcPts val="200"/>
              </a:spcBef>
              <a:spcAft>
                <a:spcPts val="200"/>
              </a:spcAft>
            </a:pPr>
            <a:endParaRPr lang="en-US" sz="1400" kern="0" dirty="0">
              <a:solidFill>
                <a:sysClr val="windowText" lastClr="000000"/>
              </a:solidFill>
              <a:latin typeface="Arial Narrow" pitchFamily="34" charset="0"/>
            </a:endParaRPr>
          </a:p>
          <a:p>
            <a:pPr defTabSz="914378">
              <a:lnSpc>
                <a:spcPct val="95000"/>
              </a:lnSpc>
              <a:spcBef>
                <a:spcPts val="200"/>
              </a:spcBef>
              <a:spcAft>
                <a:spcPts val="200"/>
              </a:spcAft>
            </a:pPr>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AETNA</a:t>
            </a:r>
          </a:p>
          <a:p>
            <a:pPr defTabSz="914378">
              <a:lnSpc>
                <a:spcPct val="95000"/>
              </a:lnSpc>
              <a:spcBef>
                <a:spcPts val="200"/>
              </a:spcBef>
              <a:spcAft>
                <a:spcPts val="200"/>
              </a:spcAft>
            </a:pPr>
            <a:r>
              <a:rPr lang="en-US" sz="1400" kern="0" dirty="0">
                <a:solidFill>
                  <a:sysClr val="windowText" lastClr="000000"/>
                </a:solidFill>
                <a:latin typeface="Arial Narrow" pitchFamily="34" charset="0"/>
              </a:rPr>
              <a:t>Medicaid’s outcomes-based model for members with intellectual and development disabilities (IDD). Connects members with an Aetna IDD coordinator who facilities community resources, innovative practices, and technology tools to promote meaningful quality of life. </a:t>
            </a:r>
          </a:p>
        </p:txBody>
      </p:sp>
      <p:sp>
        <p:nvSpPr>
          <p:cNvPr id="7" name="TextBox 6"/>
          <p:cNvSpPr txBox="1"/>
          <p:nvPr/>
        </p:nvSpPr>
        <p:spPr>
          <a:xfrm>
            <a:off x="328168" y="3978972"/>
            <a:ext cx="6642886" cy="246221"/>
          </a:xfrm>
          <a:prstGeom prst="rect">
            <a:avLst/>
          </a:prstGeom>
          <a:noFill/>
        </p:spPr>
        <p:txBody>
          <a:bodyPr wrap="square" lIns="0" tIns="0" rIns="0" bIns="0" rtlCol="0" anchor="ctr">
            <a:spAutoFit/>
          </a:bodyPr>
          <a:lstStyle/>
          <a:p>
            <a:pPr defTabSz="914378"/>
            <a:r>
              <a:rPr lang="en-US" sz="1600" b="1" dirty="0">
                <a:solidFill>
                  <a:srgbClr val="003359"/>
                </a:solidFill>
                <a:latin typeface="Arial Narrow" panose="020B0606020202030204" pitchFamily="34" charset="0"/>
                <a:ea typeface="Open Sans" panose="020B0606030504020204" pitchFamily="34" charset="0"/>
                <a:cs typeface="Open Sans" panose="020B0606030504020204" pitchFamily="34" charset="0"/>
              </a:rPr>
              <a:t>Address Clinician Challenges</a:t>
            </a:r>
          </a:p>
        </p:txBody>
      </p:sp>
      <p:sp>
        <p:nvSpPr>
          <p:cNvPr id="8" name="Rectangle 7"/>
          <p:cNvSpPr/>
          <p:nvPr/>
        </p:nvSpPr>
        <p:spPr>
          <a:xfrm>
            <a:off x="328167" y="4365349"/>
            <a:ext cx="12315807" cy="2261645"/>
          </a:xfrm>
          <a:prstGeom prst="rect">
            <a:avLst/>
          </a:prstGeom>
        </p:spPr>
        <p:txBody>
          <a:bodyPr wrap="square">
            <a:spAutoFit/>
          </a:bodyPr>
          <a:lstStyle/>
          <a:p>
            <a:pPr defTabSz="914378">
              <a:lnSpc>
                <a:spcPct val="95000"/>
              </a:lnSpc>
              <a:spcBef>
                <a:spcPts val="200"/>
              </a:spcBef>
              <a:spcAft>
                <a:spcPts val="200"/>
              </a:spcAft>
            </a:pPr>
            <a:r>
              <a:rPr lang="en-US" sz="1400" b="1" dirty="0">
                <a:solidFill>
                  <a:srgbClr val="7030A0"/>
                </a:solidFill>
                <a:latin typeface="Arial Narrow" panose="020B0606020202030204" pitchFamily="34" charset="0"/>
                <a:ea typeface="Open Sans" panose="020B0606030504020204" pitchFamily="34" charset="0"/>
                <a:cs typeface="Open Sans" panose="020B0606030504020204" pitchFamily="34" charset="0"/>
              </a:rPr>
              <a:t>AETNA</a:t>
            </a:r>
          </a:p>
          <a:p>
            <a:r>
              <a:rPr lang="en-US" sz="1400" b="1" kern="0" dirty="0">
                <a:solidFill>
                  <a:sysClr val="windowText" lastClr="000000"/>
                </a:solidFill>
                <a:latin typeface="Arial Narrow" pitchFamily="34" charset="0"/>
              </a:rPr>
              <a:t>Health </a:t>
            </a:r>
            <a:r>
              <a:rPr lang="en-US" sz="1400" b="1" kern="0" dirty="0" err="1">
                <a:solidFill>
                  <a:sysClr val="windowText" lastClr="000000"/>
                </a:solidFill>
                <a:latin typeface="Arial Narrow" pitchFamily="34" charset="0"/>
              </a:rPr>
              <a:t>ConnectionsSM</a:t>
            </a:r>
            <a:r>
              <a:rPr lang="en-US" sz="1400" b="1" kern="0" dirty="0">
                <a:solidFill>
                  <a:sysClr val="windowText" lastClr="000000"/>
                </a:solidFill>
                <a:latin typeface="Arial Narrow" pitchFamily="34" charset="0"/>
              </a:rPr>
              <a:t> </a:t>
            </a:r>
            <a:r>
              <a:rPr lang="en-US" sz="1400" kern="0" dirty="0">
                <a:solidFill>
                  <a:sysClr val="windowText" lastClr="000000"/>
                </a:solidFill>
                <a:latin typeface="Arial Narrow" pitchFamily="34" charset="0"/>
              </a:rPr>
              <a:t>– as depression is often triggered by chronic illness, uses screening and referrals in disease management program to identify depression early (also supports prevention)</a:t>
            </a:r>
          </a:p>
          <a:p>
            <a:endParaRPr lang="en-US" sz="1400" kern="0" dirty="0">
              <a:solidFill>
                <a:sysClr val="windowText" lastClr="000000"/>
              </a:solidFill>
              <a:latin typeface="Arial Narrow" pitchFamily="34" charset="0"/>
            </a:endParaRPr>
          </a:p>
          <a:p>
            <a:r>
              <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rPr>
              <a:t>KAISER PERMANENTE</a:t>
            </a:r>
          </a:p>
          <a:p>
            <a:r>
              <a:rPr lang="en-US" sz="1400" kern="0" dirty="0">
                <a:solidFill>
                  <a:sysClr val="windowText" lastClr="000000"/>
                </a:solidFill>
                <a:latin typeface="Arial Narrow" pitchFamily="34" charset="0"/>
              </a:rPr>
              <a:t>Connect 2 Care – provides medical consultations, prescriptions, and referrals electronically to circumvent issues of travel and scheduling</a:t>
            </a:r>
          </a:p>
          <a:p>
            <a:endParaRPr lang="en-US" sz="1400" kern="0" dirty="0">
              <a:solidFill>
                <a:sysClr val="windowText" lastClr="000000"/>
              </a:solidFill>
              <a:latin typeface="Arial Narrow" pitchFamily="34" charset="0"/>
            </a:endParaRPr>
          </a:p>
          <a:p>
            <a:endParaRPr lang="en-US" sz="1400" kern="0" dirty="0">
              <a:solidFill>
                <a:sysClr val="windowText" lastClr="000000"/>
              </a:solidFill>
              <a:latin typeface="Arial Narrow" pitchFamily="34" charset="0"/>
            </a:endParaRPr>
          </a:p>
          <a:p>
            <a:r>
              <a:rPr lang="en-US" sz="1400" b="1" u="sng" kern="0" dirty="0">
                <a:solidFill>
                  <a:sysClr val="windowText" lastClr="000000"/>
                </a:solidFill>
                <a:latin typeface="Arial Narrow" pitchFamily="34" charset="0"/>
              </a:rPr>
              <a:t>Various INN for </a:t>
            </a:r>
            <a:r>
              <a:rPr lang="en-US" sz="1400" b="1" u="sng" dirty="0"/>
              <a:t>Anthem; Aetna; Cigna; Kaiser; United):</a:t>
            </a:r>
            <a:r>
              <a:rPr lang="en-US" sz="1400" b="1" dirty="0"/>
              <a:t>SONDERMIND</a:t>
            </a:r>
          </a:p>
          <a:p>
            <a:r>
              <a:rPr lang="en-US" sz="1400" dirty="0"/>
              <a:t>R</a:t>
            </a:r>
            <a:r>
              <a:rPr lang="en-US" sz="1400" kern="0" dirty="0">
                <a:solidFill>
                  <a:sysClr val="windowText" lastClr="000000"/>
                </a:solidFill>
                <a:latin typeface="Arial Narrow" pitchFamily="34" charset="0"/>
              </a:rPr>
              <a:t>ecent $27m financing; offers MH practitioners a toolkit and back office services so they can bill insurance providers; matches member to physicians INN based on preferences </a:t>
            </a:r>
          </a:p>
        </p:txBody>
      </p:sp>
      <p:sp>
        <p:nvSpPr>
          <p:cNvPr id="10" name="Rectangle 9"/>
          <p:cNvSpPr/>
          <p:nvPr/>
        </p:nvSpPr>
        <p:spPr>
          <a:xfrm>
            <a:off x="228600" y="4304160"/>
            <a:ext cx="12415374" cy="2430470"/>
          </a:xfrm>
          <a:prstGeom prst="rect">
            <a:avLst/>
          </a:prstGeom>
          <a:noFill/>
          <a:ln w="9525"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highlight>
                <a:srgbClr val="808080"/>
              </a:highligh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447387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30"/>
          <p:cNvSpPr>
            <a:spLocks noChangeAspect="1" noChangeArrowheads="1" noTextEdit="1"/>
          </p:cNvSpPr>
          <p:nvPr/>
        </p:nvSpPr>
        <p:spPr bwMode="gray">
          <a:xfrm>
            <a:off x="7185743" y="707134"/>
            <a:ext cx="381937" cy="40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378">
              <a:defRPr/>
            </a:pPr>
            <a:endParaRPr lang="en-US" sz="1800" kern="0" dirty="0">
              <a:solidFill>
                <a:prstClr val="black"/>
              </a:solidFill>
            </a:endParaRPr>
          </a:p>
        </p:txBody>
      </p:sp>
      <p:sp>
        <p:nvSpPr>
          <p:cNvPr id="28" name="Rectangle 27"/>
          <p:cNvSpPr/>
          <p:nvPr/>
        </p:nvSpPr>
        <p:spPr>
          <a:xfrm>
            <a:off x="162100" y="1566499"/>
            <a:ext cx="3869840" cy="3678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dirty="0"/>
              <a:t>a</a:t>
            </a:r>
          </a:p>
        </p:txBody>
      </p:sp>
      <p:sp>
        <p:nvSpPr>
          <p:cNvPr id="21" name="Rectangle 20"/>
          <p:cNvSpPr/>
          <p:nvPr/>
        </p:nvSpPr>
        <p:spPr>
          <a:xfrm>
            <a:off x="144017" y="1430019"/>
            <a:ext cx="12528564" cy="4863896"/>
          </a:xfrm>
          <a:prstGeom prst="rect">
            <a:avLst/>
          </a:prstGeom>
        </p:spPr>
        <p:txBody>
          <a:bodyPr wrap="square">
            <a:spAutoFit/>
          </a:bodyPr>
          <a:lstStyle/>
          <a:p>
            <a:pPr defTabSz="914400">
              <a:lnSpc>
                <a:spcPct val="90000"/>
              </a:lnSpc>
              <a:spcBef>
                <a:spcPts val="200"/>
              </a:spcBef>
              <a:spcAft>
                <a:spcPts val="200"/>
              </a:spcAft>
            </a:pPr>
            <a:r>
              <a:rPr lang="en-US" sz="1400" b="1" kern="0" dirty="0">
                <a:solidFill>
                  <a:schemeClr val="accent1">
                    <a:lumMod val="75000"/>
                    <a:lumOff val="25000"/>
                  </a:schemeClr>
                </a:solidFill>
                <a:latin typeface="Arial Narrow" pitchFamily="34" charset="0"/>
              </a:rPr>
              <a:t>Intermountain</a:t>
            </a:r>
          </a:p>
          <a:p>
            <a:pPr marL="171450" indent="-171450" defTabSz="914400">
              <a:lnSpc>
                <a:spcPct val="90000"/>
              </a:lnSpc>
              <a:spcBef>
                <a:spcPts val="200"/>
              </a:spcBef>
              <a:spcAft>
                <a:spcPts val="200"/>
              </a:spcAft>
              <a:buFont typeface="Arial" panose="020B0604020202020204" pitchFamily="34" charset="0"/>
              <a:buChar char="•"/>
            </a:pPr>
            <a:r>
              <a:rPr lang="en-US" sz="1400" b="1" kern="0" dirty="0" err="1">
                <a:solidFill>
                  <a:sysClr val="windowText" lastClr="000000"/>
                </a:solidFill>
                <a:latin typeface="Arial Narrow" pitchFamily="34" charset="0"/>
              </a:rPr>
              <a:t>Alluceo</a:t>
            </a:r>
            <a:r>
              <a:rPr lang="en-US" sz="1400" b="1" kern="0" dirty="0">
                <a:solidFill>
                  <a:sysClr val="windowText" lastClr="000000"/>
                </a:solidFill>
                <a:latin typeface="Arial Narrow" pitchFamily="34" charset="0"/>
              </a:rPr>
              <a:t> - </a:t>
            </a:r>
            <a:r>
              <a:rPr lang="en-US" sz="1400" kern="0" dirty="0">
                <a:solidFill>
                  <a:sysClr val="windowText" lastClr="000000"/>
                </a:solidFill>
                <a:latin typeface="Arial Narrow" pitchFamily="34" charset="0"/>
              </a:rPr>
              <a:t>Digital, team-based platform that integrates entire full care teams remotely</a:t>
            </a:r>
          </a:p>
          <a:p>
            <a:pPr defTabSz="914400">
              <a:lnSpc>
                <a:spcPct val="90000"/>
              </a:lnSpc>
              <a:spcBef>
                <a:spcPts val="200"/>
              </a:spcBef>
              <a:spcAft>
                <a:spcPts val="200"/>
              </a:spcAft>
            </a:pPr>
            <a:endParaRPr lang="en-US" sz="1400" kern="0" dirty="0">
              <a:solidFill>
                <a:sysClr val="windowText" lastClr="000000"/>
              </a:solidFill>
              <a:latin typeface="Arial Narrow" pitchFamily="34" charset="0"/>
            </a:endParaRPr>
          </a:p>
          <a:p>
            <a:pPr defTabSz="914400">
              <a:lnSpc>
                <a:spcPct val="90000"/>
              </a:lnSpc>
              <a:spcBef>
                <a:spcPts val="200"/>
              </a:spcBef>
              <a:spcAft>
                <a:spcPts val="200"/>
              </a:spcAft>
            </a:pPr>
            <a:r>
              <a:rPr lang="en-US" sz="1400" b="1" kern="0" dirty="0">
                <a:solidFill>
                  <a:sysClr val="windowText" lastClr="000000"/>
                </a:solidFill>
                <a:latin typeface="Arial Narrow" pitchFamily="34" charset="0"/>
              </a:rPr>
              <a:t>United</a:t>
            </a:r>
          </a:p>
          <a:p>
            <a:pPr marL="285750" indent="-285750" defTabSz="914400">
              <a:lnSpc>
                <a:spcPct val="90000"/>
              </a:lnSpc>
              <a:spcBef>
                <a:spcPts val="200"/>
              </a:spcBef>
              <a:spcAft>
                <a:spcPts val="200"/>
              </a:spcAft>
              <a:buFont typeface="Arial" panose="020B0604020202020204" pitchFamily="34" charset="0"/>
              <a:buChar char="•"/>
            </a:pPr>
            <a:r>
              <a:rPr lang="en-US" sz="1400" kern="0" dirty="0">
                <a:solidFill>
                  <a:sysClr val="windowText" lastClr="000000"/>
                </a:solidFill>
                <a:latin typeface="Arial Narrow" pitchFamily="34" charset="0"/>
              </a:rPr>
              <a:t>Purchased Genoa Healthcare; </a:t>
            </a:r>
            <a:r>
              <a:rPr lang="en-US" sz="1400" kern="0" dirty="0" err="1">
                <a:solidFill>
                  <a:sysClr val="windowText" lastClr="000000"/>
                </a:solidFill>
                <a:latin typeface="Arial Narrow" pitchFamily="34" charset="0"/>
              </a:rPr>
              <a:t>telepsychiatry</a:t>
            </a:r>
            <a:r>
              <a:rPr lang="en-US" sz="1400" kern="0" dirty="0">
                <a:solidFill>
                  <a:sysClr val="windowText" lastClr="000000"/>
                </a:solidFill>
                <a:latin typeface="Arial Narrow" pitchFamily="34" charset="0"/>
              </a:rPr>
              <a:t> services and medication management for BH and substance use patients</a:t>
            </a:r>
          </a:p>
          <a:p>
            <a:pPr defTabSz="914400">
              <a:lnSpc>
                <a:spcPct val="90000"/>
              </a:lnSpc>
              <a:spcBef>
                <a:spcPts val="200"/>
              </a:spcBef>
              <a:spcAft>
                <a:spcPts val="200"/>
              </a:spcAft>
            </a:pPr>
            <a:endParaRPr lang="en-US" sz="1400" b="1" kern="0" dirty="0">
              <a:solidFill>
                <a:sysClr val="windowText" lastClr="000000"/>
              </a:solidFill>
              <a:latin typeface="Arial Narrow" pitchFamily="34" charset="0"/>
            </a:endParaRPr>
          </a:p>
          <a:p>
            <a:pPr defTabSz="914400">
              <a:lnSpc>
                <a:spcPct val="90000"/>
              </a:lnSpc>
              <a:spcBef>
                <a:spcPts val="200"/>
              </a:spcBef>
              <a:spcAft>
                <a:spcPts val="200"/>
              </a:spcAft>
            </a:pPr>
            <a:r>
              <a:rPr lang="en-US" sz="1400" b="1" kern="0" dirty="0">
                <a:solidFill>
                  <a:srgbClr val="7030A0"/>
                </a:solidFill>
                <a:latin typeface="Arial Narrow" pitchFamily="34" charset="0"/>
              </a:rPr>
              <a:t>AETNA </a:t>
            </a:r>
            <a:endParaRPr lang="en-US" sz="1400" b="1" kern="0" dirty="0">
              <a:solidFill>
                <a:sysClr val="windowText" lastClr="000000"/>
              </a:solidFill>
              <a:latin typeface="Arial Narrow" pitchFamily="34" charset="0"/>
            </a:endParaRPr>
          </a:p>
          <a:p>
            <a:pPr marL="285750" indent="-285750" defTabSz="914400">
              <a:lnSpc>
                <a:spcPct val="90000"/>
              </a:lnSpc>
              <a:spcBef>
                <a:spcPts val="200"/>
              </a:spcBef>
              <a:spcAft>
                <a:spcPts val="200"/>
              </a:spcAft>
              <a:buFont typeface="Arial" panose="020B0604020202020204" pitchFamily="34" charset="0"/>
              <a:buChar char="•"/>
            </a:pPr>
            <a:r>
              <a:rPr lang="en-US" sz="1400" b="1" kern="0" dirty="0" err="1">
                <a:solidFill>
                  <a:sysClr val="windowText" lastClr="000000"/>
                </a:solidFill>
                <a:latin typeface="Arial Narrow" pitchFamily="34" charset="0"/>
              </a:rPr>
              <a:t>MedQuery</a:t>
            </a:r>
            <a:r>
              <a:rPr lang="en-US" sz="1400" b="1" kern="0" dirty="0">
                <a:solidFill>
                  <a:sysClr val="windowText" lastClr="000000"/>
                </a:solidFill>
                <a:latin typeface="Arial Narrow" pitchFamily="34" charset="0"/>
              </a:rPr>
              <a:t> </a:t>
            </a:r>
            <a:r>
              <a:rPr lang="en-US" sz="1400" kern="0" dirty="0">
                <a:solidFill>
                  <a:sysClr val="windowText" lastClr="000000"/>
                </a:solidFill>
                <a:latin typeface="Arial Narrow" pitchFamily="34" charset="0"/>
              </a:rPr>
              <a:t>anticipates potential care issues and sends alerts based on proprietary software (The </a:t>
            </a:r>
            <a:r>
              <a:rPr lang="en-US" sz="1400" kern="0" dirty="0" err="1">
                <a:solidFill>
                  <a:sysClr val="windowText" lastClr="000000"/>
                </a:solidFill>
                <a:latin typeface="Arial Narrow" pitchFamily="34" charset="0"/>
              </a:rPr>
              <a:t>CareEngine</a:t>
            </a:r>
            <a:r>
              <a:rPr lang="en-US" sz="1400" kern="0" dirty="0">
                <a:solidFill>
                  <a:sysClr val="windowText" lastClr="000000"/>
                </a:solidFill>
                <a:latin typeface="Arial Narrow" pitchFamily="34" charset="0"/>
              </a:rPr>
              <a:t>). Includes: Medical, Rx, Lab, &amp; BH claims; feedback from members with RNs; Health information in a member’s personal record. (Also pro-active care)</a:t>
            </a:r>
          </a:p>
          <a:p>
            <a:pPr defTabSz="914378">
              <a:lnSpc>
                <a:spcPct val="95000"/>
              </a:lnSpc>
              <a:spcBef>
                <a:spcPts val="200"/>
              </a:spcBef>
              <a:spcAft>
                <a:spcPts val="200"/>
              </a:spcAft>
            </a:pPr>
            <a:endPar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endParaRPr>
          </a:p>
          <a:p>
            <a:pPr defTabSz="914378">
              <a:lnSpc>
                <a:spcPct val="95000"/>
              </a:lnSpc>
              <a:spcBef>
                <a:spcPts val="200"/>
              </a:spcBef>
              <a:spcAft>
                <a:spcPts val="200"/>
              </a:spcAft>
            </a:pPr>
            <a:r>
              <a:rPr lang="en-US" sz="1400" b="1" dirty="0">
                <a:solidFill>
                  <a:srgbClr val="00B0F0"/>
                </a:solidFill>
                <a:latin typeface="Arial Narrow" panose="020B0606020202030204" pitchFamily="34" charset="0"/>
                <a:ea typeface="Open Sans" panose="020B0606030504020204" pitchFamily="34" charset="0"/>
                <a:cs typeface="Open Sans" panose="020B0606030504020204" pitchFamily="34" charset="0"/>
              </a:rPr>
              <a:t>KAISER PERMANENTE</a:t>
            </a:r>
          </a:p>
          <a:p>
            <a:pPr marL="285750" indent="-285750" defTabSz="914400">
              <a:lnSpc>
                <a:spcPct val="90000"/>
              </a:lnSpc>
              <a:spcBef>
                <a:spcPts val="200"/>
              </a:spcBef>
              <a:spcAft>
                <a:spcPts val="200"/>
              </a:spcAft>
              <a:buFont typeface="Arial" panose="020B0604020202020204" pitchFamily="34" charset="0"/>
              <a:buChar char="•"/>
            </a:pPr>
            <a:r>
              <a:rPr lang="en-US" sz="1400" b="1" kern="0" dirty="0" err="1">
                <a:solidFill>
                  <a:sysClr val="windowText" lastClr="000000"/>
                </a:solidFill>
                <a:latin typeface="Arial Narrow" pitchFamily="34" charset="0"/>
              </a:rPr>
              <a:t>HealthConnect</a:t>
            </a:r>
            <a:r>
              <a:rPr lang="en-US" sz="1400" b="1" kern="0" dirty="0">
                <a:solidFill>
                  <a:sysClr val="windowText" lastClr="000000"/>
                </a:solidFill>
                <a:latin typeface="Arial Narrow" pitchFamily="34" charset="0"/>
              </a:rPr>
              <a:t> </a:t>
            </a:r>
            <a:r>
              <a:rPr lang="en-US" sz="1400" kern="0" dirty="0">
                <a:solidFill>
                  <a:sysClr val="windowText" lastClr="000000"/>
                </a:solidFill>
                <a:latin typeface="Arial Narrow" pitchFamily="34" charset="0"/>
              </a:rPr>
              <a:t>delivers point-of-care information and recommendations to patients’ records for all doctors, pharmacists and specialists. </a:t>
            </a:r>
          </a:p>
          <a:p>
            <a:pPr marL="285750" indent="-285750" defTabSz="914400">
              <a:lnSpc>
                <a:spcPct val="90000"/>
              </a:lnSpc>
              <a:spcBef>
                <a:spcPts val="200"/>
              </a:spcBef>
              <a:spcAft>
                <a:spcPts val="200"/>
              </a:spcAft>
              <a:buFont typeface="Arial" panose="020B0604020202020204" pitchFamily="34" charset="0"/>
              <a:buChar char="•"/>
            </a:pPr>
            <a:r>
              <a:rPr lang="en-US" sz="1400" b="1" kern="0" dirty="0">
                <a:solidFill>
                  <a:sysClr val="windowText" lastClr="000000"/>
                </a:solidFill>
                <a:latin typeface="Arial Narrow" pitchFamily="34" charset="0"/>
              </a:rPr>
              <a:t>Health Hubs</a:t>
            </a:r>
            <a:r>
              <a:rPr lang="en-US" sz="1400" kern="0" dirty="0">
                <a:solidFill>
                  <a:sysClr val="windowText" lastClr="000000"/>
                </a:solidFill>
                <a:latin typeface="Arial Narrow" pitchFamily="34" charset="0"/>
              </a:rPr>
              <a:t> exam rooms will feature a comfy leather exam chair instead of the traditional paper-covered exam table. This allows patients to sit eye-to-eye with their doctor, who can utilize the wall-mounted touch screen to summon X-rays, lab results and even real-time specialist consultations, or send prescriptions to an on-site pharmacy via a tablet</a:t>
            </a:r>
          </a:p>
          <a:p>
            <a:pPr defTabSz="914400">
              <a:lnSpc>
                <a:spcPct val="90000"/>
              </a:lnSpc>
              <a:spcBef>
                <a:spcPts val="200"/>
              </a:spcBef>
              <a:spcAft>
                <a:spcPts val="200"/>
              </a:spcAft>
            </a:pPr>
            <a:endParaRPr lang="en-US" sz="1400" b="1" kern="0" dirty="0">
              <a:solidFill>
                <a:sysClr val="windowText" lastClr="000000"/>
              </a:solidFill>
              <a:latin typeface="Arial Narrow" pitchFamily="34" charset="0"/>
            </a:endParaRPr>
          </a:p>
          <a:p>
            <a:pPr defTabSz="914400">
              <a:lnSpc>
                <a:spcPct val="90000"/>
              </a:lnSpc>
              <a:spcBef>
                <a:spcPts val="200"/>
              </a:spcBef>
              <a:spcAft>
                <a:spcPts val="200"/>
              </a:spcAft>
            </a:pPr>
            <a:r>
              <a:rPr lang="en-US" sz="1400" b="1" kern="0" dirty="0">
                <a:solidFill>
                  <a:sysClr val="windowText" lastClr="000000"/>
                </a:solidFill>
                <a:latin typeface="Arial Narrow" pitchFamily="34" charset="0"/>
              </a:rPr>
              <a:t>Various (</a:t>
            </a:r>
            <a:r>
              <a:rPr lang="en-US" sz="1400" b="1" kern="0" dirty="0" err="1">
                <a:solidFill>
                  <a:sysClr val="windowText" lastClr="000000"/>
                </a:solidFill>
                <a:latin typeface="Arial Narrow" pitchFamily="34" charset="0"/>
              </a:rPr>
              <a:t>AbleTo</a:t>
            </a:r>
            <a:r>
              <a:rPr lang="en-US" sz="1400" b="1" kern="0" dirty="0">
                <a:solidFill>
                  <a:sysClr val="windowText" lastClr="000000"/>
                </a:solidFill>
                <a:latin typeface="Arial Narrow" pitchFamily="34" charset="0"/>
              </a:rPr>
              <a:t>) </a:t>
            </a:r>
            <a:r>
              <a:rPr lang="en-US" sz="1400" kern="0" dirty="0">
                <a:solidFill>
                  <a:sysClr val="windowText" lastClr="000000"/>
                </a:solidFill>
                <a:latin typeface="Arial Narrow" pitchFamily="34" charset="0"/>
              </a:rPr>
              <a:t>– Virtual Behavioral Health; over 600 licensed therapists and behavioral coaches in all 50 states allows for next-day, 24/7 appointments</a:t>
            </a:r>
          </a:p>
          <a:p>
            <a:pPr defTabSz="914400">
              <a:lnSpc>
                <a:spcPct val="90000"/>
              </a:lnSpc>
              <a:spcBef>
                <a:spcPts val="200"/>
              </a:spcBef>
              <a:spcAft>
                <a:spcPts val="200"/>
              </a:spcAft>
            </a:pPr>
            <a:endParaRPr lang="en-US" sz="1400" b="1" kern="0" dirty="0">
              <a:solidFill>
                <a:sysClr val="windowText" lastClr="000000"/>
              </a:solidFill>
              <a:latin typeface="Arial Narrow" pitchFamily="34" charset="0"/>
            </a:endParaRPr>
          </a:p>
          <a:p>
            <a:pPr defTabSz="914400">
              <a:lnSpc>
                <a:spcPct val="90000"/>
              </a:lnSpc>
              <a:spcBef>
                <a:spcPts val="200"/>
              </a:spcBef>
              <a:spcAft>
                <a:spcPts val="200"/>
              </a:spcAft>
            </a:pPr>
            <a:r>
              <a:rPr lang="en-US" sz="1400" b="1" kern="0" dirty="0">
                <a:solidFill>
                  <a:sysClr val="windowText" lastClr="000000"/>
                </a:solidFill>
                <a:latin typeface="Arial Narrow" pitchFamily="34" charset="0"/>
              </a:rPr>
              <a:t>Aetna, United, Others </a:t>
            </a:r>
          </a:p>
          <a:p>
            <a:pPr marL="285750" indent="-285750" defTabSz="914400">
              <a:lnSpc>
                <a:spcPct val="90000"/>
              </a:lnSpc>
              <a:spcBef>
                <a:spcPts val="200"/>
              </a:spcBef>
              <a:spcAft>
                <a:spcPts val="200"/>
              </a:spcAft>
              <a:buFont typeface="Arial" panose="020B0604020202020204" pitchFamily="34" charset="0"/>
              <a:buChar char="•"/>
            </a:pPr>
            <a:r>
              <a:rPr lang="en-US" sz="1400" b="1" kern="0" dirty="0" err="1">
                <a:solidFill>
                  <a:sysClr val="windowText" lastClr="000000"/>
                </a:solidFill>
                <a:latin typeface="Arial Narrow" pitchFamily="34" charset="0"/>
              </a:rPr>
              <a:t>Talkspace</a:t>
            </a:r>
            <a:r>
              <a:rPr lang="en-US" sz="1400" b="1" kern="0" dirty="0">
                <a:solidFill>
                  <a:sysClr val="windowText" lastClr="000000"/>
                </a:solidFill>
                <a:latin typeface="Arial Narrow" pitchFamily="34" charset="0"/>
              </a:rPr>
              <a:t> </a:t>
            </a:r>
            <a:r>
              <a:rPr lang="en-US" sz="1400" kern="0" dirty="0">
                <a:solidFill>
                  <a:sysClr val="windowText" lastClr="000000"/>
                </a:solidFill>
                <a:latin typeface="Arial Narrow" pitchFamily="34" charset="0"/>
              </a:rPr>
              <a:t>– subscription, asynchronous messaging with over 5000 clinicians, where user selects therapist</a:t>
            </a:r>
          </a:p>
          <a:p>
            <a:pPr marL="285750" indent="-285750" defTabSz="914400">
              <a:lnSpc>
                <a:spcPct val="90000"/>
              </a:lnSpc>
              <a:spcBef>
                <a:spcPts val="200"/>
              </a:spcBef>
              <a:spcAft>
                <a:spcPts val="200"/>
              </a:spcAft>
              <a:buFont typeface="Arial" panose="020B0604020202020204" pitchFamily="34" charset="0"/>
              <a:buChar char="•"/>
            </a:pPr>
            <a:endParaRPr lang="en-US" sz="1400" kern="0" dirty="0">
              <a:solidFill>
                <a:sysClr val="windowText" lastClr="000000"/>
              </a:solidFill>
              <a:latin typeface="Arial Narrow" pitchFamily="34" charset="0"/>
            </a:endParaRPr>
          </a:p>
        </p:txBody>
      </p:sp>
      <p:sp>
        <p:nvSpPr>
          <p:cNvPr id="26" name="Rectangle 25"/>
          <p:cNvSpPr/>
          <p:nvPr/>
        </p:nvSpPr>
        <p:spPr>
          <a:xfrm>
            <a:off x="131039" y="1417159"/>
            <a:ext cx="12585715" cy="4924012"/>
          </a:xfrm>
          <a:prstGeom prst="rect">
            <a:avLst/>
          </a:prstGeom>
          <a:noFill/>
          <a:ln w="9525" cap="flat" cmpd="sng" algn="ctr">
            <a:solidFill>
              <a:srgbClr val="003359"/>
            </a:solidFill>
            <a:prstDash val="solid"/>
          </a:ln>
          <a:effectLst/>
        </p:spPr>
        <p:txBody>
          <a:bodyPr rtlCol="0" anchor="ctr"/>
          <a:lstStyle/>
          <a:p>
            <a:pPr algn="ctr" defTabSz="914400">
              <a:defRPr/>
            </a:pPr>
            <a:endParaRPr lang="en-US" sz="1800" kern="0">
              <a:solidFill>
                <a:prstClr val="white"/>
              </a:solidFill>
            </a:endParaRPr>
          </a:p>
        </p:txBody>
      </p:sp>
      <p:sp>
        <p:nvSpPr>
          <p:cNvPr id="31" name="Rectangle 30"/>
          <p:cNvSpPr/>
          <p:nvPr/>
        </p:nvSpPr>
        <p:spPr>
          <a:xfrm>
            <a:off x="144017" y="1103227"/>
            <a:ext cx="12572315" cy="313932"/>
          </a:xfrm>
          <a:prstGeom prst="rect">
            <a:avLst/>
          </a:prstGeom>
        </p:spPr>
        <p:txBody>
          <a:bodyPr wrap="square">
            <a:spAutoFit/>
          </a:bodyPr>
          <a:lstStyle/>
          <a:p>
            <a:pPr defTabSz="622300">
              <a:lnSpc>
                <a:spcPct val="90000"/>
              </a:lnSpc>
              <a:spcBef>
                <a:spcPct val="0"/>
              </a:spcBef>
              <a:spcAft>
                <a:spcPct val="35000"/>
              </a:spcAft>
            </a:pPr>
            <a:r>
              <a:rPr lang="en-US" sz="1600" b="1" dirty="0">
                <a:solidFill>
                  <a:srgbClr val="003359"/>
                </a:solidFill>
                <a:latin typeface="Arial Narrow" panose="020B0606020202030204" pitchFamily="34" charset="0"/>
              </a:rPr>
              <a:t>Match Individual Need with the Right Care</a:t>
            </a:r>
          </a:p>
        </p:txBody>
      </p:sp>
      <p:sp>
        <p:nvSpPr>
          <p:cNvPr id="32" name="Rectangle 31">
            <a:extLst>
              <a:ext uri="{FF2B5EF4-FFF2-40B4-BE49-F238E27FC236}">
                <a16:creationId xmlns:a16="http://schemas.microsoft.com/office/drawing/2014/main" id="{3178EB37-C81B-2D49-8F6F-71758FF1FFAD}"/>
              </a:ext>
            </a:extLst>
          </p:cNvPr>
          <p:cNvSpPr/>
          <p:nvPr/>
        </p:nvSpPr>
        <p:spPr>
          <a:xfrm>
            <a:off x="228600" y="534035"/>
            <a:ext cx="7405914" cy="338554"/>
          </a:xfrm>
          <a:prstGeom prst="rect">
            <a:avLst/>
          </a:prstGeom>
        </p:spPr>
        <p:txBody>
          <a:bodyPr wrap="square" anchor="t">
            <a:spAutoFit/>
          </a:bodyPr>
          <a:lstStyle/>
          <a:p>
            <a:r>
              <a:rPr lang="en-US" sz="1600" dirty="0">
                <a:solidFill>
                  <a:srgbClr val="00A2E2"/>
                </a:solidFill>
              </a:rPr>
              <a:t>COMPETITIVE ANALYSIS: </a:t>
            </a:r>
            <a:r>
              <a:rPr lang="en-US" sz="1600" b="1" dirty="0">
                <a:solidFill>
                  <a:srgbClr val="00A2E2"/>
                </a:solidFill>
              </a:rPr>
              <a:t>How Our Competitors Are Meeting the Issues</a:t>
            </a:r>
          </a:p>
        </p:txBody>
      </p:sp>
    </p:spTree>
    <p:extLst>
      <p:ext uri="{BB962C8B-B14F-4D97-AF65-F5344CB8AC3E}">
        <p14:creationId xmlns:p14="http://schemas.microsoft.com/office/powerpoint/2010/main" val="12092697"/>
      </p:ext>
    </p:extLst>
  </p:cSld>
  <p:clrMapOvr>
    <a:masterClrMapping/>
  </p:clrMapOvr>
  <p:transition/>
</p:sld>
</file>

<file path=ppt/theme/theme1.xml><?xml version="1.0" encoding="utf-8"?>
<a:theme xmlns:a="http://schemas.openxmlformats.org/drawingml/2006/main" name="1_Scope of Work (Page 2)">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cope of Work (Page 1)">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cope of Work (Page 1)">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cope of Work (Page 1)">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IVIDER PAGES">
  <a:themeElements>
    <a:clrScheme name="BCBSA">
      <a:dk1>
        <a:sysClr val="windowText" lastClr="000000"/>
      </a:dk1>
      <a:lt1>
        <a:sysClr val="window" lastClr="FFFFFF"/>
      </a:lt1>
      <a:dk2>
        <a:srgbClr val="CCE1EC"/>
      </a:dk2>
      <a:lt2>
        <a:srgbClr val="8FCAE7"/>
      </a:lt2>
      <a:accent1>
        <a:srgbClr val="0094D7"/>
      </a:accent1>
      <a:accent2>
        <a:srgbClr val="006086"/>
      </a:accent2>
      <a:accent3>
        <a:srgbClr val="003359"/>
      </a:accent3>
      <a:accent4>
        <a:srgbClr val="F1E5C7"/>
      </a:accent4>
      <a:accent5>
        <a:srgbClr val="8B6900"/>
      </a:accent5>
      <a:accent6>
        <a:srgbClr val="BF311A"/>
      </a:accent6>
      <a:hlink>
        <a:srgbClr val="0094D7"/>
      </a:hlink>
      <a:folHlink>
        <a:srgbClr val="1E1E1E"/>
      </a:folHlink>
    </a:clrScheme>
    <a:fontScheme name="BCBSA">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3731</TotalTime>
  <Pages>12</Pages>
  <Words>1424</Words>
  <Characters>0</Characters>
  <Application>Microsoft Macintosh PowerPoint</Application>
  <DocSecurity>0</DocSecurity>
  <PresentationFormat>Custom</PresentationFormat>
  <Lines>0</Lines>
  <Paragraphs>100</Paragraphs>
  <Slides>5</Slides>
  <Notes>4</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5</vt:i4>
      </vt:variant>
    </vt:vector>
  </HeadingPairs>
  <TitlesOfParts>
    <vt:vector size="15" baseType="lpstr">
      <vt:lpstr>Arial</vt:lpstr>
      <vt:lpstr>Arial Black</vt:lpstr>
      <vt:lpstr>Arial Narrow</vt:lpstr>
      <vt:lpstr>Calibri</vt:lpstr>
      <vt:lpstr>Open Sans</vt:lpstr>
      <vt:lpstr>1_Scope of Work (Page 2)</vt:lpstr>
      <vt:lpstr>1_Scope of Work (Page 1)</vt:lpstr>
      <vt:lpstr>2_Scope of Work (Page 1)</vt:lpstr>
      <vt:lpstr>3_Scope of Work (Page 1)</vt:lpstr>
      <vt:lpstr>DIVIDER PAGES</vt:lpstr>
      <vt:lpstr>PowerPoint Presentation</vt:lpstr>
      <vt:lpstr>PowerPoint Presentation</vt:lpstr>
      <vt:lpstr>PowerPoint Presentation</vt:lpstr>
      <vt:lpstr>PowerPoint Presentation</vt:lpstr>
      <vt:lpstr>PowerPoint Presentation</vt:lpstr>
    </vt:vector>
  </TitlesOfParts>
  <Company>Highmark Health Solutions</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Fuller, Matt</dc:creator>
  <cp:lastModifiedBy>Microsoft Office User</cp:lastModifiedBy>
  <cp:revision>137</cp:revision>
  <dcterms:modified xsi:type="dcterms:W3CDTF">2020-04-24T14:38:09Z</dcterms:modified>
</cp:coreProperties>
</file>