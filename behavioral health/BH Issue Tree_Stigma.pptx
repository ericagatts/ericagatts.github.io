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  <p:sldMasterId id="2147483691" r:id="rId2"/>
    <p:sldMasterId id="2147483692" r:id="rId3"/>
  </p:sldMasterIdLst>
  <p:notesMasterIdLst>
    <p:notesMasterId r:id="rId8"/>
  </p:notesMasterIdLst>
  <p:handoutMasterIdLst>
    <p:handoutMasterId r:id="rId9"/>
  </p:handoutMasterIdLst>
  <p:sldIdLst>
    <p:sldId id="3310" r:id="rId4"/>
    <p:sldId id="4107" r:id="rId5"/>
    <p:sldId id="4108" r:id="rId6"/>
    <p:sldId id="4110" r:id="rId7"/>
  </p:sldIdLst>
  <p:sldSz cx="12801600" cy="7772400"/>
  <p:notesSz cx="6858000" cy="9144000"/>
  <p:defaultTextStyle>
    <a:defPPr>
      <a:defRPr lang="en-US"/>
    </a:defPPr>
    <a:lvl1pPr marL="0" algn="l" defTabSz="987552" rtl="0" eaLnBrk="1" latinLnBrk="0" hangingPunct="1">
      <a:defRPr sz="1944" kern="1200">
        <a:solidFill>
          <a:schemeClr val="tx1"/>
        </a:solidFill>
        <a:latin typeface="+mn-lt"/>
        <a:ea typeface="+mn-ea"/>
        <a:cs typeface="+mn-cs"/>
      </a:defRPr>
    </a:lvl1pPr>
    <a:lvl2pPr marL="493776" algn="l" defTabSz="987552" rtl="0" eaLnBrk="1" latinLnBrk="0" hangingPunct="1">
      <a:defRPr sz="1944" kern="1200">
        <a:solidFill>
          <a:schemeClr val="tx1"/>
        </a:solidFill>
        <a:latin typeface="+mn-lt"/>
        <a:ea typeface="+mn-ea"/>
        <a:cs typeface="+mn-cs"/>
      </a:defRPr>
    </a:lvl2pPr>
    <a:lvl3pPr marL="987552" algn="l" defTabSz="987552" rtl="0" eaLnBrk="1" latinLnBrk="0" hangingPunct="1">
      <a:defRPr sz="1944" kern="1200">
        <a:solidFill>
          <a:schemeClr val="tx1"/>
        </a:solidFill>
        <a:latin typeface="+mn-lt"/>
        <a:ea typeface="+mn-ea"/>
        <a:cs typeface="+mn-cs"/>
      </a:defRPr>
    </a:lvl3pPr>
    <a:lvl4pPr marL="1481328" algn="l" defTabSz="987552" rtl="0" eaLnBrk="1" latinLnBrk="0" hangingPunct="1">
      <a:defRPr sz="1944" kern="1200">
        <a:solidFill>
          <a:schemeClr val="tx1"/>
        </a:solidFill>
        <a:latin typeface="+mn-lt"/>
        <a:ea typeface="+mn-ea"/>
        <a:cs typeface="+mn-cs"/>
      </a:defRPr>
    </a:lvl4pPr>
    <a:lvl5pPr marL="1975104" algn="l" defTabSz="987552" rtl="0" eaLnBrk="1" latinLnBrk="0" hangingPunct="1">
      <a:defRPr sz="1944" kern="1200">
        <a:solidFill>
          <a:schemeClr val="tx1"/>
        </a:solidFill>
        <a:latin typeface="+mn-lt"/>
        <a:ea typeface="+mn-ea"/>
        <a:cs typeface="+mn-cs"/>
      </a:defRPr>
    </a:lvl5pPr>
    <a:lvl6pPr marL="2468880" algn="l" defTabSz="987552" rtl="0" eaLnBrk="1" latinLnBrk="0" hangingPunct="1">
      <a:defRPr sz="1944" kern="1200">
        <a:solidFill>
          <a:schemeClr val="tx1"/>
        </a:solidFill>
        <a:latin typeface="+mn-lt"/>
        <a:ea typeface="+mn-ea"/>
        <a:cs typeface="+mn-cs"/>
      </a:defRPr>
    </a:lvl6pPr>
    <a:lvl7pPr marL="2962656" algn="l" defTabSz="987552" rtl="0" eaLnBrk="1" latinLnBrk="0" hangingPunct="1">
      <a:defRPr sz="1944" kern="1200">
        <a:solidFill>
          <a:schemeClr val="tx1"/>
        </a:solidFill>
        <a:latin typeface="+mn-lt"/>
        <a:ea typeface="+mn-ea"/>
        <a:cs typeface="+mn-cs"/>
      </a:defRPr>
    </a:lvl7pPr>
    <a:lvl8pPr marL="3456432" algn="l" defTabSz="987552" rtl="0" eaLnBrk="1" latinLnBrk="0" hangingPunct="1">
      <a:defRPr sz="1944" kern="1200">
        <a:solidFill>
          <a:schemeClr val="tx1"/>
        </a:solidFill>
        <a:latin typeface="+mn-lt"/>
        <a:ea typeface="+mn-ea"/>
        <a:cs typeface="+mn-cs"/>
      </a:defRPr>
    </a:lvl8pPr>
    <a:lvl9pPr marL="3950208" algn="l" defTabSz="987552" rtl="0" eaLnBrk="1" latinLnBrk="0" hangingPunct="1">
      <a:defRPr sz="194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600"/>
    <a:srgbClr val="E88E7E"/>
    <a:srgbClr val="18AF60"/>
    <a:srgbClr val="003963"/>
    <a:srgbClr val="C7E3D3"/>
    <a:srgbClr val="1CBCB2"/>
    <a:srgbClr val="00A2E2"/>
    <a:srgbClr val="5BB98C"/>
    <a:srgbClr val="9EC9E1"/>
    <a:srgbClr val="7087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84" autoAdjust="0"/>
    <p:restoredTop sz="94643" autoAdjust="0"/>
  </p:normalViewPr>
  <p:slideViewPr>
    <p:cSldViewPr snapToGrid="0" snapToObjects="1">
      <p:cViewPr>
        <p:scale>
          <a:sx n="216" d="100"/>
          <a:sy n="216" d="100"/>
        </p:scale>
        <p:origin x="-4728" y="-2928"/>
      </p:cViewPr>
      <p:guideLst/>
    </p:cSldViewPr>
  </p:slideViewPr>
  <p:notesTextViewPr>
    <p:cViewPr>
      <p:scale>
        <a:sx n="114" d="100"/>
        <a:sy n="114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2" d="100"/>
          <a:sy n="82" d="100"/>
        </p:scale>
        <p:origin x="39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34AD3-1CFA-464D-96AF-927D34384A9A}" type="datetimeFigureOut">
              <a:rPr lang="en-US" smtClean="0"/>
              <a:t>4/7/20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155C96-ED6A-435A-AC24-B840F45C68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70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50EFB-32E5-4657-A50A-4B493F431F9F}" type="datetimeFigureOut">
              <a:rPr lang="en-US" smtClean="0"/>
              <a:t>4/7/20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87413" y="1143000"/>
            <a:ext cx="50831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A7E464-FA5A-45EC-B1D2-264C3428DEA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03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87552" rtl="0" eaLnBrk="1" latinLnBrk="0" hangingPunct="1">
      <a:defRPr sz="1296" kern="1200">
        <a:solidFill>
          <a:schemeClr val="tx1"/>
        </a:solidFill>
        <a:latin typeface="+mn-lt"/>
        <a:ea typeface="+mn-ea"/>
        <a:cs typeface="+mn-cs"/>
      </a:defRPr>
    </a:lvl1pPr>
    <a:lvl2pPr marL="493776" algn="l" defTabSz="987552" rtl="0" eaLnBrk="1" latinLnBrk="0" hangingPunct="1">
      <a:defRPr sz="1296" kern="1200">
        <a:solidFill>
          <a:schemeClr val="tx1"/>
        </a:solidFill>
        <a:latin typeface="+mn-lt"/>
        <a:ea typeface="+mn-ea"/>
        <a:cs typeface="+mn-cs"/>
      </a:defRPr>
    </a:lvl2pPr>
    <a:lvl3pPr marL="987552" algn="l" defTabSz="987552" rtl="0" eaLnBrk="1" latinLnBrk="0" hangingPunct="1">
      <a:defRPr sz="1296" kern="1200">
        <a:solidFill>
          <a:schemeClr val="tx1"/>
        </a:solidFill>
        <a:latin typeface="+mn-lt"/>
        <a:ea typeface="+mn-ea"/>
        <a:cs typeface="+mn-cs"/>
      </a:defRPr>
    </a:lvl3pPr>
    <a:lvl4pPr marL="1481328" algn="l" defTabSz="987552" rtl="0" eaLnBrk="1" latinLnBrk="0" hangingPunct="1">
      <a:defRPr sz="1296" kern="1200">
        <a:solidFill>
          <a:schemeClr val="tx1"/>
        </a:solidFill>
        <a:latin typeface="+mn-lt"/>
        <a:ea typeface="+mn-ea"/>
        <a:cs typeface="+mn-cs"/>
      </a:defRPr>
    </a:lvl4pPr>
    <a:lvl5pPr marL="1975104" algn="l" defTabSz="987552" rtl="0" eaLnBrk="1" latinLnBrk="0" hangingPunct="1">
      <a:defRPr sz="1296" kern="1200">
        <a:solidFill>
          <a:schemeClr val="tx1"/>
        </a:solidFill>
        <a:latin typeface="+mn-lt"/>
        <a:ea typeface="+mn-ea"/>
        <a:cs typeface="+mn-cs"/>
      </a:defRPr>
    </a:lvl5pPr>
    <a:lvl6pPr marL="2468880" algn="l" defTabSz="987552" rtl="0" eaLnBrk="1" latinLnBrk="0" hangingPunct="1">
      <a:defRPr sz="1296" kern="1200">
        <a:solidFill>
          <a:schemeClr val="tx1"/>
        </a:solidFill>
        <a:latin typeface="+mn-lt"/>
        <a:ea typeface="+mn-ea"/>
        <a:cs typeface="+mn-cs"/>
      </a:defRPr>
    </a:lvl6pPr>
    <a:lvl7pPr marL="2962656" algn="l" defTabSz="987552" rtl="0" eaLnBrk="1" latinLnBrk="0" hangingPunct="1">
      <a:defRPr sz="1296" kern="1200">
        <a:solidFill>
          <a:schemeClr val="tx1"/>
        </a:solidFill>
        <a:latin typeface="+mn-lt"/>
        <a:ea typeface="+mn-ea"/>
        <a:cs typeface="+mn-cs"/>
      </a:defRPr>
    </a:lvl7pPr>
    <a:lvl8pPr marL="3456432" algn="l" defTabSz="987552" rtl="0" eaLnBrk="1" latinLnBrk="0" hangingPunct="1">
      <a:defRPr sz="1296" kern="1200">
        <a:solidFill>
          <a:schemeClr val="tx1"/>
        </a:solidFill>
        <a:latin typeface="+mn-lt"/>
        <a:ea typeface="+mn-ea"/>
        <a:cs typeface="+mn-cs"/>
      </a:defRPr>
    </a:lvl8pPr>
    <a:lvl9pPr marL="3950208" algn="l" defTabSz="987552" rtl="0" eaLnBrk="1" latinLnBrk="0" hangingPunct="1">
      <a:defRPr sz="129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3141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8798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4220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877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228599" y="1282148"/>
            <a:ext cx="4885804" cy="5706094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228599" y="228599"/>
            <a:ext cx="5891646" cy="92333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1800" b="1" dirty="0">
                <a:solidFill>
                  <a:srgbClr val="003963"/>
                </a:solidFill>
              </a:rPr>
              <a:t>Scope of Work:</a:t>
            </a:r>
            <a:br>
              <a:rPr lang="en-US" sz="1800" b="0" baseline="0" dirty="0">
                <a:solidFill>
                  <a:srgbClr val="00A2E2"/>
                </a:solidFill>
              </a:rPr>
            </a:br>
            <a:r>
              <a:rPr lang="en-US" sz="3600" b="1" dirty="0">
                <a:solidFill>
                  <a:schemeClr val="accent2"/>
                </a:solidFill>
              </a:rPr>
              <a:t>Guidelines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228599" y="1295112"/>
            <a:ext cx="4885804" cy="56323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t">
            <a:spAutoFit/>
          </a:bodyPr>
          <a:lstStyle/>
          <a:p>
            <a:pPr marL="0" indent="-228600">
              <a:lnSpc>
                <a:spcPct val="125000"/>
              </a:lnSpc>
            </a:pPr>
            <a:r>
              <a:rPr lang="en-US" sz="1800" b="0" dirty="0">
                <a:solidFill>
                  <a:srgbClr val="003963"/>
                </a:solidFill>
              </a:rPr>
              <a:t>This SOW</a:t>
            </a:r>
            <a:r>
              <a:rPr lang="en-US" sz="1800" b="0" baseline="0" dirty="0">
                <a:solidFill>
                  <a:srgbClr val="003963"/>
                </a:solidFill>
              </a:rPr>
              <a:t> is meant to be a </a:t>
            </a:r>
            <a:r>
              <a:rPr lang="en-US" sz="1800" b="0" dirty="0">
                <a:solidFill>
                  <a:srgbClr val="003963"/>
                </a:solidFill>
              </a:rPr>
              <a:t>high</a:t>
            </a:r>
            <a:r>
              <a:rPr lang="en-US" sz="1800" b="0" baseline="0" dirty="0">
                <a:solidFill>
                  <a:srgbClr val="003963"/>
                </a:solidFill>
              </a:rPr>
              <a:t> level document meant to set expectations at the outset of a project. </a:t>
            </a:r>
            <a:r>
              <a:rPr lang="en-US" sz="1800" b="0" u="sng" baseline="0" dirty="0">
                <a:solidFill>
                  <a:srgbClr val="003963"/>
                </a:solidFill>
              </a:rPr>
              <a:t>Please read this page all the way through before creating your SOW.</a:t>
            </a:r>
          </a:p>
          <a:p>
            <a:pPr marL="0" indent="-228600">
              <a:lnSpc>
                <a:spcPct val="125000"/>
              </a:lnSpc>
            </a:pPr>
            <a:endParaRPr lang="en-US" sz="1800" b="0" baseline="0" dirty="0">
              <a:solidFill>
                <a:srgbClr val="003963"/>
              </a:solidFill>
            </a:endParaRPr>
          </a:p>
          <a:p>
            <a:pPr marL="0" indent="-228600">
              <a:lnSpc>
                <a:spcPct val="125000"/>
              </a:lnSpc>
            </a:pPr>
            <a:r>
              <a:rPr lang="en-US" sz="1800" b="1" dirty="0">
                <a:solidFill>
                  <a:schemeClr val="accent1"/>
                </a:solidFill>
              </a:rPr>
              <a:t>These</a:t>
            </a:r>
            <a:r>
              <a:rPr lang="en-US" sz="1800" b="1" baseline="0" dirty="0">
                <a:solidFill>
                  <a:schemeClr val="accent1"/>
                </a:solidFill>
              </a:rPr>
              <a:t> guidelines are intended to make sure the documents we create look consistent across teams and projects. They are not meant to be restrictive but </a:t>
            </a:r>
            <a:br>
              <a:rPr lang="en-US" sz="1800" b="1" baseline="0" dirty="0">
                <a:solidFill>
                  <a:schemeClr val="accent1"/>
                </a:solidFill>
              </a:rPr>
            </a:br>
            <a:r>
              <a:rPr lang="en-US" sz="1800" b="1" baseline="0" dirty="0">
                <a:solidFill>
                  <a:schemeClr val="accent1"/>
                </a:solidFill>
              </a:rPr>
              <a:t>to assist and streamline the creation of documents. A little extra care goes a long way toward achieving a unified voice for our office.</a:t>
            </a:r>
          </a:p>
          <a:p>
            <a:pPr marL="0" indent="-228600">
              <a:lnSpc>
                <a:spcPct val="125000"/>
              </a:lnSpc>
            </a:pPr>
            <a:endParaRPr lang="en-US" sz="1800" b="1" baseline="0" dirty="0">
              <a:solidFill>
                <a:schemeClr val="accent1"/>
              </a:solidFill>
            </a:endParaRPr>
          </a:p>
          <a:p>
            <a:pPr marL="0" indent="-228600">
              <a:lnSpc>
                <a:spcPct val="125000"/>
              </a:lnSpc>
            </a:pPr>
            <a:r>
              <a:rPr lang="en-US" sz="1800" b="0" baseline="0" dirty="0">
                <a:solidFill>
                  <a:schemeClr val="accent1"/>
                </a:solidFill>
              </a:rPr>
              <a:t>P.S. make sure to delete this page before </a:t>
            </a:r>
            <a:br>
              <a:rPr lang="en-US" sz="1800" b="0" baseline="0" dirty="0">
                <a:solidFill>
                  <a:schemeClr val="accent1"/>
                </a:solidFill>
              </a:rPr>
            </a:br>
            <a:r>
              <a:rPr lang="en-US" sz="1800" b="0" baseline="0" dirty="0">
                <a:solidFill>
                  <a:schemeClr val="accent1"/>
                </a:solidFill>
              </a:rPr>
              <a:t>sending to the client!</a:t>
            </a:r>
            <a:endParaRPr lang="en-US" sz="1800" b="0" dirty="0">
              <a:solidFill>
                <a:schemeClr val="accent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246459" y="487018"/>
            <a:ext cx="5511015" cy="6940361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228600" marR="0" lvl="0" indent="-228600" algn="l" defTabSz="987552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>
                <a:solidFill>
                  <a:prstClr val="black"/>
                </a:solidFill>
              </a:rPr>
              <a:t>first thing, save this as</a:t>
            </a:r>
            <a:r>
              <a:rPr lang="en-US" sz="1200" b="1" baseline="0" dirty="0">
                <a:solidFill>
                  <a:prstClr val="black"/>
                </a:solidFill>
              </a:rPr>
              <a:t> a file with a new name in your project folder, </a:t>
            </a:r>
            <a:br>
              <a:rPr lang="en-US" sz="1200" b="1" baseline="0" dirty="0">
                <a:solidFill>
                  <a:prstClr val="black"/>
                </a:solidFill>
              </a:rPr>
            </a:br>
            <a:r>
              <a:rPr lang="en-US" sz="1200" b="1" baseline="0" dirty="0">
                <a:solidFill>
                  <a:prstClr val="black"/>
                </a:solidFill>
              </a:rPr>
              <a:t>please don’t overwrite the template</a:t>
            </a:r>
          </a:p>
          <a:p>
            <a:pPr marL="228600" marR="0" lvl="0" indent="-228600" algn="l" defTabSz="987552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200" baseline="0" dirty="0">
              <a:solidFill>
                <a:prstClr val="black"/>
              </a:solidFill>
            </a:endParaRPr>
          </a:p>
          <a:p>
            <a:pPr marL="228600" lvl="0" indent="-2286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200" baseline="0" dirty="0">
                <a:solidFill>
                  <a:prstClr val="black"/>
                </a:solidFill>
              </a:rPr>
              <a:t>use only the colors in the top row of the color browser</a:t>
            </a:r>
          </a:p>
          <a:p>
            <a:pPr marL="228600" marR="0" lvl="0" indent="-228600" algn="l" defTabSz="987552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</a:rPr>
              <a:t>this document contains 2 pages; an overview and a timeline</a:t>
            </a:r>
          </a:p>
          <a:p>
            <a:pPr marL="228600" marR="0" lvl="0" indent="-228600" algn="l" defTabSz="987552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</a:rPr>
              <a:t>change the project title at the top and the date in the footer </a:t>
            </a:r>
            <a:br>
              <a:rPr lang="en-US" sz="1200" baseline="0" dirty="0">
                <a:solidFill>
                  <a:prstClr val="black"/>
                </a:solidFill>
              </a:rPr>
            </a:br>
            <a:r>
              <a:rPr lang="en-US" sz="1200" baseline="0" dirty="0">
                <a:solidFill>
                  <a:prstClr val="black"/>
                </a:solidFill>
              </a:rPr>
              <a:t>on both pages</a:t>
            </a:r>
          </a:p>
          <a:p>
            <a:pPr marL="228600" marR="0" lvl="0" indent="-228600" algn="l" defTabSz="987552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aseline="0" dirty="0">
                <a:solidFill>
                  <a:prstClr val="black"/>
                </a:solidFill>
              </a:rPr>
              <a:t>Page1: feel free to change the format of the sections and use </a:t>
            </a:r>
            <a:br>
              <a:rPr lang="en-US" sz="1200" baseline="0" dirty="0">
                <a:solidFill>
                  <a:prstClr val="black"/>
                </a:solidFill>
              </a:rPr>
            </a:br>
            <a:r>
              <a:rPr lang="en-US" sz="1200" baseline="0" dirty="0">
                <a:solidFill>
                  <a:prstClr val="black"/>
                </a:solidFill>
              </a:rPr>
              <a:t>paragraphs, bullets, or lists to suit your needs</a:t>
            </a:r>
          </a:p>
          <a:p>
            <a:pPr marL="228600" lvl="0" indent="-2286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200" baseline="0" dirty="0">
                <a:solidFill>
                  <a:prstClr val="black"/>
                </a:solidFill>
              </a:rPr>
              <a:t>Page 2: there are multiple timeline pages to chose from, </a:t>
            </a:r>
            <a:br>
              <a:rPr lang="en-US" sz="1200" baseline="0" dirty="0">
                <a:solidFill>
                  <a:prstClr val="black"/>
                </a:solidFill>
              </a:rPr>
            </a:br>
            <a:r>
              <a:rPr lang="en-US" sz="1200" baseline="0" dirty="0">
                <a:solidFill>
                  <a:prstClr val="black"/>
                </a:solidFill>
              </a:rPr>
              <a:t>pick one that fits your project and delete the rest</a:t>
            </a:r>
          </a:p>
          <a:p>
            <a:pPr marL="722376" lvl="1" indent="-2286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200" baseline="0" dirty="0">
                <a:solidFill>
                  <a:prstClr val="black"/>
                </a:solidFill>
              </a:rPr>
              <a:t>change the number of activities and phases listed </a:t>
            </a:r>
            <a:br>
              <a:rPr lang="en-US" sz="1200" baseline="0" dirty="0">
                <a:solidFill>
                  <a:prstClr val="black"/>
                </a:solidFill>
              </a:rPr>
            </a:br>
            <a:r>
              <a:rPr lang="en-US" sz="1200" baseline="0" dirty="0">
                <a:solidFill>
                  <a:prstClr val="black"/>
                </a:solidFill>
              </a:rPr>
              <a:t>on the right as necessary</a:t>
            </a:r>
          </a:p>
          <a:p>
            <a:pPr marL="722376" lvl="1" indent="-2286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200" baseline="0" dirty="0">
                <a:solidFill>
                  <a:prstClr val="black"/>
                </a:solidFill>
              </a:rPr>
              <a:t>delete excess rows from the table</a:t>
            </a:r>
          </a:p>
          <a:p>
            <a:pPr marL="722376" lvl="1" indent="-2286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200" baseline="0" dirty="0">
                <a:solidFill>
                  <a:prstClr val="black"/>
                </a:solidFill>
              </a:rPr>
              <a:t>gray-out holidays and potential delays</a:t>
            </a:r>
          </a:p>
          <a:p>
            <a:pPr marL="228600" lvl="0" indent="-2286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200" b="1" baseline="0" dirty="0">
                <a:solidFill>
                  <a:prstClr val="black"/>
                </a:solidFill>
              </a:rPr>
              <a:t>do not </a:t>
            </a:r>
            <a:r>
              <a:rPr lang="en-US" sz="1200" baseline="0" dirty="0">
                <a:solidFill>
                  <a:prstClr val="black"/>
                </a:solidFill>
              </a:rPr>
              <a:t>change the font, format or size of the text</a:t>
            </a:r>
          </a:p>
          <a:p>
            <a:pPr marL="228600" lvl="0" indent="-2286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200" b="1" baseline="0" dirty="0">
                <a:solidFill>
                  <a:prstClr val="black"/>
                </a:solidFill>
              </a:rPr>
              <a:t>do not </a:t>
            </a:r>
            <a:r>
              <a:rPr lang="en-US" sz="1200" baseline="0" dirty="0">
                <a:solidFill>
                  <a:prstClr val="black"/>
                </a:solidFill>
              </a:rPr>
              <a:t>resize or move the text boxes</a:t>
            </a:r>
          </a:p>
          <a:p>
            <a:pPr marL="228600" lvl="0" indent="-2286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200" b="1" baseline="0" dirty="0">
                <a:solidFill>
                  <a:prstClr val="black"/>
                </a:solidFill>
              </a:rPr>
              <a:t>do not </a:t>
            </a:r>
            <a:r>
              <a:rPr lang="en-US" sz="1200" baseline="0" dirty="0">
                <a:solidFill>
                  <a:prstClr val="black"/>
                </a:solidFill>
              </a:rPr>
              <a:t>forget to delete extra pages (including this one)</a:t>
            </a:r>
          </a:p>
          <a:p>
            <a:pPr marL="493776" lvl="1" indent="0">
              <a:lnSpc>
                <a:spcPct val="125000"/>
              </a:lnSpc>
              <a:buFont typeface="Arial" panose="020B0604020202020204" pitchFamily="34" charset="0"/>
              <a:buNone/>
            </a:pPr>
            <a:endParaRPr lang="en-US" sz="1200" baseline="0" dirty="0">
              <a:solidFill>
                <a:prstClr val="black"/>
              </a:solidFill>
            </a:endParaRPr>
          </a:p>
          <a:p>
            <a:pPr marL="493776" lvl="1" indent="0">
              <a:lnSpc>
                <a:spcPct val="125000"/>
              </a:lnSpc>
              <a:buFont typeface="Arial" panose="020B0604020202020204" pitchFamily="34" charset="0"/>
              <a:buNone/>
            </a:pPr>
            <a:endParaRPr lang="en-US" sz="1200" baseline="0" dirty="0">
              <a:solidFill>
                <a:prstClr val="black"/>
              </a:solidFill>
            </a:endParaRPr>
          </a:p>
          <a:p>
            <a:pPr marL="493776" lvl="1" indent="0">
              <a:lnSpc>
                <a:spcPct val="125000"/>
              </a:lnSpc>
              <a:buFont typeface="Arial" panose="020B0604020202020204" pitchFamily="34" charset="0"/>
              <a:buNone/>
            </a:pPr>
            <a:endParaRPr lang="en-US" sz="1200" baseline="0" dirty="0">
              <a:solidFill>
                <a:prstClr val="black"/>
              </a:solidFill>
            </a:endParaRPr>
          </a:p>
          <a:p>
            <a:pPr marL="0" lvl="0" indent="0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en-US" sz="1200" b="1" baseline="0" dirty="0">
                <a:solidFill>
                  <a:prstClr val="black"/>
                </a:solidFill>
              </a:rPr>
              <a:t>Definitions</a:t>
            </a:r>
          </a:p>
          <a:p>
            <a:pPr marL="493776" lvl="1" indent="0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200" u="sng" baseline="0" dirty="0">
                <a:solidFill>
                  <a:prstClr val="black"/>
                </a:solidFill>
              </a:rPr>
              <a:t>Ongoing Work</a:t>
            </a:r>
            <a:r>
              <a:rPr lang="en-US" sz="1200" baseline="0" dirty="0">
                <a:solidFill>
                  <a:prstClr val="black"/>
                </a:solidFill>
              </a:rPr>
              <a:t>: Period of time in which project activities are active but not yet ready for completion or transition.</a:t>
            </a:r>
          </a:p>
          <a:p>
            <a:pPr marL="493776" lvl="1" indent="0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200" u="sng" baseline="0" dirty="0">
                <a:solidFill>
                  <a:prstClr val="black"/>
                </a:solidFill>
              </a:rPr>
              <a:t>Milestone</a:t>
            </a:r>
            <a:r>
              <a:rPr lang="en-US" sz="1200" baseline="0" dirty="0">
                <a:solidFill>
                  <a:prstClr val="black"/>
                </a:solidFill>
              </a:rPr>
              <a:t>: Time at which project activities are expected to be completed or transition to another phase/activity.</a:t>
            </a:r>
          </a:p>
          <a:p>
            <a:pPr marL="493776" lvl="1" indent="0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200" u="sng" baseline="0" dirty="0">
                <a:solidFill>
                  <a:prstClr val="black"/>
                </a:solidFill>
              </a:rPr>
              <a:t>Deliverable</a:t>
            </a:r>
            <a:r>
              <a:rPr lang="en-US" sz="1200" baseline="0" dirty="0">
                <a:solidFill>
                  <a:prstClr val="black"/>
                </a:solidFill>
              </a:rPr>
              <a:t>: Any formal meeting or provided material/product for project stakeholder(s), such as update meetings, presentations, products, etc.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929929" y="228600"/>
            <a:ext cx="0" cy="73152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238874" y="7289914"/>
            <a:ext cx="33961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prepared by the </a:t>
            </a:r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Innovation</a:t>
            </a:r>
            <a:r>
              <a:rPr lang="en-US" sz="1000" b="1" baseline="0" dirty="0">
                <a:solidFill>
                  <a:schemeClr val="bg2">
                    <a:lumMod val="50000"/>
                  </a:schemeClr>
                </a:solidFill>
              </a:rPr>
              <a:t> &amp; Transformation Office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6372672" y="5624576"/>
            <a:ext cx="292561" cy="2769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endParaRPr lang="en-US" sz="12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6372672" y="6167909"/>
            <a:ext cx="292561" cy="27699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endParaRPr lang="en-US" sz="12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372672" y="6711243"/>
            <a:ext cx="292561" cy="276999"/>
          </a:xfrm>
          <a:prstGeom prst="rect">
            <a:avLst/>
          </a:prstGeom>
          <a:solidFill>
            <a:srgbClr val="003963"/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endParaRPr lang="en-US" sz="12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 flipH="1">
            <a:off x="6246459" y="5160618"/>
            <a:ext cx="632654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8091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sldNum="0" hd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>
          <p15:clr>
            <a:srgbClr val="F26B43"/>
          </p15:clr>
        </p15:guide>
        <p15:guide id="2" pos="144">
          <p15:clr>
            <a:srgbClr val="F26B43"/>
          </p15:clr>
        </p15:guide>
        <p15:guide id="3" pos="7920">
          <p15:clr>
            <a:srgbClr val="F26B43"/>
          </p15:clr>
        </p15:guide>
        <p15:guide id="4" orient="horz" pos="475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 userDrawn="1"/>
        </p:nvSpPr>
        <p:spPr>
          <a:xfrm>
            <a:off x="12276177" y="7293098"/>
            <a:ext cx="2968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238874" y="7289914"/>
            <a:ext cx="33961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prepared by the </a:t>
            </a:r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Strategy &amp; Transformation Office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12D438-7B50-FD41-9FA0-CCE70AE1BB75}"/>
              </a:ext>
            </a:extLst>
          </p:cNvPr>
          <p:cNvSpPr/>
          <p:nvPr userDrawn="1"/>
        </p:nvSpPr>
        <p:spPr>
          <a:xfrm>
            <a:off x="228599" y="228599"/>
            <a:ext cx="2673585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1400" b="1" dirty="0">
                <a:solidFill>
                  <a:srgbClr val="003963"/>
                </a:solidFill>
              </a:rPr>
              <a:t>Transformational Innovation</a:t>
            </a:r>
            <a:r>
              <a:rPr lang="en-US" sz="1400" b="1" baseline="0" dirty="0">
                <a:solidFill>
                  <a:srgbClr val="003963"/>
                </a:solidFill>
              </a:rPr>
              <a:t> </a:t>
            </a:r>
            <a:endParaRPr lang="en-US" sz="1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68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93" r:id="rId2"/>
  </p:sldLayoutIdLst>
  <p:hf sldNum="0" hd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>
          <p15:clr>
            <a:srgbClr val="F26B43"/>
          </p15:clr>
        </p15:guide>
        <p15:guide id="2" orient="horz" pos="4752">
          <p15:clr>
            <a:srgbClr val="F26B43"/>
          </p15:clr>
        </p15:guide>
        <p15:guide id="3" pos="7920">
          <p15:clr>
            <a:srgbClr val="F26B43"/>
          </p15:clr>
        </p15:guide>
        <p15:guide id="4" pos="14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3196718" y="228600"/>
            <a:ext cx="0" cy="6705578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 userDrawn="1"/>
        </p:nvSpPr>
        <p:spPr>
          <a:xfrm>
            <a:off x="12276177" y="7293098"/>
            <a:ext cx="2968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238874" y="7289914"/>
            <a:ext cx="33961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prepared by the </a:t>
            </a:r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Innovation</a:t>
            </a:r>
            <a:r>
              <a:rPr lang="en-US" sz="1000" b="1" baseline="0" dirty="0">
                <a:solidFill>
                  <a:schemeClr val="bg2">
                    <a:lumMod val="50000"/>
                  </a:schemeClr>
                </a:solidFill>
              </a:rPr>
              <a:t> &amp; Transformation Office</a:t>
            </a: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_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3E3365-9768-EF44-A718-4188E82B86D9}"/>
              </a:ext>
            </a:extLst>
          </p:cNvPr>
          <p:cNvCxnSpPr/>
          <p:nvPr userDrawn="1"/>
        </p:nvCxnSpPr>
        <p:spPr>
          <a:xfrm>
            <a:off x="8001694" y="228600"/>
            <a:ext cx="0" cy="6696583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1E31789-247D-B945-B480-B3926E2B4F76}"/>
              </a:ext>
            </a:extLst>
          </p:cNvPr>
          <p:cNvSpPr/>
          <p:nvPr userDrawn="1"/>
        </p:nvSpPr>
        <p:spPr>
          <a:xfrm>
            <a:off x="228599" y="228599"/>
            <a:ext cx="2673585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1400" b="1" dirty="0">
                <a:solidFill>
                  <a:srgbClr val="003963"/>
                </a:solidFill>
              </a:rPr>
              <a:t>Transformational Innovation</a:t>
            </a:r>
            <a:r>
              <a:rPr lang="en-US" sz="1400" b="1" baseline="0" dirty="0">
                <a:solidFill>
                  <a:srgbClr val="003963"/>
                </a:solidFill>
              </a:rPr>
              <a:t> </a:t>
            </a:r>
            <a:endParaRPr lang="en-US" sz="1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357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hf sldNum="0" hd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>
          <p15:clr>
            <a:srgbClr val="F26B43"/>
          </p15:clr>
        </p15:guide>
        <p15:guide id="2" orient="horz" pos="4752">
          <p15:clr>
            <a:srgbClr val="F26B43"/>
          </p15:clr>
        </p15:guide>
        <p15:guide id="3" pos="7920">
          <p15:clr>
            <a:srgbClr val="F26B43"/>
          </p15:clr>
        </p15:guide>
        <p15:guide id="4" pos="1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11">
            <a:extLst>
              <a:ext uri="{FF2B5EF4-FFF2-40B4-BE49-F238E27FC236}">
                <a16:creationId xmlns:a16="http://schemas.microsoft.com/office/drawing/2014/main" id="{6D4ED8D2-B85B-6440-ADA5-E55C9A6E7547}"/>
              </a:ext>
            </a:extLst>
          </p:cNvPr>
          <p:cNvSpPr/>
          <p:nvPr/>
        </p:nvSpPr>
        <p:spPr bwMode="auto">
          <a:xfrm>
            <a:off x="4104700" y="1810553"/>
            <a:ext cx="4067032" cy="457073"/>
          </a:xfrm>
          <a:prstGeom prst="roundRect">
            <a:avLst>
              <a:gd name="adj" fmla="val 5329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 dirty="0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4F178C1C-13B0-4E42-B36B-605AC91A406C}"/>
              </a:ext>
            </a:extLst>
          </p:cNvPr>
          <p:cNvSpPr/>
          <p:nvPr/>
        </p:nvSpPr>
        <p:spPr bwMode="auto">
          <a:xfrm>
            <a:off x="1674509" y="2662317"/>
            <a:ext cx="1627918" cy="457073"/>
          </a:xfrm>
          <a:prstGeom prst="roundRect">
            <a:avLst>
              <a:gd name="adj" fmla="val 5329"/>
            </a:avLst>
          </a:prstGeom>
          <a:solidFill>
            <a:schemeClr val="accent1">
              <a:lumMod val="75000"/>
              <a:lumOff val="25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 dirty="0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11" name="Скругленный прямоугольник 12">
            <a:extLst>
              <a:ext uri="{FF2B5EF4-FFF2-40B4-BE49-F238E27FC236}">
                <a16:creationId xmlns:a16="http://schemas.microsoft.com/office/drawing/2014/main" id="{2F8D9C5A-394C-4D4C-8753-180DD6BE1EC1}"/>
              </a:ext>
            </a:extLst>
          </p:cNvPr>
          <p:cNvSpPr/>
          <p:nvPr/>
        </p:nvSpPr>
        <p:spPr bwMode="auto">
          <a:xfrm>
            <a:off x="5353491" y="2665364"/>
            <a:ext cx="1466834" cy="457073"/>
          </a:xfrm>
          <a:prstGeom prst="roundRect">
            <a:avLst>
              <a:gd name="adj" fmla="val 5329"/>
            </a:avLst>
          </a:prstGeom>
          <a:solidFill>
            <a:schemeClr val="accent1">
              <a:lumMod val="75000"/>
              <a:lumOff val="25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 dirty="0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14" name="Скругленный прямоугольник 16">
            <a:extLst>
              <a:ext uri="{FF2B5EF4-FFF2-40B4-BE49-F238E27FC236}">
                <a16:creationId xmlns:a16="http://schemas.microsoft.com/office/drawing/2014/main" id="{1365C2A3-A805-F644-A880-05726AE7537F}"/>
              </a:ext>
            </a:extLst>
          </p:cNvPr>
          <p:cNvSpPr/>
          <p:nvPr/>
        </p:nvSpPr>
        <p:spPr bwMode="auto">
          <a:xfrm>
            <a:off x="9183691" y="2669082"/>
            <a:ext cx="1569448" cy="457073"/>
          </a:xfrm>
          <a:prstGeom prst="roundRect">
            <a:avLst>
              <a:gd name="adj" fmla="val 5329"/>
            </a:avLst>
          </a:prstGeom>
          <a:solidFill>
            <a:schemeClr val="accent1">
              <a:lumMod val="75000"/>
              <a:lumOff val="25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cxnSp>
        <p:nvCxnSpPr>
          <p:cNvPr id="17" name="Соединительная линия уступом 25">
            <a:extLst>
              <a:ext uri="{FF2B5EF4-FFF2-40B4-BE49-F238E27FC236}">
                <a16:creationId xmlns:a16="http://schemas.microsoft.com/office/drawing/2014/main" id="{95FEE179-CF9B-7545-B726-794C8847B32A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 bwMode="auto">
          <a:xfrm rot="16200000" flipH="1">
            <a:off x="7852587" y="553254"/>
            <a:ext cx="401456" cy="3830199"/>
          </a:xfrm>
          <a:prstGeom prst="bentConnector3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triangle"/>
          </a:ln>
          <a:effectLst/>
        </p:spPr>
      </p:cxnSp>
      <p:cxnSp>
        <p:nvCxnSpPr>
          <p:cNvPr id="18" name="Соединительная линия уступом 27">
            <a:extLst>
              <a:ext uri="{FF2B5EF4-FFF2-40B4-BE49-F238E27FC236}">
                <a16:creationId xmlns:a16="http://schemas.microsoft.com/office/drawing/2014/main" id="{56F0D251-F772-6546-B888-4E963921C609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 bwMode="auto">
          <a:xfrm rot="5400000">
            <a:off x="4115997" y="640097"/>
            <a:ext cx="394691" cy="3649748"/>
          </a:xfrm>
          <a:prstGeom prst="bentConnector3">
            <a:avLst>
              <a:gd name="adj1" fmla="val 5000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triangle"/>
          </a:ln>
          <a:effectLst/>
        </p:spPr>
      </p:cxnSp>
      <p:sp>
        <p:nvSpPr>
          <p:cNvPr id="20" name="Скругленный прямоугольник 59">
            <a:extLst>
              <a:ext uri="{FF2B5EF4-FFF2-40B4-BE49-F238E27FC236}">
                <a16:creationId xmlns:a16="http://schemas.microsoft.com/office/drawing/2014/main" id="{48EA4E42-DB7D-A94B-888D-E936EC0C4E0E}"/>
              </a:ext>
            </a:extLst>
          </p:cNvPr>
          <p:cNvSpPr>
            <a:spLocks/>
          </p:cNvSpPr>
          <p:nvPr/>
        </p:nvSpPr>
        <p:spPr bwMode="auto">
          <a:xfrm>
            <a:off x="3087903" y="3489583"/>
            <a:ext cx="1137161" cy="553195"/>
          </a:xfrm>
          <a:prstGeom prst="roundRect">
            <a:avLst>
              <a:gd name="adj" fmla="val 5329"/>
            </a:avLst>
          </a:prstGeom>
          <a:solidFill>
            <a:schemeClr val="accent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 dirty="0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23" name="Скругленный прямоугольник 72">
            <a:extLst>
              <a:ext uri="{FF2B5EF4-FFF2-40B4-BE49-F238E27FC236}">
                <a16:creationId xmlns:a16="http://schemas.microsoft.com/office/drawing/2014/main" id="{26BDD212-7D19-E643-870C-D3C4D6B53526}"/>
              </a:ext>
            </a:extLst>
          </p:cNvPr>
          <p:cNvSpPr>
            <a:spLocks/>
          </p:cNvSpPr>
          <p:nvPr/>
        </p:nvSpPr>
        <p:spPr bwMode="auto">
          <a:xfrm>
            <a:off x="5777960" y="3480789"/>
            <a:ext cx="1154011" cy="553195"/>
          </a:xfrm>
          <a:prstGeom prst="roundRect">
            <a:avLst>
              <a:gd name="adj" fmla="val 5329"/>
            </a:avLst>
          </a:prstGeom>
          <a:solidFill>
            <a:schemeClr val="accent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29" name="Скругленный прямоугольник 80">
            <a:extLst>
              <a:ext uri="{FF2B5EF4-FFF2-40B4-BE49-F238E27FC236}">
                <a16:creationId xmlns:a16="http://schemas.microsoft.com/office/drawing/2014/main" id="{645E27A1-C2FB-DD4B-B126-34D135B5C50E}"/>
              </a:ext>
            </a:extLst>
          </p:cNvPr>
          <p:cNvSpPr>
            <a:spLocks/>
          </p:cNvSpPr>
          <p:nvPr/>
        </p:nvSpPr>
        <p:spPr bwMode="auto">
          <a:xfrm>
            <a:off x="7003940" y="3485429"/>
            <a:ext cx="1053124" cy="553195"/>
          </a:xfrm>
          <a:prstGeom prst="roundRect">
            <a:avLst>
              <a:gd name="adj" fmla="val 5329"/>
            </a:avLst>
          </a:prstGeom>
          <a:solidFill>
            <a:schemeClr val="accent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 dirty="0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32" name="Скругленный прямоугольник 84">
            <a:extLst>
              <a:ext uri="{FF2B5EF4-FFF2-40B4-BE49-F238E27FC236}">
                <a16:creationId xmlns:a16="http://schemas.microsoft.com/office/drawing/2014/main" id="{0594F8BE-B3AF-C84B-8492-8A2D86CFE89C}"/>
              </a:ext>
            </a:extLst>
          </p:cNvPr>
          <p:cNvSpPr>
            <a:spLocks/>
          </p:cNvSpPr>
          <p:nvPr/>
        </p:nvSpPr>
        <p:spPr bwMode="auto">
          <a:xfrm>
            <a:off x="9467186" y="3480789"/>
            <a:ext cx="1007645" cy="553195"/>
          </a:xfrm>
          <a:prstGeom prst="roundRect">
            <a:avLst>
              <a:gd name="adj" fmla="val 5329"/>
            </a:avLst>
          </a:prstGeom>
          <a:solidFill>
            <a:schemeClr val="accent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35" name="Скругленный прямоугольник 88">
            <a:extLst>
              <a:ext uri="{FF2B5EF4-FFF2-40B4-BE49-F238E27FC236}">
                <a16:creationId xmlns:a16="http://schemas.microsoft.com/office/drawing/2014/main" id="{EBDE1CE4-6D4D-A548-B0DE-F17D28164F55}"/>
              </a:ext>
            </a:extLst>
          </p:cNvPr>
          <p:cNvSpPr>
            <a:spLocks/>
          </p:cNvSpPr>
          <p:nvPr/>
        </p:nvSpPr>
        <p:spPr bwMode="auto">
          <a:xfrm>
            <a:off x="10525839" y="3480789"/>
            <a:ext cx="1031972" cy="553195"/>
          </a:xfrm>
          <a:prstGeom prst="roundRect">
            <a:avLst>
              <a:gd name="adj" fmla="val 5329"/>
            </a:avLst>
          </a:prstGeom>
          <a:solidFill>
            <a:schemeClr val="accent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 dirty="0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cxnSp>
        <p:nvCxnSpPr>
          <p:cNvPr id="42" name="Соединительная линия уступом 36">
            <a:extLst>
              <a:ext uri="{FF2B5EF4-FFF2-40B4-BE49-F238E27FC236}">
                <a16:creationId xmlns:a16="http://schemas.microsoft.com/office/drawing/2014/main" id="{010113D0-801D-4E4A-A914-AC04A84C1C38}"/>
              </a:ext>
            </a:extLst>
          </p:cNvPr>
          <p:cNvCxnSpPr>
            <a:cxnSpLocks/>
            <a:stCxn id="14" idx="2"/>
            <a:endCxn id="32" idx="0"/>
          </p:cNvCxnSpPr>
          <p:nvPr/>
        </p:nvCxnSpPr>
        <p:spPr bwMode="auto">
          <a:xfrm rot="16200000" flipH="1">
            <a:off x="9792395" y="3302174"/>
            <a:ext cx="354633" cy="2594"/>
          </a:xfrm>
          <a:prstGeom prst="bentConnector3">
            <a:avLst>
              <a:gd name="adj1" fmla="val 5000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triangle"/>
          </a:ln>
          <a:effectLst/>
        </p:spPr>
      </p:cxnSp>
      <p:cxnSp>
        <p:nvCxnSpPr>
          <p:cNvPr id="43" name="Соединительная линия уступом 91">
            <a:extLst>
              <a:ext uri="{FF2B5EF4-FFF2-40B4-BE49-F238E27FC236}">
                <a16:creationId xmlns:a16="http://schemas.microsoft.com/office/drawing/2014/main" id="{9961B9D7-BC69-9449-A462-326C8CE436CF}"/>
              </a:ext>
            </a:extLst>
          </p:cNvPr>
          <p:cNvCxnSpPr>
            <a:cxnSpLocks/>
            <a:stCxn id="14" idx="2"/>
            <a:endCxn id="35" idx="0"/>
          </p:cNvCxnSpPr>
          <p:nvPr/>
        </p:nvCxnSpPr>
        <p:spPr bwMode="auto">
          <a:xfrm rot="16200000" flipH="1">
            <a:off x="10327803" y="2766766"/>
            <a:ext cx="354633" cy="1073410"/>
          </a:xfrm>
          <a:prstGeom prst="bentConnector3">
            <a:avLst>
              <a:gd name="adj1" fmla="val 5000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triangle"/>
          </a:ln>
          <a:effectLst/>
        </p:spPr>
      </p:cxnSp>
      <p:sp>
        <p:nvSpPr>
          <p:cNvPr id="74" name="Subtitle 2">
            <a:extLst>
              <a:ext uri="{FF2B5EF4-FFF2-40B4-BE49-F238E27FC236}">
                <a16:creationId xmlns:a16="http://schemas.microsoft.com/office/drawing/2014/main" id="{8C979760-C4B7-B541-8C3C-4C5F3E929482}"/>
              </a:ext>
            </a:extLst>
          </p:cNvPr>
          <p:cNvSpPr txBox="1">
            <a:spLocks/>
          </p:cNvSpPr>
          <p:nvPr/>
        </p:nvSpPr>
        <p:spPr>
          <a:xfrm>
            <a:off x="4175378" y="1929239"/>
            <a:ext cx="3996354" cy="171598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800" dirty="0"/>
              <a:t>Stigma is a significant barrier to accessing BH care and maintaining mental wellness.</a:t>
            </a:r>
          </a:p>
        </p:txBody>
      </p:sp>
      <p:sp>
        <p:nvSpPr>
          <p:cNvPr id="78" name="Subtitle 2">
            <a:extLst>
              <a:ext uri="{FF2B5EF4-FFF2-40B4-BE49-F238E27FC236}">
                <a16:creationId xmlns:a16="http://schemas.microsoft.com/office/drawing/2014/main" id="{661D7864-BE8A-9E40-AAB1-CFF57EBF5715}"/>
              </a:ext>
            </a:extLst>
          </p:cNvPr>
          <p:cNvSpPr txBox="1">
            <a:spLocks/>
          </p:cNvSpPr>
          <p:nvPr/>
        </p:nvSpPr>
        <p:spPr>
          <a:xfrm>
            <a:off x="5394228" y="2708968"/>
            <a:ext cx="1379463" cy="333501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Stigma is both systemic and personal</a:t>
            </a:r>
          </a:p>
        </p:txBody>
      </p:sp>
      <p:sp>
        <p:nvSpPr>
          <p:cNvPr id="90" name="Subtitle 2">
            <a:extLst>
              <a:ext uri="{FF2B5EF4-FFF2-40B4-BE49-F238E27FC236}">
                <a16:creationId xmlns:a16="http://schemas.microsoft.com/office/drawing/2014/main" id="{52FA099A-FD0F-094C-AC92-B54180A8B276}"/>
              </a:ext>
            </a:extLst>
          </p:cNvPr>
          <p:cNvSpPr txBox="1">
            <a:spLocks/>
          </p:cNvSpPr>
          <p:nvPr/>
        </p:nvSpPr>
        <p:spPr>
          <a:xfrm>
            <a:off x="1714297" y="2679863"/>
            <a:ext cx="1560321" cy="565552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800" dirty="0"/>
              <a:t>Stigma is a social determinant of health that creates barriers for people seeking care.</a:t>
            </a:r>
          </a:p>
          <a:p>
            <a:pPr algn="l">
              <a:lnSpc>
                <a:spcPct val="100000"/>
              </a:lnSpc>
            </a:pPr>
            <a:endParaRPr lang="en-US" sz="800" dirty="0">
              <a:solidFill>
                <a:schemeClr val="bg1"/>
              </a:solidFill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3" name="Subtitle 2">
            <a:extLst>
              <a:ext uri="{FF2B5EF4-FFF2-40B4-BE49-F238E27FC236}">
                <a16:creationId xmlns:a16="http://schemas.microsoft.com/office/drawing/2014/main" id="{DD733BBC-A258-1B4E-92A8-2961DB283588}"/>
              </a:ext>
            </a:extLst>
          </p:cNvPr>
          <p:cNvSpPr txBox="1">
            <a:spLocks/>
          </p:cNvSpPr>
          <p:nvPr/>
        </p:nvSpPr>
        <p:spPr>
          <a:xfrm>
            <a:off x="9139660" y="2654507"/>
            <a:ext cx="1625321" cy="481234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Stigma can become a barrier in clinical practice and environments</a:t>
            </a:r>
          </a:p>
        </p:txBody>
      </p:sp>
      <p:sp>
        <p:nvSpPr>
          <p:cNvPr id="75" name="Скругленный прямоугольник 59">
            <a:extLst>
              <a:ext uri="{FF2B5EF4-FFF2-40B4-BE49-F238E27FC236}">
                <a16:creationId xmlns:a16="http://schemas.microsoft.com/office/drawing/2014/main" id="{920717B6-DDA2-3C43-BA52-72827FD01722}"/>
              </a:ext>
            </a:extLst>
          </p:cNvPr>
          <p:cNvSpPr>
            <a:spLocks/>
          </p:cNvSpPr>
          <p:nvPr/>
        </p:nvSpPr>
        <p:spPr bwMode="auto">
          <a:xfrm>
            <a:off x="1888636" y="3480789"/>
            <a:ext cx="1143757" cy="553195"/>
          </a:xfrm>
          <a:prstGeom prst="roundRect">
            <a:avLst>
              <a:gd name="adj" fmla="val 5329"/>
            </a:avLst>
          </a:prstGeom>
          <a:solidFill>
            <a:schemeClr val="accent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79" name="Subtitle 2">
            <a:extLst>
              <a:ext uri="{FF2B5EF4-FFF2-40B4-BE49-F238E27FC236}">
                <a16:creationId xmlns:a16="http://schemas.microsoft.com/office/drawing/2014/main" id="{CFDB561B-C247-D24B-88AD-4424530E9805}"/>
              </a:ext>
            </a:extLst>
          </p:cNvPr>
          <p:cNvSpPr txBox="1">
            <a:spLocks/>
          </p:cNvSpPr>
          <p:nvPr/>
        </p:nvSpPr>
        <p:spPr>
          <a:xfrm>
            <a:off x="1881188" y="3476624"/>
            <a:ext cx="1207909" cy="558306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560" dirty="0"/>
              <a:t>SDoH affect people’s ability to find, secure, and get to their BH appointments, get childcare while in treatment, and afford BH coverage and care</a:t>
            </a:r>
          </a:p>
        </p:txBody>
      </p:sp>
      <p:sp>
        <p:nvSpPr>
          <p:cNvPr id="36" name="Скругленный прямоугольник 80">
            <a:extLst>
              <a:ext uri="{FF2B5EF4-FFF2-40B4-BE49-F238E27FC236}">
                <a16:creationId xmlns:a16="http://schemas.microsoft.com/office/drawing/2014/main" id="{645E27A1-C2FB-DD4B-B126-34D135B5C50E}"/>
              </a:ext>
            </a:extLst>
          </p:cNvPr>
          <p:cNvSpPr>
            <a:spLocks/>
          </p:cNvSpPr>
          <p:nvPr/>
        </p:nvSpPr>
        <p:spPr bwMode="auto">
          <a:xfrm>
            <a:off x="4568513" y="3483859"/>
            <a:ext cx="1154011" cy="553195"/>
          </a:xfrm>
          <a:prstGeom prst="roundRect">
            <a:avLst>
              <a:gd name="adj" fmla="val 5329"/>
            </a:avLst>
          </a:prstGeom>
          <a:solidFill>
            <a:schemeClr val="accent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 dirty="0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44" name="Subtitle 2">
            <a:extLst>
              <a:ext uri="{FF2B5EF4-FFF2-40B4-BE49-F238E27FC236}">
                <a16:creationId xmlns:a16="http://schemas.microsoft.com/office/drawing/2014/main" id="{F4A1A281-5C8D-F44A-89AD-7B4073A0F4F0}"/>
              </a:ext>
            </a:extLst>
          </p:cNvPr>
          <p:cNvSpPr txBox="1">
            <a:spLocks/>
          </p:cNvSpPr>
          <p:nvPr/>
        </p:nvSpPr>
        <p:spPr>
          <a:xfrm>
            <a:off x="4618225" y="3544007"/>
            <a:ext cx="1054585" cy="528618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600" dirty="0"/>
              <a:t>Getting help with BH is often discouraged because of certain cultural norms, practices, and beliefs</a:t>
            </a:r>
          </a:p>
          <a:p>
            <a:pPr algn="l">
              <a:lnSpc>
                <a:spcPct val="100000"/>
              </a:lnSpc>
            </a:pPr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0" name="Скругленный прямоугольник 84">
            <a:extLst>
              <a:ext uri="{FF2B5EF4-FFF2-40B4-BE49-F238E27FC236}">
                <a16:creationId xmlns:a16="http://schemas.microsoft.com/office/drawing/2014/main" id="{0594F8BE-B3AF-C84B-8492-8A2D86CFE89C}"/>
              </a:ext>
            </a:extLst>
          </p:cNvPr>
          <p:cNvSpPr>
            <a:spLocks/>
          </p:cNvSpPr>
          <p:nvPr/>
        </p:nvSpPr>
        <p:spPr bwMode="auto">
          <a:xfrm>
            <a:off x="328695" y="4388983"/>
            <a:ext cx="798072" cy="553195"/>
          </a:xfrm>
          <a:prstGeom prst="roundRect">
            <a:avLst>
              <a:gd name="adj" fmla="val 5329"/>
            </a:avLst>
          </a:prstGeom>
          <a:solidFill>
            <a:schemeClr val="accent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 dirty="0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61" name="Скругленный прямоугольник 88">
            <a:extLst>
              <a:ext uri="{FF2B5EF4-FFF2-40B4-BE49-F238E27FC236}">
                <a16:creationId xmlns:a16="http://schemas.microsoft.com/office/drawing/2014/main" id="{EBDE1CE4-6D4D-A548-B0DE-F17D28164F55}"/>
              </a:ext>
            </a:extLst>
          </p:cNvPr>
          <p:cNvSpPr>
            <a:spLocks/>
          </p:cNvSpPr>
          <p:nvPr/>
        </p:nvSpPr>
        <p:spPr bwMode="auto">
          <a:xfrm>
            <a:off x="1257656" y="4388983"/>
            <a:ext cx="798072" cy="553195"/>
          </a:xfrm>
          <a:prstGeom prst="roundRect">
            <a:avLst>
              <a:gd name="adj" fmla="val 5329"/>
            </a:avLst>
          </a:prstGeom>
          <a:solidFill>
            <a:schemeClr val="accent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 dirty="0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cxnSp>
        <p:nvCxnSpPr>
          <p:cNvPr id="62" name="Соединительная линия уступом 36">
            <a:extLst>
              <a:ext uri="{FF2B5EF4-FFF2-40B4-BE49-F238E27FC236}">
                <a16:creationId xmlns:a16="http://schemas.microsoft.com/office/drawing/2014/main" id="{010113D0-801D-4E4A-A914-AC04A84C1C38}"/>
              </a:ext>
            </a:extLst>
          </p:cNvPr>
          <p:cNvCxnSpPr>
            <a:cxnSpLocks/>
            <a:endCxn id="60" idx="0"/>
          </p:cNvCxnSpPr>
          <p:nvPr/>
        </p:nvCxnSpPr>
        <p:spPr bwMode="auto">
          <a:xfrm rot="5400000">
            <a:off x="816905" y="3945175"/>
            <a:ext cx="354633" cy="532982"/>
          </a:xfrm>
          <a:prstGeom prst="bentConnector3">
            <a:avLst>
              <a:gd name="adj1" fmla="val 5000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triangle"/>
          </a:ln>
          <a:effectLst/>
        </p:spPr>
      </p:cxnSp>
      <p:cxnSp>
        <p:nvCxnSpPr>
          <p:cNvPr id="63" name="Соединительная линия уступом 91">
            <a:extLst>
              <a:ext uri="{FF2B5EF4-FFF2-40B4-BE49-F238E27FC236}">
                <a16:creationId xmlns:a16="http://schemas.microsoft.com/office/drawing/2014/main" id="{9961B9D7-BC69-9449-A462-326C8CE436CF}"/>
              </a:ext>
            </a:extLst>
          </p:cNvPr>
          <p:cNvCxnSpPr>
            <a:cxnSpLocks/>
            <a:endCxn id="61" idx="0"/>
          </p:cNvCxnSpPr>
          <p:nvPr/>
        </p:nvCxnSpPr>
        <p:spPr bwMode="auto">
          <a:xfrm rot="16200000" flipH="1">
            <a:off x="1281386" y="4013676"/>
            <a:ext cx="354633" cy="395979"/>
          </a:xfrm>
          <a:prstGeom prst="bentConnector3">
            <a:avLst>
              <a:gd name="adj1" fmla="val 5000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triangle"/>
          </a:ln>
          <a:effectLst/>
        </p:spPr>
      </p:cxnSp>
      <p:sp>
        <p:nvSpPr>
          <p:cNvPr id="65" name="Subtitle 2">
            <a:extLst>
              <a:ext uri="{FF2B5EF4-FFF2-40B4-BE49-F238E27FC236}">
                <a16:creationId xmlns:a16="http://schemas.microsoft.com/office/drawing/2014/main" id="{791E6E07-594D-EA46-A45D-CDC3DB2CDA38}"/>
              </a:ext>
            </a:extLst>
          </p:cNvPr>
          <p:cNvSpPr txBox="1">
            <a:spLocks/>
          </p:cNvSpPr>
          <p:nvPr/>
        </p:nvSpPr>
        <p:spPr>
          <a:xfrm>
            <a:off x="337534" y="4414408"/>
            <a:ext cx="814713" cy="510152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600" dirty="0"/>
              <a:t>SDOH such as food, job, and housing insecurity, and level of debt directly correlate with BH</a:t>
            </a:r>
          </a:p>
        </p:txBody>
      </p:sp>
      <p:sp>
        <p:nvSpPr>
          <p:cNvPr id="68" name="Скругленный прямоугольник 59">
            <a:extLst>
              <a:ext uri="{FF2B5EF4-FFF2-40B4-BE49-F238E27FC236}">
                <a16:creationId xmlns:a16="http://schemas.microsoft.com/office/drawing/2014/main" id="{920717B6-DDA2-3C43-BA52-72827FD01722}"/>
              </a:ext>
            </a:extLst>
          </p:cNvPr>
          <p:cNvSpPr>
            <a:spLocks/>
          </p:cNvSpPr>
          <p:nvPr/>
        </p:nvSpPr>
        <p:spPr bwMode="auto">
          <a:xfrm>
            <a:off x="694973" y="3480789"/>
            <a:ext cx="1143757" cy="553195"/>
          </a:xfrm>
          <a:prstGeom prst="roundRect">
            <a:avLst>
              <a:gd name="adj" fmla="val 5329"/>
            </a:avLst>
          </a:prstGeom>
          <a:solidFill>
            <a:schemeClr val="accent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 dirty="0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cxnSp>
        <p:nvCxnSpPr>
          <p:cNvPr id="69" name="Соединительная линия уступом 29">
            <a:extLst>
              <a:ext uri="{FF2B5EF4-FFF2-40B4-BE49-F238E27FC236}">
                <a16:creationId xmlns:a16="http://schemas.microsoft.com/office/drawing/2014/main" id="{2BD89E4F-6DAA-1E43-BA46-A5FD6E7A02D8}"/>
              </a:ext>
            </a:extLst>
          </p:cNvPr>
          <p:cNvCxnSpPr>
            <a:cxnSpLocks/>
            <a:endCxn id="68" idx="0"/>
          </p:cNvCxnSpPr>
          <p:nvPr/>
        </p:nvCxnSpPr>
        <p:spPr bwMode="auto">
          <a:xfrm rot="10800000" flipV="1">
            <a:off x="1266852" y="3292031"/>
            <a:ext cx="1206654" cy="188757"/>
          </a:xfrm>
          <a:prstGeom prst="bentConnector2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triangle"/>
          </a:ln>
          <a:effectLst/>
        </p:spPr>
      </p:cxnSp>
      <p:sp>
        <p:nvSpPr>
          <p:cNvPr id="70" name="Subtitle 2">
            <a:extLst>
              <a:ext uri="{FF2B5EF4-FFF2-40B4-BE49-F238E27FC236}">
                <a16:creationId xmlns:a16="http://schemas.microsoft.com/office/drawing/2014/main" id="{CFDB561B-C247-D24B-88AD-4424530E9805}"/>
              </a:ext>
            </a:extLst>
          </p:cNvPr>
          <p:cNvSpPr txBox="1">
            <a:spLocks/>
          </p:cNvSpPr>
          <p:nvPr/>
        </p:nvSpPr>
        <p:spPr>
          <a:xfrm>
            <a:off x="739956" y="3534180"/>
            <a:ext cx="1067691" cy="417819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600" dirty="0"/>
              <a:t>The risk of BH issues increases in direct proportion to the amount of negative SDoH one has</a:t>
            </a:r>
          </a:p>
        </p:txBody>
      </p:sp>
      <p:sp>
        <p:nvSpPr>
          <p:cNvPr id="81" name="Скругленный прямоугольник 84">
            <a:extLst>
              <a:ext uri="{FF2B5EF4-FFF2-40B4-BE49-F238E27FC236}">
                <a16:creationId xmlns:a16="http://schemas.microsoft.com/office/drawing/2014/main" id="{0594F8BE-B3AF-C84B-8492-8A2D86CFE89C}"/>
              </a:ext>
            </a:extLst>
          </p:cNvPr>
          <p:cNvSpPr>
            <a:spLocks/>
          </p:cNvSpPr>
          <p:nvPr/>
        </p:nvSpPr>
        <p:spPr bwMode="auto">
          <a:xfrm>
            <a:off x="10474831" y="4372369"/>
            <a:ext cx="1139737" cy="569228"/>
          </a:xfrm>
          <a:prstGeom prst="roundRect">
            <a:avLst>
              <a:gd name="adj" fmla="val 5329"/>
            </a:avLst>
          </a:prstGeom>
          <a:solidFill>
            <a:schemeClr val="accent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115" name="Скругленный прямоугольник 59">
            <a:extLst>
              <a:ext uri="{FF2B5EF4-FFF2-40B4-BE49-F238E27FC236}">
                <a16:creationId xmlns:a16="http://schemas.microsoft.com/office/drawing/2014/main" id="{920717B6-DDA2-3C43-BA52-72827FD01722}"/>
              </a:ext>
            </a:extLst>
          </p:cNvPr>
          <p:cNvSpPr>
            <a:spLocks/>
          </p:cNvSpPr>
          <p:nvPr/>
        </p:nvSpPr>
        <p:spPr bwMode="auto">
          <a:xfrm>
            <a:off x="8256095" y="3480789"/>
            <a:ext cx="1143757" cy="553195"/>
          </a:xfrm>
          <a:prstGeom prst="roundRect">
            <a:avLst>
              <a:gd name="adj" fmla="val 5329"/>
            </a:avLst>
          </a:prstGeom>
          <a:solidFill>
            <a:schemeClr val="accent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cxnSp>
        <p:nvCxnSpPr>
          <p:cNvPr id="84" name="Соединительная линия уступом 34">
            <a:extLst>
              <a:ext uri="{FF2B5EF4-FFF2-40B4-BE49-F238E27FC236}">
                <a16:creationId xmlns:a16="http://schemas.microsoft.com/office/drawing/2014/main" id="{6EDBBE99-5EBE-1146-A55A-B12CF462D865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6130434" y="3294638"/>
            <a:ext cx="353971" cy="3299"/>
          </a:xfrm>
          <a:prstGeom prst="bentConnector3">
            <a:avLst>
              <a:gd name="adj1" fmla="val 5000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triangle"/>
          </a:ln>
          <a:effectLst/>
        </p:spPr>
      </p:cxnSp>
      <p:cxnSp>
        <p:nvCxnSpPr>
          <p:cNvPr id="85" name="Соединительная линия уступом 91">
            <a:extLst>
              <a:ext uri="{FF2B5EF4-FFF2-40B4-BE49-F238E27FC236}">
                <a16:creationId xmlns:a16="http://schemas.microsoft.com/office/drawing/2014/main" id="{928702B7-AEC4-E541-ABF8-6BA404B72D40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8825703" y="3300977"/>
            <a:ext cx="1145305" cy="185867"/>
          </a:xfrm>
          <a:prstGeom prst="bentConnector3">
            <a:avLst>
              <a:gd name="adj1" fmla="val 100224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triangle"/>
          </a:ln>
          <a:effectLst/>
        </p:spPr>
      </p:cxnSp>
      <p:sp>
        <p:nvSpPr>
          <p:cNvPr id="91" name="Скругленный прямоугольник 84">
            <a:extLst>
              <a:ext uri="{FF2B5EF4-FFF2-40B4-BE49-F238E27FC236}">
                <a16:creationId xmlns:a16="http://schemas.microsoft.com/office/drawing/2014/main" id="{8917FA60-E242-3945-A8AE-B11F650356C5}"/>
              </a:ext>
            </a:extLst>
          </p:cNvPr>
          <p:cNvSpPr>
            <a:spLocks/>
          </p:cNvSpPr>
          <p:nvPr/>
        </p:nvSpPr>
        <p:spPr bwMode="auto">
          <a:xfrm>
            <a:off x="9239616" y="4372369"/>
            <a:ext cx="1139737" cy="569228"/>
          </a:xfrm>
          <a:prstGeom prst="roundRect">
            <a:avLst>
              <a:gd name="adj" fmla="val 5329"/>
            </a:avLst>
          </a:prstGeom>
          <a:solidFill>
            <a:schemeClr val="accent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cxnSp>
        <p:nvCxnSpPr>
          <p:cNvPr id="95" name="Соединительная линия уступом 36">
            <a:extLst>
              <a:ext uri="{FF2B5EF4-FFF2-40B4-BE49-F238E27FC236}">
                <a16:creationId xmlns:a16="http://schemas.microsoft.com/office/drawing/2014/main" id="{1197AC69-E3A0-DA47-AFD5-92C9E6B30EC3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10906511" y="4204366"/>
            <a:ext cx="354633" cy="2594"/>
          </a:xfrm>
          <a:prstGeom prst="bentConnector3">
            <a:avLst>
              <a:gd name="adj1" fmla="val 5000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triangle"/>
          </a:ln>
          <a:effectLst/>
        </p:spPr>
      </p:cxnSp>
      <p:sp>
        <p:nvSpPr>
          <p:cNvPr id="147" name="5-Point Star 146">
            <a:extLst>
              <a:ext uri="{FF2B5EF4-FFF2-40B4-BE49-F238E27FC236}">
                <a16:creationId xmlns:a16="http://schemas.microsoft.com/office/drawing/2014/main" id="{9AAD28B8-46E0-CC46-9F13-C53813C4441B}"/>
              </a:ext>
            </a:extLst>
          </p:cNvPr>
          <p:cNvSpPr/>
          <p:nvPr/>
        </p:nvSpPr>
        <p:spPr>
          <a:xfrm>
            <a:off x="10189208" y="6967897"/>
            <a:ext cx="178037" cy="178037"/>
          </a:xfrm>
          <a:prstGeom prst="star5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21"/>
          </a:p>
        </p:txBody>
      </p:sp>
      <p:sp>
        <p:nvSpPr>
          <p:cNvPr id="83" name="Скругленный прямоугольник 88">
            <a:extLst>
              <a:ext uri="{FF2B5EF4-FFF2-40B4-BE49-F238E27FC236}">
                <a16:creationId xmlns:a16="http://schemas.microsoft.com/office/drawing/2014/main" id="{6E23D125-4470-8647-8AB1-FDB235709581}"/>
              </a:ext>
            </a:extLst>
          </p:cNvPr>
          <p:cNvSpPr>
            <a:spLocks/>
          </p:cNvSpPr>
          <p:nvPr/>
        </p:nvSpPr>
        <p:spPr bwMode="auto">
          <a:xfrm>
            <a:off x="11620895" y="3480789"/>
            <a:ext cx="1031972" cy="553195"/>
          </a:xfrm>
          <a:prstGeom prst="roundRect">
            <a:avLst>
              <a:gd name="adj" fmla="val 5329"/>
            </a:avLst>
          </a:prstGeom>
          <a:solidFill>
            <a:schemeClr val="accent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 dirty="0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cxnSp>
        <p:nvCxnSpPr>
          <p:cNvPr id="87" name="Соединительная линия уступом 91">
            <a:extLst>
              <a:ext uri="{FF2B5EF4-FFF2-40B4-BE49-F238E27FC236}">
                <a16:creationId xmlns:a16="http://schemas.microsoft.com/office/drawing/2014/main" id="{D45F2E45-3143-D241-B927-651D6F3FEAB4}"/>
              </a:ext>
            </a:extLst>
          </p:cNvPr>
          <p:cNvCxnSpPr>
            <a:cxnSpLocks/>
          </p:cNvCxnSpPr>
          <p:nvPr/>
        </p:nvCxnSpPr>
        <p:spPr bwMode="auto">
          <a:xfrm>
            <a:off x="11041824" y="3307624"/>
            <a:ext cx="1071633" cy="173164"/>
          </a:xfrm>
          <a:prstGeom prst="bentConnector3">
            <a:avLst>
              <a:gd name="adj1" fmla="val 9972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triangle"/>
          </a:ln>
          <a:effectLst/>
        </p:spPr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4B25B938-7149-CB48-AFF3-E87F0AA28C57}"/>
              </a:ext>
            </a:extLst>
          </p:cNvPr>
          <p:cNvSpPr/>
          <p:nvPr/>
        </p:nvSpPr>
        <p:spPr>
          <a:xfrm>
            <a:off x="228600" y="534035"/>
            <a:ext cx="6764994" cy="338554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1600" dirty="0">
                <a:solidFill>
                  <a:srgbClr val="00A2E2"/>
                </a:solidFill>
              </a:rPr>
              <a:t>PROBLEM AREA: </a:t>
            </a:r>
            <a:r>
              <a:rPr lang="en-US" sz="1600" b="1" dirty="0">
                <a:solidFill>
                  <a:srgbClr val="00A2E2"/>
                </a:solidFill>
              </a:rPr>
              <a:t>Stigma</a:t>
            </a:r>
          </a:p>
        </p:txBody>
      </p:sp>
      <p:sp>
        <p:nvSpPr>
          <p:cNvPr id="89" name="Subtitle 2">
            <a:extLst>
              <a:ext uri="{FF2B5EF4-FFF2-40B4-BE49-F238E27FC236}">
                <a16:creationId xmlns:a16="http://schemas.microsoft.com/office/drawing/2014/main" id="{5781FAFB-06A0-4643-8F12-E197C098D1F7}"/>
              </a:ext>
            </a:extLst>
          </p:cNvPr>
          <p:cNvSpPr txBox="1">
            <a:spLocks/>
          </p:cNvSpPr>
          <p:nvPr/>
        </p:nvSpPr>
        <p:spPr>
          <a:xfrm>
            <a:off x="1257655" y="4396111"/>
            <a:ext cx="814713" cy="565552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560" dirty="0"/>
              <a:t>Adverse childhood events, such as family violence and substance abuse in the home increase risk</a:t>
            </a:r>
          </a:p>
        </p:txBody>
      </p:sp>
      <p:sp>
        <p:nvSpPr>
          <p:cNvPr id="97" name="Subtitle 2">
            <a:extLst>
              <a:ext uri="{FF2B5EF4-FFF2-40B4-BE49-F238E27FC236}">
                <a16:creationId xmlns:a16="http://schemas.microsoft.com/office/drawing/2014/main" id="{0A36C6ED-D39E-B64D-AB4A-BA1CEB8A9AD2}"/>
              </a:ext>
            </a:extLst>
          </p:cNvPr>
          <p:cNvSpPr txBox="1">
            <a:spLocks/>
          </p:cNvSpPr>
          <p:nvPr/>
        </p:nvSpPr>
        <p:spPr>
          <a:xfrm>
            <a:off x="3083425" y="3470257"/>
            <a:ext cx="1175216" cy="595944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500" dirty="0"/>
              <a:t>Certain demographics experience more stigma, putting them at higher risk for BH issues (LGBTQ, women, rural populations, minorities, homeless and incarcerated people, Muslim Americans)</a:t>
            </a:r>
          </a:p>
        </p:txBody>
      </p:sp>
      <p:sp>
        <p:nvSpPr>
          <p:cNvPr id="98" name="Скругленный прямоугольник 88">
            <a:extLst>
              <a:ext uri="{FF2B5EF4-FFF2-40B4-BE49-F238E27FC236}">
                <a16:creationId xmlns:a16="http://schemas.microsoft.com/office/drawing/2014/main" id="{6603CDBC-7CD5-5B4E-91F5-45A114226FA5}"/>
              </a:ext>
            </a:extLst>
          </p:cNvPr>
          <p:cNvSpPr>
            <a:spLocks/>
          </p:cNvSpPr>
          <p:nvPr/>
        </p:nvSpPr>
        <p:spPr bwMode="auto">
          <a:xfrm>
            <a:off x="5251185" y="4380984"/>
            <a:ext cx="1054585" cy="553195"/>
          </a:xfrm>
          <a:prstGeom prst="roundRect">
            <a:avLst>
              <a:gd name="adj" fmla="val 5329"/>
            </a:avLst>
          </a:prstGeom>
          <a:solidFill>
            <a:schemeClr val="accent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 dirty="0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105" name="Subtitle 2">
            <a:extLst>
              <a:ext uri="{FF2B5EF4-FFF2-40B4-BE49-F238E27FC236}">
                <a16:creationId xmlns:a16="http://schemas.microsoft.com/office/drawing/2014/main" id="{9396B3D0-DEA0-AF45-8324-BE2D4F4A7BA6}"/>
              </a:ext>
            </a:extLst>
          </p:cNvPr>
          <p:cNvSpPr txBox="1">
            <a:spLocks/>
          </p:cNvSpPr>
          <p:nvPr/>
        </p:nvSpPr>
        <p:spPr>
          <a:xfrm>
            <a:off x="5267825" y="4404417"/>
            <a:ext cx="1007711" cy="479374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560" dirty="0"/>
              <a:t>Some cultural norms frown on BH as a sign of weakness, and/ or discourage people from seeking help</a:t>
            </a:r>
          </a:p>
        </p:txBody>
      </p:sp>
      <p:cxnSp>
        <p:nvCxnSpPr>
          <p:cNvPr id="107" name="Соединительная линия уступом 34">
            <a:extLst>
              <a:ext uri="{FF2B5EF4-FFF2-40B4-BE49-F238E27FC236}">
                <a16:creationId xmlns:a16="http://schemas.microsoft.com/office/drawing/2014/main" id="{4E1A5130-1F91-5A42-B20C-E5C775C977AD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2379893" y="3403520"/>
            <a:ext cx="174469" cy="2345"/>
          </a:xfrm>
          <a:prstGeom prst="bentConnector3">
            <a:avLst>
              <a:gd name="adj1" fmla="val -106359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triangle"/>
          </a:ln>
          <a:effectLst/>
        </p:spPr>
      </p:cxnSp>
      <p:sp>
        <p:nvSpPr>
          <p:cNvPr id="109" name="Subtitle 2">
            <a:extLst>
              <a:ext uri="{FF2B5EF4-FFF2-40B4-BE49-F238E27FC236}">
                <a16:creationId xmlns:a16="http://schemas.microsoft.com/office/drawing/2014/main" id="{376B918C-1255-9B4C-9695-F356A042452B}"/>
              </a:ext>
            </a:extLst>
          </p:cNvPr>
          <p:cNvSpPr txBox="1">
            <a:spLocks/>
          </p:cNvSpPr>
          <p:nvPr/>
        </p:nvSpPr>
        <p:spPr>
          <a:xfrm>
            <a:off x="6989880" y="3485895"/>
            <a:ext cx="1099579" cy="669041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560" dirty="0"/>
              <a:t>There is stigma associated with getting a diagnosis of mental illness, leading some to feel alienated, and not seek or continue care</a:t>
            </a:r>
          </a:p>
          <a:p>
            <a:pPr algn="l">
              <a:lnSpc>
                <a:spcPct val="100000"/>
              </a:lnSpc>
            </a:pPr>
            <a:endParaRPr lang="en-US" sz="560" dirty="0">
              <a:solidFill>
                <a:schemeClr val="bg1"/>
              </a:solidFill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2" name="Subtitle 2">
            <a:extLst>
              <a:ext uri="{FF2B5EF4-FFF2-40B4-BE49-F238E27FC236}">
                <a16:creationId xmlns:a16="http://schemas.microsoft.com/office/drawing/2014/main" id="{4ABA1D63-AF34-E349-8B23-FCFE77DBAC20}"/>
              </a:ext>
            </a:extLst>
          </p:cNvPr>
          <p:cNvSpPr txBox="1">
            <a:spLocks/>
          </p:cNvSpPr>
          <p:nvPr/>
        </p:nvSpPr>
        <p:spPr>
          <a:xfrm>
            <a:off x="5826460" y="3493885"/>
            <a:ext cx="1051804" cy="602485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600" dirty="0"/>
              <a:t>Family, friends, and community support help determine someone’s desire to seek help </a:t>
            </a:r>
          </a:p>
          <a:p>
            <a:pPr algn="l">
              <a:lnSpc>
                <a:spcPct val="100000"/>
              </a:lnSpc>
            </a:pPr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</p:txBody>
      </p:sp>
      <p:cxnSp>
        <p:nvCxnSpPr>
          <p:cNvPr id="125" name="Соединительная линия уступом 34">
            <a:extLst>
              <a:ext uri="{FF2B5EF4-FFF2-40B4-BE49-F238E27FC236}">
                <a16:creationId xmlns:a16="http://schemas.microsoft.com/office/drawing/2014/main" id="{C134BDDE-E4B1-6944-B8B0-208E09892099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6052153" y="2569923"/>
            <a:ext cx="174469" cy="2345"/>
          </a:xfrm>
          <a:prstGeom prst="bentConnector3">
            <a:avLst>
              <a:gd name="adj1" fmla="val 54296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triangle"/>
          </a:ln>
          <a:effectLst/>
        </p:spPr>
      </p:cxnSp>
      <p:cxnSp>
        <p:nvCxnSpPr>
          <p:cNvPr id="128" name="Соединительная линия уступом 91">
            <a:extLst>
              <a:ext uri="{FF2B5EF4-FFF2-40B4-BE49-F238E27FC236}">
                <a16:creationId xmlns:a16="http://schemas.microsoft.com/office/drawing/2014/main" id="{9954193F-80CA-F844-9A11-C21F4F946C25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5290382" y="4025837"/>
            <a:ext cx="354633" cy="395979"/>
          </a:xfrm>
          <a:prstGeom prst="bentConnector3">
            <a:avLst>
              <a:gd name="adj1" fmla="val 5000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triangle"/>
          </a:ln>
          <a:effectLst/>
        </p:spPr>
      </p:cxnSp>
      <p:cxnSp>
        <p:nvCxnSpPr>
          <p:cNvPr id="129" name="Соединительная линия уступом 36">
            <a:extLst>
              <a:ext uri="{FF2B5EF4-FFF2-40B4-BE49-F238E27FC236}">
                <a16:creationId xmlns:a16="http://schemas.microsoft.com/office/drawing/2014/main" id="{B1B6377F-7EC6-0349-99E1-D4872D5AAD02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5927249" y="4059617"/>
            <a:ext cx="346054" cy="312377"/>
          </a:xfrm>
          <a:prstGeom prst="bentConnector3">
            <a:avLst>
              <a:gd name="adj1" fmla="val 5000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triangle"/>
          </a:ln>
          <a:effectLst/>
        </p:spPr>
      </p:cxnSp>
      <p:sp>
        <p:nvSpPr>
          <p:cNvPr id="130" name="Subtitle 2">
            <a:extLst>
              <a:ext uri="{FF2B5EF4-FFF2-40B4-BE49-F238E27FC236}">
                <a16:creationId xmlns:a16="http://schemas.microsoft.com/office/drawing/2014/main" id="{06220A6E-1FF7-0B4A-9497-63694E657ECB}"/>
              </a:ext>
            </a:extLst>
          </p:cNvPr>
          <p:cNvSpPr txBox="1">
            <a:spLocks/>
          </p:cNvSpPr>
          <p:nvPr/>
        </p:nvSpPr>
        <p:spPr>
          <a:xfrm>
            <a:off x="9462909" y="3500511"/>
            <a:ext cx="1014044" cy="565616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560" dirty="0"/>
              <a:t>Many PCP’s are not trained or comfortable with discussing mental wellness with patients</a:t>
            </a:r>
          </a:p>
          <a:p>
            <a:pPr algn="l">
              <a:lnSpc>
                <a:spcPct val="100000"/>
              </a:lnSpc>
            </a:pPr>
            <a:endParaRPr lang="en-US" sz="560" dirty="0">
              <a:solidFill>
                <a:schemeClr val="bg1"/>
              </a:solidFill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1" name="Subtitle 2">
            <a:extLst>
              <a:ext uri="{FF2B5EF4-FFF2-40B4-BE49-F238E27FC236}">
                <a16:creationId xmlns:a16="http://schemas.microsoft.com/office/drawing/2014/main" id="{F90F7F2A-1958-3A4C-AB10-A3A9CE2DA163}"/>
              </a:ext>
            </a:extLst>
          </p:cNvPr>
          <p:cNvSpPr txBox="1">
            <a:spLocks/>
          </p:cNvSpPr>
          <p:nvPr/>
        </p:nvSpPr>
        <p:spPr>
          <a:xfrm>
            <a:off x="8275913" y="3490709"/>
            <a:ext cx="1099578" cy="669041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560" dirty="0"/>
              <a:t>Some clinicians have antiquated beliefs about BH, mental wellness, and the practice of psychiatry as a “soft science”</a:t>
            </a:r>
          </a:p>
          <a:p>
            <a:pPr algn="l">
              <a:lnSpc>
                <a:spcPct val="100000"/>
              </a:lnSpc>
            </a:pPr>
            <a:endParaRPr lang="en-US" sz="560" dirty="0">
              <a:solidFill>
                <a:schemeClr val="bg1"/>
              </a:solidFill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2" name="Subtitle 2">
            <a:extLst>
              <a:ext uri="{FF2B5EF4-FFF2-40B4-BE49-F238E27FC236}">
                <a16:creationId xmlns:a16="http://schemas.microsoft.com/office/drawing/2014/main" id="{936DBB06-5144-0D40-86FD-68C737B26A7C}"/>
              </a:ext>
            </a:extLst>
          </p:cNvPr>
          <p:cNvSpPr txBox="1">
            <a:spLocks/>
          </p:cNvSpPr>
          <p:nvPr/>
        </p:nvSpPr>
        <p:spPr>
          <a:xfrm>
            <a:off x="10515228" y="3464540"/>
            <a:ext cx="1102314" cy="669041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560" dirty="0"/>
              <a:t>Clinicians may show bias in how they care for patients with BH conditions (especially SUD, and the more “dangerous” conditions, like schizophrenia)</a:t>
            </a:r>
          </a:p>
          <a:p>
            <a:pPr algn="l">
              <a:lnSpc>
                <a:spcPct val="100000"/>
              </a:lnSpc>
            </a:pPr>
            <a:endParaRPr lang="en-US" sz="560" dirty="0">
              <a:solidFill>
                <a:schemeClr val="bg1"/>
              </a:solidFill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3" name="Subtitle 2">
            <a:extLst>
              <a:ext uri="{FF2B5EF4-FFF2-40B4-BE49-F238E27FC236}">
                <a16:creationId xmlns:a16="http://schemas.microsoft.com/office/drawing/2014/main" id="{5A976088-2058-1348-883B-76D323853F3E}"/>
              </a:ext>
            </a:extLst>
          </p:cNvPr>
          <p:cNvSpPr txBox="1">
            <a:spLocks/>
          </p:cNvSpPr>
          <p:nvPr/>
        </p:nvSpPr>
        <p:spPr>
          <a:xfrm>
            <a:off x="11614568" y="3479782"/>
            <a:ext cx="1014043" cy="669041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560" dirty="0"/>
              <a:t>Clinical environments — including ED’s and outpatient facilities are not designed with the needs of BH patients in mind</a:t>
            </a:r>
          </a:p>
          <a:p>
            <a:pPr algn="l">
              <a:lnSpc>
                <a:spcPct val="100000"/>
              </a:lnSpc>
            </a:pPr>
            <a:endParaRPr lang="en-US" sz="560" dirty="0">
              <a:solidFill>
                <a:schemeClr val="bg1"/>
              </a:solidFill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4" name="Subtitle 2">
            <a:extLst>
              <a:ext uri="{FF2B5EF4-FFF2-40B4-BE49-F238E27FC236}">
                <a16:creationId xmlns:a16="http://schemas.microsoft.com/office/drawing/2014/main" id="{D7137A77-8741-0044-9531-51456D69F3E0}"/>
              </a:ext>
            </a:extLst>
          </p:cNvPr>
          <p:cNvSpPr txBox="1">
            <a:spLocks/>
          </p:cNvSpPr>
          <p:nvPr/>
        </p:nvSpPr>
        <p:spPr>
          <a:xfrm>
            <a:off x="10489502" y="4380985"/>
            <a:ext cx="1139728" cy="580661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560" dirty="0"/>
              <a:t>Issues such as language barriers and lack of cultural or religious sensitivity can prevent people from seeking or continuing care</a:t>
            </a:r>
          </a:p>
          <a:p>
            <a:pPr algn="l">
              <a:lnSpc>
                <a:spcPct val="100000"/>
              </a:lnSpc>
            </a:pPr>
            <a:endParaRPr lang="en-US" sz="560" dirty="0">
              <a:solidFill>
                <a:schemeClr val="bg1"/>
              </a:solidFill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5" name="Subtitle 2">
            <a:extLst>
              <a:ext uri="{FF2B5EF4-FFF2-40B4-BE49-F238E27FC236}">
                <a16:creationId xmlns:a16="http://schemas.microsoft.com/office/drawing/2014/main" id="{85E88EBA-7062-6C44-B927-75DBC21011F3}"/>
              </a:ext>
            </a:extLst>
          </p:cNvPr>
          <p:cNvSpPr txBox="1">
            <a:spLocks/>
          </p:cNvSpPr>
          <p:nvPr/>
        </p:nvSpPr>
        <p:spPr>
          <a:xfrm>
            <a:off x="9264182" y="4378582"/>
            <a:ext cx="1014044" cy="669041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560" dirty="0"/>
              <a:t>Communication and education about mental wellness on the clinical side my be uncoordinated, spotty, or non-existent</a:t>
            </a:r>
          </a:p>
          <a:p>
            <a:pPr algn="l">
              <a:lnSpc>
                <a:spcPct val="100000"/>
              </a:lnSpc>
            </a:pPr>
            <a:endParaRPr lang="en-US" sz="560" dirty="0">
              <a:solidFill>
                <a:schemeClr val="bg1"/>
              </a:solidFill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6" name="Скругленный прямоугольник 88">
            <a:extLst>
              <a:ext uri="{FF2B5EF4-FFF2-40B4-BE49-F238E27FC236}">
                <a16:creationId xmlns:a16="http://schemas.microsoft.com/office/drawing/2014/main" id="{FCC4851F-1A8E-E848-871F-8E3135D0CEB9}"/>
              </a:ext>
            </a:extLst>
          </p:cNvPr>
          <p:cNvSpPr>
            <a:spLocks/>
          </p:cNvSpPr>
          <p:nvPr/>
        </p:nvSpPr>
        <p:spPr bwMode="auto">
          <a:xfrm>
            <a:off x="4132666" y="4389381"/>
            <a:ext cx="1054585" cy="553195"/>
          </a:xfrm>
          <a:prstGeom prst="roundRect">
            <a:avLst>
              <a:gd name="adj" fmla="val 5329"/>
            </a:avLst>
          </a:prstGeom>
          <a:solidFill>
            <a:schemeClr val="accent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 dirty="0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137" name="Subtitle 2">
            <a:extLst>
              <a:ext uri="{FF2B5EF4-FFF2-40B4-BE49-F238E27FC236}">
                <a16:creationId xmlns:a16="http://schemas.microsoft.com/office/drawing/2014/main" id="{81B88683-F9EA-1046-8702-BDC467CD3473}"/>
              </a:ext>
            </a:extLst>
          </p:cNvPr>
          <p:cNvSpPr txBox="1">
            <a:spLocks/>
          </p:cNvSpPr>
          <p:nvPr/>
        </p:nvSpPr>
        <p:spPr>
          <a:xfrm>
            <a:off x="4149306" y="4412814"/>
            <a:ext cx="1007711" cy="479374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560" dirty="0"/>
              <a:t>Some communities may not have education on, or awareness of, the importance of mental wellness and hygiene</a:t>
            </a:r>
          </a:p>
        </p:txBody>
      </p:sp>
      <p:cxnSp>
        <p:nvCxnSpPr>
          <p:cNvPr id="64" name="Соединительная линия уступом 29">
            <a:extLst>
              <a:ext uri="{FF2B5EF4-FFF2-40B4-BE49-F238E27FC236}">
                <a16:creationId xmlns:a16="http://schemas.microsoft.com/office/drawing/2014/main" id="{88AA491E-9ADB-2849-8F52-77BE2D2C7D71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5082746" y="3290639"/>
            <a:ext cx="1206654" cy="188757"/>
          </a:xfrm>
          <a:prstGeom prst="bentConnector2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triangle"/>
          </a:ln>
          <a:effectLst/>
        </p:spPr>
      </p:cxnSp>
      <p:cxnSp>
        <p:nvCxnSpPr>
          <p:cNvPr id="66" name="Соединительная линия уступом 91">
            <a:extLst>
              <a:ext uri="{FF2B5EF4-FFF2-40B4-BE49-F238E27FC236}">
                <a16:creationId xmlns:a16="http://schemas.microsoft.com/office/drawing/2014/main" id="{75F31BD2-05D1-B844-8DDC-4A351BF8FE5F}"/>
              </a:ext>
            </a:extLst>
          </p:cNvPr>
          <p:cNvCxnSpPr>
            <a:cxnSpLocks/>
          </p:cNvCxnSpPr>
          <p:nvPr/>
        </p:nvCxnSpPr>
        <p:spPr bwMode="auto">
          <a:xfrm>
            <a:off x="6328078" y="3293480"/>
            <a:ext cx="1071633" cy="173164"/>
          </a:xfrm>
          <a:prstGeom prst="bentConnector3">
            <a:avLst>
              <a:gd name="adj1" fmla="val 9972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triangle"/>
          </a:ln>
          <a:effectLst/>
        </p:spPr>
      </p:cxnSp>
      <p:cxnSp>
        <p:nvCxnSpPr>
          <p:cNvPr id="71" name="Соединительная линия уступом 36">
            <a:extLst>
              <a:ext uri="{FF2B5EF4-FFF2-40B4-BE49-F238E27FC236}">
                <a16:creationId xmlns:a16="http://schemas.microsoft.com/office/drawing/2014/main" id="{00D029EA-6F2F-8C46-8977-9BA473051DC3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9756163" y="4204366"/>
            <a:ext cx="354633" cy="2594"/>
          </a:xfrm>
          <a:prstGeom prst="bentConnector3">
            <a:avLst>
              <a:gd name="adj1" fmla="val 5000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triangle"/>
          </a:ln>
          <a:effectLst/>
        </p:spPr>
      </p:cxnSp>
      <p:cxnSp>
        <p:nvCxnSpPr>
          <p:cNvPr id="72" name="Соединительная линия уступом 36">
            <a:extLst>
              <a:ext uri="{FF2B5EF4-FFF2-40B4-BE49-F238E27FC236}">
                <a16:creationId xmlns:a16="http://schemas.microsoft.com/office/drawing/2014/main" id="{D88E7C36-9FED-FE47-AAE0-2ABA61174294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4602744" y="4059618"/>
            <a:ext cx="346054" cy="312377"/>
          </a:xfrm>
          <a:prstGeom prst="bentConnector3">
            <a:avLst>
              <a:gd name="adj1" fmla="val 5000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triangle"/>
          </a:ln>
          <a:effectLst/>
        </p:spPr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9E76BD2-F90C-0B4D-97D3-64AD3C3F007F}"/>
              </a:ext>
            </a:extLst>
          </p:cNvPr>
          <p:cNvGrpSpPr/>
          <p:nvPr/>
        </p:nvGrpSpPr>
        <p:grpSpPr>
          <a:xfrm>
            <a:off x="4618225" y="4941597"/>
            <a:ext cx="5335105" cy="180105"/>
            <a:chOff x="4618225" y="4941597"/>
            <a:chExt cx="5335105" cy="180105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E932F50-0329-9B4E-89D8-4CC5C30BE306}"/>
                </a:ext>
              </a:extLst>
            </p:cNvPr>
            <p:cNvCxnSpPr>
              <a:cxnSpLocks/>
            </p:cNvCxnSpPr>
            <p:nvPr/>
          </p:nvCxnSpPr>
          <p:spPr>
            <a:xfrm>
              <a:off x="4618225" y="5115071"/>
              <a:ext cx="5335105" cy="1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C38B02FA-429B-C041-9D62-D6CDA68EDDC1}"/>
                </a:ext>
              </a:extLst>
            </p:cNvPr>
            <p:cNvCxnSpPr>
              <a:cxnSpLocks/>
            </p:cNvCxnSpPr>
            <p:nvPr/>
          </p:nvCxnSpPr>
          <p:spPr>
            <a:xfrm>
              <a:off x="9952320" y="4941597"/>
              <a:ext cx="0" cy="180105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0B37EDA6-47A9-E346-A342-508095B0B4DC}"/>
                </a:ext>
              </a:extLst>
            </p:cNvPr>
            <p:cNvCxnSpPr>
              <a:cxnSpLocks/>
            </p:cNvCxnSpPr>
            <p:nvPr/>
          </p:nvCxnSpPr>
          <p:spPr>
            <a:xfrm>
              <a:off x="4619614" y="4941597"/>
              <a:ext cx="0" cy="180105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49744B5-B6D6-624F-9148-7E619DF72207}"/>
              </a:ext>
            </a:extLst>
          </p:cNvPr>
          <p:cNvCxnSpPr>
            <a:cxnSpLocks/>
          </p:cNvCxnSpPr>
          <p:nvPr/>
        </p:nvCxnSpPr>
        <p:spPr>
          <a:xfrm>
            <a:off x="3567562" y="5246994"/>
            <a:ext cx="743323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76FBBC85-F2BC-6D48-A7E3-8C33906B6F2F}"/>
              </a:ext>
            </a:extLst>
          </p:cNvPr>
          <p:cNvCxnSpPr>
            <a:cxnSpLocks/>
          </p:cNvCxnSpPr>
          <p:nvPr/>
        </p:nvCxnSpPr>
        <p:spPr>
          <a:xfrm>
            <a:off x="11000793" y="4941597"/>
            <a:ext cx="0" cy="30859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78295FEC-2814-1347-8DA0-A79ED099748D}"/>
              </a:ext>
            </a:extLst>
          </p:cNvPr>
          <p:cNvCxnSpPr>
            <a:cxnSpLocks/>
          </p:cNvCxnSpPr>
          <p:nvPr/>
        </p:nvCxnSpPr>
        <p:spPr>
          <a:xfrm>
            <a:off x="3567562" y="4053868"/>
            <a:ext cx="0" cy="1193126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Соединительная линия уступом 91">
            <a:extLst>
              <a:ext uri="{FF2B5EF4-FFF2-40B4-BE49-F238E27FC236}">
                <a16:creationId xmlns:a16="http://schemas.microsoft.com/office/drawing/2014/main" id="{FA11DED3-60D4-154F-85B5-A01B78952A3E}"/>
              </a:ext>
            </a:extLst>
          </p:cNvPr>
          <p:cNvCxnSpPr>
            <a:cxnSpLocks/>
          </p:cNvCxnSpPr>
          <p:nvPr/>
        </p:nvCxnSpPr>
        <p:spPr bwMode="auto">
          <a:xfrm>
            <a:off x="2487479" y="3298315"/>
            <a:ext cx="1071633" cy="173164"/>
          </a:xfrm>
          <a:prstGeom prst="bentConnector3">
            <a:avLst>
              <a:gd name="adj1" fmla="val 9972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31212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11">
            <a:extLst>
              <a:ext uri="{FF2B5EF4-FFF2-40B4-BE49-F238E27FC236}">
                <a16:creationId xmlns:a16="http://schemas.microsoft.com/office/drawing/2014/main" id="{6D4ED8D2-B85B-6440-ADA5-E55C9A6E7547}"/>
              </a:ext>
            </a:extLst>
          </p:cNvPr>
          <p:cNvSpPr/>
          <p:nvPr/>
        </p:nvSpPr>
        <p:spPr bwMode="auto">
          <a:xfrm>
            <a:off x="309313" y="1384006"/>
            <a:ext cx="4067032" cy="457073"/>
          </a:xfrm>
          <a:prstGeom prst="roundRect">
            <a:avLst>
              <a:gd name="adj" fmla="val 5329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4F178C1C-13B0-4E42-B36B-605AC91A406C}"/>
              </a:ext>
            </a:extLst>
          </p:cNvPr>
          <p:cNvSpPr/>
          <p:nvPr/>
        </p:nvSpPr>
        <p:spPr bwMode="auto">
          <a:xfrm>
            <a:off x="5027043" y="1384006"/>
            <a:ext cx="3526983" cy="457073"/>
          </a:xfrm>
          <a:prstGeom prst="roundRect">
            <a:avLst>
              <a:gd name="adj" fmla="val 5329"/>
            </a:avLst>
          </a:prstGeom>
          <a:solidFill>
            <a:schemeClr val="accent1">
              <a:lumMod val="75000"/>
              <a:lumOff val="25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900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B25B938-7149-CB48-AFF3-E87F0AA28C57}"/>
              </a:ext>
            </a:extLst>
          </p:cNvPr>
          <p:cNvSpPr/>
          <p:nvPr/>
        </p:nvSpPr>
        <p:spPr>
          <a:xfrm>
            <a:off x="228600" y="534035"/>
            <a:ext cx="6764994" cy="338554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1600" dirty="0">
                <a:solidFill>
                  <a:srgbClr val="00A2E2"/>
                </a:solidFill>
              </a:rPr>
              <a:t>PROBLEM AREA 1: </a:t>
            </a:r>
            <a:r>
              <a:rPr lang="en-US" sz="1600" b="1" dirty="0">
                <a:solidFill>
                  <a:srgbClr val="00A2E2"/>
                </a:solidFill>
              </a:rPr>
              <a:t>Remove Barriers to Value Realization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A6C7D7F-B854-204A-A5E0-BC7D3ACB0CCD}"/>
              </a:ext>
            </a:extLst>
          </p:cNvPr>
          <p:cNvSpPr txBox="1"/>
          <p:nvPr/>
        </p:nvSpPr>
        <p:spPr>
          <a:xfrm>
            <a:off x="242604" y="2196046"/>
            <a:ext cx="1375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200" b="1" dirty="0">
                <a:latin typeface="+mj-lt"/>
                <a:cs typeface="Calibri Light" panose="020F0302020204030204" pitchFamily="34" charset="0"/>
              </a:rPr>
              <a:t>How might we…</a:t>
            </a:r>
          </a:p>
        </p:txBody>
      </p:sp>
      <p:sp>
        <p:nvSpPr>
          <p:cNvPr id="122" name="Скругленный прямоугольник 11">
            <a:extLst>
              <a:ext uri="{FF2B5EF4-FFF2-40B4-BE49-F238E27FC236}">
                <a16:creationId xmlns:a16="http://schemas.microsoft.com/office/drawing/2014/main" id="{61712628-E3D0-EC49-ADA9-1C0B6A532413}"/>
              </a:ext>
            </a:extLst>
          </p:cNvPr>
          <p:cNvSpPr/>
          <p:nvPr/>
        </p:nvSpPr>
        <p:spPr bwMode="auto">
          <a:xfrm>
            <a:off x="309312" y="3387986"/>
            <a:ext cx="4338085" cy="871497"/>
          </a:xfrm>
          <a:prstGeom prst="roundRect">
            <a:avLst>
              <a:gd name="adj" fmla="val 5329"/>
            </a:avLst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123" name="Subtitle 2">
            <a:extLst>
              <a:ext uri="{FF2B5EF4-FFF2-40B4-BE49-F238E27FC236}">
                <a16:creationId xmlns:a16="http://schemas.microsoft.com/office/drawing/2014/main" id="{6C50C9C4-E6A0-CF43-AB9E-6C0021091A1F}"/>
              </a:ext>
            </a:extLst>
          </p:cNvPr>
          <p:cNvSpPr txBox="1">
            <a:spLocks/>
          </p:cNvSpPr>
          <p:nvPr/>
        </p:nvSpPr>
        <p:spPr>
          <a:xfrm>
            <a:off x="349975" y="3465744"/>
            <a:ext cx="4259412" cy="556318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Proactively reach out to communities and individuals with social determinants of health that may be preventing them from getting care?</a:t>
            </a:r>
          </a:p>
        </p:txBody>
      </p:sp>
      <p:sp>
        <p:nvSpPr>
          <p:cNvPr id="124" name="Скругленный прямоугольник 11">
            <a:extLst>
              <a:ext uri="{FF2B5EF4-FFF2-40B4-BE49-F238E27FC236}">
                <a16:creationId xmlns:a16="http://schemas.microsoft.com/office/drawing/2014/main" id="{82CAACAD-9BC8-BB45-8E60-04F52F8489AF}"/>
              </a:ext>
            </a:extLst>
          </p:cNvPr>
          <p:cNvSpPr/>
          <p:nvPr/>
        </p:nvSpPr>
        <p:spPr bwMode="auto">
          <a:xfrm>
            <a:off x="309312" y="2517788"/>
            <a:ext cx="4338085" cy="762972"/>
          </a:xfrm>
          <a:prstGeom prst="roundRect">
            <a:avLst>
              <a:gd name="adj" fmla="val 5329"/>
            </a:avLst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125" name="Subtitle 2">
            <a:extLst>
              <a:ext uri="{FF2B5EF4-FFF2-40B4-BE49-F238E27FC236}">
                <a16:creationId xmlns:a16="http://schemas.microsoft.com/office/drawing/2014/main" id="{E6285EB1-F5F3-0C4C-ACE6-66EE401DE4B6}"/>
              </a:ext>
            </a:extLst>
          </p:cNvPr>
          <p:cNvSpPr txBox="1">
            <a:spLocks/>
          </p:cNvSpPr>
          <p:nvPr/>
        </p:nvSpPr>
        <p:spPr>
          <a:xfrm>
            <a:off x="349975" y="2570144"/>
            <a:ext cx="4259412" cy="387041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Screen for the social determinants of health that impact people’s ability to get care?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1A4E446-1290-E442-8401-7C52192825E0}"/>
              </a:ext>
            </a:extLst>
          </p:cNvPr>
          <p:cNvCxnSpPr>
            <a:cxnSpLocks/>
          </p:cNvCxnSpPr>
          <p:nvPr/>
        </p:nvCxnSpPr>
        <p:spPr>
          <a:xfrm>
            <a:off x="4430692" y="1612542"/>
            <a:ext cx="543127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triangle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38814A1-2945-A34F-AF12-DF08A1C8E835}"/>
              </a:ext>
            </a:extLst>
          </p:cNvPr>
          <p:cNvSpPr txBox="1"/>
          <p:nvPr/>
        </p:nvSpPr>
        <p:spPr>
          <a:xfrm>
            <a:off x="242604" y="1071334"/>
            <a:ext cx="11416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200" b="1" dirty="0">
                <a:latin typeface="+mj-lt"/>
                <a:cs typeface="Calibri Light" panose="020F0302020204030204" pitchFamily="34" charset="0"/>
              </a:rPr>
              <a:t>Level 1 Issue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B5C0E4-63D5-E94F-896A-EBD6055845B9}"/>
              </a:ext>
            </a:extLst>
          </p:cNvPr>
          <p:cNvSpPr txBox="1"/>
          <p:nvPr/>
        </p:nvSpPr>
        <p:spPr>
          <a:xfrm>
            <a:off x="4942620" y="1071334"/>
            <a:ext cx="11416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200" b="1" dirty="0">
                <a:latin typeface="+mj-lt"/>
                <a:cs typeface="Calibri Light" panose="020F0302020204030204" pitchFamily="34" charset="0"/>
              </a:rPr>
              <a:t>Level 2 Issue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C979760-C4B7-B541-8C3C-4C5F3E929482}"/>
              </a:ext>
            </a:extLst>
          </p:cNvPr>
          <p:cNvSpPr txBox="1">
            <a:spLocks/>
          </p:cNvSpPr>
          <p:nvPr/>
        </p:nvSpPr>
        <p:spPr>
          <a:xfrm>
            <a:off x="387176" y="1423645"/>
            <a:ext cx="3989169" cy="590174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1100" dirty="0"/>
              <a:t>Stigma is a significant barrier to accessing BH care and maintaining mental wellness.</a:t>
            </a:r>
          </a:p>
          <a:p>
            <a:pPr algn="l">
              <a:lnSpc>
                <a:spcPct val="100000"/>
              </a:lnSpc>
            </a:pPr>
            <a:endParaRPr lang="en-US" sz="1100" dirty="0">
              <a:solidFill>
                <a:schemeClr val="bg1"/>
              </a:solidFill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52FA099A-FD0F-094C-AC92-B54180A8B276}"/>
              </a:ext>
            </a:extLst>
          </p:cNvPr>
          <p:cNvSpPr txBox="1">
            <a:spLocks/>
          </p:cNvSpPr>
          <p:nvPr/>
        </p:nvSpPr>
        <p:spPr>
          <a:xfrm>
            <a:off x="5087669" y="1432248"/>
            <a:ext cx="3364568" cy="565552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1050" dirty="0"/>
              <a:t>Stigma is a social determinant of health that impacts people’s access to BH care</a:t>
            </a:r>
          </a:p>
          <a:p>
            <a:pPr algn="l">
              <a:lnSpc>
                <a:spcPct val="100000"/>
              </a:lnSpc>
            </a:pPr>
            <a:endParaRPr lang="en-US" sz="1050" dirty="0">
              <a:solidFill>
                <a:schemeClr val="bg1"/>
              </a:solidFill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Скругленный прямоугольник 11">
            <a:extLst>
              <a:ext uri="{FF2B5EF4-FFF2-40B4-BE49-F238E27FC236}">
                <a16:creationId xmlns:a16="http://schemas.microsoft.com/office/drawing/2014/main" id="{82CAACAD-9BC8-BB45-8E60-04F52F8489AF}"/>
              </a:ext>
            </a:extLst>
          </p:cNvPr>
          <p:cNvSpPr/>
          <p:nvPr/>
        </p:nvSpPr>
        <p:spPr bwMode="auto">
          <a:xfrm>
            <a:off x="309312" y="4366709"/>
            <a:ext cx="4338085" cy="762972"/>
          </a:xfrm>
          <a:prstGeom prst="roundRect">
            <a:avLst>
              <a:gd name="adj" fmla="val 5329"/>
            </a:avLst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E6285EB1-F5F3-0C4C-ACE6-66EE401DE4B6}"/>
              </a:ext>
            </a:extLst>
          </p:cNvPr>
          <p:cNvSpPr txBox="1">
            <a:spLocks/>
          </p:cNvSpPr>
          <p:nvPr/>
        </p:nvSpPr>
        <p:spPr>
          <a:xfrm>
            <a:off x="349975" y="4419065"/>
            <a:ext cx="4259412" cy="387041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Understand what communities need the most help, and are at the most risk for BH conditions?</a:t>
            </a:r>
          </a:p>
        </p:txBody>
      </p:sp>
    </p:spTree>
    <p:extLst>
      <p:ext uri="{BB962C8B-B14F-4D97-AF65-F5344CB8AC3E}">
        <p14:creationId xmlns:p14="http://schemas.microsoft.com/office/powerpoint/2010/main" val="1877169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11">
            <a:extLst>
              <a:ext uri="{FF2B5EF4-FFF2-40B4-BE49-F238E27FC236}">
                <a16:creationId xmlns:a16="http://schemas.microsoft.com/office/drawing/2014/main" id="{6D4ED8D2-B85B-6440-ADA5-E55C9A6E7547}"/>
              </a:ext>
            </a:extLst>
          </p:cNvPr>
          <p:cNvSpPr/>
          <p:nvPr/>
        </p:nvSpPr>
        <p:spPr bwMode="auto">
          <a:xfrm>
            <a:off x="309313" y="1384006"/>
            <a:ext cx="4067032" cy="457073"/>
          </a:xfrm>
          <a:prstGeom prst="roundRect">
            <a:avLst>
              <a:gd name="adj" fmla="val 5329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4F178C1C-13B0-4E42-B36B-605AC91A406C}"/>
              </a:ext>
            </a:extLst>
          </p:cNvPr>
          <p:cNvSpPr/>
          <p:nvPr/>
        </p:nvSpPr>
        <p:spPr bwMode="auto">
          <a:xfrm>
            <a:off x="5027043" y="1384006"/>
            <a:ext cx="3526983" cy="457073"/>
          </a:xfrm>
          <a:prstGeom prst="roundRect">
            <a:avLst>
              <a:gd name="adj" fmla="val 5329"/>
            </a:avLst>
          </a:prstGeom>
          <a:solidFill>
            <a:schemeClr val="accent1">
              <a:lumMod val="75000"/>
              <a:lumOff val="25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900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B25B938-7149-CB48-AFF3-E87F0AA28C57}"/>
              </a:ext>
            </a:extLst>
          </p:cNvPr>
          <p:cNvSpPr/>
          <p:nvPr/>
        </p:nvSpPr>
        <p:spPr>
          <a:xfrm>
            <a:off x="228600" y="534035"/>
            <a:ext cx="6764994" cy="338554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1600" dirty="0">
                <a:solidFill>
                  <a:srgbClr val="00A2E2"/>
                </a:solidFill>
              </a:rPr>
              <a:t>PROBLEM AREA 1: </a:t>
            </a:r>
            <a:r>
              <a:rPr lang="en-US" sz="1600" b="1" dirty="0">
                <a:solidFill>
                  <a:srgbClr val="00A2E2"/>
                </a:solidFill>
              </a:rPr>
              <a:t>Remove Barriers to Value Realization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A6C7D7F-B854-204A-A5E0-BC7D3ACB0CCD}"/>
              </a:ext>
            </a:extLst>
          </p:cNvPr>
          <p:cNvSpPr txBox="1"/>
          <p:nvPr/>
        </p:nvSpPr>
        <p:spPr>
          <a:xfrm>
            <a:off x="242604" y="2196046"/>
            <a:ext cx="1375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200" b="1" dirty="0">
                <a:latin typeface="+mj-lt"/>
                <a:cs typeface="Calibri Light" panose="020F0302020204030204" pitchFamily="34" charset="0"/>
              </a:rPr>
              <a:t>How might we…</a:t>
            </a:r>
          </a:p>
        </p:txBody>
      </p:sp>
      <p:sp>
        <p:nvSpPr>
          <p:cNvPr id="122" name="Скругленный прямоугольник 11">
            <a:extLst>
              <a:ext uri="{FF2B5EF4-FFF2-40B4-BE49-F238E27FC236}">
                <a16:creationId xmlns:a16="http://schemas.microsoft.com/office/drawing/2014/main" id="{61712628-E3D0-EC49-ADA9-1C0B6A532413}"/>
              </a:ext>
            </a:extLst>
          </p:cNvPr>
          <p:cNvSpPr/>
          <p:nvPr/>
        </p:nvSpPr>
        <p:spPr bwMode="auto">
          <a:xfrm>
            <a:off x="309312" y="3387986"/>
            <a:ext cx="4338085" cy="871497"/>
          </a:xfrm>
          <a:prstGeom prst="roundRect">
            <a:avLst>
              <a:gd name="adj" fmla="val 5329"/>
            </a:avLst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123" name="Subtitle 2">
            <a:extLst>
              <a:ext uri="{FF2B5EF4-FFF2-40B4-BE49-F238E27FC236}">
                <a16:creationId xmlns:a16="http://schemas.microsoft.com/office/drawing/2014/main" id="{6C50C9C4-E6A0-CF43-AB9E-6C0021091A1F}"/>
              </a:ext>
            </a:extLst>
          </p:cNvPr>
          <p:cNvSpPr txBox="1">
            <a:spLocks/>
          </p:cNvSpPr>
          <p:nvPr/>
        </p:nvSpPr>
        <p:spPr>
          <a:xfrm>
            <a:off x="349975" y="3465744"/>
            <a:ext cx="4259412" cy="556318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Provide education that highlights the importance of mental wellness and hygiene to communities that may not have access to these resources?</a:t>
            </a:r>
          </a:p>
        </p:txBody>
      </p:sp>
      <p:sp>
        <p:nvSpPr>
          <p:cNvPr id="124" name="Скругленный прямоугольник 11">
            <a:extLst>
              <a:ext uri="{FF2B5EF4-FFF2-40B4-BE49-F238E27FC236}">
                <a16:creationId xmlns:a16="http://schemas.microsoft.com/office/drawing/2014/main" id="{82CAACAD-9BC8-BB45-8E60-04F52F8489AF}"/>
              </a:ext>
            </a:extLst>
          </p:cNvPr>
          <p:cNvSpPr/>
          <p:nvPr/>
        </p:nvSpPr>
        <p:spPr bwMode="auto">
          <a:xfrm>
            <a:off x="309312" y="2517788"/>
            <a:ext cx="4338085" cy="762972"/>
          </a:xfrm>
          <a:prstGeom prst="roundRect">
            <a:avLst>
              <a:gd name="adj" fmla="val 5329"/>
            </a:avLst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125" name="Subtitle 2">
            <a:extLst>
              <a:ext uri="{FF2B5EF4-FFF2-40B4-BE49-F238E27FC236}">
                <a16:creationId xmlns:a16="http://schemas.microsoft.com/office/drawing/2014/main" id="{E6285EB1-F5F3-0C4C-ACE6-66EE401DE4B6}"/>
              </a:ext>
            </a:extLst>
          </p:cNvPr>
          <p:cNvSpPr txBox="1">
            <a:spLocks/>
          </p:cNvSpPr>
          <p:nvPr/>
        </p:nvSpPr>
        <p:spPr>
          <a:xfrm>
            <a:off x="349975" y="2570144"/>
            <a:ext cx="4259412" cy="387041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Address cultural and systemic biases that prevent people from getting the BH care they need?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1A4E446-1290-E442-8401-7C52192825E0}"/>
              </a:ext>
            </a:extLst>
          </p:cNvPr>
          <p:cNvCxnSpPr>
            <a:cxnSpLocks/>
          </p:cNvCxnSpPr>
          <p:nvPr/>
        </p:nvCxnSpPr>
        <p:spPr>
          <a:xfrm>
            <a:off x="4430692" y="1612542"/>
            <a:ext cx="543127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triangle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38814A1-2945-A34F-AF12-DF08A1C8E835}"/>
              </a:ext>
            </a:extLst>
          </p:cNvPr>
          <p:cNvSpPr txBox="1"/>
          <p:nvPr/>
        </p:nvSpPr>
        <p:spPr>
          <a:xfrm>
            <a:off x="242604" y="1071334"/>
            <a:ext cx="11416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200" b="1" dirty="0">
                <a:latin typeface="+mj-lt"/>
                <a:cs typeface="Calibri Light" panose="020F0302020204030204" pitchFamily="34" charset="0"/>
              </a:rPr>
              <a:t>Level 1 Issue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B5C0E4-63D5-E94F-896A-EBD6055845B9}"/>
              </a:ext>
            </a:extLst>
          </p:cNvPr>
          <p:cNvSpPr txBox="1"/>
          <p:nvPr/>
        </p:nvSpPr>
        <p:spPr>
          <a:xfrm>
            <a:off x="4942620" y="1071334"/>
            <a:ext cx="11416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200" b="1" dirty="0">
                <a:latin typeface="+mj-lt"/>
                <a:cs typeface="Calibri Light" panose="020F0302020204030204" pitchFamily="34" charset="0"/>
              </a:rPr>
              <a:t>Level 2 Issue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C979760-C4B7-B541-8C3C-4C5F3E929482}"/>
              </a:ext>
            </a:extLst>
          </p:cNvPr>
          <p:cNvSpPr txBox="1">
            <a:spLocks/>
          </p:cNvSpPr>
          <p:nvPr/>
        </p:nvSpPr>
        <p:spPr>
          <a:xfrm>
            <a:off x="387176" y="1423645"/>
            <a:ext cx="3989169" cy="590174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1100" dirty="0"/>
              <a:t>Stigma is a significant barrier to accessing BH care and maintaining mental wellness.</a:t>
            </a:r>
          </a:p>
          <a:p>
            <a:pPr algn="l">
              <a:lnSpc>
                <a:spcPct val="100000"/>
              </a:lnSpc>
            </a:pPr>
            <a:endParaRPr lang="en-US" sz="1100" dirty="0">
              <a:solidFill>
                <a:schemeClr val="bg1"/>
              </a:solidFill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52FA099A-FD0F-094C-AC92-B54180A8B276}"/>
              </a:ext>
            </a:extLst>
          </p:cNvPr>
          <p:cNvSpPr txBox="1">
            <a:spLocks/>
          </p:cNvSpPr>
          <p:nvPr/>
        </p:nvSpPr>
        <p:spPr>
          <a:xfrm>
            <a:off x="4853752" y="1477046"/>
            <a:ext cx="2844219" cy="436285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/>
              <a:t>Stigma is both systemic and personal</a:t>
            </a:r>
          </a:p>
          <a:p>
            <a:pPr algn="l">
              <a:lnSpc>
                <a:spcPct val="100000"/>
              </a:lnSpc>
            </a:pPr>
            <a:endParaRPr lang="en-US" sz="1050" dirty="0">
              <a:solidFill>
                <a:schemeClr val="bg1"/>
              </a:solidFill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Скругленный прямоугольник 11">
            <a:extLst>
              <a:ext uri="{FF2B5EF4-FFF2-40B4-BE49-F238E27FC236}">
                <a16:creationId xmlns:a16="http://schemas.microsoft.com/office/drawing/2014/main" id="{82CAACAD-9BC8-BB45-8E60-04F52F8489AF}"/>
              </a:ext>
            </a:extLst>
          </p:cNvPr>
          <p:cNvSpPr/>
          <p:nvPr/>
        </p:nvSpPr>
        <p:spPr bwMode="auto">
          <a:xfrm>
            <a:off x="309312" y="4366709"/>
            <a:ext cx="4338085" cy="762972"/>
          </a:xfrm>
          <a:prstGeom prst="roundRect">
            <a:avLst>
              <a:gd name="adj" fmla="val 5329"/>
            </a:avLst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E6285EB1-F5F3-0C4C-ACE6-66EE401DE4B6}"/>
              </a:ext>
            </a:extLst>
          </p:cNvPr>
          <p:cNvSpPr txBox="1">
            <a:spLocks/>
          </p:cNvSpPr>
          <p:nvPr/>
        </p:nvSpPr>
        <p:spPr>
          <a:xfrm>
            <a:off x="349975" y="4419065"/>
            <a:ext cx="4259412" cy="387041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Be more sensitive and supportive of people who are experiencing stigma and may be considering leaving treatment?</a:t>
            </a:r>
          </a:p>
        </p:txBody>
      </p:sp>
    </p:spTree>
    <p:extLst>
      <p:ext uri="{BB962C8B-B14F-4D97-AF65-F5344CB8AC3E}">
        <p14:creationId xmlns:p14="http://schemas.microsoft.com/office/powerpoint/2010/main" val="962781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11">
            <a:extLst>
              <a:ext uri="{FF2B5EF4-FFF2-40B4-BE49-F238E27FC236}">
                <a16:creationId xmlns:a16="http://schemas.microsoft.com/office/drawing/2014/main" id="{6D4ED8D2-B85B-6440-ADA5-E55C9A6E7547}"/>
              </a:ext>
            </a:extLst>
          </p:cNvPr>
          <p:cNvSpPr/>
          <p:nvPr/>
        </p:nvSpPr>
        <p:spPr bwMode="auto">
          <a:xfrm>
            <a:off x="309313" y="1384006"/>
            <a:ext cx="4067032" cy="457073"/>
          </a:xfrm>
          <a:prstGeom prst="roundRect">
            <a:avLst>
              <a:gd name="adj" fmla="val 5329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4F178C1C-13B0-4E42-B36B-605AC91A406C}"/>
              </a:ext>
            </a:extLst>
          </p:cNvPr>
          <p:cNvSpPr/>
          <p:nvPr/>
        </p:nvSpPr>
        <p:spPr bwMode="auto">
          <a:xfrm>
            <a:off x="5027043" y="1384006"/>
            <a:ext cx="3526983" cy="457073"/>
          </a:xfrm>
          <a:prstGeom prst="roundRect">
            <a:avLst>
              <a:gd name="adj" fmla="val 5329"/>
            </a:avLst>
          </a:prstGeom>
          <a:solidFill>
            <a:schemeClr val="accent1">
              <a:lumMod val="75000"/>
              <a:lumOff val="25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900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B25B938-7149-CB48-AFF3-E87F0AA28C57}"/>
              </a:ext>
            </a:extLst>
          </p:cNvPr>
          <p:cNvSpPr/>
          <p:nvPr/>
        </p:nvSpPr>
        <p:spPr>
          <a:xfrm>
            <a:off x="228600" y="534035"/>
            <a:ext cx="6764994" cy="338554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1600" dirty="0">
                <a:solidFill>
                  <a:srgbClr val="00A2E2"/>
                </a:solidFill>
              </a:rPr>
              <a:t>PROBLEM AREA 1: </a:t>
            </a:r>
            <a:r>
              <a:rPr lang="en-US" sz="1600" b="1" dirty="0">
                <a:solidFill>
                  <a:srgbClr val="00A2E2"/>
                </a:solidFill>
              </a:rPr>
              <a:t>Remove Barriers to Value Realization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A6C7D7F-B854-204A-A5E0-BC7D3ACB0CCD}"/>
              </a:ext>
            </a:extLst>
          </p:cNvPr>
          <p:cNvSpPr txBox="1"/>
          <p:nvPr/>
        </p:nvSpPr>
        <p:spPr>
          <a:xfrm>
            <a:off x="242604" y="2196046"/>
            <a:ext cx="1375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200" b="1" dirty="0">
                <a:latin typeface="+mj-lt"/>
                <a:cs typeface="Calibri Light" panose="020F0302020204030204" pitchFamily="34" charset="0"/>
              </a:rPr>
              <a:t>How might we…</a:t>
            </a:r>
          </a:p>
        </p:txBody>
      </p:sp>
      <p:sp>
        <p:nvSpPr>
          <p:cNvPr id="122" name="Скругленный прямоугольник 11">
            <a:extLst>
              <a:ext uri="{FF2B5EF4-FFF2-40B4-BE49-F238E27FC236}">
                <a16:creationId xmlns:a16="http://schemas.microsoft.com/office/drawing/2014/main" id="{61712628-E3D0-EC49-ADA9-1C0B6A532413}"/>
              </a:ext>
            </a:extLst>
          </p:cNvPr>
          <p:cNvSpPr/>
          <p:nvPr/>
        </p:nvSpPr>
        <p:spPr bwMode="auto">
          <a:xfrm>
            <a:off x="309312" y="3387986"/>
            <a:ext cx="4338085" cy="871497"/>
          </a:xfrm>
          <a:prstGeom prst="roundRect">
            <a:avLst>
              <a:gd name="adj" fmla="val 5329"/>
            </a:avLst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123" name="Subtitle 2">
            <a:extLst>
              <a:ext uri="{FF2B5EF4-FFF2-40B4-BE49-F238E27FC236}">
                <a16:creationId xmlns:a16="http://schemas.microsoft.com/office/drawing/2014/main" id="{6C50C9C4-E6A0-CF43-AB9E-6C0021091A1F}"/>
              </a:ext>
            </a:extLst>
          </p:cNvPr>
          <p:cNvSpPr txBox="1">
            <a:spLocks/>
          </p:cNvSpPr>
          <p:nvPr/>
        </p:nvSpPr>
        <p:spPr>
          <a:xfrm>
            <a:off x="349975" y="3465744"/>
            <a:ext cx="4259412" cy="387041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Educate clinicians about the importance of mental wellness for themselves and their patients?</a:t>
            </a:r>
          </a:p>
        </p:txBody>
      </p:sp>
      <p:sp>
        <p:nvSpPr>
          <p:cNvPr id="124" name="Скругленный прямоугольник 11">
            <a:extLst>
              <a:ext uri="{FF2B5EF4-FFF2-40B4-BE49-F238E27FC236}">
                <a16:creationId xmlns:a16="http://schemas.microsoft.com/office/drawing/2014/main" id="{82CAACAD-9BC8-BB45-8E60-04F52F8489AF}"/>
              </a:ext>
            </a:extLst>
          </p:cNvPr>
          <p:cNvSpPr/>
          <p:nvPr/>
        </p:nvSpPr>
        <p:spPr bwMode="auto">
          <a:xfrm>
            <a:off x="309312" y="2517788"/>
            <a:ext cx="4338085" cy="762972"/>
          </a:xfrm>
          <a:prstGeom prst="roundRect">
            <a:avLst>
              <a:gd name="adj" fmla="val 5329"/>
            </a:avLst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125" name="Subtitle 2">
            <a:extLst>
              <a:ext uri="{FF2B5EF4-FFF2-40B4-BE49-F238E27FC236}">
                <a16:creationId xmlns:a16="http://schemas.microsoft.com/office/drawing/2014/main" id="{E6285EB1-F5F3-0C4C-ACE6-66EE401DE4B6}"/>
              </a:ext>
            </a:extLst>
          </p:cNvPr>
          <p:cNvSpPr txBox="1">
            <a:spLocks/>
          </p:cNvSpPr>
          <p:nvPr/>
        </p:nvSpPr>
        <p:spPr>
          <a:xfrm>
            <a:off x="349975" y="2570144"/>
            <a:ext cx="4259412" cy="217764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Help clinicians recognize and screen for BH conditions?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1A4E446-1290-E442-8401-7C52192825E0}"/>
              </a:ext>
            </a:extLst>
          </p:cNvPr>
          <p:cNvCxnSpPr>
            <a:cxnSpLocks/>
          </p:cNvCxnSpPr>
          <p:nvPr/>
        </p:nvCxnSpPr>
        <p:spPr>
          <a:xfrm>
            <a:off x="4430692" y="1612542"/>
            <a:ext cx="543127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triangle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38814A1-2945-A34F-AF12-DF08A1C8E835}"/>
              </a:ext>
            </a:extLst>
          </p:cNvPr>
          <p:cNvSpPr txBox="1"/>
          <p:nvPr/>
        </p:nvSpPr>
        <p:spPr>
          <a:xfrm>
            <a:off x="242604" y="1071334"/>
            <a:ext cx="11416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200" b="1" dirty="0">
                <a:latin typeface="+mj-lt"/>
                <a:cs typeface="Calibri Light" panose="020F0302020204030204" pitchFamily="34" charset="0"/>
              </a:rPr>
              <a:t>Level 1 Issue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B5C0E4-63D5-E94F-896A-EBD6055845B9}"/>
              </a:ext>
            </a:extLst>
          </p:cNvPr>
          <p:cNvSpPr txBox="1"/>
          <p:nvPr/>
        </p:nvSpPr>
        <p:spPr>
          <a:xfrm>
            <a:off x="4942620" y="1071334"/>
            <a:ext cx="11416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200" b="1" dirty="0">
                <a:latin typeface="+mj-lt"/>
                <a:cs typeface="Calibri Light" panose="020F0302020204030204" pitchFamily="34" charset="0"/>
              </a:rPr>
              <a:t>Level 2 Issue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C979760-C4B7-B541-8C3C-4C5F3E929482}"/>
              </a:ext>
            </a:extLst>
          </p:cNvPr>
          <p:cNvSpPr txBox="1">
            <a:spLocks/>
          </p:cNvSpPr>
          <p:nvPr/>
        </p:nvSpPr>
        <p:spPr>
          <a:xfrm>
            <a:off x="387176" y="1423645"/>
            <a:ext cx="3989169" cy="590174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1100" dirty="0"/>
              <a:t>Stigma is a significant barrier to accessing BH care and maintaining mental wellness.</a:t>
            </a:r>
          </a:p>
          <a:p>
            <a:pPr algn="l">
              <a:lnSpc>
                <a:spcPct val="100000"/>
              </a:lnSpc>
            </a:pPr>
            <a:endParaRPr lang="en-US" sz="1100" dirty="0">
              <a:solidFill>
                <a:schemeClr val="bg1"/>
              </a:solidFill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52FA099A-FD0F-094C-AC92-B54180A8B276}"/>
              </a:ext>
            </a:extLst>
          </p:cNvPr>
          <p:cNvSpPr txBox="1">
            <a:spLocks/>
          </p:cNvSpPr>
          <p:nvPr/>
        </p:nvSpPr>
        <p:spPr>
          <a:xfrm>
            <a:off x="5027043" y="1404153"/>
            <a:ext cx="3364568" cy="630185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50" dirty="0"/>
              <a:t>Stigma can become a barrier in clinical practice and environments</a:t>
            </a:r>
          </a:p>
          <a:p>
            <a:pPr algn="l">
              <a:lnSpc>
                <a:spcPct val="100000"/>
              </a:lnSpc>
            </a:pPr>
            <a:endParaRPr lang="en-US" sz="1050" dirty="0">
              <a:solidFill>
                <a:schemeClr val="bg1"/>
              </a:solidFill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Скругленный прямоугольник 11">
            <a:extLst>
              <a:ext uri="{FF2B5EF4-FFF2-40B4-BE49-F238E27FC236}">
                <a16:creationId xmlns:a16="http://schemas.microsoft.com/office/drawing/2014/main" id="{82CAACAD-9BC8-BB45-8E60-04F52F8489AF}"/>
              </a:ext>
            </a:extLst>
          </p:cNvPr>
          <p:cNvSpPr/>
          <p:nvPr/>
        </p:nvSpPr>
        <p:spPr bwMode="auto">
          <a:xfrm>
            <a:off x="309312" y="4366709"/>
            <a:ext cx="4338085" cy="762972"/>
          </a:xfrm>
          <a:prstGeom prst="roundRect">
            <a:avLst>
              <a:gd name="adj" fmla="val 5329"/>
            </a:avLst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20002" tIns="20002" rIns="20002" bIns="20002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433340" fontAlgn="base" hangingPunct="0">
              <a:spcBef>
                <a:spcPct val="0"/>
              </a:spcBef>
              <a:spcAft>
                <a:spcPct val="0"/>
              </a:spcAft>
            </a:pPr>
            <a:endParaRPr lang="ru-RU" sz="578">
              <a:solidFill>
                <a:srgbClr val="74808C"/>
              </a:solidFill>
              <a:latin typeface="Arial" panose="020B0604020202020204" pitchFamily="34" charset="0"/>
              <a:ea typeface="Poppins" charset="0"/>
              <a:cs typeface="Arial" panose="020B0604020202020204" pitchFamily="34" charset="0"/>
              <a:sym typeface="Poppins" charset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E6285EB1-F5F3-0C4C-ACE6-66EE401DE4B6}"/>
              </a:ext>
            </a:extLst>
          </p:cNvPr>
          <p:cNvSpPr txBox="1">
            <a:spLocks/>
          </p:cNvSpPr>
          <p:nvPr/>
        </p:nvSpPr>
        <p:spPr>
          <a:xfrm>
            <a:off x="349975" y="4419065"/>
            <a:ext cx="4259412" cy="217764"/>
          </a:xfrm>
          <a:prstGeom prst="rect">
            <a:avLst/>
          </a:prstGeom>
        </p:spPr>
        <p:txBody>
          <a:bodyPr vert="horz" wrap="square" lIns="48019" tIns="24009" rIns="48019" bIns="24009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Support clinical environments that are welcoming for all?</a:t>
            </a:r>
          </a:p>
        </p:txBody>
      </p:sp>
    </p:spTree>
    <p:extLst>
      <p:ext uri="{BB962C8B-B14F-4D97-AF65-F5344CB8AC3E}">
        <p14:creationId xmlns:p14="http://schemas.microsoft.com/office/powerpoint/2010/main" val="3922793354"/>
      </p:ext>
    </p:extLst>
  </p:cSld>
  <p:clrMapOvr>
    <a:masterClrMapping/>
  </p:clrMapOvr>
</p:sld>
</file>

<file path=ppt/theme/theme1.xml><?xml version="1.0" encoding="utf-8"?>
<a:theme xmlns:a="http://schemas.openxmlformats.org/drawingml/2006/main" name="1_Scope of Work (Page 2)">
  <a:themeElements>
    <a:clrScheme name="Scope of Work">
      <a:dk1>
        <a:sysClr val="windowText" lastClr="000000"/>
      </a:dk1>
      <a:lt1>
        <a:srgbClr val="FFFFFF"/>
      </a:lt1>
      <a:dk2>
        <a:srgbClr val="F2F2F2"/>
      </a:dk2>
      <a:lt2>
        <a:srgbClr val="FFFFFF"/>
      </a:lt2>
      <a:accent1>
        <a:srgbClr val="003963"/>
      </a:accent1>
      <a:accent2>
        <a:srgbClr val="15C2FF"/>
      </a:accent2>
      <a:accent3>
        <a:srgbClr val="A2E2FF"/>
      </a:accent3>
      <a:accent4>
        <a:srgbClr val="5BB98C"/>
      </a:accent4>
      <a:accent5>
        <a:srgbClr val="F58C73"/>
      </a:accent5>
      <a:accent6>
        <a:srgbClr val="E4C716"/>
      </a:accent6>
      <a:hlink>
        <a:srgbClr val="D8D8D8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cope of Work (Page 1)">
  <a:themeElements>
    <a:clrScheme name="Scope of Work">
      <a:dk1>
        <a:sysClr val="windowText" lastClr="000000"/>
      </a:dk1>
      <a:lt1>
        <a:srgbClr val="FFFFFF"/>
      </a:lt1>
      <a:dk2>
        <a:srgbClr val="F2F2F2"/>
      </a:dk2>
      <a:lt2>
        <a:srgbClr val="FFFFFF"/>
      </a:lt2>
      <a:accent1>
        <a:srgbClr val="003963"/>
      </a:accent1>
      <a:accent2>
        <a:srgbClr val="15C2FF"/>
      </a:accent2>
      <a:accent3>
        <a:srgbClr val="A2E2FF"/>
      </a:accent3>
      <a:accent4>
        <a:srgbClr val="5BB98C"/>
      </a:accent4>
      <a:accent5>
        <a:srgbClr val="F58C73"/>
      </a:accent5>
      <a:accent6>
        <a:srgbClr val="E4C716"/>
      </a:accent6>
      <a:hlink>
        <a:srgbClr val="D8D8D8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Scope of Work (Page 1)">
  <a:themeElements>
    <a:clrScheme name="Scope of Work">
      <a:dk1>
        <a:sysClr val="windowText" lastClr="000000"/>
      </a:dk1>
      <a:lt1>
        <a:srgbClr val="FFFFFF"/>
      </a:lt1>
      <a:dk2>
        <a:srgbClr val="F2F2F2"/>
      </a:dk2>
      <a:lt2>
        <a:srgbClr val="FFFFFF"/>
      </a:lt2>
      <a:accent1>
        <a:srgbClr val="003963"/>
      </a:accent1>
      <a:accent2>
        <a:srgbClr val="15C2FF"/>
      </a:accent2>
      <a:accent3>
        <a:srgbClr val="A2E2FF"/>
      </a:accent3>
      <a:accent4>
        <a:srgbClr val="5BB98C"/>
      </a:accent4>
      <a:accent5>
        <a:srgbClr val="F58C73"/>
      </a:accent5>
      <a:accent6>
        <a:srgbClr val="E4C716"/>
      </a:accent6>
      <a:hlink>
        <a:srgbClr val="D8D8D8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Pages>12</Pages>
  <Words>646</Words>
  <Characters>0</Characters>
  <Application>Microsoft Macintosh PowerPoint</Application>
  <DocSecurity>0</DocSecurity>
  <PresentationFormat>Custom</PresentationFormat>
  <Lines>0</Lines>
  <Paragraphs>48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Open Sans Light</vt:lpstr>
      <vt:lpstr>1_Scope of Work (Page 2)</vt:lpstr>
      <vt:lpstr>1_Scope of Work (Page 1)</vt:lpstr>
      <vt:lpstr>2_Scope of Work (Page 1)</vt:lpstr>
      <vt:lpstr>PowerPoint Presentation</vt:lpstr>
      <vt:lpstr>PowerPoint Presentation</vt:lpstr>
      <vt:lpstr>PowerPoint Presentation</vt:lpstr>
      <vt:lpstr>PowerPoint Presentation</vt:lpstr>
    </vt:vector>
  </TitlesOfParts>
  <Company>Highmark Health Solutions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Fuller, Matt</dc:creator>
  <cp:lastModifiedBy>Microsoft Office User</cp:lastModifiedBy>
  <cp:revision>67</cp:revision>
  <dcterms:modified xsi:type="dcterms:W3CDTF">2020-04-07T18:01:21Z</dcterms:modified>
</cp:coreProperties>
</file>